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png" ContentType="image/png"/>
  <Default Extension="rels" ContentType="application/vnd.openxmlformats-package.relationships+xml"/>
  <Default Extension="xlsx" ContentType="application/vnd.openxmlformats-officedocument.spreadsheetml.sheet"/>
  <Default Extension="xml" ContentType="application/xml"/>
  <Override PartName="/docProps/app.xml" ContentType="application/vnd.openxmlformats-officedocument.extended-properties+xml"/>
  <Override PartName="/docProps/core.xml" ContentType="application/vnd.openxmlformats-package.core-properties+xml"/>
  <Override PartName="/ppt/charts/chart1.xml" ContentType="application/vnd.openxmlformats-officedocument.drawingml.chart+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00.xml" ContentType="application/vnd.openxmlformats-officedocument.presentationml.slide+xml"/>
  <Override PartName="/ppt/slides/slide101.xml" ContentType="application/vnd.openxmlformats-officedocument.presentationml.slide+xml"/>
  <Override PartName="/ppt/slides/slide102.xml" ContentType="application/vnd.openxmlformats-officedocument.presentationml.slide+xml"/>
  <Override PartName="/ppt/slides/slide103.xml" ContentType="application/vnd.openxmlformats-officedocument.presentationml.slide+xml"/>
  <Override PartName="/ppt/slides/slide104.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slides/slide52.xml" ContentType="application/vnd.openxmlformats-officedocument.presentationml.slide+xml"/>
  <Override PartName="/ppt/slides/slide53.xml" ContentType="application/vnd.openxmlformats-officedocument.presentationml.slide+xml"/>
  <Override PartName="/ppt/slides/slide54.xml" ContentType="application/vnd.openxmlformats-officedocument.presentationml.slide+xml"/>
  <Override PartName="/ppt/slides/slide55.xml" ContentType="application/vnd.openxmlformats-officedocument.presentationml.slide+xml"/>
  <Override PartName="/ppt/slides/slide56.xml" ContentType="application/vnd.openxmlformats-officedocument.presentationml.slide+xml"/>
  <Override PartName="/ppt/slides/slide57.xml" ContentType="application/vnd.openxmlformats-officedocument.presentationml.slide+xml"/>
  <Override PartName="/ppt/slides/slide58.xml" ContentType="application/vnd.openxmlformats-officedocument.presentationml.slide+xml"/>
  <Override PartName="/ppt/slides/slide59.xml" ContentType="application/vnd.openxmlformats-officedocument.presentationml.slide+xml"/>
  <Override PartName="/ppt/slides/slide6.xml" ContentType="application/vnd.openxmlformats-officedocument.presentationml.slide+xml"/>
  <Override PartName="/ppt/slides/slide60.xml" ContentType="application/vnd.openxmlformats-officedocument.presentationml.slide+xml"/>
  <Override PartName="/ppt/slides/slide61.xml" ContentType="application/vnd.openxmlformats-officedocument.presentationml.slide+xml"/>
  <Override PartName="/ppt/slides/slide62.xml" ContentType="application/vnd.openxmlformats-officedocument.presentationml.slide+xml"/>
  <Override PartName="/ppt/slides/slide63.xml" ContentType="application/vnd.openxmlformats-officedocument.presentationml.slide+xml"/>
  <Override PartName="/ppt/slides/slide64.xml" ContentType="application/vnd.openxmlformats-officedocument.presentationml.slide+xml"/>
  <Override PartName="/ppt/slides/slide65.xml" ContentType="application/vnd.openxmlformats-officedocument.presentationml.slide+xml"/>
  <Override PartName="/ppt/slides/slide66.xml" ContentType="application/vnd.openxmlformats-officedocument.presentationml.slide+xml"/>
  <Override PartName="/ppt/slides/slide67.xml" ContentType="application/vnd.openxmlformats-officedocument.presentationml.slide+xml"/>
  <Override PartName="/ppt/slides/slide68.xml" ContentType="application/vnd.openxmlformats-officedocument.presentationml.slide+xml"/>
  <Override PartName="/ppt/slides/slide69.xml" ContentType="application/vnd.openxmlformats-officedocument.presentationml.slide+xml"/>
  <Override PartName="/ppt/slides/slide7.xml" ContentType="application/vnd.openxmlformats-officedocument.presentationml.slide+xml"/>
  <Override PartName="/ppt/slides/slide70.xml" ContentType="application/vnd.openxmlformats-officedocument.presentationml.slide+xml"/>
  <Override PartName="/ppt/slides/slide71.xml" ContentType="application/vnd.openxmlformats-officedocument.presentationml.slide+xml"/>
  <Override PartName="/ppt/slides/slide72.xml" ContentType="application/vnd.openxmlformats-officedocument.presentationml.slide+xml"/>
  <Override PartName="/ppt/slides/slide73.xml" ContentType="application/vnd.openxmlformats-officedocument.presentationml.slide+xml"/>
  <Override PartName="/ppt/slides/slide74.xml" ContentType="application/vnd.openxmlformats-officedocument.presentationml.slide+xml"/>
  <Override PartName="/ppt/slides/slide75.xml" ContentType="application/vnd.openxmlformats-officedocument.presentationml.slide+xml"/>
  <Override PartName="/ppt/slides/slide76.xml" ContentType="application/vnd.openxmlformats-officedocument.presentationml.slide+xml"/>
  <Override PartName="/ppt/slides/slide77.xml" ContentType="application/vnd.openxmlformats-officedocument.presentationml.slide+xml"/>
  <Override PartName="/ppt/slides/slide78.xml" ContentType="application/vnd.openxmlformats-officedocument.presentationml.slide+xml"/>
  <Override PartName="/ppt/slides/slide79.xml" ContentType="application/vnd.openxmlformats-officedocument.presentationml.slide+xml"/>
  <Override PartName="/ppt/slides/slide8.xml" ContentType="application/vnd.openxmlformats-officedocument.presentationml.slide+xml"/>
  <Override PartName="/ppt/slides/slide80.xml" ContentType="application/vnd.openxmlformats-officedocument.presentationml.slide+xml"/>
  <Override PartName="/ppt/slides/slide81.xml" ContentType="application/vnd.openxmlformats-officedocument.presentationml.slide+xml"/>
  <Override PartName="/ppt/slides/slide82.xml" ContentType="application/vnd.openxmlformats-officedocument.presentationml.slide+xml"/>
  <Override PartName="/ppt/slides/slide83.xml" ContentType="application/vnd.openxmlformats-officedocument.presentationml.slide+xml"/>
  <Override PartName="/ppt/slides/slide84.xml" ContentType="application/vnd.openxmlformats-officedocument.presentationml.slide+xml"/>
  <Override PartName="/ppt/slides/slide85.xml" ContentType="application/vnd.openxmlformats-officedocument.presentationml.slide+xml"/>
  <Override PartName="/ppt/slides/slide86.xml" ContentType="application/vnd.openxmlformats-officedocument.presentationml.slide+xml"/>
  <Override PartName="/ppt/slides/slide87.xml" ContentType="application/vnd.openxmlformats-officedocument.presentationml.slide+xml"/>
  <Override PartName="/ppt/slides/slide88.xml" ContentType="application/vnd.openxmlformats-officedocument.presentationml.slide+xml"/>
  <Override PartName="/ppt/slides/slide89.xml" ContentType="application/vnd.openxmlformats-officedocument.presentationml.slide+xml"/>
  <Override PartName="/ppt/slides/slide9.xml" ContentType="application/vnd.openxmlformats-officedocument.presentationml.slide+xml"/>
  <Override PartName="/ppt/slides/slide90.xml" ContentType="application/vnd.openxmlformats-officedocument.presentationml.slide+xml"/>
  <Override PartName="/ppt/slides/slide91.xml" ContentType="application/vnd.openxmlformats-officedocument.presentationml.slide+xml"/>
  <Override PartName="/ppt/slides/slide92.xml" ContentType="application/vnd.openxmlformats-officedocument.presentationml.slide+xml"/>
  <Override PartName="/ppt/slides/slide93.xml" ContentType="application/vnd.openxmlformats-officedocument.presentationml.slide+xml"/>
  <Override PartName="/ppt/slides/slide94.xml" ContentType="application/vnd.openxmlformats-officedocument.presentationml.slide+xml"/>
  <Override PartName="/ppt/slides/slide95.xml" ContentType="application/vnd.openxmlformats-officedocument.presentationml.slide+xml"/>
  <Override PartName="/ppt/slides/slide96.xml" ContentType="application/vnd.openxmlformats-officedocument.presentationml.slide+xml"/>
  <Override PartName="/ppt/slides/slide97.xml" ContentType="application/vnd.openxmlformats-officedocument.presentationml.slide+xml"/>
  <Override PartName="/ppt/slides/slide98.xml" ContentType="application/vnd.openxmlformats-officedocument.presentationml.slide+xml"/>
  <Override PartName="/ppt/slides/slide9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8"/>
    <p:sldId id="258" r:id="rId9"/>
    <p:sldId id="259" r:id="rId10"/>
    <p:sldId id="260" r:id="rId11"/>
    <p:sldId id="261" r:id="rId12"/>
    <p:sldId id="262" r:id="rId13"/>
    <p:sldId id="263" r:id="rId14"/>
    <p:sldId id="264" r:id="rId15"/>
    <p:sldId id="265" r:id="rId16"/>
    <p:sldId id="266" r:id="rId17"/>
    <p:sldId id="267" r:id="rId18"/>
    <p:sldId id="268" r:id="rId19"/>
    <p:sldId id="269" r:id="rId20"/>
    <p:sldId id="270" r:id="rId21"/>
    <p:sldId id="271" r:id="rId22"/>
    <p:sldId id="272" r:id="rId23"/>
    <p:sldId id="273" r:id="rId24"/>
    <p:sldId id="274" r:id="rId25"/>
    <p:sldId id="275" r:id="rId26"/>
    <p:sldId id="276" r:id="rId27"/>
    <p:sldId id="277" r:id="rId28"/>
    <p:sldId id="278" r:id="rId29"/>
    <p:sldId id="279" r:id="rId30"/>
    <p:sldId id="280" r:id="rId31"/>
    <p:sldId id="281" r:id="rId32"/>
    <p:sldId id="282" r:id="rId33"/>
    <p:sldId id="283" r:id="rId34"/>
    <p:sldId id="284" r:id="rId35"/>
    <p:sldId id="285" r:id="rId36"/>
    <p:sldId id="286" r:id="rId37"/>
    <p:sldId id="287" r:id="rId38"/>
    <p:sldId id="288" r:id="rId39"/>
    <p:sldId id="289" r:id="rId40"/>
    <p:sldId id="290" r:id="rId41"/>
    <p:sldId id="291" r:id="rId42"/>
    <p:sldId id="292" r:id="rId43"/>
    <p:sldId id="293" r:id="rId44"/>
    <p:sldId id="294" r:id="rId45"/>
    <p:sldId id="295" r:id="rId46"/>
    <p:sldId id="296" r:id="rId47"/>
    <p:sldId id="297" r:id="rId48"/>
    <p:sldId id="298" r:id="rId49"/>
    <p:sldId id="299" r:id="rId50"/>
    <p:sldId id="300" r:id="rId51"/>
    <p:sldId id="301" r:id="rId52"/>
    <p:sldId id="302" r:id="rId53"/>
    <p:sldId id="303" r:id="rId54"/>
    <p:sldId id="304" r:id="rId55"/>
    <p:sldId id="305" r:id="rId56"/>
    <p:sldId id="306" r:id="rId57"/>
    <p:sldId id="307" r:id="rId58"/>
    <p:sldId id="308" r:id="rId59"/>
    <p:sldId id="309" r:id="rId60"/>
    <p:sldId id="310" r:id="rId61"/>
    <p:sldId id="311" r:id="rId62"/>
    <p:sldId id="312" r:id="rId63"/>
    <p:sldId id="313" r:id="rId64"/>
    <p:sldId id="314" r:id="rId65"/>
    <p:sldId id="315" r:id="rId66"/>
    <p:sldId id="316" r:id="rId67"/>
    <p:sldId id="317" r:id="rId68"/>
    <p:sldId id="318" r:id="rId69"/>
    <p:sldId id="319" r:id="rId70"/>
    <p:sldId id="320" r:id="rId71"/>
    <p:sldId id="321" r:id="rId72"/>
    <p:sldId id="322" r:id="rId73"/>
    <p:sldId id="323" r:id="rId74"/>
    <p:sldId id="324" r:id="rId75"/>
    <p:sldId id="325" r:id="rId76"/>
    <p:sldId id="326" r:id="rId77"/>
    <p:sldId id="327" r:id="rId78"/>
    <p:sldId id="328" r:id="rId79"/>
    <p:sldId id="329" r:id="rId80"/>
    <p:sldId id="330" r:id="rId81"/>
    <p:sldId id="331" r:id="rId82"/>
    <p:sldId id="332" r:id="rId83"/>
    <p:sldId id="333" r:id="rId84"/>
    <p:sldId id="334" r:id="rId85"/>
    <p:sldId id="335" r:id="rId86"/>
    <p:sldId id="336" r:id="rId87"/>
    <p:sldId id="337" r:id="rId88"/>
    <p:sldId id="338" r:id="rId89"/>
    <p:sldId id="339" r:id="rId90"/>
    <p:sldId id="340" r:id="rId91"/>
    <p:sldId id="341" r:id="rId92"/>
    <p:sldId id="342" r:id="rId93"/>
    <p:sldId id="343" r:id="rId94"/>
    <p:sldId id="344" r:id="rId95"/>
    <p:sldId id="345" r:id="rId96"/>
    <p:sldId id="346" r:id="rId97"/>
    <p:sldId id="347" r:id="rId98"/>
    <p:sldId id="348" r:id="rId99"/>
    <p:sldId id="349" r:id="rId100"/>
    <p:sldId id="350" r:id="rId101"/>
    <p:sldId id="351" r:id="rId102"/>
    <p:sldId id="352" r:id="rId103"/>
    <p:sldId id="353" r:id="rId104"/>
    <p:sldId id="354" r:id="rId105"/>
    <p:sldId id="355" r:id="rId106"/>
    <p:sldId id="356" r:id="rId107"/>
    <p:sldId id="357" r:id="rId108"/>
    <p:sldId id="358" r:id="rId109"/>
    <p:sldId id="359" r:id="rId110"/>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slide" Target="slides/slide2.xml"/><Relationship Id="rId9" Type="http://schemas.openxmlformats.org/officeDocument/2006/relationships/slide" Target="slides/slide3.xml"/><Relationship Id="rId10" Type="http://schemas.openxmlformats.org/officeDocument/2006/relationships/slide" Target="slides/slide4.xml"/><Relationship Id="rId11" Type="http://schemas.openxmlformats.org/officeDocument/2006/relationships/slide" Target="slides/slide5.xml"/><Relationship Id="rId12" Type="http://schemas.openxmlformats.org/officeDocument/2006/relationships/slide" Target="slides/slide6.xml"/><Relationship Id="rId13" Type="http://schemas.openxmlformats.org/officeDocument/2006/relationships/slide" Target="slides/slide7.xml"/><Relationship Id="rId14" Type="http://schemas.openxmlformats.org/officeDocument/2006/relationships/slide" Target="slides/slide8.xml"/><Relationship Id="rId15" Type="http://schemas.openxmlformats.org/officeDocument/2006/relationships/slide" Target="slides/slide9.xml"/><Relationship Id="rId16" Type="http://schemas.openxmlformats.org/officeDocument/2006/relationships/slide" Target="slides/slide10.xml"/><Relationship Id="rId17" Type="http://schemas.openxmlformats.org/officeDocument/2006/relationships/slide" Target="slides/slide11.xml"/><Relationship Id="rId18" Type="http://schemas.openxmlformats.org/officeDocument/2006/relationships/slide" Target="slides/slide12.xml"/><Relationship Id="rId19" Type="http://schemas.openxmlformats.org/officeDocument/2006/relationships/slide" Target="slides/slide13.xml"/><Relationship Id="rId20" Type="http://schemas.openxmlformats.org/officeDocument/2006/relationships/slide" Target="slides/slide14.xml"/><Relationship Id="rId21" Type="http://schemas.openxmlformats.org/officeDocument/2006/relationships/slide" Target="slides/slide15.xml"/><Relationship Id="rId22" Type="http://schemas.openxmlformats.org/officeDocument/2006/relationships/slide" Target="slides/slide16.xml"/><Relationship Id="rId23" Type="http://schemas.openxmlformats.org/officeDocument/2006/relationships/slide" Target="slides/slide17.xml"/><Relationship Id="rId24" Type="http://schemas.openxmlformats.org/officeDocument/2006/relationships/slide" Target="slides/slide18.xml"/><Relationship Id="rId25" Type="http://schemas.openxmlformats.org/officeDocument/2006/relationships/slide" Target="slides/slide19.xml"/><Relationship Id="rId26" Type="http://schemas.openxmlformats.org/officeDocument/2006/relationships/slide" Target="slides/slide20.xml"/><Relationship Id="rId27" Type="http://schemas.openxmlformats.org/officeDocument/2006/relationships/slide" Target="slides/slide21.xml"/><Relationship Id="rId28" Type="http://schemas.openxmlformats.org/officeDocument/2006/relationships/slide" Target="slides/slide22.xml"/><Relationship Id="rId29" Type="http://schemas.openxmlformats.org/officeDocument/2006/relationships/slide" Target="slides/slide23.xml"/><Relationship Id="rId30" Type="http://schemas.openxmlformats.org/officeDocument/2006/relationships/slide" Target="slides/slide24.xml"/><Relationship Id="rId31" Type="http://schemas.openxmlformats.org/officeDocument/2006/relationships/slide" Target="slides/slide25.xml"/><Relationship Id="rId32" Type="http://schemas.openxmlformats.org/officeDocument/2006/relationships/slide" Target="slides/slide26.xml"/><Relationship Id="rId33" Type="http://schemas.openxmlformats.org/officeDocument/2006/relationships/slide" Target="slides/slide27.xml"/><Relationship Id="rId34" Type="http://schemas.openxmlformats.org/officeDocument/2006/relationships/slide" Target="slides/slide28.xml"/><Relationship Id="rId35" Type="http://schemas.openxmlformats.org/officeDocument/2006/relationships/slide" Target="slides/slide29.xml"/><Relationship Id="rId36" Type="http://schemas.openxmlformats.org/officeDocument/2006/relationships/slide" Target="slides/slide30.xml"/><Relationship Id="rId37" Type="http://schemas.openxmlformats.org/officeDocument/2006/relationships/slide" Target="slides/slide31.xml"/><Relationship Id="rId38" Type="http://schemas.openxmlformats.org/officeDocument/2006/relationships/slide" Target="slides/slide32.xml"/><Relationship Id="rId39" Type="http://schemas.openxmlformats.org/officeDocument/2006/relationships/slide" Target="slides/slide33.xml"/><Relationship Id="rId40" Type="http://schemas.openxmlformats.org/officeDocument/2006/relationships/slide" Target="slides/slide34.xml"/><Relationship Id="rId41" Type="http://schemas.openxmlformats.org/officeDocument/2006/relationships/slide" Target="slides/slide35.xml"/><Relationship Id="rId42" Type="http://schemas.openxmlformats.org/officeDocument/2006/relationships/slide" Target="slides/slide36.xml"/><Relationship Id="rId43" Type="http://schemas.openxmlformats.org/officeDocument/2006/relationships/slide" Target="slides/slide37.xml"/><Relationship Id="rId44" Type="http://schemas.openxmlformats.org/officeDocument/2006/relationships/slide" Target="slides/slide38.xml"/><Relationship Id="rId45" Type="http://schemas.openxmlformats.org/officeDocument/2006/relationships/slide" Target="slides/slide39.xml"/><Relationship Id="rId46" Type="http://schemas.openxmlformats.org/officeDocument/2006/relationships/slide" Target="slides/slide40.xml"/><Relationship Id="rId47" Type="http://schemas.openxmlformats.org/officeDocument/2006/relationships/slide" Target="slides/slide41.xml"/><Relationship Id="rId48" Type="http://schemas.openxmlformats.org/officeDocument/2006/relationships/slide" Target="slides/slide42.xml"/><Relationship Id="rId49" Type="http://schemas.openxmlformats.org/officeDocument/2006/relationships/slide" Target="slides/slide43.xml"/><Relationship Id="rId50" Type="http://schemas.openxmlformats.org/officeDocument/2006/relationships/slide" Target="slides/slide44.xml"/><Relationship Id="rId51" Type="http://schemas.openxmlformats.org/officeDocument/2006/relationships/slide" Target="slides/slide45.xml"/><Relationship Id="rId52" Type="http://schemas.openxmlformats.org/officeDocument/2006/relationships/slide" Target="slides/slide46.xml"/><Relationship Id="rId53" Type="http://schemas.openxmlformats.org/officeDocument/2006/relationships/slide" Target="slides/slide47.xml"/><Relationship Id="rId54" Type="http://schemas.openxmlformats.org/officeDocument/2006/relationships/slide" Target="slides/slide48.xml"/><Relationship Id="rId55" Type="http://schemas.openxmlformats.org/officeDocument/2006/relationships/slide" Target="slides/slide49.xml"/><Relationship Id="rId56" Type="http://schemas.openxmlformats.org/officeDocument/2006/relationships/slide" Target="slides/slide50.xml"/><Relationship Id="rId57" Type="http://schemas.openxmlformats.org/officeDocument/2006/relationships/slide" Target="slides/slide51.xml"/><Relationship Id="rId58" Type="http://schemas.openxmlformats.org/officeDocument/2006/relationships/slide" Target="slides/slide52.xml"/><Relationship Id="rId59" Type="http://schemas.openxmlformats.org/officeDocument/2006/relationships/slide" Target="slides/slide53.xml"/><Relationship Id="rId60" Type="http://schemas.openxmlformats.org/officeDocument/2006/relationships/slide" Target="slides/slide54.xml"/><Relationship Id="rId61" Type="http://schemas.openxmlformats.org/officeDocument/2006/relationships/slide" Target="slides/slide55.xml"/><Relationship Id="rId62" Type="http://schemas.openxmlformats.org/officeDocument/2006/relationships/slide" Target="slides/slide56.xml"/><Relationship Id="rId63" Type="http://schemas.openxmlformats.org/officeDocument/2006/relationships/slide" Target="slides/slide57.xml"/><Relationship Id="rId64" Type="http://schemas.openxmlformats.org/officeDocument/2006/relationships/slide" Target="slides/slide58.xml"/><Relationship Id="rId65" Type="http://schemas.openxmlformats.org/officeDocument/2006/relationships/slide" Target="slides/slide59.xml"/><Relationship Id="rId66" Type="http://schemas.openxmlformats.org/officeDocument/2006/relationships/slide" Target="slides/slide60.xml"/><Relationship Id="rId67" Type="http://schemas.openxmlformats.org/officeDocument/2006/relationships/slide" Target="slides/slide61.xml"/><Relationship Id="rId68" Type="http://schemas.openxmlformats.org/officeDocument/2006/relationships/slide" Target="slides/slide62.xml"/><Relationship Id="rId69" Type="http://schemas.openxmlformats.org/officeDocument/2006/relationships/slide" Target="slides/slide63.xml"/><Relationship Id="rId70" Type="http://schemas.openxmlformats.org/officeDocument/2006/relationships/slide" Target="slides/slide64.xml"/><Relationship Id="rId71" Type="http://schemas.openxmlformats.org/officeDocument/2006/relationships/slide" Target="slides/slide65.xml"/><Relationship Id="rId72" Type="http://schemas.openxmlformats.org/officeDocument/2006/relationships/slide" Target="slides/slide66.xml"/><Relationship Id="rId73" Type="http://schemas.openxmlformats.org/officeDocument/2006/relationships/slide" Target="slides/slide67.xml"/><Relationship Id="rId74" Type="http://schemas.openxmlformats.org/officeDocument/2006/relationships/slide" Target="slides/slide68.xml"/><Relationship Id="rId75" Type="http://schemas.openxmlformats.org/officeDocument/2006/relationships/slide" Target="slides/slide69.xml"/><Relationship Id="rId76" Type="http://schemas.openxmlformats.org/officeDocument/2006/relationships/slide" Target="slides/slide70.xml"/><Relationship Id="rId77" Type="http://schemas.openxmlformats.org/officeDocument/2006/relationships/slide" Target="slides/slide71.xml"/><Relationship Id="rId78" Type="http://schemas.openxmlformats.org/officeDocument/2006/relationships/slide" Target="slides/slide72.xml"/><Relationship Id="rId79" Type="http://schemas.openxmlformats.org/officeDocument/2006/relationships/slide" Target="slides/slide73.xml"/><Relationship Id="rId80" Type="http://schemas.openxmlformats.org/officeDocument/2006/relationships/slide" Target="slides/slide74.xml"/><Relationship Id="rId81" Type="http://schemas.openxmlformats.org/officeDocument/2006/relationships/slide" Target="slides/slide75.xml"/><Relationship Id="rId82" Type="http://schemas.openxmlformats.org/officeDocument/2006/relationships/slide" Target="slides/slide76.xml"/><Relationship Id="rId83" Type="http://schemas.openxmlformats.org/officeDocument/2006/relationships/slide" Target="slides/slide77.xml"/><Relationship Id="rId84" Type="http://schemas.openxmlformats.org/officeDocument/2006/relationships/slide" Target="slides/slide78.xml"/><Relationship Id="rId85" Type="http://schemas.openxmlformats.org/officeDocument/2006/relationships/slide" Target="slides/slide79.xml"/><Relationship Id="rId86" Type="http://schemas.openxmlformats.org/officeDocument/2006/relationships/slide" Target="slides/slide80.xml"/><Relationship Id="rId87" Type="http://schemas.openxmlformats.org/officeDocument/2006/relationships/slide" Target="slides/slide81.xml"/><Relationship Id="rId88" Type="http://schemas.openxmlformats.org/officeDocument/2006/relationships/slide" Target="slides/slide82.xml"/><Relationship Id="rId89" Type="http://schemas.openxmlformats.org/officeDocument/2006/relationships/slide" Target="slides/slide83.xml"/><Relationship Id="rId90" Type="http://schemas.openxmlformats.org/officeDocument/2006/relationships/slide" Target="slides/slide84.xml"/><Relationship Id="rId91" Type="http://schemas.openxmlformats.org/officeDocument/2006/relationships/slide" Target="slides/slide85.xml"/><Relationship Id="rId92" Type="http://schemas.openxmlformats.org/officeDocument/2006/relationships/slide" Target="slides/slide86.xml"/><Relationship Id="rId93" Type="http://schemas.openxmlformats.org/officeDocument/2006/relationships/slide" Target="slides/slide87.xml"/><Relationship Id="rId94" Type="http://schemas.openxmlformats.org/officeDocument/2006/relationships/slide" Target="slides/slide88.xml"/><Relationship Id="rId95" Type="http://schemas.openxmlformats.org/officeDocument/2006/relationships/slide" Target="slides/slide89.xml"/><Relationship Id="rId96" Type="http://schemas.openxmlformats.org/officeDocument/2006/relationships/slide" Target="slides/slide90.xml"/><Relationship Id="rId97" Type="http://schemas.openxmlformats.org/officeDocument/2006/relationships/slide" Target="slides/slide91.xml"/><Relationship Id="rId98" Type="http://schemas.openxmlformats.org/officeDocument/2006/relationships/slide" Target="slides/slide92.xml"/><Relationship Id="rId99" Type="http://schemas.openxmlformats.org/officeDocument/2006/relationships/slide" Target="slides/slide93.xml"/><Relationship Id="rId100" Type="http://schemas.openxmlformats.org/officeDocument/2006/relationships/slide" Target="slides/slide94.xml"/><Relationship Id="rId101" Type="http://schemas.openxmlformats.org/officeDocument/2006/relationships/slide" Target="slides/slide95.xml"/><Relationship Id="rId102" Type="http://schemas.openxmlformats.org/officeDocument/2006/relationships/slide" Target="slides/slide96.xml"/><Relationship Id="rId103" Type="http://schemas.openxmlformats.org/officeDocument/2006/relationships/slide" Target="slides/slide97.xml"/><Relationship Id="rId104" Type="http://schemas.openxmlformats.org/officeDocument/2006/relationships/slide" Target="slides/slide98.xml"/><Relationship Id="rId105" Type="http://schemas.openxmlformats.org/officeDocument/2006/relationships/slide" Target="slides/slide99.xml"/><Relationship Id="rId106" Type="http://schemas.openxmlformats.org/officeDocument/2006/relationships/slide" Target="slides/slide100.xml"/><Relationship Id="rId107" Type="http://schemas.openxmlformats.org/officeDocument/2006/relationships/slide" Target="slides/slide101.xml"/><Relationship Id="rId108" Type="http://schemas.openxmlformats.org/officeDocument/2006/relationships/slide" Target="slides/slide102.xml"/><Relationship Id="rId109" Type="http://schemas.openxmlformats.org/officeDocument/2006/relationships/slide" Target="slides/slide103.xml"/><Relationship Id="rId110" Type="http://schemas.openxmlformats.org/officeDocument/2006/relationships/slide" Target="slides/slide104.xml"/></Relationships>
</file>

<file path=ppt/charts/_rels/chart1.xml.rels><?xml version='1.0' encoding='UTF-8' standalone='yes'?>
<Relationships xmlns="http://schemas.openxmlformats.org/package/2006/relationships"><Relationship Id="rId1" Type="http://schemas.openxmlformats.org/officeDocument/2006/relationships/package" Target="../embeddings/Microsoft_Excel_Sheet1.xlsx"/></Relationships>
</file>

<file path=ppt/charts/chart1.xml><?xml version="1.0" encoding="utf-8"?>
<c:chartSpace xmlns:c="http://schemas.openxmlformats.org/drawingml/2006/chart" xmlns:a="http://schemas.openxmlformats.org/drawingml/2006/main" xmlns:r="http://schemas.openxmlformats.org/officeDocument/2006/relationships">
  <c:date1904 val="0"/>
  <c:chart>
    <c:autoTitleDeleted val="1"/>
    <c:plotArea>
      <c:barChart>
        <c:barDir val="col"/>
        <c:grouping val="clustered"/>
        <c:ser>
          <c:idx val="0"/>
          <c:order val="0"/>
          <c:tx>
            <c:strRef>
              <c:f>Sheet1!$B$1</c:f>
              <c:strCache>
                <c:ptCount val="1"/>
                <c:pt idx="0">
                  <c:v>Share of course (%)</c:v>
                </c:pt>
              </c:strCache>
            </c:strRef>
          </c:tx>
          <c:spPr>
            <a:solidFill>
              <a:srgbClr val="1F6FEB"/>
            </a:solidFill>
          </c:spPr>
          <c:cat>
            <c:strRef>
              <c:f>Sheet1!$A$2:$A$5</c:f>
              <c:strCache>
                <c:ptCount val="4"/>
                <c:pt idx="0">
                  <c:v>Topic 01</c:v>
                </c:pt>
                <c:pt idx="1">
                  <c:v>Topic 02</c:v>
                </c:pt>
                <c:pt idx="2">
                  <c:v>Topic 03</c:v>
                </c:pt>
                <c:pt idx="3">
                  <c:v>Topic 04</c:v>
                </c:pt>
              </c:strCache>
            </c:strRef>
          </c:cat>
          <c:val>
            <c:numRef>
              <c:f>Sheet1!$B$2:$B$5</c:f>
              <c:numCache>
                <c:formatCode>0"%"</c:formatCode>
                <c:ptCount val="4"/>
                <c:pt idx="0">
                  <c:v>25</c:v>
                </c:pt>
                <c:pt idx="1">
                  <c:v>25</c:v>
                </c:pt>
                <c:pt idx="2">
                  <c:v>25</c:v>
                </c:pt>
                <c:pt idx="3">
                  <c:v>25</c:v>
                </c:pt>
              </c:numCache>
            </c:numRef>
          </c:val>
        </c:ser>
        <c:dLbls>
          <c:numFmt formatCode="0&quot;%&quot;" sourceLinked="0"/>
          <c:txPr>
            <a:bodyPr/>
            <a:lstStyle/>
            <a:p>
              <a:pPr>
                <a:defRPr sz="1000">
                  <a:solidFill>
                    <a:srgbClr val="161B26"/>
                  </a:solidFill>
                </a:defRPr>
              </a:pPr>
            </a:p>
          </c:txPr>
          <c:showLegendKey val="0"/>
          <c:showVal val="1"/>
          <c:showCatName val="0"/>
          <c:showSerName val="0"/>
          <c:showPercent val="0"/>
          <c:showBubbleSize val="0"/>
          <c:showLeaderLines val="1"/>
        </c:dLbls>
        <c:axId val="-2068027336"/>
        <c:axId val="-2113994440"/>
      </c:barChart>
      <c:catAx>
        <c:axId val="-2068027336"/>
        <c:scaling>
          <c:orientation val="minMax"/>
        </c:scaling>
        <c:delete val="0"/>
        <c:axPos val="b"/>
        <c:majorTickMark val="out"/>
        <c:minorTickMark val="none"/>
        <c:tickLblPos val="nextTo"/>
        <c:crossAx val="-2113994440"/>
        <c:crosses val="autoZero"/>
        <c:auto val="1"/>
        <c:lblAlgn val="ctr"/>
        <c:lblOffset val="100"/>
        <c:noMultiLvlLbl val="0"/>
      </c:catAx>
      <c:valAx>
        <c:axId val="-2113994440"/>
        <c:scaling/>
        <c:delete val="0"/>
        <c:axPos val="l"/>
        <c:majorGridlines/>
        <c:majorTickMark val="out"/>
        <c:minorTickMark val="none"/>
        <c:tickLblPos val="nextTo"/>
        <c:crossAx val="-2068027336"/>
        <c:crosses val="autoZero"/>
      </c:valAx>
    </c:plotArea>
    <c:dispBlanksAs val="gap"/>
  </c:chart>
  <c:txPr>
    <a:bodyPr/>
    <a:lstStyle/>
    <a:p>
      <a:pPr>
        <a:defRPr sz="1200">
          <a:solidFill>
            <a:srgbClr val="161B26"/>
          </a:solidFill>
          <a:latin typeface="Arial"/>
        </a:defRPr>
      </a:pPr>
      <a:endParaRPr lang="en-US"/>
    </a:p>
  </c:txPr>
  <c:externalData r:id="rId1">
    <c:autoUpdate val="0"/>
  </c:externalData>
</c:chartSpace>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png"/></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5.png"/></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6.png"/></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chart" Target="../charts/chart1.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7.png"/></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8.png"/></Relationships>
</file>

<file path=ppt/slides/_rels/slide4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9.png"/></Relationships>
</file>

<file path=ppt/slides/_rels/slide6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0.png"/></Relationships>
</file>

<file path=ppt/slides/_rels/slide6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1.png"/></Relationships>
</file>

<file path=ppt/slides/_rels/slide6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2.png"/></Relationships>
</file>

<file path=ppt/slides/_rels/slide8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3.png"/></Relationships>
</file>

<file path=ppt/slides/_rels/slide8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4.png"/></Relationships>
</file>

<file path=ppt/slides/_rels/slide8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5.png"/></Relationships>
</file>

<file path=ppt/slides/_rels/slide8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6.png"/></Relationships>
</file>

<file path=ppt/slides/_rels/slide8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9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9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9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9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9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9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9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9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9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9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0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0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0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0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0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201168"/>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6656832"/>
            <a:ext cx="12191695" cy="201168"/>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5" name="Picture 4" descr="tertiary-infotech-logo.png"/>
          <p:cNvPicPr>
            <a:picLocks noChangeAspect="1"/>
          </p:cNvPicPr>
          <p:nvPr/>
        </p:nvPicPr>
        <p:blipFill>
          <a:blip r:embed="rId2"/>
          <a:stretch>
            <a:fillRect/>
          </a:stretch>
        </p:blipFill>
        <p:spPr>
          <a:xfrm>
            <a:off x="777240" y="640080"/>
            <a:ext cx="960120" cy="960120"/>
          </a:xfrm>
          <a:prstGeom prst="rect">
            <a:avLst/>
          </a:prstGeom>
        </p:spPr>
      </p:pic>
      <p:sp>
        <p:nvSpPr>
          <p:cNvPr id="6" name="Rectangle 5"/>
          <p:cNvSpPr/>
          <p:nvPr/>
        </p:nvSpPr>
        <p:spPr>
          <a:xfrm>
            <a:off x="9692640" y="603504"/>
            <a:ext cx="1828800" cy="1024128"/>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692640" y="713232"/>
            <a:ext cx="1828800" cy="475488"/>
          </a:xfrm>
          <a:prstGeom prst="rect">
            <a:avLst/>
          </a:prstGeom>
          <a:noFill/>
        </p:spPr>
        <p:txBody>
          <a:bodyPr wrap="square" anchor="t">
            <a:spAutoFit/>
          </a:bodyPr>
          <a:lstStyle/>
          <a:p>
            <a:pPr algn="ctr">
              <a:spcAft>
                <a:spcPts val="400"/>
              </a:spcAft>
            </a:pPr>
            <a:r>
              <a:rPr sz="1700" b="1">
                <a:solidFill>
                  <a:srgbClr val="FFFFFF"/>
                </a:solidFill>
                <a:latin typeface="Arial"/>
              </a:rPr>
              <a:t>PAPERCLIP</a:t>
            </a:r>
          </a:p>
        </p:txBody>
      </p:sp>
      <p:sp>
        <p:nvSpPr>
          <p:cNvPr id="8" name="TextBox 7"/>
          <p:cNvSpPr txBox="1"/>
          <p:nvPr/>
        </p:nvSpPr>
        <p:spPr>
          <a:xfrm>
            <a:off x="9692640" y="1207008"/>
            <a:ext cx="1828800" cy="365760"/>
          </a:xfrm>
          <a:prstGeom prst="rect">
            <a:avLst/>
          </a:prstGeom>
          <a:noFill/>
        </p:spPr>
        <p:txBody>
          <a:bodyPr wrap="square" anchor="t">
            <a:spAutoFit/>
          </a:bodyPr>
          <a:lstStyle/>
          <a:p>
            <a:pPr algn="ctr">
              <a:spcAft>
                <a:spcPts val="400"/>
              </a:spcAft>
            </a:pPr>
            <a:r>
              <a:rPr sz="800" b="1">
                <a:solidFill>
                  <a:srgbClr val="FFFFFF"/>
                </a:solidFill>
                <a:latin typeface="Arial"/>
              </a:rPr>
              <a:t>AI AGENT COMPANY OS</a:t>
            </a:r>
          </a:p>
        </p:txBody>
      </p:sp>
      <p:sp>
        <p:nvSpPr>
          <p:cNvPr id="9" name="TextBox 8"/>
          <p:cNvSpPr txBox="1"/>
          <p:nvPr/>
        </p:nvSpPr>
        <p:spPr>
          <a:xfrm>
            <a:off x="822960" y="2103120"/>
            <a:ext cx="10972800" cy="548640"/>
          </a:xfrm>
          <a:prstGeom prst="rect">
            <a:avLst/>
          </a:prstGeom>
          <a:noFill/>
        </p:spPr>
        <p:txBody>
          <a:bodyPr wrap="square" anchor="t">
            <a:spAutoFit/>
          </a:bodyPr>
          <a:lstStyle/>
          <a:p>
            <a:pPr algn="l">
              <a:spcAft>
                <a:spcPts val="400"/>
              </a:spcAft>
            </a:pPr>
            <a:r>
              <a:rPr sz="1600" b="1">
                <a:solidFill>
                  <a:srgbClr val="1F6FEB"/>
                </a:solidFill>
                <a:latin typeface="Arial"/>
              </a:rPr>
              <a:t>COURSE SLIDES  ·  WSQ</a:t>
            </a:r>
          </a:p>
        </p:txBody>
      </p:sp>
      <p:sp>
        <p:nvSpPr>
          <p:cNvPr id="10" name="TextBox 9"/>
          <p:cNvSpPr txBox="1"/>
          <p:nvPr/>
        </p:nvSpPr>
        <p:spPr>
          <a:xfrm>
            <a:off x="822960" y="2606040"/>
            <a:ext cx="10972800" cy="1737360"/>
          </a:xfrm>
          <a:prstGeom prst="rect">
            <a:avLst/>
          </a:prstGeom>
          <a:noFill/>
        </p:spPr>
        <p:txBody>
          <a:bodyPr wrap="square" anchor="t">
            <a:spAutoFit/>
          </a:bodyPr>
          <a:lstStyle/>
          <a:p>
            <a:pPr algn="l">
              <a:spcAft>
                <a:spcPts val="400"/>
              </a:spcAft>
            </a:pPr>
            <a:r>
              <a:rPr sz="4000" b="1">
                <a:solidFill>
                  <a:srgbClr val="161B26"/>
                </a:solidFill>
                <a:latin typeface="Arial"/>
              </a:rPr>
              <a:t>Manage AI Agents with Paperclip</a:t>
            </a:r>
          </a:p>
        </p:txBody>
      </p:sp>
      <p:sp>
        <p:nvSpPr>
          <p:cNvPr id="11" name="Rectangle 10"/>
          <p:cNvSpPr/>
          <p:nvPr/>
        </p:nvSpPr>
        <p:spPr>
          <a:xfrm>
            <a:off x="841248" y="4343400"/>
            <a:ext cx="2194560" cy="54864"/>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822960" y="4617720"/>
            <a:ext cx="10972800" cy="1280160"/>
          </a:xfrm>
          <a:prstGeom prst="rect">
            <a:avLst/>
          </a:prstGeom>
          <a:noFill/>
        </p:spPr>
        <p:txBody>
          <a:bodyPr wrap="square" anchor="t">
            <a:spAutoFit/>
          </a:bodyPr>
          <a:lstStyle/>
          <a:p>
            <a:pPr algn="l">
              <a:spcAft>
                <a:spcPts val="600"/>
              </a:spcAft>
            </a:pPr>
            <a:r>
              <a:rPr sz="1600" b="0">
                <a:solidFill>
                  <a:srgbClr val="5B6372"/>
                </a:solidFill>
                <a:latin typeface="Arial"/>
              </a:rPr>
              <a:t>WSQ Course Code: TGS-2023036646</a:t>
            </a:r>
          </a:p>
          <a:p>
            <a:pPr algn="l">
              <a:spcAft>
                <a:spcPts val="600"/>
              </a:spcAft>
            </a:pPr>
            <a:r>
              <a:rPr sz="1300" b="0">
                <a:solidFill>
                  <a:srgbClr val="5B6372"/>
                </a:solidFill>
                <a:latin typeface="Arial"/>
              </a:rPr>
              <a:t>TSC: Applications Integration  ·  ICT-DIT-3003-1.1</a:t>
            </a:r>
          </a:p>
          <a:p>
            <a:pPr algn="l">
              <a:spcAft>
                <a:spcPts val="600"/>
              </a:spcAft>
            </a:pPr>
            <a:r>
              <a:rPr sz="1300" b="0">
                <a:solidFill>
                  <a:srgbClr val="5B6372"/>
                </a:solidFill>
                <a:latin typeface="Arial"/>
              </a:rPr>
              <a:t>Conducted by Tertiary Infotech Academy Pte Ltd  ·  UEN 201200696W</a:t>
            </a:r>
          </a:p>
        </p:txBody>
      </p:sp>
      <p:sp>
        <p:nvSpPr>
          <p:cNvPr id="13" name="TextBox 12"/>
          <p:cNvSpPr txBox="1"/>
          <p:nvPr/>
        </p:nvSpPr>
        <p:spPr>
          <a:xfrm>
            <a:off x="822960" y="5943600"/>
            <a:ext cx="10972800" cy="365760"/>
          </a:xfrm>
          <a:prstGeom prst="rect">
            <a:avLst/>
          </a:prstGeom>
          <a:noFill/>
        </p:spPr>
        <p:txBody>
          <a:bodyPr wrap="square" anchor="t">
            <a:spAutoFit/>
          </a:bodyPr>
          <a:lstStyle/>
          <a:p>
            <a:pPr algn="l">
              <a:spcAft>
                <a:spcPts val="400"/>
              </a:spcAft>
            </a:pPr>
            <a:r>
              <a:rPr sz="1200" b="0">
                <a:solidFill>
                  <a:srgbClr val="5B6372"/>
                </a:solidFill>
                <a:latin typeface="Arial"/>
              </a:rPr>
              <a:t>Version v2.0  ·  28 August 2026</a:t>
            </a:r>
          </a:p>
        </p:txBody>
      </p:sp>
      <p:sp>
        <p:nvSpPr>
          <p:cNvPr id="14" name="TextBox 13"/>
          <p:cNvSpPr txBox="1"/>
          <p:nvPr/>
        </p:nvSpPr>
        <p:spPr>
          <a:xfrm>
            <a:off x="822960" y="6263640"/>
            <a:ext cx="10972800" cy="310896"/>
          </a:xfrm>
          <a:prstGeom prst="rect">
            <a:avLst/>
          </a:prstGeom>
          <a:noFill/>
        </p:spPr>
        <p:txBody>
          <a:bodyPr wrap="square" anchor="t">
            <a:spAutoFit/>
          </a:bodyPr>
          <a:lstStyle/>
          <a:p>
            <a:pPr algn="l">
              <a:spcAft>
                <a:spcPts val="400"/>
              </a:spcAft>
            </a:pPr>
            <a:r>
              <a:rPr sz="1000" b="0">
                <a:solidFill>
                  <a:srgbClr val="5B6372"/>
                </a:solidFill>
                <a:latin typeface="Arial"/>
              </a:rPr>
              <a:t>© 2026 Tertiary Infotech Academy Pte Ltd. All rights reserved.  ·  www.tertiarycourses.com.sg</a:t>
            </a:r>
          </a:p>
        </p:txBody>
      </p:sp>
    </p:spTree>
  </p:cSld>
  <p:clrMapOvr>
    <a:masterClrMapping/>
  </p:clrMapOvr>
  <p:transition spd="fast" advClick="1">
    <p:fade/>
  </p:transition>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685800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777240" y="2286000"/>
            <a:ext cx="128016" cy="182880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1143000" y="2331720"/>
            <a:ext cx="10058400" cy="548640"/>
          </a:xfrm>
          <a:prstGeom prst="rect">
            <a:avLst/>
          </a:prstGeom>
          <a:noFill/>
        </p:spPr>
        <p:txBody>
          <a:bodyPr wrap="square" anchor="t">
            <a:spAutoFit/>
          </a:bodyPr>
          <a:lstStyle/>
          <a:p>
            <a:pPr algn="l">
              <a:spcAft>
                <a:spcPts val="400"/>
              </a:spcAft>
            </a:pPr>
            <a:r>
              <a:rPr sz="1800" b="1">
                <a:solidFill>
                  <a:srgbClr val="1F6FEB"/>
                </a:solidFill>
                <a:latin typeface="Arial"/>
              </a:rPr>
              <a:t>COURSE ADMINISTRATION</a:t>
            </a:r>
          </a:p>
        </p:txBody>
      </p:sp>
      <p:sp>
        <p:nvSpPr>
          <p:cNvPr id="6" name="TextBox 5"/>
          <p:cNvSpPr txBox="1"/>
          <p:nvPr/>
        </p:nvSpPr>
        <p:spPr>
          <a:xfrm>
            <a:off x="1143000" y="2743200"/>
            <a:ext cx="10424160" cy="1463040"/>
          </a:xfrm>
          <a:prstGeom prst="rect">
            <a:avLst/>
          </a:prstGeom>
          <a:noFill/>
        </p:spPr>
        <p:txBody>
          <a:bodyPr wrap="square" anchor="t">
            <a:spAutoFit/>
          </a:bodyPr>
          <a:lstStyle/>
          <a:p>
            <a:pPr algn="l">
              <a:spcAft>
                <a:spcPts val="400"/>
              </a:spcAft>
            </a:pPr>
            <a:r>
              <a:rPr sz="4000" b="1">
                <a:solidFill>
                  <a:srgbClr val="161B26"/>
                </a:solidFill>
                <a:latin typeface="Arial"/>
              </a:rPr>
              <a:t>Welcome &amp; Housekeeping</a:t>
            </a:r>
          </a:p>
        </p:txBody>
      </p:sp>
      <p:sp>
        <p:nvSpPr>
          <p:cNvPr id="7" name="TextBox 6"/>
          <p:cNvSpPr txBox="1"/>
          <p:nvPr/>
        </p:nvSpPr>
        <p:spPr>
          <a:xfrm>
            <a:off x="9144000" y="640080"/>
            <a:ext cx="2560320" cy="1463040"/>
          </a:xfrm>
          <a:prstGeom prst="rect">
            <a:avLst/>
          </a:prstGeom>
          <a:noFill/>
        </p:spPr>
        <p:txBody>
          <a:bodyPr wrap="square" anchor="t">
            <a:spAutoFit/>
          </a:bodyPr>
          <a:lstStyle/>
          <a:p>
            <a:pPr algn="r">
              <a:spcAft>
                <a:spcPts val="400"/>
              </a:spcAft>
            </a:pPr>
            <a:r>
              <a:rPr sz="7200" b="1">
                <a:solidFill>
                  <a:srgbClr val="E2E8F0"/>
                </a:solidFill>
                <a:latin typeface="Arial"/>
              </a:rPr>
              <a:t/>
            </a:r>
          </a:p>
        </p:txBody>
      </p:sp>
      <p:sp>
        <p:nvSpPr>
          <p:cNvPr id="8" name="TextBox 7"/>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Manage AI Agents with Paperclip (TGS-2023036646)  ·  TGS-2023036646</a:t>
            </a:r>
          </a:p>
        </p:txBody>
      </p:sp>
      <p:sp>
        <p:nvSpPr>
          <p:cNvPr id="9" name="TextBox 8"/>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10" name="TextBox 9"/>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2</a:t>
            </a:r>
          </a:p>
        </p:txBody>
      </p:sp>
    </p:spTree>
  </p:cSld>
  <p:clrMapOvr>
    <a:masterClrMapping/>
  </p:clrMapOvr>
  <p:transition spd="med" advClick="1">
    <p:push dir="l"/>
  </p:transition>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1F6FEB"/>
                </a:solidFill>
                <a:latin typeface="Arial"/>
              </a:rPr>
              <a:t>TRAQOM · SSG DIGITAL ATTENDANCE</a:t>
            </a:r>
          </a:p>
        </p:txBody>
      </p:sp>
      <p:sp>
        <p:nvSpPr>
          <p:cNvPr id="5" name="TextBox 4"/>
          <p:cNvSpPr txBox="1"/>
          <p:nvPr/>
        </p:nvSpPr>
        <p:spPr>
          <a:xfrm>
            <a:off x="777240" y="804672"/>
            <a:ext cx="10881360" cy="713232"/>
          </a:xfrm>
          <a:prstGeom prst="rect">
            <a:avLst/>
          </a:prstGeom>
          <a:noFill/>
        </p:spPr>
        <p:txBody>
          <a:bodyPr wrap="square" anchor="ctr">
            <a:spAutoFit/>
          </a:bodyPr>
          <a:lstStyle/>
          <a:p>
            <a:pPr algn="l">
              <a:spcAft>
                <a:spcPts val="400"/>
              </a:spcAft>
            </a:pPr>
            <a:r>
              <a:rPr sz="2900" b="1">
                <a:solidFill>
                  <a:srgbClr val="161B26"/>
                </a:solidFill>
                <a:latin typeface="Arial"/>
              </a:rPr>
              <a:t>Digital Attendance (Mandatory)</a:t>
            </a:r>
          </a:p>
        </p:txBody>
      </p:sp>
      <p:sp>
        <p:nvSpPr>
          <p:cNvPr id="6" name="Rectangle 5"/>
          <p:cNvSpPr/>
          <p:nvPr/>
        </p:nvSpPr>
        <p:spPr>
          <a:xfrm>
            <a:off x="777240" y="155448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77240" y="1783080"/>
            <a:ext cx="5180076" cy="2066544"/>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777240" y="1783080"/>
            <a:ext cx="91440" cy="2066544"/>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Oval 8"/>
          <p:cNvSpPr/>
          <p:nvPr/>
        </p:nvSpPr>
        <p:spPr>
          <a:xfrm>
            <a:off x="1033272" y="2542032"/>
            <a:ext cx="548640" cy="548640"/>
          </a:xfrm>
          <a:prstGeom prst="ellipse">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1033272" y="2542032"/>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1</a:t>
            </a:r>
          </a:p>
        </p:txBody>
      </p:sp>
      <p:sp>
        <p:nvSpPr>
          <p:cNvPr id="11" name="TextBox 10"/>
          <p:cNvSpPr txBox="1"/>
          <p:nvPr/>
        </p:nvSpPr>
        <p:spPr>
          <a:xfrm>
            <a:off x="1764792" y="1911096"/>
            <a:ext cx="3973068" cy="1883664"/>
          </a:xfrm>
          <a:prstGeom prst="rect">
            <a:avLst/>
          </a:prstGeom>
          <a:noFill/>
        </p:spPr>
        <p:txBody>
          <a:bodyPr wrap="square" anchor="ctr">
            <a:spAutoFit/>
          </a:bodyPr>
          <a:lstStyle/>
          <a:p>
            <a:pPr algn="l">
              <a:spcAft>
                <a:spcPts val="300"/>
              </a:spcAft>
            </a:pPr>
            <a:r>
              <a:rPr sz="1700" b="1">
                <a:solidFill>
                  <a:srgbClr val="161B26"/>
                </a:solidFill>
                <a:latin typeface="Arial"/>
              </a:rPr>
              <a:t>Three times a day</a:t>
            </a:r>
          </a:p>
          <a:p>
            <a:pPr algn="l">
              <a:spcAft>
                <a:spcPts val="300"/>
              </a:spcAft>
            </a:pPr>
            <a:r>
              <a:rPr sz="1300" b="0">
                <a:solidFill>
                  <a:srgbClr val="5B6372"/>
                </a:solidFill>
                <a:latin typeface="Arial"/>
              </a:rPr>
              <a:t>Take the AM, PM and Assessment digital attendance — mandatory for every WSQ-funded course.</a:t>
            </a:r>
          </a:p>
        </p:txBody>
      </p:sp>
      <p:sp>
        <p:nvSpPr>
          <p:cNvPr id="12" name="Rectangle 11"/>
          <p:cNvSpPr/>
          <p:nvPr/>
        </p:nvSpPr>
        <p:spPr>
          <a:xfrm>
            <a:off x="6231636" y="1783080"/>
            <a:ext cx="5180076" cy="2066544"/>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6231636" y="1783080"/>
            <a:ext cx="91440" cy="2066544"/>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Oval 13"/>
          <p:cNvSpPr/>
          <p:nvPr/>
        </p:nvSpPr>
        <p:spPr>
          <a:xfrm>
            <a:off x="6487668" y="2542032"/>
            <a:ext cx="548640" cy="548640"/>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487668" y="2542032"/>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2</a:t>
            </a:r>
          </a:p>
        </p:txBody>
      </p:sp>
      <p:sp>
        <p:nvSpPr>
          <p:cNvPr id="16" name="TextBox 15"/>
          <p:cNvSpPr txBox="1"/>
          <p:nvPr/>
        </p:nvSpPr>
        <p:spPr>
          <a:xfrm>
            <a:off x="7219188" y="1911096"/>
            <a:ext cx="3973068" cy="1883664"/>
          </a:xfrm>
          <a:prstGeom prst="rect">
            <a:avLst/>
          </a:prstGeom>
          <a:noFill/>
        </p:spPr>
        <p:txBody>
          <a:bodyPr wrap="square" anchor="ctr">
            <a:spAutoFit/>
          </a:bodyPr>
          <a:lstStyle/>
          <a:p>
            <a:pPr algn="l">
              <a:spcAft>
                <a:spcPts val="300"/>
              </a:spcAft>
            </a:pPr>
            <a:r>
              <a:rPr sz="1700" b="1">
                <a:solidFill>
                  <a:srgbClr val="161B26"/>
                </a:solidFill>
                <a:latin typeface="Arial"/>
              </a:rPr>
              <a:t>Trainer shows the QR</a:t>
            </a:r>
          </a:p>
          <a:p>
            <a:pPr algn="l">
              <a:spcAft>
                <a:spcPts val="300"/>
              </a:spcAft>
            </a:pPr>
            <a:r>
              <a:rPr sz="1300" b="0">
                <a:solidFill>
                  <a:srgbClr val="5B6372"/>
                </a:solidFill>
                <a:latin typeface="Arial"/>
              </a:rPr>
              <a:t>The trainer or administrator displays the digital attendance QR code from the SSG portal.</a:t>
            </a:r>
          </a:p>
        </p:txBody>
      </p:sp>
      <p:sp>
        <p:nvSpPr>
          <p:cNvPr id="17" name="Rectangle 16"/>
          <p:cNvSpPr/>
          <p:nvPr/>
        </p:nvSpPr>
        <p:spPr>
          <a:xfrm>
            <a:off x="777240" y="4087368"/>
            <a:ext cx="5180076" cy="2066544"/>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777240" y="4087368"/>
            <a:ext cx="91440" cy="2066544"/>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Oval 18"/>
          <p:cNvSpPr/>
          <p:nvPr/>
        </p:nvSpPr>
        <p:spPr>
          <a:xfrm>
            <a:off x="1033272" y="4846320"/>
            <a:ext cx="548640" cy="548640"/>
          </a:xfrm>
          <a:prstGeom prst="ellipse">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1033272" y="4846320"/>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3</a:t>
            </a:r>
          </a:p>
        </p:txBody>
      </p:sp>
      <p:sp>
        <p:nvSpPr>
          <p:cNvPr id="21" name="TextBox 20"/>
          <p:cNvSpPr txBox="1"/>
          <p:nvPr/>
        </p:nvSpPr>
        <p:spPr>
          <a:xfrm>
            <a:off x="1764792" y="4215384"/>
            <a:ext cx="3973068" cy="1883664"/>
          </a:xfrm>
          <a:prstGeom prst="rect">
            <a:avLst/>
          </a:prstGeom>
          <a:noFill/>
        </p:spPr>
        <p:txBody>
          <a:bodyPr wrap="square" anchor="ctr">
            <a:spAutoFit/>
          </a:bodyPr>
          <a:lstStyle/>
          <a:p>
            <a:pPr algn="l">
              <a:spcAft>
                <a:spcPts val="300"/>
              </a:spcAft>
            </a:pPr>
            <a:r>
              <a:rPr sz="1700" b="1">
                <a:solidFill>
                  <a:srgbClr val="161B26"/>
                </a:solidFill>
                <a:latin typeface="Arial"/>
              </a:rPr>
              <a:t>Scan and submit</a:t>
            </a:r>
          </a:p>
          <a:p>
            <a:pPr algn="l">
              <a:spcAft>
                <a:spcPts val="300"/>
              </a:spcAft>
            </a:pPr>
            <a:r>
              <a:rPr sz="1300" b="0">
                <a:solidFill>
                  <a:srgbClr val="5B6372"/>
                </a:solidFill>
                <a:latin typeface="Arial"/>
              </a:rPr>
              <a:t>Scan the QR code with your mobile phone camera and submit your attendance.</a:t>
            </a:r>
          </a:p>
        </p:txBody>
      </p:sp>
      <p:sp>
        <p:nvSpPr>
          <p:cNvPr id="22" name="Rectangle 21"/>
          <p:cNvSpPr/>
          <p:nvPr/>
        </p:nvSpPr>
        <p:spPr>
          <a:xfrm>
            <a:off x="6231636" y="4087368"/>
            <a:ext cx="5180076" cy="2066544"/>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ectangle 22"/>
          <p:cNvSpPr/>
          <p:nvPr/>
        </p:nvSpPr>
        <p:spPr>
          <a:xfrm>
            <a:off x="6231636" y="4087368"/>
            <a:ext cx="91440" cy="2066544"/>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Oval 23"/>
          <p:cNvSpPr/>
          <p:nvPr/>
        </p:nvSpPr>
        <p:spPr>
          <a:xfrm>
            <a:off x="6487668" y="4846320"/>
            <a:ext cx="548640" cy="548640"/>
          </a:xfrm>
          <a:prstGeom prst="ellipse">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6487668" y="4846320"/>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4</a:t>
            </a:r>
          </a:p>
        </p:txBody>
      </p:sp>
      <p:sp>
        <p:nvSpPr>
          <p:cNvPr id="26" name="TextBox 25"/>
          <p:cNvSpPr txBox="1"/>
          <p:nvPr/>
        </p:nvSpPr>
        <p:spPr>
          <a:xfrm>
            <a:off x="7219188" y="4215384"/>
            <a:ext cx="3973068" cy="1883664"/>
          </a:xfrm>
          <a:prstGeom prst="rect">
            <a:avLst/>
          </a:prstGeom>
          <a:noFill/>
        </p:spPr>
        <p:txBody>
          <a:bodyPr wrap="square" anchor="ctr">
            <a:spAutoFit/>
          </a:bodyPr>
          <a:lstStyle/>
          <a:p>
            <a:pPr algn="l">
              <a:spcAft>
                <a:spcPts val="300"/>
              </a:spcAft>
            </a:pPr>
            <a:r>
              <a:rPr sz="1700" b="1">
                <a:solidFill>
                  <a:srgbClr val="161B26"/>
                </a:solidFill>
                <a:latin typeface="Arial"/>
              </a:rPr>
              <a:t>75% minimum</a:t>
            </a:r>
          </a:p>
          <a:p>
            <a:pPr algn="l">
              <a:spcAft>
                <a:spcPts val="300"/>
              </a:spcAft>
            </a:pPr>
            <a:r>
              <a:rPr sz="1300" b="0">
                <a:solidFill>
                  <a:srgbClr val="5B6372"/>
                </a:solidFill>
                <a:latin typeface="Arial"/>
              </a:rPr>
              <a:t>A minimum of 75% attendance is required to be eligible for assessment and funding.</a:t>
            </a:r>
          </a:p>
        </p:txBody>
      </p:sp>
      <p:sp>
        <p:nvSpPr>
          <p:cNvPr id="27" name="TextBox 26"/>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Manage AI Agents with Paperclip (TGS-2023036646)  ·  TGS-2023036646</a:t>
            </a:r>
          </a:p>
        </p:txBody>
      </p:sp>
      <p:sp>
        <p:nvSpPr>
          <p:cNvPr id="28" name="TextBox 27"/>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29" name="TextBox 28"/>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3</a:t>
            </a:r>
          </a:p>
        </p:txBody>
      </p:sp>
    </p:spTree>
  </p:cSld>
  <p:clrMapOvr>
    <a:masterClrMapping/>
  </p:clrMapOvr>
  <p:transition spd="fast" advClick="1">
    <p:fade/>
  </p:transition>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5B637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5B6372"/>
                </a:solidFill>
                <a:latin typeface="Arial"/>
              </a:rPr>
              <a:t>YOUR TRAINER · GENERAL</a:t>
            </a:r>
          </a:p>
        </p:txBody>
      </p:sp>
      <p:sp>
        <p:nvSpPr>
          <p:cNvPr id="5" name="TextBox 4"/>
          <p:cNvSpPr txBox="1"/>
          <p:nvPr/>
        </p:nvSpPr>
        <p:spPr>
          <a:xfrm>
            <a:off x="777240" y="804672"/>
            <a:ext cx="10881360" cy="713232"/>
          </a:xfrm>
          <a:prstGeom prst="rect">
            <a:avLst/>
          </a:prstGeom>
          <a:noFill/>
        </p:spPr>
        <p:txBody>
          <a:bodyPr wrap="square" anchor="ctr">
            <a:spAutoFit/>
          </a:bodyPr>
          <a:lstStyle/>
          <a:p>
            <a:pPr algn="l">
              <a:spcAft>
                <a:spcPts val="400"/>
              </a:spcAft>
            </a:pPr>
            <a:r>
              <a:rPr sz="2900" b="1">
                <a:solidFill>
                  <a:srgbClr val="161B26"/>
                </a:solidFill>
                <a:latin typeface="Arial"/>
              </a:rPr>
              <a:t>About the Trainer</a:t>
            </a:r>
          </a:p>
        </p:txBody>
      </p:sp>
      <p:sp>
        <p:nvSpPr>
          <p:cNvPr id="6" name="Rectangle 5"/>
          <p:cNvSpPr/>
          <p:nvPr/>
        </p:nvSpPr>
        <p:spPr>
          <a:xfrm>
            <a:off x="777240" y="155448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77240" y="1783080"/>
            <a:ext cx="3337560" cy="429768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777240" y="1783080"/>
            <a:ext cx="3337560" cy="109728"/>
          </a:xfrm>
          <a:prstGeom prst="rect">
            <a:avLst/>
          </a:prstGeom>
          <a:solidFill>
            <a:srgbClr val="5B637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Oval 8"/>
          <p:cNvSpPr/>
          <p:nvPr/>
        </p:nvSpPr>
        <p:spPr>
          <a:xfrm>
            <a:off x="1668780" y="2286000"/>
            <a:ext cx="1554480" cy="1554480"/>
          </a:xfrm>
          <a:prstGeom prst="ellipse">
            <a:avLst/>
          </a:prstGeom>
          <a:solidFill>
            <a:srgbClr val="5B637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1668780" y="2286000"/>
            <a:ext cx="1554480" cy="1554480"/>
          </a:xfrm>
          <a:prstGeom prst="rect">
            <a:avLst/>
          </a:prstGeom>
          <a:noFill/>
        </p:spPr>
        <p:txBody>
          <a:bodyPr wrap="square" anchor="ctr">
            <a:spAutoFit/>
          </a:bodyPr>
          <a:lstStyle/>
          <a:p>
            <a:pPr algn="ctr">
              <a:spcAft>
                <a:spcPts val="400"/>
              </a:spcAft>
            </a:pPr>
            <a:r>
              <a:rPr sz="4400" b="1">
                <a:solidFill>
                  <a:srgbClr val="FFFFFF"/>
                </a:solidFill>
                <a:latin typeface="Arial"/>
              </a:rPr>
              <a:t>?</a:t>
            </a:r>
          </a:p>
        </p:txBody>
      </p:sp>
      <p:sp>
        <p:nvSpPr>
          <p:cNvPr id="11" name="TextBox 10"/>
          <p:cNvSpPr txBox="1"/>
          <p:nvPr/>
        </p:nvSpPr>
        <p:spPr>
          <a:xfrm>
            <a:off x="914400" y="4160520"/>
            <a:ext cx="3063240" cy="548640"/>
          </a:xfrm>
          <a:prstGeom prst="rect">
            <a:avLst/>
          </a:prstGeom>
          <a:noFill/>
        </p:spPr>
        <p:txBody>
          <a:bodyPr wrap="square" anchor="t">
            <a:spAutoFit/>
          </a:bodyPr>
          <a:lstStyle/>
          <a:p>
            <a:pPr algn="ctr">
              <a:spcAft>
                <a:spcPts val="400"/>
              </a:spcAft>
            </a:pPr>
            <a:r>
              <a:rPr sz="2100" b="1">
                <a:solidFill>
                  <a:srgbClr val="161B26"/>
                </a:solidFill>
                <a:latin typeface="Arial"/>
              </a:rPr>
              <a:t>Your Trainer</a:t>
            </a:r>
          </a:p>
        </p:txBody>
      </p:sp>
      <p:sp>
        <p:nvSpPr>
          <p:cNvPr id="12" name="TextBox 11"/>
          <p:cNvSpPr txBox="1"/>
          <p:nvPr/>
        </p:nvSpPr>
        <p:spPr>
          <a:xfrm>
            <a:off x="914400" y="4754880"/>
            <a:ext cx="3063240" cy="1097280"/>
          </a:xfrm>
          <a:prstGeom prst="rect">
            <a:avLst/>
          </a:prstGeom>
          <a:noFill/>
        </p:spPr>
        <p:txBody>
          <a:bodyPr wrap="square" anchor="t">
            <a:spAutoFit/>
          </a:bodyPr>
          <a:lstStyle/>
          <a:p>
            <a:pPr algn="ctr">
              <a:spcAft>
                <a:spcPts val="200"/>
              </a:spcAft>
            </a:pPr>
            <a:r>
              <a:rPr sz="1300" b="0">
                <a:solidFill>
                  <a:srgbClr val="5B6372"/>
                </a:solidFill>
                <a:latin typeface="Arial"/>
              </a:rPr>
              <a:t>General Trainer template —</a:t>
            </a:r>
          </a:p>
          <a:p>
            <a:pPr algn="ctr">
              <a:spcAft>
                <a:spcPts val="200"/>
              </a:spcAft>
            </a:pPr>
            <a:r>
              <a:rPr sz="1300" b="0">
                <a:solidFill>
                  <a:srgbClr val="5B6372"/>
                </a:solidFill>
                <a:latin typeface="Arial"/>
              </a:rPr>
              <a:t>to be completed by the trainer</a:t>
            </a:r>
          </a:p>
        </p:txBody>
      </p:sp>
      <p:sp>
        <p:nvSpPr>
          <p:cNvPr id="13" name="Rectangle 12"/>
          <p:cNvSpPr/>
          <p:nvPr/>
        </p:nvSpPr>
        <p:spPr>
          <a:xfrm>
            <a:off x="4480560" y="1783080"/>
            <a:ext cx="6949440" cy="56388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4480560" y="1783080"/>
            <a:ext cx="91440" cy="56388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4773168" y="1783080"/>
            <a:ext cx="6400800" cy="563880"/>
          </a:xfrm>
          <a:prstGeom prst="rect">
            <a:avLst/>
          </a:prstGeom>
          <a:noFill/>
        </p:spPr>
        <p:txBody>
          <a:bodyPr wrap="square" anchor="ctr">
            <a:spAutoFit/>
          </a:bodyPr>
          <a:lstStyle/>
          <a:p>
            <a:pPr algn="l">
              <a:spcAft>
                <a:spcPts val="300"/>
              </a:spcAft>
            </a:pPr>
            <a:r>
              <a:rPr sz="1100" b="1">
                <a:solidFill>
                  <a:srgbClr val="1F6FEB"/>
                </a:solidFill>
                <a:latin typeface="Arial"/>
              </a:rPr>
              <a:t>NAME</a:t>
            </a:r>
          </a:p>
          <a:p>
            <a:pPr algn="l">
              <a:spcAft>
                <a:spcPts val="300"/>
              </a:spcAft>
            </a:pPr>
            <a:r>
              <a:rPr sz="1300" b="0">
                <a:solidFill>
                  <a:srgbClr val="E2E8F0"/>
                </a:solidFill>
                <a:latin typeface="Arial"/>
              </a:rPr>
              <a:t>____________________________________________</a:t>
            </a:r>
          </a:p>
        </p:txBody>
      </p:sp>
      <p:sp>
        <p:nvSpPr>
          <p:cNvPr id="16" name="Rectangle 15"/>
          <p:cNvSpPr/>
          <p:nvPr/>
        </p:nvSpPr>
        <p:spPr>
          <a:xfrm>
            <a:off x="4480560" y="2529840"/>
            <a:ext cx="6949440" cy="56388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4480560" y="2529840"/>
            <a:ext cx="91440" cy="56388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4773168" y="2529840"/>
            <a:ext cx="6400800" cy="563880"/>
          </a:xfrm>
          <a:prstGeom prst="rect">
            <a:avLst/>
          </a:prstGeom>
          <a:noFill/>
        </p:spPr>
        <p:txBody>
          <a:bodyPr wrap="square" anchor="ctr">
            <a:spAutoFit/>
          </a:bodyPr>
          <a:lstStyle/>
          <a:p>
            <a:pPr algn="l">
              <a:spcAft>
                <a:spcPts val="300"/>
              </a:spcAft>
            </a:pPr>
            <a:r>
              <a:rPr sz="1100" b="1">
                <a:solidFill>
                  <a:srgbClr val="10B981"/>
                </a:solidFill>
                <a:latin typeface="Arial"/>
              </a:rPr>
              <a:t>TITLE / DESIGNATION</a:t>
            </a:r>
          </a:p>
          <a:p>
            <a:pPr algn="l">
              <a:spcAft>
                <a:spcPts val="300"/>
              </a:spcAft>
            </a:pPr>
            <a:r>
              <a:rPr sz="1300" b="0">
                <a:solidFill>
                  <a:srgbClr val="E2E8F0"/>
                </a:solidFill>
                <a:latin typeface="Arial"/>
              </a:rPr>
              <a:t>____________________________________________</a:t>
            </a:r>
          </a:p>
        </p:txBody>
      </p:sp>
      <p:sp>
        <p:nvSpPr>
          <p:cNvPr id="19" name="Rectangle 18"/>
          <p:cNvSpPr/>
          <p:nvPr/>
        </p:nvSpPr>
        <p:spPr>
          <a:xfrm>
            <a:off x="4480560" y="3276600"/>
            <a:ext cx="6949440" cy="56388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ectangle 19"/>
          <p:cNvSpPr/>
          <p:nvPr/>
        </p:nvSpPr>
        <p:spPr>
          <a:xfrm>
            <a:off x="4480560" y="3276600"/>
            <a:ext cx="91440" cy="563880"/>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4773168" y="3276600"/>
            <a:ext cx="6400800" cy="563880"/>
          </a:xfrm>
          <a:prstGeom prst="rect">
            <a:avLst/>
          </a:prstGeom>
          <a:noFill/>
        </p:spPr>
        <p:txBody>
          <a:bodyPr wrap="square" anchor="ctr">
            <a:spAutoFit/>
          </a:bodyPr>
          <a:lstStyle/>
          <a:p>
            <a:pPr algn="l">
              <a:spcAft>
                <a:spcPts val="300"/>
              </a:spcAft>
            </a:pPr>
            <a:r>
              <a:rPr sz="1100" b="1">
                <a:solidFill>
                  <a:srgbClr val="7C3AED"/>
                </a:solidFill>
                <a:latin typeface="Arial"/>
              </a:rPr>
              <a:t>QUALIFICATIONS</a:t>
            </a:r>
          </a:p>
          <a:p>
            <a:pPr algn="l">
              <a:spcAft>
                <a:spcPts val="300"/>
              </a:spcAft>
            </a:pPr>
            <a:r>
              <a:rPr sz="1300" b="0">
                <a:solidFill>
                  <a:srgbClr val="E2E8F0"/>
                </a:solidFill>
                <a:latin typeface="Arial"/>
              </a:rPr>
              <a:t>____________________________________________</a:t>
            </a:r>
          </a:p>
        </p:txBody>
      </p:sp>
      <p:sp>
        <p:nvSpPr>
          <p:cNvPr id="22" name="Rectangle 21"/>
          <p:cNvSpPr/>
          <p:nvPr/>
        </p:nvSpPr>
        <p:spPr>
          <a:xfrm>
            <a:off x="4480560" y="4023360"/>
            <a:ext cx="6949440" cy="56388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ectangle 22"/>
          <p:cNvSpPr/>
          <p:nvPr/>
        </p:nvSpPr>
        <p:spPr>
          <a:xfrm>
            <a:off x="4480560" y="4023360"/>
            <a:ext cx="91440" cy="563880"/>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4773168" y="4023360"/>
            <a:ext cx="6400800" cy="563880"/>
          </a:xfrm>
          <a:prstGeom prst="rect">
            <a:avLst/>
          </a:prstGeom>
          <a:noFill/>
        </p:spPr>
        <p:txBody>
          <a:bodyPr wrap="square" anchor="ctr">
            <a:spAutoFit/>
          </a:bodyPr>
          <a:lstStyle/>
          <a:p>
            <a:pPr algn="l">
              <a:spcAft>
                <a:spcPts val="300"/>
              </a:spcAft>
            </a:pPr>
            <a:r>
              <a:rPr sz="1100" b="1">
                <a:solidFill>
                  <a:srgbClr val="F59E0B"/>
                </a:solidFill>
                <a:latin typeface="Arial"/>
              </a:rPr>
              <a:t>AREAS OF EXPERTISE</a:t>
            </a:r>
          </a:p>
          <a:p>
            <a:pPr algn="l">
              <a:spcAft>
                <a:spcPts val="300"/>
              </a:spcAft>
            </a:pPr>
            <a:r>
              <a:rPr sz="1300" b="0">
                <a:solidFill>
                  <a:srgbClr val="E2E8F0"/>
                </a:solidFill>
                <a:latin typeface="Arial"/>
              </a:rPr>
              <a:t>____________________________________________</a:t>
            </a:r>
          </a:p>
        </p:txBody>
      </p:sp>
      <p:sp>
        <p:nvSpPr>
          <p:cNvPr id="25" name="Rectangle 24"/>
          <p:cNvSpPr/>
          <p:nvPr/>
        </p:nvSpPr>
        <p:spPr>
          <a:xfrm>
            <a:off x="4480560" y="4770120"/>
            <a:ext cx="6949440" cy="56388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Rectangle 25"/>
          <p:cNvSpPr/>
          <p:nvPr/>
        </p:nvSpPr>
        <p:spPr>
          <a:xfrm>
            <a:off x="4480560" y="4770120"/>
            <a:ext cx="91440" cy="56388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4773168" y="4770120"/>
            <a:ext cx="6400800" cy="563880"/>
          </a:xfrm>
          <a:prstGeom prst="rect">
            <a:avLst/>
          </a:prstGeom>
          <a:noFill/>
        </p:spPr>
        <p:txBody>
          <a:bodyPr wrap="square" anchor="ctr">
            <a:spAutoFit/>
          </a:bodyPr>
          <a:lstStyle/>
          <a:p>
            <a:pPr algn="l">
              <a:spcAft>
                <a:spcPts val="300"/>
              </a:spcAft>
            </a:pPr>
            <a:r>
              <a:rPr sz="1100" b="1">
                <a:solidFill>
                  <a:srgbClr val="1F6FEB"/>
                </a:solidFill>
                <a:latin typeface="Arial"/>
              </a:rPr>
              <a:t>TRAINING &amp; INDUSTRY EXPERIENCE</a:t>
            </a:r>
          </a:p>
          <a:p>
            <a:pPr algn="l">
              <a:spcAft>
                <a:spcPts val="300"/>
              </a:spcAft>
            </a:pPr>
            <a:r>
              <a:rPr sz="1300" b="0">
                <a:solidFill>
                  <a:srgbClr val="E2E8F0"/>
                </a:solidFill>
                <a:latin typeface="Arial"/>
              </a:rPr>
              <a:t>____________________________________________</a:t>
            </a:r>
          </a:p>
        </p:txBody>
      </p:sp>
      <p:sp>
        <p:nvSpPr>
          <p:cNvPr id="28" name="Rectangle 27"/>
          <p:cNvSpPr/>
          <p:nvPr/>
        </p:nvSpPr>
        <p:spPr>
          <a:xfrm>
            <a:off x="4480560" y="5516880"/>
            <a:ext cx="6949440" cy="56388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Rectangle 28"/>
          <p:cNvSpPr/>
          <p:nvPr/>
        </p:nvSpPr>
        <p:spPr>
          <a:xfrm>
            <a:off x="4480560" y="5516880"/>
            <a:ext cx="91440" cy="56388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TextBox 29"/>
          <p:cNvSpPr txBox="1"/>
          <p:nvPr/>
        </p:nvSpPr>
        <p:spPr>
          <a:xfrm>
            <a:off x="4773168" y="5516880"/>
            <a:ext cx="6400800" cy="563880"/>
          </a:xfrm>
          <a:prstGeom prst="rect">
            <a:avLst/>
          </a:prstGeom>
          <a:noFill/>
        </p:spPr>
        <p:txBody>
          <a:bodyPr wrap="square" anchor="ctr">
            <a:spAutoFit/>
          </a:bodyPr>
          <a:lstStyle/>
          <a:p>
            <a:pPr algn="l">
              <a:spcAft>
                <a:spcPts val="300"/>
              </a:spcAft>
            </a:pPr>
            <a:r>
              <a:rPr sz="1100" b="1">
                <a:solidFill>
                  <a:srgbClr val="10B981"/>
                </a:solidFill>
                <a:latin typeface="Arial"/>
              </a:rPr>
              <a:t>CONTACT</a:t>
            </a:r>
          </a:p>
          <a:p>
            <a:pPr algn="l">
              <a:spcAft>
                <a:spcPts val="300"/>
              </a:spcAft>
            </a:pPr>
            <a:r>
              <a:rPr sz="1300" b="0">
                <a:solidFill>
                  <a:srgbClr val="E2E8F0"/>
                </a:solidFill>
                <a:latin typeface="Arial"/>
              </a:rPr>
              <a:t>____________________________________________</a:t>
            </a:r>
          </a:p>
        </p:txBody>
      </p:sp>
      <p:sp>
        <p:nvSpPr>
          <p:cNvPr id="31" name="TextBox 30"/>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Manage AI Agents with Paperclip (TGS-2023036646)  ·  TGS-2023036646</a:t>
            </a:r>
          </a:p>
        </p:txBody>
      </p:sp>
      <p:sp>
        <p:nvSpPr>
          <p:cNvPr id="32" name="TextBox 31"/>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33" name="TextBox 32"/>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4</a:t>
            </a:r>
          </a:p>
        </p:txBody>
      </p:sp>
    </p:spTree>
  </p:cSld>
  <p:clrMapOvr>
    <a:masterClrMapping/>
  </p:clrMapOvr>
  <p:transition spd="fast" advClick="1">
    <p:fade/>
  </p:transition>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1F6FEB"/>
                </a:solidFill>
                <a:latin typeface="Arial"/>
              </a:rPr>
              <a:t>YOUR TRAINER</a:t>
            </a:r>
          </a:p>
        </p:txBody>
      </p:sp>
      <p:sp>
        <p:nvSpPr>
          <p:cNvPr id="5" name="TextBox 4"/>
          <p:cNvSpPr txBox="1"/>
          <p:nvPr/>
        </p:nvSpPr>
        <p:spPr>
          <a:xfrm>
            <a:off x="777240" y="804672"/>
            <a:ext cx="10881360" cy="713232"/>
          </a:xfrm>
          <a:prstGeom prst="rect">
            <a:avLst/>
          </a:prstGeom>
          <a:noFill/>
        </p:spPr>
        <p:txBody>
          <a:bodyPr wrap="square" anchor="ctr">
            <a:spAutoFit/>
          </a:bodyPr>
          <a:lstStyle/>
          <a:p>
            <a:pPr algn="l">
              <a:spcAft>
                <a:spcPts val="400"/>
              </a:spcAft>
            </a:pPr>
            <a:r>
              <a:rPr sz="2900" b="1">
                <a:solidFill>
                  <a:srgbClr val="161B26"/>
                </a:solidFill>
                <a:latin typeface="Arial"/>
              </a:rPr>
              <a:t>About the Trainer</a:t>
            </a:r>
          </a:p>
        </p:txBody>
      </p:sp>
      <p:sp>
        <p:nvSpPr>
          <p:cNvPr id="6" name="Rectangle 5"/>
          <p:cNvSpPr/>
          <p:nvPr/>
        </p:nvSpPr>
        <p:spPr>
          <a:xfrm>
            <a:off x="777240" y="155448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77240" y="1783080"/>
            <a:ext cx="3337560" cy="429768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777240" y="1783080"/>
            <a:ext cx="3337560" cy="109728"/>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Oval 8"/>
          <p:cNvSpPr/>
          <p:nvPr/>
        </p:nvSpPr>
        <p:spPr>
          <a:xfrm>
            <a:off x="1668780" y="2286000"/>
            <a:ext cx="1554480" cy="1554480"/>
          </a:xfrm>
          <a:prstGeom prst="ellipse">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1668780" y="2286000"/>
            <a:ext cx="1554480" cy="1554480"/>
          </a:xfrm>
          <a:prstGeom prst="rect">
            <a:avLst/>
          </a:prstGeom>
          <a:noFill/>
        </p:spPr>
        <p:txBody>
          <a:bodyPr wrap="square" anchor="ctr">
            <a:spAutoFit/>
          </a:bodyPr>
          <a:lstStyle/>
          <a:p>
            <a:pPr algn="ctr">
              <a:spcAft>
                <a:spcPts val="400"/>
              </a:spcAft>
            </a:pPr>
            <a:r>
              <a:rPr sz="4400" b="1">
                <a:solidFill>
                  <a:srgbClr val="FFFFFF"/>
                </a:solidFill>
                <a:latin typeface="Arial"/>
              </a:rPr>
              <a:t>AA</a:t>
            </a:r>
          </a:p>
        </p:txBody>
      </p:sp>
      <p:sp>
        <p:nvSpPr>
          <p:cNvPr id="11" name="TextBox 10"/>
          <p:cNvSpPr txBox="1"/>
          <p:nvPr/>
        </p:nvSpPr>
        <p:spPr>
          <a:xfrm>
            <a:off x="914400" y="4160520"/>
            <a:ext cx="3063240" cy="548640"/>
          </a:xfrm>
          <a:prstGeom prst="rect">
            <a:avLst/>
          </a:prstGeom>
          <a:noFill/>
        </p:spPr>
        <p:txBody>
          <a:bodyPr wrap="square" anchor="t">
            <a:spAutoFit/>
          </a:bodyPr>
          <a:lstStyle/>
          <a:p>
            <a:pPr algn="ctr">
              <a:spcAft>
                <a:spcPts val="400"/>
              </a:spcAft>
            </a:pPr>
            <a:r>
              <a:rPr sz="2100" b="1">
                <a:solidFill>
                  <a:srgbClr val="161B26"/>
                </a:solidFill>
                <a:latin typeface="Arial"/>
              </a:rPr>
              <a:t>Dr. Alfred Ang</a:t>
            </a:r>
          </a:p>
        </p:txBody>
      </p:sp>
      <p:sp>
        <p:nvSpPr>
          <p:cNvPr id="12" name="TextBox 11"/>
          <p:cNvSpPr txBox="1"/>
          <p:nvPr/>
        </p:nvSpPr>
        <p:spPr>
          <a:xfrm>
            <a:off x="914400" y="4754880"/>
            <a:ext cx="3063240" cy="1097280"/>
          </a:xfrm>
          <a:prstGeom prst="rect">
            <a:avLst/>
          </a:prstGeom>
          <a:noFill/>
        </p:spPr>
        <p:txBody>
          <a:bodyPr wrap="square" anchor="t">
            <a:spAutoFit/>
          </a:bodyPr>
          <a:lstStyle/>
          <a:p>
            <a:pPr algn="ctr">
              <a:spcAft>
                <a:spcPts val="200"/>
              </a:spcAft>
            </a:pPr>
            <a:r>
              <a:rPr sz="1300" b="0">
                <a:solidFill>
                  <a:srgbClr val="5B6372"/>
                </a:solidFill>
                <a:latin typeface="Arial"/>
              </a:rPr>
              <a:t>Principal Trainer</a:t>
            </a:r>
          </a:p>
          <a:p>
            <a:pPr algn="ctr">
              <a:spcAft>
                <a:spcPts val="200"/>
              </a:spcAft>
            </a:pPr>
            <a:r>
              <a:rPr sz="1300" b="0">
                <a:solidFill>
                  <a:srgbClr val="5B6372"/>
                </a:solidFill>
                <a:latin typeface="Arial"/>
              </a:rPr>
              <a:t>Tertiary Infotech Academy Pte Ltd</a:t>
            </a:r>
          </a:p>
        </p:txBody>
      </p:sp>
      <p:sp>
        <p:nvSpPr>
          <p:cNvPr id="13" name="Rectangle 12"/>
          <p:cNvSpPr/>
          <p:nvPr/>
        </p:nvSpPr>
        <p:spPr>
          <a:xfrm>
            <a:off x="4480560" y="1783080"/>
            <a:ext cx="6949440" cy="93726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4480560" y="1783080"/>
            <a:ext cx="91440" cy="93726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4773168" y="1783080"/>
            <a:ext cx="6400800" cy="937260"/>
          </a:xfrm>
          <a:prstGeom prst="rect">
            <a:avLst/>
          </a:prstGeom>
          <a:noFill/>
        </p:spPr>
        <p:txBody>
          <a:bodyPr wrap="square" anchor="ctr">
            <a:spAutoFit/>
          </a:bodyPr>
          <a:lstStyle/>
          <a:p>
            <a:pPr algn="l">
              <a:spcAft>
                <a:spcPts val="300"/>
              </a:spcAft>
            </a:pPr>
            <a:r>
              <a:rPr sz="1100" b="1">
                <a:solidFill>
                  <a:srgbClr val="1F6FEB"/>
                </a:solidFill>
                <a:latin typeface="Arial"/>
              </a:rPr>
              <a:t>ROLE</a:t>
            </a:r>
          </a:p>
          <a:p>
            <a:pPr algn="l">
              <a:spcAft>
                <a:spcPts val="300"/>
              </a:spcAft>
            </a:pPr>
            <a:r>
              <a:rPr sz="1400" b="0">
                <a:solidFill>
                  <a:srgbClr val="161B26"/>
                </a:solidFill>
                <a:latin typeface="Arial"/>
              </a:rPr>
              <a:t>Principal Trainer, Tertiary Infotech Academy Pte Ltd</a:t>
            </a:r>
          </a:p>
        </p:txBody>
      </p:sp>
      <p:sp>
        <p:nvSpPr>
          <p:cNvPr id="16" name="Rectangle 15"/>
          <p:cNvSpPr/>
          <p:nvPr/>
        </p:nvSpPr>
        <p:spPr>
          <a:xfrm>
            <a:off x="4480560" y="2903220"/>
            <a:ext cx="6949440" cy="93726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4480560" y="2903220"/>
            <a:ext cx="91440" cy="93726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4773168" y="2903220"/>
            <a:ext cx="6400800" cy="937260"/>
          </a:xfrm>
          <a:prstGeom prst="rect">
            <a:avLst/>
          </a:prstGeom>
          <a:noFill/>
        </p:spPr>
        <p:txBody>
          <a:bodyPr wrap="square" anchor="ctr">
            <a:spAutoFit/>
          </a:bodyPr>
          <a:lstStyle/>
          <a:p>
            <a:pPr algn="l">
              <a:spcAft>
                <a:spcPts val="300"/>
              </a:spcAft>
            </a:pPr>
            <a:r>
              <a:rPr sz="1100" b="1">
                <a:solidFill>
                  <a:srgbClr val="10B981"/>
                </a:solidFill>
                <a:latin typeface="Arial"/>
              </a:rPr>
              <a:t>EXPERTISE</a:t>
            </a:r>
          </a:p>
          <a:p>
            <a:pPr algn="l">
              <a:spcAft>
                <a:spcPts val="300"/>
              </a:spcAft>
            </a:pPr>
            <a:r>
              <a:rPr sz="1400" b="0">
                <a:solidFill>
                  <a:srgbClr val="161B26"/>
                </a:solidFill>
                <a:latin typeface="Arial"/>
              </a:rPr>
              <a:t>Generative AI, large language models, agentic AI systems and applied machine learning.</a:t>
            </a:r>
          </a:p>
        </p:txBody>
      </p:sp>
      <p:sp>
        <p:nvSpPr>
          <p:cNvPr id="19" name="Rectangle 18"/>
          <p:cNvSpPr/>
          <p:nvPr/>
        </p:nvSpPr>
        <p:spPr>
          <a:xfrm>
            <a:off x="4480560" y="4023360"/>
            <a:ext cx="6949440" cy="93726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ectangle 19"/>
          <p:cNvSpPr/>
          <p:nvPr/>
        </p:nvSpPr>
        <p:spPr>
          <a:xfrm>
            <a:off x="4480560" y="4023360"/>
            <a:ext cx="91440" cy="937260"/>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4773168" y="4023360"/>
            <a:ext cx="6400800" cy="937260"/>
          </a:xfrm>
          <a:prstGeom prst="rect">
            <a:avLst/>
          </a:prstGeom>
          <a:noFill/>
        </p:spPr>
        <p:txBody>
          <a:bodyPr wrap="square" anchor="ctr">
            <a:spAutoFit/>
          </a:bodyPr>
          <a:lstStyle/>
          <a:p>
            <a:pPr algn="l">
              <a:spcAft>
                <a:spcPts val="300"/>
              </a:spcAft>
            </a:pPr>
            <a:r>
              <a:rPr sz="1100" b="1">
                <a:solidFill>
                  <a:srgbClr val="7C3AED"/>
                </a:solidFill>
                <a:latin typeface="Arial"/>
              </a:rPr>
              <a:t>DELIVERS</a:t>
            </a:r>
          </a:p>
          <a:p>
            <a:pPr algn="l">
              <a:spcAft>
                <a:spcPts val="300"/>
              </a:spcAft>
            </a:pPr>
            <a:r>
              <a:rPr sz="1400" b="0">
                <a:solidFill>
                  <a:srgbClr val="161B26"/>
                </a:solidFill>
                <a:latin typeface="Arial"/>
              </a:rPr>
              <a:t>WSQ courses on AI, agentic AI, LLM application development, prompt engineering and data science.</a:t>
            </a:r>
          </a:p>
        </p:txBody>
      </p:sp>
      <p:sp>
        <p:nvSpPr>
          <p:cNvPr id="22" name="Rectangle 21"/>
          <p:cNvSpPr/>
          <p:nvPr/>
        </p:nvSpPr>
        <p:spPr>
          <a:xfrm>
            <a:off x="4480560" y="5143500"/>
            <a:ext cx="6949440" cy="93726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ectangle 22"/>
          <p:cNvSpPr/>
          <p:nvPr/>
        </p:nvSpPr>
        <p:spPr>
          <a:xfrm>
            <a:off x="4480560" y="5143500"/>
            <a:ext cx="91440" cy="937260"/>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4773168" y="5143500"/>
            <a:ext cx="6400800" cy="937260"/>
          </a:xfrm>
          <a:prstGeom prst="rect">
            <a:avLst/>
          </a:prstGeom>
          <a:noFill/>
        </p:spPr>
        <p:txBody>
          <a:bodyPr wrap="square" anchor="ctr">
            <a:spAutoFit/>
          </a:bodyPr>
          <a:lstStyle/>
          <a:p>
            <a:pPr algn="l">
              <a:spcAft>
                <a:spcPts val="300"/>
              </a:spcAft>
            </a:pPr>
            <a:r>
              <a:rPr sz="1100" b="1">
                <a:solidFill>
                  <a:srgbClr val="F59E0B"/>
                </a:solidFill>
                <a:latin typeface="Arial"/>
              </a:rPr>
              <a:t>FOUNDER</a:t>
            </a:r>
          </a:p>
          <a:p>
            <a:pPr algn="l">
              <a:spcAft>
                <a:spcPts val="300"/>
              </a:spcAft>
            </a:pPr>
            <a:r>
              <a:rPr sz="1400" b="0">
                <a:solidFill>
                  <a:srgbClr val="161B26"/>
                </a:solidFill>
                <a:latin typeface="Arial"/>
              </a:rPr>
              <a:t>Founder and lead instructor at Tertiary Infotech / Tertiary Courses.</a:t>
            </a:r>
          </a:p>
        </p:txBody>
      </p:sp>
      <p:sp>
        <p:nvSpPr>
          <p:cNvPr id="25" name="TextBox 24"/>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Manage AI Agents with Paperclip (TGS-2023036646)  ·  TGS-2023036646</a:t>
            </a:r>
          </a:p>
        </p:txBody>
      </p:sp>
      <p:sp>
        <p:nvSpPr>
          <p:cNvPr id="26" name="TextBox 25"/>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27" name="TextBox 26"/>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5</a:t>
            </a:r>
          </a:p>
        </p:txBody>
      </p:sp>
    </p:spTree>
  </p:cSld>
  <p:clrMapOvr>
    <a:masterClrMapping/>
  </p:clrMapOvr>
  <p:transition spd="fast" advClick="1">
    <p:fade/>
  </p:transition>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7C3AED"/>
                </a:solidFill>
                <a:latin typeface="Arial"/>
              </a:rPr>
              <a:t>ICE-BREAKER</a:t>
            </a:r>
          </a:p>
        </p:txBody>
      </p:sp>
      <p:sp>
        <p:nvSpPr>
          <p:cNvPr id="5" name="TextBox 4"/>
          <p:cNvSpPr txBox="1"/>
          <p:nvPr/>
        </p:nvSpPr>
        <p:spPr>
          <a:xfrm>
            <a:off x="777240" y="804672"/>
            <a:ext cx="10881360" cy="713232"/>
          </a:xfrm>
          <a:prstGeom prst="rect">
            <a:avLst/>
          </a:prstGeom>
          <a:noFill/>
        </p:spPr>
        <p:txBody>
          <a:bodyPr wrap="square" anchor="ctr">
            <a:spAutoFit/>
          </a:bodyPr>
          <a:lstStyle/>
          <a:p>
            <a:pPr algn="l">
              <a:spcAft>
                <a:spcPts val="400"/>
              </a:spcAft>
            </a:pPr>
            <a:r>
              <a:rPr sz="2900" b="1">
                <a:solidFill>
                  <a:srgbClr val="161B26"/>
                </a:solidFill>
                <a:latin typeface="Arial"/>
              </a:rPr>
              <a:t>Let's Know Each Other</a:t>
            </a:r>
          </a:p>
        </p:txBody>
      </p:sp>
      <p:sp>
        <p:nvSpPr>
          <p:cNvPr id="6" name="Rectangle 5"/>
          <p:cNvSpPr/>
          <p:nvPr/>
        </p:nvSpPr>
        <p:spPr>
          <a:xfrm>
            <a:off x="777240" y="155448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77240" y="1783080"/>
            <a:ext cx="5180076" cy="2066544"/>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777240" y="1783080"/>
            <a:ext cx="91440" cy="2066544"/>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Oval 8"/>
          <p:cNvSpPr/>
          <p:nvPr/>
        </p:nvSpPr>
        <p:spPr>
          <a:xfrm>
            <a:off x="1033272" y="2542032"/>
            <a:ext cx="548640" cy="548640"/>
          </a:xfrm>
          <a:prstGeom prst="ellipse">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1033272" y="2542032"/>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1</a:t>
            </a:r>
          </a:p>
        </p:txBody>
      </p:sp>
      <p:sp>
        <p:nvSpPr>
          <p:cNvPr id="11" name="TextBox 10"/>
          <p:cNvSpPr txBox="1"/>
          <p:nvPr/>
        </p:nvSpPr>
        <p:spPr>
          <a:xfrm>
            <a:off x="1764792" y="1911096"/>
            <a:ext cx="3973068" cy="1883664"/>
          </a:xfrm>
          <a:prstGeom prst="rect">
            <a:avLst/>
          </a:prstGeom>
          <a:noFill/>
        </p:spPr>
        <p:txBody>
          <a:bodyPr wrap="square" anchor="ctr">
            <a:spAutoFit/>
          </a:bodyPr>
          <a:lstStyle/>
          <a:p>
            <a:pPr algn="l">
              <a:spcAft>
                <a:spcPts val="300"/>
              </a:spcAft>
            </a:pPr>
            <a:r>
              <a:rPr sz="1700" b="1">
                <a:solidFill>
                  <a:srgbClr val="161B26"/>
                </a:solidFill>
                <a:latin typeface="Arial"/>
              </a:rPr>
              <a:t>Who you are</a:t>
            </a:r>
          </a:p>
          <a:p>
            <a:pPr algn="l">
              <a:spcAft>
                <a:spcPts val="300"/>
              </a:spcAft>
            </a:pPr>
            <a:r>
              <a:rPr sz="1300" b="0">
                <a:solidFill>
                  <a:srgbClr val="5B6372"/>
                </a:solidFill>
                <a:latin typeface="Arial"/>
              </a:rPr>
              <a:t>Your name, your organisation and the role you play in it.</a:t>
            </a:r>
          </a:p>
        </p:txBody>
      </p:sp>
      <p:sp>
        <p:nvSpPr>
          <p:cNvPr id="12" name="Rectangle 11"/>
          <p:cNvSpPr/>
          <p:nvPr/>
        </p:nvSpPr>
        <p:spPr>
          <a:xfrm>
            <a:off x="6231636" y="1783080"/>
            <a:ext cx="5180076" cy="2066544"/>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6231636" y="1783080"/>
            <a:ext cx="91440" cy="2066544"/>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Oval 13"/>
          <p:cNvSpPr/>
          <p:nvPr/>
        </p:nvSpPr>
        <p:spPr>
          <a:xfrm>
            <a:off x="6487668" y="2542032"/>
            <a:ext cx="548640" cy="548640"/>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487668" y="2542032"/>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2</a:t>
            </a:r>
          </a:p>
        </p:txBody>
      </p:sp>
      <p:sp>
        <p:nvSpPr>
          <p:cNvPr id="16" name="TextBox 15"/>
          <p:cNvSpPr txBox="1"/>
          <p:nvPr/>
        </p:nvSpPr>
        <p:spPr>
          <a:xfrm>
            <a:off x="7219188" y="1911096"/>
            <a:ext cx="3973068" cy="1883664"/>
          </a:xfrm>
          <a:prstGeom prst="rect">
            <a:avLst/>
          </a:prstGeom>
          <a:noFill/>
        </p:spPr>
        <p:txBody>
          <a:bodyPr wrap="square" anchor="ctr">
            <a:spAutoFit/>
          </a:bodyPr>
          <a:lstStyle/>
          <a:p>
            <a:pPr algn="l">
              <a:spcAft>
                <a:spcPts val="300"/>
              </a:spcAft>
            </a:pPr>
            <a:r>
              <a:rPr sz="1700" b="1">
                <a:solidFill>
                  <a:srgbClr val="161B26"/>
                </a:solidFill>
                <a:latin typeface="Arial"/>
              </a:rPr>
              <a:t>What you've used</a:t>
            </a:r>
          </a:p>
          <a:p>
            <a:pPr algn="l">
              <a:spcAft>
                <a:spcPts val="300"/>
              </a:spcAft>
            </a:pPr>
            <a:r>
              <a:rPr sz="1300" b="0">
                <a:solidFill>
                  <a:srgbClr val="5B6372"/>
                </a:solidFill>
                <a:latin typeface="Arial"/>
              </a:rPr>
              <a:t>Your experience with AI agents, automation or command-line tools — if any. No experience needed.</a:t>
            </a:r>
          </a:p>
        </p:txBody>
      </p:sp>
      <p:sp>
        <p:nvSpPr>
          <p:cNvPr id="17" name="Rectangle 16"/>
          <p:cNvSpPr/>
          <p:nvPr/>
        </p:nvSpPr>
        <p:spPr>
          <a:xfrm>
            <a:off x="777240" y="4087368"/>
            <a:ext cx="5180076" cy="2066544"/>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777240" y="4087368"/>
            <a:ext cx="91440" cy="2066544"/>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Oval 18"/>
          <p:cNvSpPr/>
          <p:nvPr/>
        </p:nvSpPr>
        <p:spPr>
          <a:xfrm>
            <a:off x="1033272" y="4846320"/>
            <a:ext cx="548640" cy="548640"/>
          </a:xfrm>
          <a:prstGeom prst="ellipse">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1033272" y="4846320"/>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3</a:t>
            </a:r>
          </a:p>
        </p:txBody>
      </p:sp>
      <p:sp>
        <p:nvSpPr>
          <p:cNvPr id="21" name="TextBox 20"/>
          <p:cNvSpPr txBox="1"/>
          <p:nvPr/>
        </p:nvSpPr>
        <p:spPr>
          <a:xfrm>
            <a:off x="1764792" y="4215384"/>
            <a:ext cx="3973068" cy="1883664"/>
          </a:xfrm>
          <a:prstGeom prst="rect">
            <a:avLst/>
          </a:prstGeom>
          <a:noFill/>
        </p:spPr>
        <p:txBody>
          <a:bodyPr wrap="square" anchor="ctr">
            <a:spAutoFit/>
          </a:bodyPr>
          <a:lstStyle/>
          <a:p>
            <a:pPr algn="l">
              <a:spcAft>
                <a:spcPts val="300"/>
              </a:spcAft>
            </a:pPr>
            <a:r>
              <a:rPr sz="1700" b="1">
                <a:solidFill>
                  <a:srgbClr val="161B26"/>
                </a:solidFill>
                <a:latin typeface="Arial"/>
              </a:rPr>
              <a:t>What you'd delegate</a:t>
            </a:r>
          </a:p>
          <a:p>
            <a:pPr algn="l">
              <a:spcAft>
                <a:spcPts val="300"/>
              </a:spcAft>
            </a:pPr>
            <a:r>
              <a:rPr sz="1300" b="0">
                <a:solidFill>
                  <a:srgbClr val="5B6372"/>
                </a:solidFill>
                <a:latin typeface="Arial"/>
              </a:rPr>
              <a:t>One task in your work you would hand to a team of AI agents.</a:t>
            </a:r>
          </a:p>
        </p:txBody>
      </p:sp>
      <p:sp>
        <p:nvSpPr>
          <p:cNvPr id="22" name="Rectangle 21"/>
          <p:cNvSpPr/>
          <p:nvPr/>
        </p:nvSpPr>
        <p:spPr>
          <a:xfrm>
            <a:off x="6231636" y="4087368"/>
            <a:ext cx="5180076" cy="2066544"/>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ectangle 22"/>
          <p:cNvSpPr/>
          <p:nvPr/>
        </p:nvSpPr>
        <p:spPr>
          <a:xfrm>
            <a:off x="6231636" y="4087368"/>
            <a:ext cx="91440" cy="2066544"/>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Oval 23"/>
          <p:cNvSpPr/>
          <p:nvPr/>
        </p:nvSpPr>
        <p:spPr>
          <a:xfrm>
            <a:off x="6487668" y="4846320"/>
            <a:ext cx="548640" cy="548640"/>
          </a:xfrm>
          <a:prstGeom prst="ellipse">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6487668" y="4846320"/>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4</a:t>
            </a:r>
          </a:p>
        </p:txBody>
      </p:sp>
      <p:sp>
        <p:nvSpPr>
          <p:cNvPr id="26" name="TextBox 25"/>
          <p:cNvSpPr txBox="1"/>
          <p:nvPr/>
        </p:nvSpPr>
        <p:spPr>
          <a:xfrm>
            <a:off x="7219188" y="4215384"/>
            <a:ext cx="3973068" cy="1883664"/>
          </a:xfrm>
          <a:prstGeom prst="rect">
            <a:avLst/>
          </a:prstGeom>
          <a:noFill/>
        </p:spPr>
        <p:txBody>
          <a:bodyPr wrap="square" anchor="ctr">
            <a:spAutoFit/>
          </a:bodyPr>
          <a:lstStyle/>
          <a:p>
            <a:pPr algn="l">
              <a:spcAft>
                <a:spcPts val="300"/>
              </a:spcAft>
            </a:pPr>
            <a:r>
              <a:rPr sz="1700" b="1">
                <a:solidFill>
                  <a:srgbClr val="161B26"/>
                </a:solidFill>
                <a:latin typeface="Arial"/>
              </a:rPr>
              <a:t>What you wouldn't</a:t>
            </a:r>
          </a:p>
          <a:p>
            <a:pPr algn="l">
              <a:spcAft>
                <a:spcPts val="300"/>
              </a:spcAft>
            </a:pPr>
            <a:r>
              <a:rPr sz="1300" b="0">
                <a:solidFill>
                  <a:srgbClr val="5B6372"/>
                </a:solidFill>
                <a:latin typeface="Arial"/>
              </a:rPr>
              <a:t>One task you would NOT delegate — and the reason why. We come back to this in Topic 1.</a:t>
            </a:r>
          </a:p>
        </p:txBody>
      </p:sp>
      <p:sp>
        <p:nvSpPr>
          <p:cNvPr id="27" name="TextBox 26"/>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Manage AI Agents with Paperclip (TGS-2023036646)  ·  TGS-2023036646</a:t>
            </a:r>
          </a:p>
        </p:txBody>
      </p:sp>
      <p:sp>
        <p:nvSpPr>
          <p:cNvPr id="28" name="TextBox 27"/>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29" name="TextBox 28"/>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6</a:t>
            </a:r>
          </a:p>
        </p:txBody>
      </p:sp>
    </p:spTree>
  </p:cSld>
  <p:clrMapOvr>
    <a:masterClrMapping/>
  </p:clrMapOvr>
  <p:transition spd="fast" advClick="1">
    <p:fade/>
  </p:transition>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1F6FEB"/>
                </a:solidFill>
                <a:latin typeface="Arial"/>
              </a:rPr>
              <a:t>HOUSEKEEPING</a:t>
            </a:r>
          </a:p>
        </p:txBody>
      </p:sp>
      <p:sp>
        <p:nvSpPr>
          <p:cNvPr id="5" name="TextBox 4"/>
          <p:cNvSpPr txBox="1"/>
          <p:nvPr/>
        </p:nvSpPr>
        <p:spPr>
          <a:xfrm>
            <a:off x="777240" y="804672"/>
            <a:ext cx="10881360" cy="713232"/>
          </a:xfrm>
          <a:prstGeom prst="rect">
            <a:avLst/>
          </a:prstGeom>
          <a:noFill/>
        </p:spPr>
        <p:txBody>
          <a:bodyPr wrap="square" anchor="ctr">
            <a:spAutoFit/>
          </a:bodyPr>
          <a:lstStyle/>
          <a:p>
            <a:pPr algn="l">
              <a:spcAft>
                <a:spcPts val="400"/>
              </a:spcAft>
            </a:pPr>
            <a:r>
              <a:rPr sz="2900" b="1">
                <a:solidFill>
                  <a:srgbClr val="161B26"/>
                </a:solidFill>
                <a:latin typeface="Arial"/>
              </a:rPr>
              <a:t>Ground Rules</a:t>
            </a:r>
          </a:p>
        </p:txBody>
      </p:sp>
      <p:sp>
        <p:nvSpPr>
          <p:cNvPr id="6" name="Rectangle 5"/>
          <p:cNvSpPr/>
          <p:nvPr/>
        </p:nvSpPr>
        <p:spPr>
          <a:xfrm>
            <a:off x="777240" y="155448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77240" y="1783080"/>
            <a:ext cx="5180076" cy="129844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777240" y="1783080"/>
            <a:ext cx="91440" cy="1298448"/>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Oval 8"/>
          <p:cNvSpPr/>
          <p:nvPr/>
        </p:nvSpPr>
        <p:spPr>
          <a:xfrm>
            <a:off x="1033272" y="2157984"/>
            <a:ext cx="548640" cy="548640"/>
          </a:xfrm>
          <a:prstGeom prst="ellipse">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1033272" y="2157984"/>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1</a:t>
            </a:r>
          </a:p>
        </p:txBody>
      </p:sp>
      <p:sp>
        <p:nvSpPr>
          <p:cNvPr id="11" name="TextBox 10"/>
          <p:cNvSpPr txBox="1"/>
          <p:nvPr/>
        </p:nvSpPr>
        <p:spPr>
          <a:xfrm>
            <a:off x="1764792" y="1874520"/>
            <a:ext cx="3973068" cy="1152144"/>
          </a:xfrm>
          <a:prstGeom prst="rect">
            <a:avLst/>
          </a:prstGeom>
          <a:noFill/>
        </p:spPr>
        <p:txBody>
          <a:bodyPr wrap="square" anchor="ctr">
            <a:spAutoFit/>
          </a:bodyPr>
          <a:lstStyle/>
          <a:p>
            <a:pPr algn="l">
              <a:spcAft>
                <a:spcPts val="400"/>
              </a:spcAft>
            </a:pPr>
            <a:r>
              <a:rPr sz="1500" b="0">
                <a:solidFill>
                  <a:srgbClr val="161B26"/>
                </a:solidFill>
                <a:latin typeface="Arial"/>
              </a:rPr>
              <a:t>Set your mobile phone to silent mode.</a:t>
            </a:r>
          </a:p>
        </p:txBody>
      </p:sp>
      <p:sp>
        <p:nvSpPr>
          <p:cNvPr id="12" name="Rectangle 11"/>
          <p:cNvSpPr/>
          <p:nvPr/>
        </p:nvSpPr>
        <p:spPr>
          <a:xfrm>
            <a:off x="6231636" y="1783080"/>
            <a:ext cx="5180076" cy="129844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6231636" y="1783080"/>
            <a:ext cx="91440" cy="1298448"/>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Oval 13"/>
          <p:cNvSpPr/>
          <p:nvPr/>
        </p:nvSpPr>
        <p:spPr>
          <a:xfrm>
            <a:off x="6487668" y="2157984"/>
            <a:ext cx="548640" cy="548640"/>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487668" y="2157984"/>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2</a:t>
            </a:r>
          </a:p>
        </p:txBody>
      </p:sp>
      <p:sp>
        <p:nvSpPr>
          <p:cNvPr id="16" name="TextBox 15"/>
          <p:cNvSpPr txBox="1"/>
          <p:nvPr/>
        </p:nvSpPr>
        <p:spPr>
          <a:xfrm>
            <a:off x="7219188" y="1874520"/>
            <a:ext cx="3973068" cy="1152144"/>
          </a:xfrm>
          <a:prstGeom prst="rect">
            <a:avLst/>
          </a:prstGeom>
          <a:noFill/>
        </p:spPr>
        <p:txBody>
          <a:bodyPr wrap="square" anchor="ctr">
            <a:spAutoFit/>
          </a:bodyPr>
          <a:lstStyle/>
          <a:p>
            <a:pPr algn="l">
              <a:spcAft>
                <a:spcPts val="400"/>
              </a:spcAft>
            </a:pPr>
            <a:r>
              <a:rPr sz="1500" b="0">
                <a:solidFill>
                  <a:srgbClr val="161B26"/>
                </a:solidFill>
                <a:latin typeface="Arial"/>
              </a:rPr>
              <a:t>Participate actively — no question is too small.</a:t>
            </a:r>
          </a:p>
        </p:txBody>
      </p:sp>
      <p:sp>
        <p:nvSpPr>
          <p:cNvPr id="17" name="Rectangle 16"/>
          <p:cNvSpPr/>
          <p:nvPr/>
        </p:nvSpPr>
        <p:spPr>
          <a:xfrm>
            <a:off x="777240" y="3319272"/>
            <a:ext cx="5180076" cy="129844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777240" y="3319272"/>
            <a:ext cx="91440" cy="1298448"/>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Oval 18"/>
          <p:cNvSpPr/>
          <p:nvPr/>
        </p:nvSpPr>
        <p:spPr>
          <a:xfrm>
            <a:off x="1033272" y="3694176"/>
            <a:ext cx="548640" cy="548640"/>
          </a:xfrm>
          <a:prstGeom prst="ellipse">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1033272" y="3694176"/>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3</a:t>
            </a:r>
          </a:p>
        </p:txBody>
      </p:sp>
      <p:sp>
        <p:nvSpPr>
          <p:cNvPr id="21" name="TextBox 20"/>
          <p:cNvSpPr txBox="1"/>
          <p:nvPr/>
        </p:nvSpPr>
        <p:spPr>
          <a:xfrm>
            <a:off x="1764792" y="3410712"/>
            <a:ext cx="3973068" cy="1152144"/>
          </a:xfrm>
          <a:prstGeom prst="rect">
            <a:avLst/>
          </a:prstGeom>
          <a:noFill/>
        </p:spPr>
        <p:txBody>
          <a:bodyPr wrap="square" anchor="ctr">
            <a:spAutoFit/>
          </a:bodyPr>
          <a:lstStyle/>
          <a:p>
            <a:pPr algn="l">
              <a:spcAft>
                <a:spcPts val="400"/>
              </a:spcAft>
            </a:pPr>
            <a:r>
              <a:rPr sz="1500" b="0">
                <a:solidFill>
                  <a:srgbClr val="161B26"/>
                </a:solidFill>
                <a:latin typeface="Arial"/>
              </a:rPr>
              <a:t>Mutual respect: agree to disagree.</a:t>
            </a:r>
          </a:p>
        </p:txBody>
      </p:sp>
      <p:sp>
        <p:nvSpPr>
          <p:cNvPr id="22" name="Rectangle 21"/>
          <p:cNvSpPr/>
          <p:nvPr/>
        </p:nvSpPr>
        <p:spPr>
          <a:xfrm>
            <a:off x="6231636" y="3319272"/>
            <a:ext cx="5180076" cy="129844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ectangle 22"/>
          <p:cNvSpPr/>
          <p:nvPr/>
        </p:nvSpPr>
        <p:spPr>
          <a:xfrm>
            <a:off x="6231636" y="3319272"/>
            <a:ext cx="91440" cy="1298448"/>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Oval 23"/>
          <p:cNvSpPr/>
          <p:nvPr/>
        </p:nvSpPr>
        <p:spPr>
          <a:xfrm>
            <a:off x="6487668" y="3694176"/>
            <a:ext cx="548640" cy="548640"/>
          </a:xfrm>
          <a:prstGeom prst="ellipse">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6487668" y="3694176"/>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4</a:t>
            </a:r>
          </a:p>
        </p:txBody>
      </p:sp>
      <p:sp>
        <p:nvSpPr>
          <p:cNvPr id="26" name="TextBox 25"/>
          <p:cNvSpPr txBox="1"/>
          <p:nvPr/>
        </p:nvSpPr>
        <p:spPr>
          <a:xfrm>
            <a:off x="7219188" y="3410712"/>
            <a:ext cx="3973068" cy="1152144"/>
          </a:xfrm>
          <a:prstGeom prst="rect">
            <a:avLst/>
          </a:prstGeom>
          <a:noFill/>
        </p:spPr>
        <p:txBody>
          <a:bodyPr wrap="square" anchor="ctr">
            <a:spAutoFit/>
          </a:bodyPr>
          <a:lstStyle/>
          <a:p>
            <a:pPr algn="l">
              <a:spcAft>
                <a:spcPts val="400"/>
              </a:spcAft>
            </a:pPr>
            <a:r>
              <a:rPr sz="1500" b="0">
                <a:solidFill>
                  <a:srgbClr val="161B26"/>
                </a:solidFill>
                <a:latin typeface="Arial"/>
              </a:rPr>
              <a:t>One conversation at a time.</a:t>
            </a:r>
          </a:p>
        </p:txBody>
      </p:sp>
      <p:sp>
        <p:nvSpPr>
          <p:cNvPr id="27" name="Rectangle 26"/>
          <p:cNvSpPr/>
          <p:nvPr/>
        </p:nvSpPr>
        <p:spPr>
          <a:xfrm>
            <a:off x="777240" y="4855464"/>
            <a:ext cx="5180076" cy="129844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Rectangle 27"/>
          <p:cNvSpPr/>
          <p:nvPr/>
        </p:nvSpPr>
        <p:spPr>
          <a:xfrm>
            <a:off x="777240" y="4855464"/>
            <a:ext cx="91440" cy="1298448"/>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Oval 28"/>
          <p:cNvSpPr/>
          <p:nvPr/>
        </p:nvSpPr>
        <p:spPr>
          <a:xfrm>
            <a:off x="1033272" y="5230368"/>
            <a:ext cx="548640" cy="548640"/>
          </a:xfrm>
          <a:prstGeom prst="ellipse">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TextBox 29"/>
          <p:cNvSpPr txBox="1"/>
          <p:nvPr/>
        </p:nvSpPr>
        <p:spPr>
          <a:xfrm>
            <a:off x="1033272" y="5230368"/>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5</a:t>
            </a:r>
          </a:p>
        </p:txBody>
      </p:sp>
      <p:sp>
        <p:nvSpPr>
          <p:cNvPr id="31" name="TextBox 30"/>
          <p:cNvSpPr txBox="1"/>
          <p:nvPr/>
        </p:nvSpPr>
        <p:spPr>
          <a:xfrm>
            <a:off x="1764792" y="4946904"/>
            <a:ext cx="3973068" cy="1152144"/>
          </a:xfrm>
          <a:prstGeom prst="rect">
            <a:avLst/>
          </a:prstGeom>
          <a:noFill/>
        </p:spPr>
        <p:txBody>
          <a:bodyPr wrap="square" anchor="ctr">
            <a:spAutoFit/>
          </a:bodyPr>
          <a:lstStyle/>
          <a:p>
            <a:pPr algn="l">
              <a:spcAft>
                <a:spcPts val="400"/>
              </a:spcAft>
            </a:pPr>
            <a:r>
              <a:rPr sz="1500" b="0">
                <a:solidFill>
                  <a:srgbClr val="161B26"/>
                </a:solidFill>
                <a:latin typeface="Arial"/>
              </a:rPr>
              <a:t>Be punctual; return from breaks on time.</a:t>
            </a:r>
          </a:p>
        </p:txBody>
      </p:sp>
      <p:sp>
        <p:nvSpPr>
          <p:cNvPr id="32" name="Rectangle 31"/>
          <p:cNvSpPr/>
          <p:nvPr/>
        </p:nvSpPr>
        <p:spPr>
          <a:xfrm>
            <a:off x="6231636" y="4855464"/>
            <a:ext cx="5180076" cy="129844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Rectangle 32"/>
          <p:cNvSpPr/>
          <p:nvPr/>
        </p:nvSpPr>
        <p:spPr>
          <a:xfrm>
            <a:off x="6231636" y="4855464"/>
            <a:ext cx="91440" cy="1298448"/>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Oval 33"/>
          <p:cNvSpPr/>
          <p:nvPr/>
        </p:nvSpPr>
        <p:spPr>
          <a:xfrm>
            <a:off x="6487668" y="5230368"/>
            <a:ext cx="548640" cy="548640"/>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TextBox 34"/>
          <p:cNvSpPr txBox="1"/>
          <p:nvPr/>
        </p:nvSpPr>
        <p:spPr>
          <a:xfrm>
            <a:off x="6487668" y="5230368"/>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6</a:t>
            </a:r>
          </a:p>
        </p:txBody>
      </p:sp>
      <p:sp>
        <p:nvSpPr>
          <p:cNvPr id="36" name="TextBox 35"/>
          <p:cNvSpPr txBox="1"/>
          <p:nvPr/>
        </p:nvSpPr>
        <p:spPr>
          <a:xfrm>
            <a:off x="7219188" y="4946904"/>
            <a:ext cx="3973068" cy="1152144"/>
          </a:xfrm>
          <a:prstGeom prst="rect">
            <a:avLst/>
          </a:prstGeom>
          <a:noFill/>
        </p:spPr>
        <p:txBody>
          <a:bodyPr wrap="square" anchor="ctr">
            <a:spAutoFit/>
          </a:bodyPr>
          <a:lstStyle/>
          <a:p>
            <a:pPr algn="l">
              <a:spcAft>
                <a:spcPts val="400"/>
              </a:spcAft>
            </a:pPr>
            <a:r>
              <a:rPr sz="1500" b="0">
                <a:solidFill>
                  <a:srgbClr val="161B26"/>
                </a:solidFill>
                <a:latin typeface="Arial"/>
              </a:rPr>
              <a:t>75% attendance is required.</a:t>
            </a:r>
          </a:p>
        </p:txBody>
      </p:sp>
      <p:sp>
        <p:nvSpPr>
          <p:cNvPr id="37" name="TextBox 36"/>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Manage AI Agents with Paperclip (TGS-2023036646)  ·  TGS-2023036646</a:t>
            </a:r>
          </a:p>
        </p:txBody>
      </p:sp>
      <p:sp>
        <p:nvSpPr>
          <p:cNvPr id="38" name="TextBox 37"/>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39" name="TextBox 38"/>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7</a:t>
            </a:r>
          </a:p>
        </p:txBody>
      </p:sp>
    </p:spTree>
  </p:cSld>
  <p:clrMapOvr>
    <a:masterClrMapping/>
  </p:clrMapOvr>
  <p:transition spd="fast" advClick="1">
    <p:fade/>
  </p:transition>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1F6FEB"/>
                </a:solidFill>
                <a:latin typeface="Arial"/>
              </a:rPr>
              <a:t>LMS / TMS  ·  lms-tms.tertiaryinfotech.com</a:t>
            </a:r>
          </a:p>
        </p:txBody>
      </p:sp>
      <p:sp>
        <p:nvSpPr>
          <p:cNvPr id="5" name="TextBox 4"/>
          <p:cNvSpPr txBox="1"/>
          <p:nvPr/>
        </p:nvSpPr>
        <p:spPr>
          <a:xfrm>
            <a:off x="777240" y="804672"/>
            <a:ext cx="10881360" cy="713232"/>
          </a:xfrm>
          <a:prstGeom prst="rect">
            <a:avLst/>
          </a:prstGeom>
          <a:noFill/>
        </p:spPr>
        <p:txBody>
          <a:bodyPr wrap="square" anchor="ctr">
            <a:spAutoFit/>
          </a:bodyPr>
          <a:lstStyle/>
          <a:p>
            <a:pPr algn="l">
              <a:spcAft>
                <a:spcPts val="400"/>
              </a:spcAft>
            </a:pPr>
            <a:r>
              <a:rPr sz="2900" b="1">
                <a:solidFill>
                  <a:srgbClr val="161B26"/>
                </a:solidFill>
                <a:latin typeface="Arial"/>
              </a:rPr>
              <a:t>Download Your Course Material</a:t>
            </a:r>
          </a:p>
        </p:txBody>
      </p:sp>
      <p:sp>
        <p:nvSpPr>
          <p:cNvPr id="6" name="Rectangle 5"/>
          <p:cNvSpPr/>
          <p:nvPr/>
        </p:nvSpPr>
        <p:spPr>
          <a:xfrm>
            <a:off x="777240" y="155448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77240" y="1783080"/>
            <a:ext cx="5180076" cy="129844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777240" y="1783080"/>
            <a:ext cx="91440" cy="1298448"/>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Oval 8"/>
          <p:cNvSpPr/>
          <p:nvPr/>
        </p:nvSpPr>
        <p:spPr>
          <a:xfrm>
            <a:off x="1033272" y="2157984"/>
            <a:ext cx="548640" cy="548640"/>
          </a:xfrm>
          <a:prstGeom prst="ellipse">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1033272" y="2157984"/>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1</a:t>
            </a:r>
          </a:p>
        </p:txBody>
      </p:sp>
      <p:sp>
        <p:nvSpPr>
          <p:cNvPr id="11" name="TextBox 10"/>
          <p:cNvSpPr txBox="1"/>
          <p:nvPr/>
        </p:nvSpPr>
        <p:spPr>
          <a:xfrm>
            <a:off x="1764792" y="1911096"/>
            <a:ext cx="3973068" cy="1115568"/>
          </a:xfrm>
          <a:prstGeom prst="rect">
            <a:avLst/>
          </a:prstGeom>
          <a:noFill/>
        </p:spPr>
        <p:txBody>
          <a:bodyPr wrap="square" anchor="ctr">
            <a:spAutoFit/>
          </a:bodyPr>
          <a:lstStyle/>
          <a:p>
            <a:pPr algn="l">
              <a:spcAft>
                <a:spcPts val="300"/>
              </a:spcAft>
            </a:pPr>
            <a:r>
              <a:rPr sz="1600" b="1">
                <a:solidFill>
                  <a:srgbClr val="161B26"/>
                </a:solidFill>
                <a:latin typeface="Arial"/>
              </a:rPr>
              <a:t>Go to the LMS portal</a:t>
            </a:r>
          </a:p>
          <a:p>
            <a:pPr algn="l">
              <a:spcAft>
                <a:spcPts val="300"/>
              </a:spcAft>
            </a:pPr>
            <a:r>
              <a:rPr sz="1200" b="0">
                <a:solidFill>
                  <a:srgbClr val="5B6372"/>
                </a:solidFill>
                <a:latin typeface="Arial"/>
              </a:rPr>
              <a:t>Open https://lms-tms.tertiaryinfotech.com in your browser.</a:t>
            </a:r>
          </a:p>
        </p:txBody>
      </p:sp>
      <p:sp>
        <p:nvSpPr>
          <p:cNvPr id="12" name="Rectangle 11"/>
          <p:cNvSpPr/>
          <p:nvPr/>
        </p:nvSpPr>
        <p:spPr>
          <a:xfrm>
            <a:off x="6231636" y="1783080"/>
            <a:ext cx="5180076" cy="129844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6231636" y="1783080"/>
            <a:ext cx="91440" cy="1298448"/>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Oval 13"/>
          <p:cNvSpPr/>
          <p:nvPr/>
        </p:nvSpPr>
        <p:spPr>
          <a:xfrm>
            <a:off x="6487668" y="2157984"/>
            <a:ext cx="548640" cy="548640"/>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487668" y="2157984"/>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2</a:t>
            </a:r>
          </a:p>
        </p:txBody>
      </p:sp>
      <p:sp>
        <p:nvSpPr>
          <p:cNvPr id="16" name="TextBox 15"/>
          <p:cNvSpPr txBox="1"/>
          <p:nvPr/>
        </p:nvSpPr>
        <p:spPr>
          <a:xfrm>
            <a:off x="7219188" y="1911096"/>
            <a:ext cx="3973068" cy="1115568"/>
          </a:xfrm>
          <a:prstGeom prst="rect">
            <a:avLst/>
          </a:prstGeom>
          <a:noFill/>
        </p:spPr>
        <p:txBody>
          <a:bodyPr wrap="square" anchor="ctr">
            <a:spAutoFit/>
          </a:bodyPr>
          <a:lstStyle/>
          <a:p>
            <a:pPr algn="l">
              <a:spcAft>
                <a:spcPts val="300"/>
              </a:spcAft>
            </a:pPr>
            <a:r>
              <a:rPr sz="1600" b="1">
                <a:solidFill>
                  <a:srgbClr val="161B26"/>
                </a:solidFill>
                <a:latin typeface="Arial"/>
              </a:rPr>
              <a:t>Log in</a:t>
            </a:r>
          </a:p>
          <a:p>
            <a:pPr algn="l">
              <a:spcAft>
                <a:spcPts val="300"/>
              </a:spcAft>
            </a:pPr>
            <a:r>
              <a:rPr sz="1200" b="0">
                <a:solidFill>
                  <a:srgbClr val="5B6372"/>
                </a:solidFill>
                <a:latin typeface="Arial"/>
              </a:rPr>
              <a:t>Sign in with the account e-mail you used to register for this course.</a:t>
            </a:r>
          </a:p>
        </p:txBody>
      </p:sp>
      <p:sp>
        <p:nvSpPr>
          <p:cNvPr id="17" name="Rectangle 16"/>
          <p:cNvSpPr/>
          <p:nvPr/>
        </p:nvSpPr>
        <p:spPr>
          <a:xfrm>
            <a:off x="777240" y="3319272"/>
            <a:ext cx="5180076" cy="129844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777240" y="3319272"/>
            <a:ext cx="91440" cy="1298448"/>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Oval 18"/>
          <p:cNvSpPr/>
          <p:nvPr/>
        </p:nvSpPr>
        <p:spPr>
          <a:xfrm>
            <a:off x="1033272" y="3694176"/>
            <a:ext cx="548640" cy="548640"/>
          </a:xfrm>
          <a:prstGeom prst="ellipse">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1033272" y="3694176"/>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3</a:t>
            </a:r>
          </a:p>
        </p:txBody>
      </p:sp>
      <p:sp>
        <p:nvSpPr>
          <p:cNvPr id="21" name="TextBox 20"/>
          <p:cNvSpPr txBox="1"/>
          <p:nvPr/>
        </p:nvSpPr>
        <p:spPr>
          <a:xfrm>
            <a:off x="1764792" y="3447288"/>
            <a:ext cx="3973068" cy="1115568"/>
          </a:xfrm>
          <a:prstGeom prst="rect">
            <a:avLst/>
          </a:prstGeom>
          <a:noFill/>
        </p:spPr>
        <p:txBody>
          <a:bodyPr wrap="square" anchor="ctr">
            <a:spAutoFit/>
          </a:bodyPr>
          <a:lstStyle/>
          <a:p>
            <a:pPr algn="l">
              <a:spcAft>
                <a:spcPts val="300"/>
              </a:spcAft>
            </a:pPr>
            <a:r>
              <a:rPr sz="1600" b="1">
                <a:solidFill>
                  <a:srgbClr val="161B26"/>
                </a:solidFill>
                <a:latin typeface="Arial"/>
              </a:rPr>
              <a:t>Open this course</a:t>
            </a:r>
          </a:p>
          <a:p>
            <a:pPr algn="l">
              <a:spcAft>
                <a:spcPts val="300"/>
              </a:spcAft>
            </a:pPr>
            <a:r>
              <a:rPr sz="1200" b="0">
                <a:solidFill>
                  <a:srgbClr val="5B6372"/>
                </a:solidFill>
                <a:latin typeface="Arial"/>
              </a:rPr>
              <a:t>Select 'Manage AI Agents with Paperclip'.</a:t>
            </a:r>
          </a:p>
        </p:txBody>
      </p:sp>
      <p:sp>
        <p:nvSpPr>
          <p:cNvPr id="22" name="Rectangle 21"/>
          <p:cNvSpPr/>
          <p:nvPr/>
        </p:nvSpPr>
        <p:spPr>
          <a:xfrm>
            <a:off x="6231636" y="3319272"/>
            <a:ext cx="5180076" cy="129844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ectangle 22"/>
          <p:cNvSpPr/>
          <p:nvPr/>
        </p:nvSpPr>
        <p:spPr>
          <a:xfrm>
            <a:off x="6231636" y="3319272"/>
            <a:ext cx="91440" cy="1298448"/>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Oval 23"/>
          <p:cNvSpPr/>
          <p:nvPr/>
        </p:nvSpPr>
        <p:spPr>
          <a:xfrm>
            <a:off x="6487668" y="3694176"/>
            <a:ext cx="548640" cy="548640"/>
          </a:xfrm>
          <a:prstGeom prst="ellipse">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6487668" y="3694176"/>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4</a:t>
            </a:r>
          </a:p>
        </p:txBody>
      </p:sp>
      <p:sp>
        <p:nvSpPr>
          <p:cNvPr id="26" name="TextBox 25"/>
          <p:cNvSpPr txBox="1"/>
          <p:nvPr/>
        </p:nvSpPr>
        <p:spPr>
          <a:xfrm>
            <a:off x="7219188" y="3447288"/>
            <a:ext cx="3973068" cy="1115568"/>
          </a:xfrm>
          <a:prstGeom prst="rect">
            <a:avLst/>
          </a:prstGeom>
          <a:noFill/>
        </p:spPr>
        <p:txBody>
          <a:bodyPr wrap="square" anchor="ctr">
            <a:spAutoFit/>
          </a:bodyPr>
          <a:lstStyle/>
          <a:p>
            <a:pPr algn="l">
              <a:spcAft>
                <a:spcPts val="300"/>
              </a:spcAft>
            </a:pPr>
            <a:r>
              <a:rPr sz="1600" b="1">
                <a:solidFill>
                  <a:srgbClr val="161B26"/>
                </a:solidFill>
                <a:latin typeface="Arial"/>
              </a:rPr>
              <a:t>Download</a:t>
            </a:r>
          </a:p>
          <a:p>
            <a:pPr algn="l">
              <a:spcAft>
                <a:spcPts val="300"/>
              </a:spcAft>
            </a:pPr>
            <a:r>
              <a:rPr sz="1200" b="0">
                <a:solidFill>
                  <a:srgbClr val="5B6372"/>
                </a:solidFill>
                <a:latin typeface="Arial"/>
              </a:rPr>
              <a:t>Download the Trainer Slides, Learner Guide and Lesson Plan (PDF).</a:t>
            </a:r>
          </a:p>
        </p:txBody>
      </p:sp>
      <p:sp>
        <p:nvSpPr>
          <p:cNvPr id="27" name="Rectangle 26"/>
          <p:cNvSpPr/>
          <p:nvPr/>
        </p:nvSpPr>
        <p:spPr>
          <a:xfrm>
            <a:off x="777240" y="4855464"/>
            <a:ext cx="5180076" cy="129844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Rectangle 27"/>
          <p:cNvSpPr/>
          <p:nvPr/>
        </p:nvSpPr>
        <p:spPr>
          <a:xfrm>
            <a:off x="777240" y="4855464"/>
            <a:ext cx="91440" cy="1298448"/>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Oval 28"/>
          <p:cNvSpPr/>
          <p:nvPr/>
        </p:nvSpPr>
        <p:spPr>
          <a:xfrm>
            <a:off x="1033272" y="5230368"/>
            <a:ext cx="548640" cy="548640"/>
          </a:xfrm>
          <a:prstGeom prst="ellipse">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TextBox 29"/>
          <p:cNvSpPr txBox="1"/>
          <p:nvPr/>
        </p:nvSpPr>
        <p:spPr>
          <a:xfrm>
            <a:off x="1033272" y="5230368"/>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5</a:t>
            </a:r>
          </a:p>
        </p:txBody>
      </p:sp>
      <p:sp>
        <p:nvSpPr>
          <p:cNvPr id="31" name="TextBox 30"/>
          <p:cNvSpPr txBox="1"/>
          <p:nvPr/>
        </p:nvSpPr>
        <p:spPr>
          <a:xfrm>
            <a:off x="1764792" y="4983480"/>
            <a:ext cx="3973068" cy="1115568"/>
          </a:xfrm>
          <a:prstGeom prst="rect">
            <a:avLst/>
          </a:prstGeom>
          <a:noFill/>
        </p:spPr>
        <p:txBody>
          <a:bodyPr wrap="square" anchor="ctr">
            <a:spAutoFit/>
          </a:bodyPr>
          <a:lstStyle/>
          <a:p>
            <a:pPr algn="l">
              <a:spcAft>
                <a:spcPts val="300"/>
              </a:spcAft>
            </a:pPr>
            <a:r>
              <a:rPr sz="1600" b="1">
                <a:solidFill>
                  <a:srgbClr val="161B26"/>
                </a:solidFill>
                <a:latin typeface="Arial"/>
              </a:rPr>
              <a:t>Get the labs</a:t>
            </a:r>
          </a:p>
          <a:p>
            <a:pPr algn="l">
              <a:spcAft>
                <a:spcPts val="300"/>
              </a:spcAft>
            </a:pPr>
            <a:r>
              <a:rPr sz="1200" b="0">
                <a:solidFill>
                  <a:srgbClr val="5B6372"/>
                </a:solidFill>
                <a:latin typeface="Arial"/>
              </a:rPr>
              <a:t>Clone the lab repository from GitHub — the link is on the course page.</a:t>
            </a:r>
          </a:p>
        </p:txBody>
      </p:sp>
      <p:sp>
        <p:nvSpPr>
          <p:cNvPr id="32" name="Rectangle 31"/>
          <p:cNvSpPr/>
          <p:nvPr/>
        </p:nvSpPr>
        <p:spPr>
          <a:xfrm>
            <a:off x="6231636" y="4855464"/>
            <a:ext cx="5180076" cy="129844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Rectangle 32"/>
          <p:cNvSpPr/>
          <p:nvPr/>
        </p:nvSpPr>
        <p:spPr>
          <a:xfrm>
            <a:off x="6231636" y="4855464"/>
            <a:ext cx="91440" cy="1298448"/>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Oval 33"/>
          <p:cNvSpPr/>
          <p:nvPr/>
        </p:nvSpPr>
        <p:spPr>
          <a:xfrm>
            <a:off x="6487668" y="5230368"/>
            <a:ext cx="548640" cy="548640"/>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TextBox 34"/>
          <p:cNvSpPr txBox="1"/>
          <p:nvPr/>
        </p:nvSpPr>
        <p:spPr>
          <a:xfrm>
            <a:off x="6487668" y="5230368"/>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6</a:t>
            </a:r>
          </a:p>
        </p:txBody>
      </p:sp>
      <p:sp>
        <p:nvSpPr>
          <p:cNvPr id="36" name="TextBox 35"/>
          <p:cNvSpPr txBox="1"/>
          <p:nvPr/>
        </p:nvSpPr>
        <p:spPr>
          <a:xfrm>
            <a:off x="7219188" y="4983480"/>
            <a:ext cx="3973068" cy="1115568"/>
          </a:xfrm>
          <a:prstGeom prst="rect">
            <a:avLst/>
          </a:prstGeom>
          <a:noFill/>
        </p:spPr>
        <p:txBody>
          <a:bodyPr wrap="square" anchor="ctr">
            <a:spAutoFit/>
          </a:bodyPr>
          <a:lstStyle/>
          <a:p>
            <a:pPr algn="l">
              <a:spcAft>
                <a:spcPts val="300"/>
              </a:spcAft>
            </a:pPr>
            <a:r>
              <a:rPr sz="1600" b="1">
                <a:solidFill>
                  <a:srgbClr val="161B26"/>
                </a:solidFill>
                <a:latin typeface="Arial"/>
              </a:rPr>
              <a:t>Keep them open</a:t>
            </a:r>
          </a:p>
          <a:p>
            <a:pPr algn="l">
              <a:spcAft>
                <a:spcPts val="300"/>
              </a:spcAft>
            </a:pPr>
            <a:r>
              <a:rPr sz="1200" b="0">
                <a:solidFill>
                  <a:srgbClr val="5B6372"/>
                </a:solidFill>
                <a:latin typeface="Arial"/>
              </a:rPr>
              <a:t>You may use these materials during the open-book assessment.</a:t>
            </a:r>
          </a:p>
        </p:txBody>
      </p:sp>
      <p:sp>
        <p:nvSpPr>
          <p:cNvPr id="37" name="TextBox 36"/>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Manage AI Agents with Paperclip (TGS-2023036646)  ·  TGS-2023036646</a:t>
            </a:r>
          </a:p>
        </p:txBody>
      </p:sp>
      <p:sp>
        <p:nvSpPr>
          <p:cNvPr id="38" name="TextBox 37"/>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39" name="TextBox 38"/>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8</a:t>
            </a:r>
          </a:p>
        </p:txBody>
      </p:sp>
    </p:spTree>
  </p:cSld>
  <p:clrMapOvr>
    <a:masterClrMapping/>
  </p:clrMapOvr>
  <p:transition spd="fast" advClick="1">
    <p:fade/>
  </p:transition>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7C3AED"/>
                </a:solidFill>
                <a:latin typeface="Arial"/>
              </a:rPr>
              <a:t>SKILLS FRAMEWORK  ·  TSC</a:t>
            </a:r>
          </a:p>
        </p:txBody>
      </p:sp>
      <p:sp>
        <p:nvSpPr>
          <p:cNvPr id="5" name="TextBox 4"/>
          <p:cNvSpPr txBox="1"/>
          <p:nvPr/>
        </p:nvSpPr>
        <p:spPr>
          <a:xfrm>
            <a:off x="777240" y="804672"/>
            <a:ext cx="10881360" cy="713232"/>
          </a:xfrm>
          <a:prstGeom prst="rect">
            <a:avLst/>
          </a:prstGeom>
          <a:noFill/>
        </p:spPr>
        <p:txBody>
          <a:bodyPr wrap="square" anchor="ctr">
            <a:spAutoFit/>
          </a:bodyPr>
          <a:lstStyle/>
          <a:p>
            <a:pPr algn="l">
              <a:spcAft>
                <a:spcPts val="400"/>
              </a:spcAft>
            </a:pPr>
            <a:r>
              <a:rPr sz="2900" b="1">
                <a:solidFill>
                  <a:srgbClr val="161B26"/>
                </a:solidFill>
                <a:latin typeface="Arial"/>
              </a:rPr>
              <a:t>Skills Framework Alignment</a:t>
            </a:r>
          </a:p>
        </p:txBody>
      </p:sp>
      <p:sp>
        <p:nvSpPr>
          <p:cNvPr id="6" name="Rectangle 5"/>
          <p:cNvSpPr/>
          <p:nvPr/>
        </p:nvSpPr>
        <p:spPr>
          <a:xfrm>
            <a:off x="777240" y="155448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77240" y="1783080"/>
            <a:ext cx="5180076" cy="129844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777240" y="1783080"/>
            <a:ext cx="91440" cy="1298448"/>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Oval 8"/>
          <p:cNvSpPr/>
          <p:nvPr/>
        </p:nvSpPr>
        <p:spPr>
          <a:xfrm>
            <a:off x="1033272" y="2157984"/>
            <a:ext cx="548640" cy="548640"/>
          </a:xfrm>
          <a:prstGeom prst="ellipse">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1033272" y="2157984"/>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1</a:t>
            </a:r>
          </a:p>
        </p:txBody>
      </p:sp>
      <p:sp>
        <p:nvSpPr>
          <p:cNvPr id="11" name="TextBox 10"/>
          <p:cNvSpPr txBox="1"/>
          <p:nvPr/>
        </p:nvSpPr>
        <p:spPr>
          <a:xfrm>
            <a:off x="1764792" y="1911096"/>
            <a:ext cx="3973068" cy="1115568"/>
          </a:xfrm>
          <a:prstGeom prst="rect">
            <a:avLst/>
          </a:prstGeom>
          <a:noFill/>
        </p:spPr>
        <p:txBody>
          <a:bodyPr wrap="square" anchor="ctr">
            <a:spAutoFit/>
          </a:bodyPr>
          <a:lstStyle/>
          <a:p>
            <a:pPr algn="l">
              <a:spcAft>
                <a:spcPts val="300"/>
              </a:spcAft>
            </a:pPr>
            <a:r>
              <a:rPr sz="1600" b="1">
                <a:solidFill>
                  <a:srgbClr val="161B26"/>
                </a:solidFill>
                <a:latin typeface="Arial"/>
              </a:rPr>
              <a:t>TSC Title</a:t>
            </a:r>
          </a:p>
          <a:p>
            <a:pPr algn="l">
              <a:spcAft>
                <a:spcPts val="300"/>
              </a:spcAft>
            </a:pPr>
            <a:r>
              <a:rPr sz="1200" b="0">
                <a:solidFill>
                  <a:srgbClr val="5B6372"/>
                </a:solidFill>
                <a:latin typeface="Arial"/>
              </a:rPr>
              <a:t>Applications Integration</a:t>
            </a:r>
          </a:p>
        </p:txBody>
      </p:sp>
      <p:sp>
        <p:nvSpPr>
          <p:cNvPr id="12" name="Rectangle 11"/>
          <p:cNvSpPr/>
          <p:nvPr/>
        </p:nvSpPr>
        <p:spPr>
          <a:xfrm>
            <a:off x="6231636" y="1783080"/>
            <a:ext cx="5180076" cy="129844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6231636" y="1783080"/>
            <a:ext cx="91440" cy="1298448"/>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Oval 13"/>
          <p:cNvSpPr/>
          <p:nvPr/>
        </p:nvSpPr>
        <p:spPr>
          <a:xfrm>
            <a:off x="6487668" y="2157984"/>
            <a:ext cx="548640" cy="548640"/>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487668" y="2157984"/>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2</a:t>
            </a:r>
          </a:p>
        </p:txBody>
      </p:sp>
      <p:sp>
        <p:nvSpPr>
          <p:cNvPr id="16" name="TextBox 15"/>
          <p:cNvSpPr txBox="1"/>
          <p:nvPr/>
        </p:nvSpPr>
        <p:spPr>
          <a:xfrm>
            <a:off x="7219188" y="1911096"/>
            <a:ext cx="3973068" cy="1115568"/>
          </a:xfrm>
          <a:prstGeom prst="rect">
            <a:avLst/>
          </a:prstGeom>
          <a:noFill/>
        </p:spPr>
        <p:txBody>
          <a:bodyPr wrap="square" anchor="ctr">
            <a:spAutoFit/>
          </a:bodyPr>
          <a:lstStyle/>
          <a:p>
            <a:pPr algn="l">
              <a:spcAft>
                <a:spcPts val="300"/>
              </a:spcAft>
            </a:pPr>
            <a:r>
              <a:rPr sz="1600" b="1">
                <a:solidFill>
                  <a:srgbClr val="161B26"/>
                </a:solidFill>
                <a:latin typeface="Arial"/>
              </a:rPr>
              <a:t>TSC Code</a:t>
            </a:r>
          </a:p>
          <a:p>
            <a:pPr algn="l">
              <a:spcAft>
                <a:spcPts val="300"/>
              </a:spcAft>
            </a:pPr>
            <a:r>
              <a:rPr sz="1200" b="0">
                <a:solidFill>
                  <a:srgbClr val="5B6372"/>
                </a:solidFill>
                <a:latin typeface="Arial"/>
              </a:rPr>
              <a:t>ICT-DIT-3003-1.1</a:t>
            </a:r>
          </a:p>
        </p:txBody>
      </p:sp>
      <p:sp>
        <p:nvSpPr>
          <p:cNvPr id="17" name="Rectangle 16"/>
          <p:cNvSpPr/>
          <p:nvPr/>
        </p:nvSpPr>
        <p:spPr>
          <a:xfrm>
            <a:off x="777240" y="3319272"/>
            <a:ext cx="5180076" cy="129844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777240" y="3319272"/>
            <a:ext cx="91440" cy="1298448"/>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Oval 18"/>
          <p:cNvSpPr/>
          <p:nvPr/>
        </p:nvSpPr>
        <p:spPr>
          <a:xfrm>
            <a:off x="1033272" y="3694176"/>
            <a:ext cx="548640" cy="548640"/>
          </a:xfrm>
          <a:prstGeom prst="ellipse">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1033272" y="3694176"/>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3</a:t>
            </a:r>
          </a:p>
        </p:txBody>
      </p:sp>
      <p:sp>
        <p:nvSpPr>
          <p:cNvPr id="21" name="TextBox 20"/>
          <p:cNvSpPr txBox="1"/>
          <p:nvPr/>
        </p:nvSpPr>
        <p:spPr>
          <a:xfrm>
            <a:off x="1764792" y="3447288"/>
            <a:ext cx="3973068" cy="1115568"/>
          </a:xfrm>
          <a:prstGeom prst="rect">
            <a:avLst/>
          </a:prstGeom>
          <a:noFill/>
        </p:spPr>
        <p:txBody>
          <a:bodyPr wrap="square" anchor="ctr">
            <a:spAutoFit/>
          </a:bodyPr>
          <a:lstStyle/>
          <a:p>
            <a:pPr algn="l">
              <a:spcAft>
                <a:spcPts val="300"/>
              </a:spcAft>
            </a:pPr>
            <a:r>
              <a:rPr sz="1600" b="1">
                <a:solidFill>
                  <a:srgbClr val="161B26"/>
                </a:solidFill>
                <a:latin typeface="Arial"/>
              </a:rPr>
              <a:t>Training hours</a:t>
            </a:r>
          </a:p>
          <a:p>
            <a:pPr algn="l">
              <a:spcAft>
                <a:spcPts val="300"/>
              </a:spcAft>
            </a:pPr>
            <a:r>
              <a:rPr sz="1200" b="0">
                <a:solidFill>
                  <a:srgbClr val="5B6372"/>
                </a:solidFill>
                <a:latin typeface="Arial"/>
              </a:rPr>
              <a:t>14 hours across 2 days</a:t>
            </a:r>
          </a:p>
        </p:txBody>
      </p:sp>
      <p:sp>
        <p:nvSpPr>
          <p:cNvPr id="22" name="Rectangle 21"/>
          <p:cNvSpPr/>
          <p:nvPr/>
        </p:nvSpPr>
        <p:spPr>
          <a:xfrm>
            <a:off x="6231636" y="3319272"/>
            <a:ext cx="5180076" cy="129844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ectangle 22"/>
          <p:cNvSpPr/>
          <p:nvPr/>
        </p:nvSpPr>
        <p:spPr>
          <a:xfrm>
            <a:off x="6231636" y="3319272"/>
            <a:ext cx="91440" cy="1298448"/>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Oval 23"/>
          <p:cNvSpPr/>
          <p:nvPr/>
        </p:nvSpPr>
        <p:spPr>
          <a:xfrm>
            <a:off x="6487668" y="3694176"/>
            <a:ext cx="548640" cy="548640"/>
          </a:xfrm>
          <a:prstGeom prst="ellipse">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6487668" y="3694176"/>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4</a:t>
            </a:r>
          </a:p>
        </p:txBody>
      </p:sp>
      <p:sp>
        <p:nvSpPr>
          <p:cNvPr id="26" name="TextBox 25"/>
          <p:cNvSpPr txBox="1"/>
          <p:nvPr/>
        </p:nvSpPr>
        <p:spPr>
          <a:xfrm>
            <a:off x="7219188" y="3447288"/>
            <a:ext cx="3973068" cy="1115568"/>
          </a:xfrm>
          <a:prstGeom prst="rect">
            <a:avLst/>
          </a:prstGeom>
          <a:noFill/>
        </p:spPr>
        <p:txBody>
          <a:bodyPr wrap="square" anchor="ctr">
            <a:spAutoFit/>
          </a:bodyPr>
          <a:lstStyle/>
          <a:p>
            <a:pPr algn="l">
              <a:spcAft>
                <a:spcPts val="300"/>
              </a:spcAft>
            </a:pPr>
            <a:r>
              <a:rPr sz="1600" b="1">
                <a:solidFill>
                  <a:srgbClr val="161B26"/>
                </a:solidFill>
                <a:latin typeface="Arial"/>
              </a:rPr>
              <a:t>Assessment hours</a:t>
            </a:r>
          </a:p>
          <a:p>
            <a:pPr algn="l">
              <a:spcAft>
                <a:spcPts val="300"/>
              </a:spcAft>
            </a:pPr>
            <a:r>
              <a:rPr sz="1200" b="0">
                <a:solidFill>
                  <a:srgbClr val="5B6372"/>
                </a:solidFill>
                <a:latin typeface="Arial"/>
              </a:rPr>
              <a:t>2 hours — Written Assessment + Practical Performance</a:t>
            </a:r>
          </a:p>
        </p:txBody>
      </p:sp>
      <p:sp>
        <p:nvSpPr>
          <p:cNvPr id="27" name="Rectangle 26"/>
          <p:cNvSpPr/>
          <p:nvPr/>
        </p:nvSpPr>
        <p:spPr>
          <a:xfrm>
            <a:off x="777240" y="4855464"/>
            <a:ext cx="5180076" cy="129844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Rectangle 27"/>
          <p:cNvSpPr/>
          <p:nvPr/>
        </p:nvSpPr>
        <p:spPr>
          <a:xfrm>
            <a:off x="777240" y="4855464"/>
            <a:ext cx="91440" cy="1298448"/>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Oval 28"/>
          <p:cNvSpPr/>
          <p:nvPr/>
        </p:nvSpPr>
        <p:spPr>
          <a:xfrm>
            <a:off x="1033272" y="5230368"/>
            <a:ext cx="548640" cy="548640"/>
          </a:xfrm>
          <a:prstGeom prst="ellipse">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TextBox 29"/>
          <p:cNvSpPr txBox="1"/>
          <p:nvPr/>
        </p:nvSpPr>
        <p:spPr>
          <a:xfrm>
            <a:off x="1033272" y="5230368"/>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5</a:t>
            </a:r>
          </a:p>
        </p:txBody>
      </p:sp>
      <p:sp>
        <p:nvSpPr>
          <p:cNvPr id="31" name="TextBox 30"/>
          <p:cNvSpPr txBox="1"/>
          <p:nvPr/>
        </p:nvSpPr>
        <p:spPr>
          <a:xfrm>
            <a:off x="1764792" y="4983480"/>
            <a:ext cx="3973068" cy="1115568"/>
          </a:xfrm>
          <a:prstGeom prst="rect">
            <a:avLst/>
          </a:prstGeom>
          <a:noFill/>
        </p:spPr>
        <p:txBody>
          <a:bodyPr wrap="square" anchor="ctr">
            <a:spAutoFit/>
          </a:bodyPr>
          <a:lstStyle/>
          <a:p>
            <a:pPr algn="l">
              <a:spcAft>
                <a:spcPts val="300"/>
              </a:spcAft>
            </a:pPr>
            <a:r>
              <a:rPr sz="1600" b="1">
                <a:solidFill>
                  <a:srgbClr val="161B26"/>
                </a:solidFill>
                <a:latin typeface="Arial"/>
              </a:rPr>
              <a:t>Level</a:t>
            </a:r>
          </a:p>
          <a:p>
            <a:pPr algn="l">
              <a:spcAft>
                <a:spcPts val="300"/>
              </a:spcAft>
            </a:pPr>
            <a:r>
              <a:rPr sz="1200" b="0">
                <a:solidFill>
                  <a:srgbClr val="5B6372"/>
                </a:solidFill>
                <a:latin typeface="Arial"/>
              </a:rPr>
              <a:t>Beginner to Intermediate</a:t>
            </a:r>
          </a:p>
        </p:txBody>
      </p:sp>
      <p:sp>
        <p:nvSpPr>
          <p:cNvPr id="32" name="Rectangle 31"/>
          <p:cNvSpPr/>
          <p:nvPr/>
        </p:nvSpPr>
        <p:spPr>
          <a:xfrm>
            <a:off x="6231636" y="4855464"/>
            <a:ext cx="5180076" cy="129844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Rectangle 32"/>
          <p:cNvSpPr/>
          <p:nvPr/>
        </p:nvSpPr>
        <p:spPr>
          <a:xfrm>
            <a:off x="6231636" y="4855464"/>
            <a:ext cx="91440" cy="1298448"/>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Oval 33"/>
          <p:cNvSpPr/>
          <p:nvPr/>
        </p:nvSpPr>
        <p:spPr>
          <a:xfrm>
            <a:off x="6487668" y="5230368"/>
            <a:ext cx="548640" cy="548640"/>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TextBox 34"/>
          <p:cNvSpPr txBox="1"/>
          <p:nvPr/>
        </p:nvSpPr>
        <p:spPr>
          <a:xfrm>
            <a:off x="6487668" y="5230368"/>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6</a:t>
            </a:r>
          </a:p>
        </p:txBody>
      </p:sp>
      <p:sp>
        <p:nvSpPr>
          <p:cNvPr id="36" name="TextBox 35"/>
          <p:cNvSpPr txBox="1"/>
          <p:nvPr/>
        </p:nvSpPr>
        <p:spPr>
          <a:xfrm>
            <a:off x="7219188" y="4983480"/>
            <a:ext cx="3973068" cy="1115568"/>
          </a:xfrm>
          <a:prstGeom prst="rect">
            <a:avLst/>
          </a:prstGeom>
          <a:noFill/>
        </p:spPr>
        <p:txBody>
          <a:bodyPr wrap="square" anchor="ctr">
            <a:spAutoFit/>
          </a:bodyPr>
          <a:lstStyle/>
          <a:p>
            <a:pPr algn="l">
              <a:spcAft>
                <a:spcPts val="300"/>
              </a:spcAft>
            </a:pPr>
            <a:r>
              <a:rPr sz="1600" b="1">
                <a:solidFill>
                  <a:srgbClr val="161B26"/>
                </a:solidFill>
                <a:latin typeface="Arial"/>
              </a:rPr>
              <a:t>Mode</a:t>
            </a:r>
          </a:p>
          <a:p>
            <a:pPr algn="l">
              <a:spcAft>
                <a:spcPts val="300"/>
              </a:spcAft>
            </a:pPr>
            <a:r>
              <a:rPr sz="1200" b="0">
                <a:solidFill>
                  <a:srgbClr val="5B6372"/>
                </a:solidFill>
                <a:latin typeface="Arial"/>
              </a:rPr>
              <a:t>Physical, instructor-led with hands-on labs</a:t>
            </a:r>
          </a:p>
        </p:txBody>
      </p:sp>
      <p:sp>
        <p:nvSpPr>
          <p:cNvPr id="37" name="TextBox 36"/>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Manage AI Agents with Paperclip (TGS-2023036646)  ·  TGS-2023036646</a:t>
            </a:r>
          </a:p>
        </p:txBody>
      </p:sp>
      <p:sp>
        <p:nvSpPr>
          <p:cNvPr id="38" name="TextBox 37"/>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39" name="TextBox 38"/>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9</a:t>
            </a:r>
          </a:p>
        </p:txBody>
      </p:sp>
    </p:spTree>
  </p:cSld>
  <p:clrMapOvr>
    <a:masterClrMapping/>
  </p:clrMapOvr>
  <p:transition spd="fast" advClick="1">
    <p:fade/>
  </p:transition>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1F6FEB"/>
                </a:solidFill>
                <a:latin typeface="Arial"/>
              </a:rPr>
              <a:t>SCHEDULE</a:t>
            </a:r>
          </a:p>
        </p:txBody>
      </p:sp>
      <p:sp>
        <p:nvSpPr>
          <p:cNvPr id="5" name="TextBox 4"/>
          <p:cNvSpPr txBox="1"/>
          <p:nvPr/>
        </p:nvSpPr>
        <p:spPr>
          <a:xfrm>
            <a:off x="777240" y="804672"/>
            <a:ext cx="10881360" cy="713232"/>
          </a:xfrm>
          <a:prstGeom prst="rect">
            <a:avLst/>
          </a:prstGeom>
          <a:noFill/>
        </p:spPr>
        <p:txBody>
          <a:bodyPr wrap="square" anchor="ctr">
            <a:spAutoFit/>
          </a:bodyPr>
          <a:lstStyle/>
          <a:p>
            <a:pPr algn="l">
              <a:spcAft>
                <a:spcPts val="400"/>
              </a:spcAft>
            </a:pPr>
            <a:r>
              <a:rPr sz="2900" b="1">
                <a:solidFill>
                  <a:srgbClr val="161B26"/>
                </a:solidFill>
                <a:latin typeface="Arial"/>
              </a:rPr>
              <a:t>Lesson Plan — 2 Days, 8 hours/day</a:t>
            </a:r>
          </a:p>
        </p:txBody>
      </p:sp>
      <p:sp>
        <p:nvSpPr>
          <p:cNvPr id="6" name="Rectangle 5"/>
          <p:cNvSpPr/>
          <p:nvPr/>
        </p:nvSpPr>
        <p:spPr>
          <a:xfrm>
            <a:off x="777240" y="155448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77240" y="1783080"/>
            <a:ext cx="5212080" cy="429768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6355080" y="1783080"/>
            <a:ext cx="5074920" cy="429768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1005840" y="1965960"/>
            <a:ext cx="4754880" cy="365760"/>
          </a:xfrm>
          <a:prstGeom prst="rect">
            <a:avLst/>
          </a:prstGeom>
          <a:noFill/>
        </p:spPr>
        <p:txBody>
          <a:bodyPr wrap="square" anchor="t">
            <a:spAutoFit/>
          </a:bodyPr>
          <a:lstStyle/>
          <a:p>
            <a:pPr algn="l">
              <a:spcAft>
                <a:spcPts val="400"/>
              </a:spcAft>
            </a:pPr>
            <a:r>
              <a:rPr sz="1600" b="1">
                <a:solidFill>
                  <a:srgbClr val="1F6FEB"/>
                </a:solidFill>
                <a:latin typeface="Arial"/>
              </a:rPr>
              <a:t>Day 1</a:t>
            </a:r>
          </a:p>
        </p:txBody>
      </p:sp>
      <p:sp>
        <p:nvSpPr>
          <p:cNvPr id="10" name="TextBox 9"/>
          <p:cNvSpPr txBox="1"/>
          <p:nvPr/>
        </p:nvSpPr>
        <p:spPr>
          <a:xfrm>
            <a:off x="6583680" y="1965960"/>
            <a:ext cx="4572000" cy="365760"/>
          </a:xfrm>
          <a:prstGeom prst="rect">
            <a:avLst/>
          </a:prstGeom>
          <a:noFill/>
        </p:spPr>
        <p:txBody>
          <a:bodyPr wrap="square" anchor="t">
            <a:spAutoFit/>
          </a:bodyPr>
          <a:lstStyle/>
          <a:p>
            <a:pPr algn="l">
              <a:spcAft>
                <a:spcPts val="400"/>
              </a:spcAft>
            </a:pPr>
            <a:r>
              <a:rPr sz="1600" b="1">
                <a:solidFill>
                  <a:srgbClr val="10B981"/>
                </a:solidFill>
                <a:latin typeface="Arial"/>
              </a:rPr>
              <a:t>Day 2</a:t>
            </a:r>
          </a:p>
        </p:txBody>
      </p:sp>
      <p:sp>
        <p:nvSpPr>
          <p:cNvPr id="11" name="TextBox 10"/>
          <p:cNvSpPr txBox="1"/>
          <p:nvPr/>
        </p:nvSpPr>
        <p:spPr>
          <a:xfrm>
            <a:off x="1005840" y="2468880"/>
            <a:ext cx="4754880" cy="3474720"/>
          </a:xfrm>
          <a:prstGeom prst="rect">
            <a:avLst/>
          </a:prstGeom>
          <a:noFill/>
        </p:spPr>
        <p:txBody>
          <a:bodyPr wrap="square">
            <a:spAutoFit/>
          </a:bodyPr>
          <a:lstStyle/>
          <a:p>
            <a:pPr>
              <a:spcAft>
                <a:spcPts val="1000"/>
              </a:spcAft>
            </a:pPr>
            <a:r>
              <a:rPr sz="1600" b="0">
                <a:solidFill>
                  <a:srgbClr val="161B26"/>
                </a:solidFill>
                <a:latin typeface="Arial"/>
              </a:rPr>
              <a:t>•  Day 1 — Agentic AI foundations, the Paperclip control plane, and building your first goal-aligned AI agent company</a:t>
            </a:r>
          </a:p>
          <a:p>
            <a:pPr>
              <a:spcAft>
                <a:spcPts val="1000"/>
              </a:spcAft>
            </a:pPr>
            <a:r>
              <a:rPr sz="1400" b="0">
                <a:solidFill>
                  <a:srgbClr val="5B6372"/>
                </a:solidFill>
                <a:latin typeface="Arial"/>
              </a:rPr>
              <a:t>–  Digital Attendance (AM) · Introductions · Learning Outcomes</a:t>
            </a:r>
          </a:p>
          <a:p>
            <a:pPr>
              <a:spcAft>
                <a:spcPts val="1000"/>
              </a:spcAft>
            </a:pPr>
            <a:r>
              <a:rPr sz="1400" b="0">
                <a:solidFill>
                  <a:srgbClr val="5B6372"/>
                </a:solidFill>
                <a:latin typeface="Arial"/>
              </a:rPr>
              <a:t>–  Topic 1: Fundamentals of Agentic AI and Paperclip (Lab 1)</a:t>
            </a:r>
          </a:p>
          <a:p>
            <a:pPr>
              <a:spcAft>
                <a:spcPts val="1000"/>
              </a:spcAft>
            </a:pPr>
            <a:r>
              <a:rPr sz="1400" b="0">
                <a:solidFill>
                  <a:srgbClr val="5B6372"/>
                </a:solidFill>
                <a:latin typeface="Arial"/>
              </a:rPr>
              <a:t>–  Lunch Break · Digital Attendance (PM)</a:t>
            </a:r>
          </a:p>
          <a:p>
            <a:pPr>
              <a:spcAft>
                <a:spcPts val="1000"/>
              </a:spcAft>
            </a:pPr>
            <a:r>
              <a:rPr sz="1400" b="0">
                <a:solidFill>
                  <a:srgbClr val="5B6372"/>
                </a:solidFill>
                <a:latin typeface="Arial"/>
              </a:rPr>
              <a:t>–  Topic 2: Building AI Agents with Paperclip (Labs 2–3)</a:t>
            </a:r>
          </a:p>
          <a:p>
            <a:pPr>
              <a:spcAft>
                <a:spcPts val="1000"/>
              </a:spcAft>
            </a:pPr>
            <a:r>
              <a:rPr sz="1400" b="0">
                <a:solidFill>
                  <a:srgbClr val="5B6372"/>
                </a:solidFill>
                <a:latin typeface="Arial"/>
              </a:rPr>
              <a:t>–  Day 1 recap</a:t>
            </a:r>
          </a:p>
        </p:txBody>
      </p:sp>
      <p:sp>
        <p:nvSpPr>
          <p:cNvPr id="12" name="TextBox 11"/>
          <p:cNvSpPr txBox="1"/>
          <p:nvPr/>
        </p:nvSpPr>
        <p:spPr>
          <a:xfrm>
            <a:off x="6583680" y="2468880"/>
            <a:ext cx="4617720" cy="3474720"/>
          </a:xfrm>
          <a:prstGeom prst="rect">
            <a:avLst/>
          </a:prstGeom>
          <a:noFill/>
        </p:spPr>
        <p:txBody>
          <a:bodyPr wrap="square">
            <a:spAutoFit/>
          </a:bodyPr>
          <a:lstStyle/>
          <a:p>
            <a:pPr>
              <a:spcAft>
                <a:spcPts val="1000"/>
              </a:spcAft>
            </a:pPr>
            <a:r>
              <a:rPr sz="1600" b="0">
                <a:solidFill>
                  <a:srgbClr val="161B26"/>
                </a:solidFill>
                <a:latin typeface="Arial"/>
              </a:rPr>
              <a:t>•  Day 2 — Multi-agent operations: decomposition, hand-offs, routines, budgets, approvals and the closed audit loop</a:t>
            </a:r>
          </a:p>
          <a:p>
            <a:pPr>
              <a:spcAft>
                <a:spcPts val="1000"/>
              </a:spcAft>
            </a:pPr>
            <a:r>
              <a:rPr sz="1400" b="0">
                <a:solidFill>
                  <a:srgbClr val="5B6372"/>
                </a:solidFill>
                <a:latin typeface="Arial"/>
              </a:rPr>
              <a:t>–  Digital Attendance (AM) · Day 1 recap</a:t>
            </a:r>
          </a:p>
          <a:p>
            <a:pPr>
              <a:spcAft>
                <a:spcPts val="1000"/>
              </a:spcAft>
            </a:pPr>
            <a:r>
              <a:rPr sz="1400" b="0">
                <a:solidFill>
                  <a:srgbClr val="5B6372"/>
                </a:solidFill>
                <a:latin typeface="Arial"/>
              </a:rPr>
              <a:t>–  Topic 3: Developing Intelligent Multi-Agent Systems (Labs 4–5)</a:t>
            </a:r>
          </a:p>
          <a:p>
            <a:pPr>
              <a:spcAft>
                <a:spcPts val="1000"/>
              </a:spcAft>
            </a:pPr>
            <a:r>
              <a:rPr sz="1400" b="0">
                <a:solidFill>
                  <a:srgbClr val="5B6372"/>
                </a:solidFill>
                <a:latin typeface="Arial"/>
              </a:rPr>
              <a:t>–  Lunch Break · Digital Attendance (PM)</a:t>
            </a:r>
          </a:p>
          <a:p>
            <a:pPr>
              <a:spcAft>
                <a:spcPts val="1000"/>
              </a:spcAft>
            </a:pPr>
            <a:r>
              <a:rPr sz="1400" b="0">
                <a:solidFill>
                  <a:srgbClr val="5B6372"/>
                </a:solidFill>
                <a:latin typeface="Arial"/>
              </a:rPr>
              <a:t>–  Topic 4: Deploying and Managing AI Agents (Lab 6)</a:t>
            </a:r>
          </a:p>
          <a:p>
            <a:pPr>
              <a:spcAft>
                <a:spcPts val="1000"/>
              </a:spcAft>
            </a:pPr>
            <a:r>
              <a:rPr sz="1400" b="0">
                <a:solidFill>
                  <a:srgbClr val="5B6372"/>
                </a:solidFill>
                <a:latin typeface="Arial"/>
              </a:rPr>
              <a:t>–  TRAQOM Survey · Digital Attendance (Assessment)</a:t>
            </a:r>
          </a:p>
          <a:p>
            <a:pPr>
              <a:spcAft>
                <a:spcPts val="1000"/>
              </a:spcAft>
            </a:pPr>
            <a:r>
              <a:rPr sz="1400" b="0">
                <a:solidFill>
                  <a:srgbClr val="5B6372"/>
                </a:solidFill>
                <a:latin typeface="Arial"/>
              </a:rPr>
              <a:t>–  Final Assessment (WA + PP) — 2 hours</a:t>
            </a:r>
          </a:p>
        </p:txBody>
      </p:sp>
      <p:sp>
        <p:nvSpPr>
          <p:cNvPr id="13" name="TextBox 12"/>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Manage AI Agents with Paperclip (TGS-2023036646)  ·  TGS-2023036646</a:t>
            </a:r>
          </a:p>
        </p:txBody>
      </p:sp>
      <p:sp>
        <p:nvSpPr>
          <p:cNvPr id="14" name="TextBox 13"/>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15" name="TextBox 14"/>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10</a:t>
            </a:r>
          </a:p>
        </p:txBody>
      </p:sp>
    </p:spTree>
  </p:cSld>
  <p:clrMapOvr>
    <a:masterClrMapping/>
  </p:clrMapOvr>
  <p:transition spd="fast" advClick="1">
    <p:fade/>
  </p:transition>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1F6FEB"/>
                </a:solidFill>
                <a:latin typeface="Arial"/>
              </a:rPr>
              <a:t>WHAT YOU'LL ACHIEVE</a:t>
            </a:r>
          </a:p>
        </p:txBody>
      </p:sp>
      <p:sp>
        <p:nvSpPr>
          <p:cNvPr id="5" name="TextBox 4"/>
          <p:cNvSpPr txBox="1"/>
          <p:nvPr/>
        </p:nvSpPr>
        <p:spPr>
          <a:xfrm>
            <a:off x="777240" y="804672"/>
            <a:ext cx="10881360" cy="713232"/>
          </a:xfrm>
          <a:prstGeom prst="rect">
            <a:avLst/>
          </a:prstGeom>
          <a:noFill/>
        </p:spPr>
        <p:txBody>
          <a:bodyPr wrap="square" anchor="ctr">
            <a:spAutoFit/>
          </a:bodyPr>
          <a:lstStyle/>
          <a:p>
            <a:pPr algn="l">
              <a:spcAft>
                <a:spcPts val="400"/>
              </a:spcAft>
            </a:pPr>
            <a:r>
              <a:rPr sz="2900" b="1">
                <a:solidFill>
                  <a:srgbClr val="161B26"/>
                </a:solidFill>
                <a:latin typeface="Arial"/>
              </a:rPr>
              <a:t>Learning Outcomes</a:t>
            </a:r>
          </a:p>
        </p:txBody>
      </p:sp>
      <p:sp>
        <p:nvSpPr>
          <p:cNvPr id="6" name="Rectangle 5"/>
          <p:cNvSpPr/>
          <p:nvPr/>
        </p:nvSpPr>
        <p:spPr>
          <a:xfrm>
            <a:off x="777240" y="155448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77240" y="1783080"/>
            <a:ext cx="5180076" cy="2066544"/>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777240" y="1783080"/>
            <a:ext cx="91440" cy="2066544"/>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Oval 8"/>
          <p:cNvSpPr/>
          <p:nvPr/>
        </p:nvSpPr>
        <p:spPr>
          <a:xfrm>
            <a:off x="1033272" y="2542032"/>
            <a:ext cx="548640" cy="548640"/>
          </a:xfrm>
          <a:prstGeom prst="ellipse">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1033272" y="2542032"/>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1</a:t>
            </a:r>
          </a:p>
        </p:txBody>
      </p:sp>
      <p:sp>
        <p:nvSpPr>
          <p:cNvPr id="11" name="TextBox 10"/>
          <p:cNvSpPr txBox="1"/>
          <p:nvPr/>
        </p:nvSpPr>
        <p:spPr>
          <a:xfrm>
            <a:off x="1764792" y="1911096"/>
            <a:ext cx="3973068" cy="1883664"/>
          </a:xfrm>
          <a:prstGeom prst="rect">
            <a:avLst/>
          </a:prstGeom>
          <a:noFill/>
        </p:spPr>
        <p:txBody>
          <a:bodyPr wrap="square" anchor="ctr">
            <a:spAutoFit/>
          </a:bodyPr>
          <a:lstStyle/>
          <a:p>
            <a:pPr algn="l">
              <a:spcAft>
                <a:spcPts val="300"/>
              </a:spcAft>
            </a:pPr>
            <a:r>
              <a:rPr sz="1700" b="1">
                <a:solidFill>
                  <a:srgbClr val="161B26"/>
                </a:solidFill>
                <a:latin typeface="Arial"/>
              </a:rPr>
              <a:t>LO1 · Identify &amp; scan feasibility</a:t>
            </a:r>
          </a:p>
          <a:p>
            <a:pPr algn="l">
              <a:spcAft>
                <a:spcPts val="300"/>
              </a:spcAft>
            </a:pPr>
            <a:r>
              <a:rPr sz="1300" b="0">
                <a:solidFill>
                  <a:srgbClr val="5B6372"/>
                </a:solidFill>
                <a:latin typeface="Arial"/>
              </a:rPr>
              <a:t>Explain the Paperclip control-plane model and judge when a managed multi-agent company earns its coordination cost.</a:t>
            </a:r>
          </a:p>
        </p:txBody>
      </p:sp>
      <p:sp>
        <p:nvSpPr>
          <p:cNvPr id="12" name="Rectangle 11"/>
          <p:cNvSpPr/>
          <p:nvPr/>
        </p:nvSpPr>
        <p:spPr>
          <a:xfrm>
            <a:off x="6231636" y="1783080"/>
            <a:ext cx="5180076" cy="2066544"/>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6231636" y="1783080"/>
            <a:ext cx="91440" cy="2066544"/>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Oval 13"/>
          <p:cNvSpPr/>
          <p:nvPr/>
        </p:nvSpPr>
        <p:spPr>
          <a:xfrm>
            <a:off x="6487668" y="2542032"/>
            <a:ext cx="548640" cy="548640"/>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487668" y="2542032"/>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2</a:t>
            </a:r>
          </a:p>
        </p:txBody>
      </p:sp>
      <p:sp>
        <p:nvSpPr>
          <p:cNvPr id="16" name="TextBox 15"/>
          <p:cNvSpPr txBox="1"/>
          <p:nvPr/>
        </p:nvSpPr>
        <p:spPr>
          <a:xfrm>
            <a:off x="7219188" y="1911096"/>
            <a:ext cx="3973068" cy="1883664"/>
          </a:xfrm>
          <a:prstGeom prst="rect">
            <a:avLst/>
          </a:prstGeom>
          <a:noFill/>
        </p:spPr>
        <p:txBody>
          <a:bodyPr wrap="square" anchor="ctr">
            <a:spAutoFit/>
          </a:bodyPr>
          <a:lstStyle/>
          <a:p>
            <a:pPr algn="l">
              <a:spcAft>
                <a:spcPts val="300"/>
              </a:spcAft>
            </a:pPr>
            <a:r>
              <a:rPr sz="1700" b="1">
                <a:solidFill>
                  <a:srgbClr val="161B26"/>
                </a:solidFill>
                <a:latin typeface="Arial"/>
              </a:rPr>
              <a:t>LO2 · Integrate &amp; develop</a:t>
            </a:r>
          </a:p>
          <a:p>
            <a:pPr algn="l">
              <a:spcAft>
                <a:spcPts val="300"/>
              </a:spcAft>
            </a:pPr>
            <a:r>
              <a:rPr sz="1300" b="0">
                <a:solidFill>
                  <a:srgbClr val="5B6372"/>
                </a:solidFill>
                <a:latin typeface="Arial"/>
              </a:rPr>
              <a:t>Install Paperclip, create a goal-aligned company, build the reporting tree and connect agent runtimes, skills and workspaces safely.</a:t>
            </a:r>
          </a:p>
        </p:txBody>
      </p:sp>
      <p:sp>
        <p:nvSpPr>
          <p:cNvPr id="17" name="Rectangle 16"/>
          <p:cNvSpPr/>
          <p:nvPr/>
        </p:nvSpPr>
        <p:spPr>
          <a:xfrm>
            <a:off x="777240" y="4087368"/>
            <a:ext cx="5180076" cy="2066544"/>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777240" y="4087368"/>
            <a:ext cx="91440" cy="2066544"/>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Oval 18"/>
          <p:cNvSpPr/>
          <p:nvPr/>
        </p:nvSpPr>
        <p:spPr>
          <a:xfrm>
            <a:off x="1033272" y="4846320"/>
            <a:ext cx="548640" cy="548640"/>
          </a:xfrm>
          <a:prstGeom prst="ellipse">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1033272" y="4846320"/>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3</a:t>
            </a:r>
          </a:p>
        </p:txBody>
      </p:sp>
      <p:sp>
        <p:nvSpPr>
          <p:cNvPr id="21" name="TextBox 20"/>
          <p:cNvSpPr txBox="1"/>
          <p:nvPr/>
        </p:nvSpPr>
        <p:spPr>
          <a:xfrm>
            <a:off x="1764792" y="4215384"/>
            <a:ext cx="3973068" cy="1883664"/>
          </a:xfrm>
          <a:prstGeom prst="rect">
            <a:avLst/>
          </a:prstGeom>
          <a:noFill/>
        </p:spPr>
        <p:txBody>
          <a:bodyPr wrap="square" anchor="ctr">
            <a:spAutoFit/>
          </a:bodyPr>
          <a:lstStyle/>
          <a:p>
            <a:pPr algn="l">
              <a:spcAft>
                <a:spcPts val="300"/>
              </a:spcAft>
            </a:pPr>
            <a:r>
              <a:rPr sz="1700" b="1">
                <a:solidFill>
                  <a:srgbClr val="161B26"/>
                </a:solidFill>
                <a:latin typeface="Arial"/>
              </a:rPr>
              <a:t>LO3 · Test &amp; verify</a:t>
            </a:r>
          </a:p>
          <a:p>
            <a:pPr algn="l">
              <a:spcAft>
                <a:spcPts val="300"/>
              </a:spcAft>
            </a:pPr>
            <a:r>
              <a:rPr sz="1300" b="0">
                <a:solidFill>
                  <a:srgbClr val="5B6372"/>
                </a:solidFill>
                <a:latin typeface="Arial"/>
              </a:rPr>
              <a:t>Decompose a mission into issues, run bounded heartbeats and verify hand-offs through runs, comments, artifacts and the activity log.</a:t>
            </a:r>
          </a:p>
        </p:txBody>
      </p:sp>
      <p:sp>
        <p:nvSpPr>
          <p:cNvPr id="22" name="Rectangle 21"/>
          <p:cNvSpPr/>
          <p:nvPr/>
        </p:nvSpPr>
        <p:spPr>
          <a:xfrm>
            <a:off x="6231636" y="4087368"/>
            <a:ext cx="5180076" cy="2066544"/>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ectangle 22"/>
          <p:cNvSpPr/>
          <p:nvPr/>
        </p:nvSpPr>
        <p:spPr>
          <a:xfrm>
            <a:off x="6231636" y="4087368"/>
            <a:ext cx="91440" cy="2066544"/>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Oval 23"/>
          <p:cNvSpPr/>
          <p:nvPr/>
        </p:nvSpPr>
        <p:spPr>
          <a:xfrm>
            <a:off x="6487668" y="4846320"/>
            <a:ext cx="548640" cy="548640"/>
          </a:xfrm>
          <a:prstGeom prst="ellipse">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6487668" y="4846320"/>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4</a:t>
            </a:r>
          </a:p>
        </p:txBody>
      </p:sp>
      <p:sp>
        <p:nvSpPr>
          <p:cNvPr id="26" name="TextBox 25"/>
          <p:cNvSpPr txBox="1"/>
          <p:nvPr/>
        </p:nvSpPr>
        <p:spPr>
          <a:xfrm>
            <a:off x="7219188" y="4215384"/>
            <a:ext cx="3973068" cy="1883664"/>
          </a:xfrm>
          <a:prstGeom prst="rect">
            <a:avLst/>
          </a:prstGeom>
          <a:noFill/>
        </p:spPr>
        <p:txBody>
          <a:bodyPr wrap="square" anchor="ctr">
            <a:spAutoFit/>
          </a:bodyPr>
          <a:lstStyle/>
          <a:p>
            <a:pPr algn="l">
              <a:spcAft>
                <a:spcPts val="300"/>
              </a:spcAft>
            </a:pPr>
            <a:r>
              <a:rPr sz="1700" b="1">
                <a:solidFill>
                  <a:srgbClr val="161B26"/>
                </a:solidFill>
                <a:latin typeface="Arial"/>
              </a:rPr>
              <a:t>LO4 · Resolve &amp; modify</a:t>
            </a:r>
          </a:p>
          <a:p>
            <a:pPr algn="l">
              <a:spcAft>
                <a:spcPts val="300"/>
              </a:spcAft>
            </a:pPr>
            <a:r>
              <a:rPr sz="1300" b="0">
                <a:solidFill>
                  <a:srgbClr val="5B6372"/>
                </a:solidFill>
                <a:latin typeface="Arial"/>
              </a:rPr>
              <a:t>Diagnose adapter, budget and routine failures, and modify governance, approvals and cost boundaries to keep the operation safe.</a:t>
            </a:r>
          </a:p>
        </p:txBody>
      </p:sp>
      <p:sp>
        <p:nvSpPr>
          <p:cNvPr id="27" name="TextBox 26"/>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Manage AI Agents with Paperclip (TGS-2023036646)  ·  TGS-2023036646</a:t>
            </a:r>
          </a:p>
        </p:txBody>
      </p:sp>
      <p:sp>
        <p:nvSpPr>
          <p:cNvPr id="28" name="TextBox 27"/>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29" name="TextBox 28"/>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11</a:t>
            </a:r>
          </a:p>
        </p:txBody>
      </p:sp>
    </p:spTree>
  </p:cSld>
  <p:clrMapOvr>
    <a:masterClrMapping/>
  </p:clrMapOvr>
  <p:transition spd="fast" advClick="1">
    <p:fade/>
  </p:transition>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1F6FEB"/>
                </a:solidFill>
                <a:latin typeface="Arial"/>
              </a:rPr>
              <a:t>FOUR TOPICS  ·  6 HANDS-ON LABS</a:t>
            </a:r>
          </a:p>
        </p:txBody>
      </p:sp>
      <p:sp>
        <p:nvSpPr>
          <p:cNvPr id="5" name="TextBox 4"/>
          <p:cNvSpPr txBox="1"/>
          <p:nvPr/>
        </p:nvSpPr>
        <p:spPr>
          <a:xfrm>
            <a:off x="777240" y="804672"/>
            <a:ext cx="10881360" cy="713232"/>
          </a:xfrm>
          <a:prstGeom prst="rect">
            <a:avLst/>
          </a:prstGeom>
          <a:noFill/>
        </p:spPr>
        <p:txBody>
          <a:bodyPr wrap="square" anchor="ctr">
            <a:spAutoFit/>
          </a:bodyPr>
          <a:lstStyle/>
          <a:p>
            <a:pPr algn="l">
              <a:spcAft>
                <a:spcPts val="400"/>
              </a:spcAft>
            </a:pPr>
            <a:r>
              <a:rPr sz="2900" b="1">
                <a:solidFill>
                  <a:srgbClr val="161B26"/>
                </a:solidFill>
                <a:latin typeface="Arial"/>
              </a:rPr>
              <a:t>Course Outline</a:t>
            </a:r>
          </a:p>
        </p:txBody>
      </p:sp>
      <p:sp>
        <p:nvSpPr>
          <p:cNvPr id="6" name="Rectangle 5"/>
          <p:cNvSpPr/>
          <p:nvPr/>
        </p:nvSpPr>
        <p:spPr>
          <a:xfrm>
            <a:off x="777240" y="155448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77240" y="1783080"/>
            <a:ext cx="10634472" cy="91440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777240" y="1783080"/>
            <a:ext cx="91440" cy="91440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Oval 8"/>
          <p:cNvSpPr/>
          <p:nvPr/>
        </p:nvSpPr>
        <p:spPr>
          <a:xfrm>
            <a:off x="1033272" y="1965960"/>
            <a:ext cx="548640" cy="548640"/>
          </a:xfrm>
          <a:prstGeom prst="ellipse">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1033272" y="1965960"/>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1</a:t>
            </a:r>
          </a:p>
        </p:txBody>
      </p:sp>
      <p:sp>
        <p:nvSpPr>
          <p:cNvPr id="11" name="TextBox 10"/>
          <p:cNvSpPr txBox="1"/>
          <p:nvPr/>
        </p:nvSpPr>
        <p:spPr>
          <a:xfrm>
            <a:off x="1764792" y="1911096"/>
            <a:ext cx="9427464" cy="731520"/>
          </a:xfrm>
          <a:prstGeom prst="rect">
            <a:avLst/>
          </a:prstGeom>
          <a:noFill/>
        </p:spPr>
        <p:txBody>
          <a:bodyPr wrap="square" anchor="ctr">
            <a:spAutoFit/>
          </a:bodyPr>
          <a:lstStyle/>
          <a:p>
            <a:pPr algn="l">
              <a:spcAft>
                <a:spcPts val="300"/>
              </a:spcAft>
            </a:pPr>
            <a:r>
              <a:rPr sz="1700" b="1">
                <a:solidFill>
                  <a:srgbClr val="161B26"/>
                </a:solidFill>
                <a:latin typeface="Arial"/>
              </a:rPr>
              <a:t>Topic 01 — Fundamentals of Agentic AI and Paperclip</a:t>
            </a:r>
          </a:p>
          <a:p>
            <a:pPr algn="l">
              <a:spcAft>
                <a:spcPts val="300"/>
              </a:spcAft>
            </a:pPr>
            <a:r>
              <a:rPr sz="1300" b="0">
                <a:solidFill>
                  <a:srgbClr val="5B6372"/>
                </a:solidFill>
                <a:latin typeface="Arial"/>
              </a:rPr>
              <a:t>Agentic AI foundations · the control-plane model · the twelve subsystems · feasibility and when NOT to use multi-agent</a:t>
            </a:r>
          </a:p>
        </p:txBody>
      </p:sp>
      <p:sp>
        <p:nvSpPr>
          <p:cNvPr id="12" name="Rectangle 11"/>
          <p:cNvSpPr/>
          <p:nvPr/>
        </p:nvSpPr>
        <p:spPr>
          <a:xfrm>
            <a:off x="777240" y="2935224"/>
            <a:ext cx="10634472" cy="91440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777240" y="2935224"/>
            <a:ext cx="91440" cy="91440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Oval 13"/>
          <p:cNvSpPr/>
          <p:nvPr/>
        </p:nvSpPr>
        <p:spPr>
          <a:xfrm>
            <a:off x="1033272" y="3118104"/>
            <a:ext cx="548640" cy="548640"/>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1033272" y="3118104"/>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2</a:t>
            </a:r>
          </a:p>
        </p:txBody>
      </p:sp>
      <p:sp>
        <p:nvSpPr>
          <p:cNvPr id="16" name="TextBox 15"/>
          <p:cNvSpPr txBox="1"/>
          <p:nvPr/>
        </p:nvSpPr>
        <p:spPr>
          <a:xfrm>
            <a:off x="1764792" y="3063240"/>
            <a:ext cx="9427464" cy="731520"/>
          </a:xfrm>
          <a:prstGeom prst="rect">
            <a:avLst/>
          </a:prstGeom>
          <a:noFill/>
        </p:spPr>
        <p:txBody>
          <a:bodyPr wrap="square" anchor="ctr">
            <a:spAutoFit/>
          </a:bodyPr>
          <a:lstStyle/>
          <a:p>
            <a:pPr algn="l">
              <a:spcAft>
                <a:spcPts val="300"/>
              </a:spcAft>
            </a:pPr>
            <a:r>
              <a:rPr sz="1700" b="1">
                <a:solidFill>
                  <a:srgbClr val="161B26"/>
                </a:solidFill>
                <a:latin typeface="Arial"/>
              </a:rPr>
              <a:t>Topic 02 — Building AI Agents with Paperclip</a:t>
            </a:r>
          </a:p>
          <a:p>
            <a:pPr algn="l">
              <a:spcAft>
                <a:spcPts val="300"/>
              </a:spcAft>
            </a:pPr>
            <a:r>
              <a:rPr sz="1300" b="0">
                <a:solidFill>
                  <a:srgbClr val="5B6372"/>
                </a:solidFill>
                <a:latin typeface="Arial"/>
              </a:rPr>
              <a:t>Install and verify · company and mission · the CEO · org chart · runtime adapters · workspaces, instructions and secrets</a:t>
            </a:r>
          </a:p>
        </p:txBody>
      </p:sp>
      <p:sp>
        <p:nvSpPr>
          <p:cNvPr id="17" name="Rectangle 16"/>
          <p:cNvSpPr/>
          <p:nvPr/>
        </p:nvSpPr>
        <p:spPr>
          <a:xfrm>
            <a:off x="777240" y="4087368"/>
            <a:ext cx="10634472" cy="91440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777240" y="4087368"/>
            <a:ext cx="91440" cy="914400"/>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Oval 18"/>
          <p:cNvSpPr/>
          <p:nvPr/>
        </p:nvSpPr>
        <p:spPr>
          <a:xfrm>
            <a:off x="1033272" y="4270248"/>
            <a:ext cx="548640" cy="548640"/>
          </a:xfrm>
          <a:prstGeom prst="ellipse">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1033272" y="4270248"/>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3</a:t>
            </a:r>
          </a:p>
        </p:txBody>
      </p:sp>
      <p:sp>
        <p:nvSpPr>
          <p:cNvPr id="21" name="TextBox 20"/>
          <p:cNvSpPr txBox="1"/>
          <p:nvPr/>
        </p:nvSpPr>
        <p:spPr>
          <a:xfrm>
            <a:off x="1764792" y="4215384"/>
            <a:ext cx="9427464" cy="731520"/>
          </a:xfrm>
          <a:prstGeom prst="rect">
            <a:avLst/>
          </a:prstGeom>
          <a:noFill/>
        </p:spPr>
        <p:txBody>
          <a:bodyPr wrap="square" anchor="ctr">
            <a:spAutoFit/>
          </a:bodyPr>
          <a:lstStyle/>
          <a:p>
            <a:pPr algn="l">
              <a:spcAft>
                <a:spcPts val="300"/>
              </a:spcAft>
            </a:pPr>
            <a:r>
              <a:rPr sz="1700" b="1">
                <a:solidFill>
                  <a:srgbClr val="161B26"/>
                </a:solidFill>
                <a:latin typeface="Arial"/>
              </a:rPr>
              <a:t>Topic 03 — Developing Intelligent Multi-Agent Systems</a:t>
            </a:r>
          </a:p>
          <a:p>
            <a:pPr algn="l">
              <a:spcAft>
                <a:spcPts val="300"/>
              </a:spcAft>
            </a:pPr>
            <a:r>
              <a:rPr sz="1300" b="0">
                <a:solidFill>
                  <a:srgbClr val="5B6372"/>
                </a:solidFill>
                <a:latin typeface="Arial"/>
              </a:rPr>
              <a:t>Projects, goals and lineage · issue decomposition · assignment and hand-off · sequential specialists · verifying between disparate components</a:t>
            </a:r>
          </a:p>
        </p:txBody>
      </p:sp>
      <p:sp>
        <p:nvSpPr>
          <p:cNvPr id="22" name="Rectangle 21"/>
          <p:cNvSpPr/>
          <p:nvPr/>
        </p:nvSpPr>
        <p:spPr>
          <a:xfrm>
            <a:off x="777240" y="5239512"/>
            <a:ext cx="10634472" cy="91440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ectangle 22"/>
          <p:cNvSpPr/>
          <p:nvPr/>
        </p:nvSpPr>
        <p:spPr>
          <a:xfrm>
            <a:off x="777240" y="5239512"/>
            <a:ext cx="91440" cy="914400"/>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Oval 23"/>
          <p:cNvSpPr/>
          <p:nvPr/>
        </p:nvSpPr>
        <p:spPr>
          <a:xfrm>
            <a:off x="1033272" y="5422392"/>
            <a:ext cx="548640" cy="548640"/>
          </a:xfrm>
          <a:prstGeom prst="ellipse">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1033272" y="5422392"/>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4</a:t>
            </a:r>
          </a:p>
        </p:txBody>
      </p:sp>
      <p:sp>
        <p:nvSpPr>
          <p:cNvPr id="26" name="TextBox 25"/>
          <p:cNvSpPr txBox="1"/>
          <p:nvPr/>
        </p:nvSpPr>
        <p:spPr>
          <a:xfrm>
            <a:off x="1764792" y="5367528"/>
            <a:ext cx="9427464" cy="731520"/>
          </a:xfrm>
          <a:prstGeom prst="rect">
            <a:avLst/>
          </a:prstGeom>
          <a:noFill/>
        </p:spPr>
        <p:txBody>
          <a:bodyPr wrap="square" anchor="ctr">
            <a:spAutoFit/>
          </a:bodyPr>
          <a:lstStyle/>
          <a:p>
            <a:pPr algn="l">
              <a:spcAft>
                <a:spcPts val="300"/>
              </a:spcAft>
            </a:pPr>
            <a:r>
              <a:rPr sz="1700" b="1">
                <a:solidFill>
                  <a:srgbClr val="161B26"/>
                </a:solidFill>
                <a:latin typeface="Arial"/>
              </a:rPr>
              <a:t>Topic 04 — Deploying and Managing AI Agents</a:t>
            </a:r>
          </a:p>
          <a:p>
            <a:pPr algn="l">
              <a:spcAft>
                <a:spcPts val="300"/>
              </a:spcAft>
            </a:pPr>
            <a:r>
              <a:rPr sz="1300" b="0">
                <a:solidFill>
                  <a:srgbClr val="5B6372"/>
                </a:solidFill>
                <a:latin typeface="Arial"/>
              </a:rPr>
              <a:t>Routines and schedules · layered budgets · approvals and audit · operator intervention · deployment, portability and troubleshooting</a:t>
            </a:r>
          </a:p>
        </p:txBody>
      </p:sp>
      <p:sp>
        <p:nvSpPr>
          <p:cNvPr id="27" name="TextBox 26"/>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Manage AI Agents with Paperclip (TGS-2023036646)  ·  TGS-2023036646</a:t>
            </a:r>
          </a:p>
        </p:txBody>
      </p:sp>
      <p:sp>
        <p:nvSpPr>
          <p:cNvPr id="28" name="TextBox 27"/>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29" name="TextBox 28"/>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12</a:t>
            </a:r>
          </a:p>
        </p:txBody>
      </p:sp>
    </p:spTree>
  </p:cSld>
  <p:clrMapOvr>
    <a:masterClrMapping/>
  </p:clrMapOvr>
  <p:transition spd="fast" advClick="1">
    <p:fade/>
  </p:transition>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7C3AED"/>
                </a:solidFill>
                <a:latin typeface="Arial"/>
              </a:rPr>
              <a:t>THE COURSE SIMULATION</a:t>
            </a:r>
          </a:p>
        </p:txBody>
      </p:sp>
      <p:sp>
        <p:nvSpPr>
          <p:cNvPr id="5" name="TextBox 4"/>
          <p:cNvSpPr txBox="1"/>
          <p:nvPr/>
        </p:nvSpPr>
        <p:spPr>
          <a:xfrm>
            <a:off x="777240" y="804672"/>
            <a:ext cx="10881360" cy="713232"/>
          </a:xfrm>
          <a:prstGeom prst="rect">
            <a:avLst/>
          </a:prstGeom>
          <a:noFill/>
        </p:spPr>
        <p:txBody>
          <a:bodyPr wrap="square" anchor="ctr">
            <a:spAutoFit/>
          </a:bodyPr>
          <a:lstStyle/>
          <a:p>
            <a:pPr algn="l">
              <a:spcAft>
                <a:spcPts val="400"/>
              </a:spcAft>
            </a:pPr>
            <a:r>
              <a:rPr sz="2900" b="1">
                <a:solidFill>
                  <a:srgbClr val="161B26"/>
                </a:solidFill>
                <a:latin typeface="Arial"/>
              </a:rPr>
              <a:t>Six One-Person AI Agent Companies</a:t>
            </a:r>
          </a:p>
        </p:txBody>
      </p:sp>
      <p:sp>
        <p:nvSpPr>
          <p:cNvPr id="6" name="Rectangle 5"/>
          <p:cNvSpPr/>
          <p:nvPr/>
        </p:nvSpPr>
        <p:spPr>
          <a:xfrm>
            <a:off x="777240" y="155448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7" name="Picture 6" descr="diagram-six-companies.png"/>
          <p:cNvPicPr>
            <a:picLocks noChangeAspect="1"/>
          </p:cNvPicPr>
          <p:nvPr/>
        </p:nvPicPr>
        <p:blipFill>
          <a:blip r:embed="rId2"/>
          <a:stretch>
            <a:fillRect/>
          </a:stretch>
        </p:blipFill>
        <p:spPr>
          <a:xfrm>
            <a:off x="1685653" y="1810512"/>
            <a:ext cx="8790214" cy="3886200"/>
          </a:xfrm>
          <a:prstGeom prst="rect">
            <a:avLst/>
          </a:prstGeom>
        </p:spPr>
      </p:pic>
      <p:sp>
        <p:nvSpPr>
          <p:cNvPr id="8" name="Rectangle 7"/>
          <p:cNvSpPr/>
          <p:nvPr/>
        </p:nvSpPr>
        <p:spPr>
          <a:xfrm>
            <a:off x="777240" y="5779008"/>
            <a:ext cx="10607040" cy="56692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777240" y="5779008"/>
            <a:ext cx="91440" cy="566928"/>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1024128" y="5779008"/>
            <a:ext cx="10241280" cy="566928"/>
          </a:xfrm>
          <a:prstGeom prst="rect">
            <a:avLst/>
          </a:prstGeom>
          <a:noFill/>
        </p:spPr>
        <p:txBody>
          <a:bodyPr wrap="square" anchor="ctr">
            <a:spAutoFit/>
          </a:bodyPr>
          <a:lstStyle/>
          <a:p>
            <a:pPr algn="l">
              <a:spcAft>
                <a:spcPts val="400"/>
              </a:spcAft>
            </a:pPr>
            <a:r>
              <a:rPr sz="1300" b="0">
                <a:solidFill>
                  <a:srgbClr val="161B26"/>
                </a:solidFill>
                <a:latin typeface="Arial"/>
              </a:rPr>
              <a:t>Each lab builds a different one-person company — so you see the same control model applied to six very different businesses.</a:t>
            </a:r>
          </a:p>
        </p:txBody>
      </p:sp>
      <p:sp>
        <p:nvSpPr>
          <p:cNvPr id="11" name="TextBox 10"/>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Manage AI Agents with Paperclip (TGS-2023036646)  ·  TGS-2023036646</a:t>
            </a:r>
          </a:p>
        </p:txBody>
      </p:sp>
      <p:sp>
        <p:nvSpPr>
          <p:cNvPr id="12" name="TextBox 11"/>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13" name="TextBox 12"/>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13</a:t>
            </a:r>
          </a:p>
        </p:txBody>
      </p:sp>
    </p:spTree>
  </p:cSld>
  <p:clrMapOvr>
    <a:masterClrMapping/>
  </p:clrMapOvr>
  <p:transition spd="fast" advClick="1">
    <p:fade/>
  </p:transition>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F59E0B"/>
                </a:solidFill>
                <a:latin typeface="Arial"/>
              </a:rPr>
              <a:t>BEFORE YOU START</a:t>
            </a:r>
          </a:p>
        </p:txBody>
      </p:sp>
      <p:sp>
        <p:nvSpPr>
          <p:cNvPr id="5" name="TextBox 4"/>
          <p:cNvSpPr txBox="1"/>
          <p:nvPr/>
        </p:nvSpPr>
        <p:spPr>
          <a:xfrm>
            <a:off x="777240" y="804672"/>
            <a:ext cx="10881360" cy="713232"/>
          </a:xfrm>
          <a:prstGeom prst="rect">
            <a:avLst/>
          </a:prstGeom>
          <a:noFill/>
        </p:spPr>
        <p:txBody>
          <a:bodyPr wrap="square" anchor="ctr">
            <a:spAutoFit/>
          </a:bodyPr>
          <a:lstStyle/>
          <a:p>
            <a:pPr algn="l">
              <a:spcAft>
                <a:spcPts val="400"/>
              </a:spcAft>
            </a:pPr>
            <a:r>
              <a:rPr sz="2900" b="1">
                <a:solidFill>
                  <a:srgbClr val="161B26"/>
                </a:solidFill>
                <a:latin typeface="Arial"/>
              </a:rPr>
              <a:t>Briefing for Assessment</a:t>
            </a:r>
          </a:p>
        </p:txBody>
      </p:sp>
      <p:sp>
        <p:nvSpPr>
          <p:cNvPr id="6" name="Rectangle 5"/>
          <p:cNvSpPr/>
          <p:nvPr/>
        </p:nvSpPr>
        <p:spPr>
          <a:xfrm>
            <a:off x="777240" y="155448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77240" y="1783080"/>
            <a:ext cx="5180076" cy="129844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777240" y="1783080"/>
            <a:ext cx="91440" cy="1298448"/>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Oval 8"/>
          <p:cNvSpPr/>
          <p:nvPr/>
        </p:nvSpPr>
        <p:spPr>
          <a:xfrm>
            <a:off x="1033272" y="2157984"/>
            <a:ext cx="548640" cy="548640"/>
          </a:xfrm>
          <a:prstGeom prst="ellipse">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1033272" y="2157984"/>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1</a:t>
            </a:r>
          </a:p>
        </p:txBody>
      </p:sp>
      <p:sp>
        <p:nvSpPr>
          <p:cNvPr id="11" name="TextBox 10"/>
          <p:cNvSpPr txBox="1"/>
          <p:nvPr/>
        </p:nvSpPr>
        <p:spPr>
          <a:xfrm>
            <a:off x="1764792" y="1911096"/>
            <a:ext cx="3973068" cy="1115568"/>
          </a:xfrm>
          <a:prstGeom prst="rect">
            <a:avLst/>
          </a:prstGeom>
          <a:noFill/>
        </p:spPr>
        <p:txBody>
          <a:bodyPr wrap="square" anchor="ctr">
            <a:spAutoFit/>
          </a:bodyPr>
          <a:lstStyle/>
          <a:p>
            <a:pPr algn="l">
              <a:spcAft>
                <a:spcPts val="300"/>
              </a:spcAft>
            </a:pPr>
            <a:r>
              <a:rPr sz="1600" b="1">
                <a:solidFill>
                  <a:srgbClr val="161B26"/>
                </a:solidFill>
                <a:latin typeface="Arial"/>
              </a:rPr>
              <a:t>Do · Clear your desk</a:t>
            </a:r>
          </a:p>
          <a:p>
            <a:pPr algn="l">
              <a:spcAft>
                <a:spcPts val="300"/>
              </a:spcAft>
            </a:pPr>
            <a:r>
              <a:rPr sz="1200" b="0">
                <a:solidFill>
                  <a:srgbClr val="5B6372"/>
                </a:solidFill>
                <a:latin typeface="Arial"/>
              </a:rPr>
              <a:t>Place phones and other materials under the table or on the floor.</a:t>
            </a:r>
          </a:p>
        </p:txBody>
      </p:sp>
      <p:sp>
        <p:nvSpPr>
          <p:cNvPr id="12" name="Rectangle 11"/>
          <p:cNvSpPr/>
          <p:nvPr/>
        </p:nvSpPr>
        <p:spPr>
          <a:xfrm>
            <a:off x="6231636" y="1783080"/>
            <a:ext cx="5180076" cy="129844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6231636" y="1783080"/>
            <a:ext cx="91440" cy="1298448"/>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Oval 13"/>
          <p:cNvSpPr/>
          <p:nvPr/>
        </p:nvSpPr>
        <p:spPr>
          <a:xfrm>
            <a:off x="6487668" y="2157984"/>
            <a:ext cx="548640" cy="548640"/>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487668" y="2157984"/>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2</a:t>
            </a:r>
          </a:p>
        </p:txBody>
      </p:sp>
      <p:sp>
        <p:nvSpPr>
          <p:cNvPr id="16" name="TextBox 15"/>
          <p:cNvSpPr txBox="1"/>
          <p:nvPr/>
        </p:nvSpPr>
        <p:spPr>
          <a:xfrm>
            <a:off x="7219188" y="1911096"/>
            <a:ext cx="3973068" cy="1115568"/>
          </a:xfrm>
          <a:prstGeom prst="rect">
            <a:avLst/>
          </a:prstGeom>
          <a:noFill/>
        </p:spPr>
        <p:txBody>
          <a:bodyPr wrap="square" anchor="ctr">
            <a:spAutoFit/>
          </a:bodyPr>
          <a:lstStyle/>
          <a:p>
            <a:pPr algn="l">
              <a:spcAft>
                <a:spcPts val="300"/>
              </a:spcAft>
            </a:pPr>
            <a:r>
              <a:rPr sz="1600" b="1">
                <a:solidFill>
                  <a:srgbClr val="161B26"/>
                </a:solidFill>
                <a:latin typeface="Arial"/>
              </a:rPr>
              <a:t>Don't · No recording</a:t>
            </a:r>
          </a:p>
          <a:p>
            <a:pPr algn="l">
              <a:spcAft>
                <a:spcPts val="300"/>
              </a:spcAft>
            </a:pPr>
            <a:r>
              <a:rPr sz="1200" b="0">
                <a:solidFill>
                  <a:srgbClr val="5B6372"/>
                </a:solidFill>
                <a:latin typeface="Arial"/>
              </a:rPr>
              <a:t>No photos or recording of assessment scripts.</a:t>
            </a:r>
          </a:p>
        </p:txBody>
      </p:sp>
      <p:sp>
        <p:nvSpPr>
          <p:cNvPr id="17" name="Rectangle 16"/>
          <p:cNvSpPr/>
          <p:nvPr/>
        </p:nvSpPr>
        <p:spPr>
          <a:xfrm>
            <a:off x="777240" y="3319272"/>
            <a:ext cx="5180076" cy="129844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777240" y="3319272"/>
            <a:ext cx="91440" cy="1298448"/>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Oval 18"/>
          <p:cNvSpPr/>
          <p:nvPr/>
        </p:nvSpPr>
        <p:spPr>
          <a:xfrm>
            <a:off x="1033272" y="3694176"/>
            <a:ext cx="548640" cy="548640"/>
          </a:xfrm>
          <a:prstGeom prst="ellipse">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1033272" y="3694176"/>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3</a:t>
            </a:r>
          </a:p>
        </p:txBody>
      </p:sp>
      <p:sp>
        <p:nvSpPr>
          <p:cNvPr id="21" name="TextBox 20"/>
          <p:cNvSpPr txBox="1"/>
          <p:nvPr/>
        </p:nvSpPr>
        <p:spPr>
          <a:xfrm>
            <a:off x="1764792" y="3447288"/>
            <a:ext cx="3973068" cy="1115568"/>
          </a:xfrm>
          <a:prstGeom prst="rect">
            <a:avLst/>
          </a:prstGeom>
          <a:noFill/>
        </p:spPr>
        <p:txBody>
          <a:bodyPr wrap="square" anchor="ctr">
            <a:spAutoFit/>
          </a:bodyPr>
          <a:lstStyle/>
          <a:p>
            <a:pPr algn="l">
              <a:spcAft>
                <a:spcPts val="300"/>
              </a:spcAft>
            </a:pPr>
            <a:r>
              <a:rPr sz="1600" b="1">
                <a:solidFill>
                  <a:srgbClr val="161B26"/>
                </a:solidFill>
                <a:latin typeface="Arial"/>
              </a:rPr>
              <a:t>Don't · No discussion</a:t>
            </a:r>
          </a:p>
          <a:p>
            <a:pPr algn="l">
              <a:spcAft>
                <a:spcPts val="300"/>
              </a:spcAft>
            </a:pPr>
            <a:r>
              <a:rPr sz="1200" b="0">
                <a:solidFill>
                  <a:srgbClr val="5B6372"/>
                </a:solidFill>
                <a:latin typeface="Arial"/>
              </a:rPr>
              <a:t>Work individually — no discussion during the assessment.</a:t>
            </a:r>
          </a:p>
        </p:txBody>
      </p:sp>
      <p:sp>
        <p:nvSpPr>
          <p:cNvPr id="22" name="Rectangle 21"/>
          <p:cNvSpPr/>
          <p:nvPr/>
        </p:nvSpPr>
        <p:spPr>
          <a:xfrm>
            <a:off x="6231636" y="3319272"/>
            <a:ext cx="5180076" cy="129844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ectangle 22"/>
          <p:cNvSpPr/>
          <p:nvPr/>
        </p:nvSpPr>
        <p:spPr>
          <a:xfrm>
            <a:off x="6231636" y="3319272"/>
            <a:ext cx="91440" cy="1298448"/>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Oval 23"/>
          <p:cNvSpPr/>
          <p:nvPr/>
        </p:nvSpPr>
        <p:spPr>
          <a:xfrm>
            <a:off x="6487668" y="3694176"/>
            <a:ext cx="548640" cy="548640"/>
          </a:xfrm>
          <a:prstGeom prst="ellipse">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6487668" y="3694176"/>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4</a:t>
            </a:r>
          </a:p>
        </p:txBody>
      </p:sp>
      <p:sp>
        <p:nvSpPr>
          <p:cNvPr id="26" name="TextBox 25"/>
          <p:cNvSpPr txBox="1"/>
          <p:nvPr/>
        </p:nvSpPr>
        <p:spPr>
          <a:xfrm>
            <a:off x="7219188" y="3447288"/>
            <a:ext cx="3973068" cy="1115568"/>
          </a:xfrm>
          <a:prstGeom prst="rect">
            <a:avLst/>
          </a:prstGeom>
          <a:noFill/>
        </p:spPr>
        <p:txBody>
          <a:bodyPr wrap="square" anchor="ctr">
            <a:spAutoFit/>
          </a:bodyPr>
          <a:lstStyle/>
          <a:p>
            <a:pPr algn="l">
              <a:spcAft>
                <a:spcPts val="300"/>
              </a:spcAft>
            </a:pPr>
            <a:r>
              <a:rPr sz="1600" b="1">
                <a:solidFill>
                  <a:srgbClr val="161B26"/>
                </a:solidFill>
                <a:latin typeface="Arial"/>
              </a:rPr>
              <a:t>Do · Black or blue pen</a:t>
            </a:r>
          </a:p>
          <a:p>
            <a:pPr algn="l">
              <a:spcAft>
                <a:spcPts val="300"/>
              </a:spcAft>
            </a:pPr>
            <a:r>
              <a:rPr sz="1200" b="0">
                <a:solidFill>
                  <a:srgbClr val="5B6372"/>
                </a:solidFill>
                <a:latin typeface="Arial"/>
              </a:rPr>
              <a:t>Use a black or blue pen for hard-copy assessments.</a:t>
            </a:r>
          </a:p>
        </p:txBody>
      </p:sp>
      <p:sp>
        <p:nvSpPr>
          <p:cNvPr id="27" name="Rectangle 26"/>
          <p:cNvSpPr/>
          <p:nvPr/>
        </p:nvSpPr>
        <p:spPr>
          <a:xfrm>
            <a:off x="777240" y="4855464"/>
            <a:ext cx="5180076" cy="129844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Rectangle 27"/>
          <p:cNvSpPr/>
          <p:nvPr/>
        </p:nvSpPr>
        <p:spPr>
          <a:xfrm>
            <a:off x="777240" y="4855464"/>
            <a:ext cx="91440" cy="1298448"/>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Oval 28"/>
          <p:cNvSpPr/>
          <p:nvPr/>
        </p:nvSpPr>
        <p:spPr>
          <a:xfrm>
            <a:off x="1033272" y="5230368"/>
            <a:ext cx="548640" cy="548640"/>
          </a:xfrm>
          <a:prstGeom prst="ellipse">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TextBox 29"/>
          <p:cNvSpPr txBox="1"/>
          <p:nvPr/>
        </p:nvSpPr>
        <p:spPr>
          <a:xfrm>
            <a:off x="1033272" y="5230368"/>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5</a:t>
            </a:r>
          </a:p>
        </p:txBody>
      </p:sp>
      <p:sp>
        <p:nvSpPr>
          <p:cNvPr id="31" name="TextBox 30"/>
          <p:cNvSpPr txBox="1"/>
          <p:nvPr/>
        </p:nvSpPr>
        <p:spPr>
          <a:xfrm>
            <a:off x="1764792" y="4983480"/>
            <a:ext cx="3973068" cy="1115568"/>
          </a:xfrm>
          <a:prstGeom prst="rect">
            <a:avLst/>
          </a:prstGeom>
          <a:noFill/>
        </p:spPr>
        <p:txBody>
          <a:bodyPr wrap="square" anchor="ctr">
            <a:spAutoFit/>
          </a:bodyPr>
          <a:lstStyle/>
          <a:p>
            <a:pPr algn="l">
              <a:spcAft>
                <a:spcPts val="300"/>
              </a:spcAft>
            </a:pPr>
            <a:r>
              <a:rPr sz="1600" b="1">
                <a:solidFill>
                  <a:srgbClr val="161B26"/>
                </a:solidFill>
                <a:latin typeface="Arial"/>
              </a:rPr>
              <a:t>Don't · No correction fluid</a:t>
            </a:r>
          </a:p>
          <a:p>
            <a:pPr algn="l">
              <a:spcAft>
                <a:spcPts val="300"/>
              </a:spcAft>
            </a:pPr>
            <a:r>
              <a:rPr sz="1200" b="0">
                <a:solidFill>
                  <a:srgbClr val="5B6372"/>
                </a:solidFill>
                <a:latin typeface="Arial"/>
              </a:rPr>
              <a:t>No liquid paper or correction tape may be used.</a:t>
            </a:r>
          </a:p>
        </p:txBody>
      </p:sp>
      <p:sp>
        <p:nvSpPr>
          <p:cNvPr id="32" name="Rectangle 31"/>
          <p:cNvSpPr/>
          <p:nvPr/>
        </p:nvSpPr>
        <p:spPr>
          <a:xfrm>
            <a:off x="6231636" y="4855464"/>
            <a:ext cx="5180076" cy="129844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Rectangle 32"/>
          <p:cNvSpPr/>
          <p:nvPr/>
        </p:nvSpPr>
        <p:spPr>
          <a:xfrm>
            <a:off x="6231636" y="4855464"/>
            <a:ext cx="91440" cy="1298448"/>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Oval 33"/>
          <p:cNvSpPr/>
          <p:nvPr/>
        </p:nvSpPr>
        <p:spPr>
          <a:xfrm>
            <a:off x="6487668" y="5230368"/>
            <a:ext cx="548640" cy="548640"/>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TextBox 34"/>
          <p:cNvSpPr txBox="1"/>
          <p:nvPr/>
        </p:nvSpPr>
        <p:spPr>
          <a:xfrm>
            <a:off x="6487668" y="5230368"/>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6</a:t>
            </a:r>
          </a:p>
        </p:txBody>
      </p:sp>
      <p:sp>
        <p:nvSpPr>
          <p:cNvPr id="36" name="TextBox 35"/>
          <p:cNvSpPr txBox="1"/>
          <p:nvPr/>
        </p:nvSpPr>
        <p:spPr>
          <a:xfrm>
            <a:off x="7219188" y="4983480"/>
            <a:ext cx="3973068" cy="1115568"/>
          </a:xfrm>
          <a:prstGeom prst="rect">
            <a:avLst/>
          </a:prstGeom>
          <a:noFill/>
        </p:spPr>
        <p:txBody>
          <a:bodyPr wrap="square" anchor="ctr">
            <a:spAutoFit/>
          </a:bodyPr>
          <a:lstStyle/>
          <a:p>
            <a:pPr algn="l">
              <a:spcAft>
                <a:spcPts val="300"/>
              </a:spcAft>
            </a:pPr>
            <a:r>
              <a:rPr sz="1600" b="1">
                <a:solidFill>
                  <a:srgbClr val="161B26"/>
                </a:solidFill>
                <a:latin typeface="Arial"/>
              </a:rPr>
              <a:t>Do · Stop on time</a:t>
            </a:r>
          </a:p>
          <a:p>
            <a:pPr algn="l">
              <a:spcAft>
                <a:spcPts val="300"/>
              </a:spcAft>
            </a:pPr>
            <a:r>
              <a:rPr sz="1200" b="0">
                <a:solidFill>
                  <a:srgbClr val="5B6372"/>
                </a:solidFill>
                <a:latin typeface="Arial"/>
              </a:rPr>
              <a:t>Scripts are collected when time is up.</a:t>
            </a:r>
          </a:p>
        </p:txBody>
      </p:sp>
      <p:sp>
        <p:nvSpPr>
          <p:cNvPr id="37" name="TextBox 36"/>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Manage AI Agents with Paperclip (TGS-2023036646)  ·  TGS-2023036646</a:t>
            </a:r>
          </a:p>
        </p:txBody>
      </p:sp>
      <p:sp>
        <p:nvSpPr>
          <p:cNvPr id="38" name="TextBox 37"/>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39" name="TextBox 38"/>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14</a:t>
            </a:r>
          </a:p>
        </p:txBody>
      </p:sp>
    </p:spTree>
  </p:cSld>
  <p:clrMapOvr>
    <a:masterClrMapping/>
  </p:clrMapOvr>
  <p:transition spd="fast" advClick="1">
    <p:fade/>
  </p:transition>
</p:sld>
</file>

<file path=ppt/slides/slide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1F6FEB"/>
                </a:solidFill>
                <a:latin typeface="Arial"/>
              </a:rPr>
              <a:t>FINAL ASSESSMENT</a:t>
            </a:r>
          </a:p>
        </p:txBody>
      </p:sp>
      <p:sp>
        <p:nvSpPr>
          <p:cNvPr id="5" name="TextBox 4"/>
          <p:cNvSpPr txBox="1"/>
          <p:nvPr/>
        </p:nvSpPr>
        <p:spPr>
          <a:xfrm>
            <a:off x="777240" y="804672"/>
            <a:ext cx="10881360" cy="713232"/>
          </a:xfrm>
          <a:prstGeom prst="rect">
            <a:avLst/>
          </a:prstGeom>
          <a:noFill/>
        </p:spPr>
        <p:txBody>
          <a:bodyPr wrap="square" anchor="ctr">
            <a:spAutoFit/>
          </a:bodyPr>
          <a:lstStyle/>
          <a:p>
            <a:pPr algn="l">
              <a:spcAft>
                <a:spcPts val="400"/>
              </a:spcAft>
            </a:pPr>
            <a:r>
              <a:rPr sz="2900" b="1">
                <a:solidFill>
                  <a:srgbClr val="161B26"/>
                </a:solidFill>
                <a:latin typeface="Arial"/>
              </a:rPr>
              <a:t>Assessment</a:t>
            </a:r>
          </a:p>
        </p:txBody>
      </p:sp>
      <p:sp>
        <p:nvSpPr>
          <p:cNvPr id="6" name="Rectangle 5"/>
          <p:cNvSpPr/>
          <p:nvPr/>
        </p:nvSpPr>
        <p:spPr>
          <a:xfrm>
            <a:off x="777240" y="155448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77240" y="1783080"/>
            <a:ext cx="5180076" cy="129844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777240" y="1783080"/>
            <a:ext cx="91440" cy="1298448"/>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Oval 8"/>
          <p:cNvSpPr/>
          <p:nvPr/>
        </p:nvSpPr>
        <p:spPr>
          <a:xfrm>
            <a:off x="1033272" y="2157984"/>
            <a:ext cx="548640" cy="548640"/>
          </a:xfrm>
          <a:prstGeom prst="ellipse">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1033272" y="2157984"/>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1</a:t>
            </a:r>
          </a:p>
        </p:txBody>
      </p:sp>
      <p:sp>
        <p:nvSpPr>
          <p:cNvPr id="11" name="TextBox 10"/>
          <p:cNvSpPr txBox="1"/>
          <p:nvPr/>
        </p:nvSpPr>
        <p:spPr>
          <a:xfrm>
            <a:off x="1764792" y="1911096"/>
            <a:ext cx="3973068" cy="1115568"/>
          </a:xfrm>
          <a:prstGeom prst="rect">
            <a:avLst/>
          </a:prstGeom>
          <a:noFill/>
        </p:spPr>
        <p:txBody>
          <a:bodyPr wrap="square" anchor="ctr">
            <a:spAutoFit/>
          </a:bodyPr>
          <a:lstStyle/>
          <a:p>
            <a:pPr algn="l">
              <a:spcAft>
                <a:spcPts val="300"/>
              </a:spcAft>
            </a:pPr>
            <a:r>
              <a:rPr sz="1600" b="1">
                <a:solidFill>
                  <a:srgbClr val="161B26"/>
                </a:solidFill>
                <a:latin typeface="Arial"/>
              </a:rPr>
              <a:t>Written Assessment (WA)</a:t>
            </a:r>
          </a:p>
          <a:p>
            <a:pPr algn="l">
              <a:spcAft>
                <a:spcPts val="300"/>
              </a:spcAft>
            </a:pPr>
            <a:r>
              <a:rPr sz="1200" b="0">
                <a:solidFill>
                  <a:srgbClr val="5B6372"/>
                </a:solidFill>
                <a:latin typeface="Arial"/>
              </a:rPr>
              <a:t>Short-Answer Questions (SAQ) · 5 questions · 1 hour · open book. Tests the underpinning knowledge (K1–K5).</a:t>
            </a:r>
          </a:p>
        </p:txBody>
      </p:sp>
      <p:sp>
        <p:nvSpPr>
          <p:cNvPr id="12" name="Rectangle 11"/>
          <p:cNvSpPr/>
          <p:nvPr/>
        </p:nvSpPr>
        <p:spPr>
          <a:xfrm>
            <a:off x="6231636" y="1783080"/>
            <a:ext cx="5180076" cy="129844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6231636" y="1783080"/>
            <a:ext cx="91440" cy="1298448"/>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Oval 13"/>
          <p:cNvSpPr/>
          <p:nvPr/>
        </p:nvSpPr>
        <p:spPr>
          <a:xfrm>
            <a:off x="6487668" y="2157984"/>
            <a:ext cx="548640" cy="548640"/>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487668" y="2157984"/>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2</a:t>
            </a:r>
          </a:p>
        </p:txBody>
      </p:sp>
      <p:sp>
        <p:nvSpPr>
          <p:cNvPr id="16" name="TextBox 15"/>
          <p:cNvSpPr txBox="1"/>
          <p:nvPr/>
        </p:nvSpPr>
        <p:spPr>
          <a:xfrm>
            <a:off x="7219188" y="1911096"/>
            <a:ext cx="3973068" cy="1115568"/>
          </a:xfrm>
          <a:prstGeom prst="rect">
            <a:avLst/>
          </a:prstGeom>
          <a:noFill/>
        </p:spPr>
        <p:txBody>
          <a:bodyPr wrap="square" anchor="ctr">
            <a:spAutoFit/>
          </a:bodyPr>
          <a:lstStyle/>
          <a:p>
            <a:pPr algn="l">
              <a:spcAft>
                <a:spcPts val="300"/>
              </a:spcAft>
            </a:pPr>
            <a:r>
              <a:rPr sz="1600" b="1">
                <a:solidFill>
                  <a:srgbClr val="161B26"/>
                </a:solidFill>
                <a:latin typeface="Arial"/>
              </a:rPr>
              <a:t>Practical Performance (PP)</a:t>
            </a:r>
          </a:p>
          <a:p>
            <a:pPr algn="l">
              <a:spcAft>
                <a:spcPts val="300"/>
              </a:spcAft>
            </a:pPr>
            <a:r>
              <a:rPr sz="1200" b="0">
                <a:solidFill>
                  <a:srgbClr val="5B6372"/>
                </a:solidFill>
                <a:latin typeface="Arial"/>
              </a:rPr>
              <a:t>4 hands-on Paperclip tasks · 1 hour · open book. Tests the ability you built in the labs (A1–A4).</a:t>
            </a:r>
          </a:p>
        </p:txBody>
      </p:sp>
      <p:sp>
        <p:nvSpPr>
          <p:cNvPr id="17" name="Rectangle 16"/>
          <p:cNvSpPr/>
          <p:nvPr/>
        </p:nvSpPr>
        <p:spPr>
          <a:xfrm>
            <a:off x="777240" y="3319272"/>
            <a:ext cx="5180076" cy="129844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777240" y="3319272"/>
            <a:ext cx="91440" cy="1298448"/>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Oval 18"/>
          <p:cNvSpPr/>
          <p:nvPr/>
        </p:nvSpPr>
        <p:spPr>
          <a:xfrm>
            <a:off x="1033272" y="3694176"/>
            <a:ext cx="548640" cy="548640"/>
          </a:xfrm>
          <a:prstGeom prst="ellipse">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1033272" y="3694176"/>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3</a:t>
            </a:r>
          </a:p>
        </p:txBody>
      </p:sp>
      <p:sp>
        <p:nvSpPr>
          <p:cNvPr id="21" name="TextBox 20"/>
          <p:cNvSpPr txBox="1"/>
          <p:nvPr/>
        </p:nvSpPr>
        <p:spPr>
          <a:xfrm>
            <a:off x="1764792" y="3447288"/>
            <a:ext cx="3973068" cy="1115568"/>
          </a:xfrm>
          <a:prstGeom prst="rect">
            <a:avLst/>
          </a:prstGeom>
          <a:noFill/>
        </p:spPr>
        <p:txBody>
          <a:bodyPr wrap="square" anchor="ctr">
            <a:spAutoFit/>
          </a:bodyPr>
          <a:lstStyle/>
          <a:p>
            <a:pPr algn="l">
              <a:spcAft>
                <a:spcPts val="300"/>
              </a:spcAft>
            </a:pPr>
            <a:r>
              <a:rPr sz="1600" b="1">
                <a:solidFill>
                  <a:srgbClr val="161B26"/>
                </a:solidFill>
                <a:latin typeface="Arial"/>
              </a:rPr>
              <a:t>Open book</a:t>
            </a:r>
          </a:p>
          <a:p>
            <a:pPr algn="l">
              <a:spcAft>
                <a:spcPts val="300"/>
              </a:spcAft>
            </a:pPr>
            <a:r>
              <a:rPr sz="1200" b="0">
                <a:solidFill>
                  <a:srgbClr val="5B6372"/>
                </a:solidFill>
                <a:latin typeface="Arial"/>
              </a:rPr>
              <a:t>You may use the course slides, the Learner Guide and approved materials only.</a:t>
            </a:r>
          </a:p>
        </p:txBody>
      </p:sp>
      <p:sp>
        <p:nvSpPr>
          <p:cNvPr id="22" name="Rectangle 21"/>
          <p:cNvSpPr/>
          <p:nvPr/>
        </p:nvSpPr>
        <p:spPr>
          <a:xfrm>
            <a:off x="6231636" y="3319272"/>
            <a:ext cx="5180076" cy="129844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ectangle 22"/>
          <p:cNvSpPr/>
          <p:nvPr/>
        </p:nvSpPr>
        <p:spPr>
          <a:xfrm>
            <a:off x="6231636" y="3319272"/>
            <a:ext cx="91440" cy="1298448"/>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Oval 23"/>
          <p:cNvSpPr/>
          <p:nvPr/>
        </p:nvSpPr>
        <p:spPr>
          <a:xfrm>
            <a:off x="6487668" y="3694176"/>
            <a:ext cx="548640" cy="548640"/>
          </a:xfrm>
          <a:prstGeom prst="ellipse">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6487668" y="3694176"/>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4</a:t>
            </a:r>
          </a:p>
        </p:txBody>
      </p:sp>
      <p:sp>
        <p:nvSpPr>
          <p:cNvPr id="26" name="TextBox 25"/>
          <p:cNvSpPr txBox="1"/>
          <p:nvPr/>
        </p:nvSpPr>
        <p:spPr>
          <a:xfrm>
            <a:off x="7219188" y="3447288"/>
            <a:ext cx="3973068" cy="1115568"/>
          </a:xfrm>
          <a:prstGeom prst="rect">
            <a:avLst/>
          </a:prstGeom>
          <a:noFill/>
        </p:spPr>
        <p:txBody>
          <a:bodyPr wrap="square" anchor="ctr">
            <a:spAutoFit/>
          </a:bodyPr>
          <a:lstStyle/>
          <a:p>
            <a:pPr algn="l">
              <a:spcAft>
                <a:spcPts val="300"/>
              </a:spcAft>
            </a:pPr>
            <a:r>
              <a:rPr sz="1600" b="1">
                <a:solidFill>
                  <a:srgbClr val="161B26"/>
                </a:solidFill>
                <a:latin typeface="Arial"/>
              </a:rPr>
              <a:t>Eligibility</a:t>
            </a:r>
          </a:p>
          <a:p>
            <a:pPr algn="l">
              <a:spcAft>
                <a:spcPts val="300"/>
              </a:spcAft>
            </a:pPr>
            <a:r>
              <a:rPr sz="1200" b="0">
                <a:solidFill>
                  <a:srgbClr val="5B6372"/>
                </a:solidFill>
                <a:latin typeface="Arial"/>
              </a:rPr>
              <a:t>A minimum of 75% attendance is required to be eligible for assessment and funding.</a:t>
            </a:r>
          </a:p>
        </p:txBody>
      </p:sp>
      <p:sp>
        <p:nvSpPr>
          <p:cNvPr id="27" name="Rectangle 26"/>
          <p:cNvSpPr/>
          <p:nvPr/>
        </p:nvSpPr>
        <p:spPr>
          <a:xfrm>
            <a:off x="777240" y="4855464"/>
            <a:ext cx="5180076" cy="129844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Rectangle 27"/>
          <p:cNvSpPr/>
          <p:nvPr/>
        </p:nvSpPr>
        <p:spPr>
          <a:xfrm>
            <a:off x="777240" y="4855464"/>
            <a:ext cx="91440" cy="1298448"/>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Oval 28"/>
          <p:cNvSpPr/>
          <p:nvPr/>
        </p:nvSpPr>
        <p:spPr>
          <a:xfrm>
            <a:off x="1033272" y="5230368"/>
            <a:ext cx="548640" cy="548640"/>
          </a:xfrm>
          <a:prstGeom prst="ellipse">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TextBox 29"/>
          <p:cNvSpPr txBox="1"/>
          <p:nvPr/>
        </p:nvSpPr>
        <p:spPr>
          <a:xfrm>
            <a:off x="1033272" y="5230368"/>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5</a:t>
            </a:r>
          </a:p>
        </p:txBody>
      </p:sp>
      <p:sp>
        <p:nvSpPr>
          <p:cNvPr id="31" name="TextBox 30"/>
          <p:cNvSpPr txBox="1"/>
          <p:nvPr/>
        </p:nvSpPr>
        <p:spPr>
          <a:xfrm>
            <a:off x="1764792" y="4983480"/>
            <a:ext cx="3973068" cy="1115568"/>
          </a:xfrm>
          <a:prstGeom prst="rect">
            <a:avLst/>
          </a:prstGeom>
          <a:noFill/>
        </p:spPr>
        <p:txBody>
          <a:bodyPr wrap="square" anchor="ctr">
            <a:spAutoFit/>
          </a:bodyPr>
          <a:lstStyle/>
          <a:p>
            <a:pPr algn="l">
              <a:spcAft>
                <a:spcPts val="300"/>
              </a:spcAft>
            </a:pPr>
            <a:r>
              <a:rPr sz="1600" b="1">
                <a:solidFill>
                  <a:srgbClr val="161B26"/>
                </a:solidFill>
                <a:latin typeface="Arial"/>
              </a:rPr>
              <a:t>Result</a:t>
            </a:r>
          </a:p>
          <a:p>
            <a:pPr algn="l">
              <a:spcAft>
                <a:spcPts val="300"/>
              </a:spcAft>
            </a:pPr>
            <a:r>
              <a:rPr sz="1200" b="0">
                <a:solidFill>
                  <a:srgbClr val="5B6372"/>
                </a:solidFill>
                <a:latin typeface="Arial"/>
              </a:rPr>
              <a:t>You are assessed as Competent (C) or Not Yet Competent (NYC) on each instrument.</a:t>
            </a:r>
          </a:p>
        </p:txBody>
      </p:sp>
      <p:sp>
        <p:nvSpPr>
          <p:cNvPr id="32" name="Rectangle 31"/>
          <p:cNvSpPr/>
          <p:nvPr/>
        </p:nvSpPr>
        <p:spPr>
          <a:xfrm>
            <a:off x="6231636" y="4855464"/>
            <a:ext cx="5180076" cy="129844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Rectangle 32"/>
          <p:cNvSpPr/>
          <p:nvPr/>
        </p:nvSpPr>
        <p:spPr>
          <a:xfrm>
            <a:off x="6231636" y="4855464"/>
            <a:ext cx="91440" cy="1298448"/>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Oval 33"/>
          <p:cNvSpPr/>
          <p:nvPr/>
        </p:nvSpPr>
        <p:spPr>
          <a:xfrm>
            <a:off x="6487668" y="5230368"/>
            <a:ext cx="548640" cy="548640"/>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TextBox 34"/>
          <p:cNvSpPr txBox="1"/>
          <p:nvPr/>
        </p:nvSpPr>
        <p:spPr>
          <a:xfrm>
            <a:off x="6487668" y="5230368"/>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6</a:t>
            </a:r>
          </a:p>
        </p:txBody>
      </p:sp>
      <p:sp>
        <p:nvSpPr>
          <p:cNvPr id="36" name="TextBox 35"/>
          <p:cNvSpPr txBox="1"/>
          <p:nvPr/>
        </p:nvSpPr>
        <p:spPr>
          <a:xfrm>
            <a:off x="7219188" y="4983480"/>
            <a:ext cx="3973068" cy="1115568"/>
          </a:xfrm>
          <a:prstGeom prst="rect">
            <a:avLst/>
          </a:prstGeom>
          <a:noFill/>
        </p:spPr>
        <p:txBody>
          <a:bodyPr wrap="square" anchor="ctr">
            <a:spAutoFit/>
          </a:bodyPr>
          <a:lstStyle/>
          <a:p>
            <a:pPr algn="l">
              <a:spcAft>
                <a:spcPts val="300"/>
              </a:spcAft>
            </a:pPr>
            <a:r>
              <a:rPr sz="1600" b="1">
                <a:solidFill>
                  <a:srgbClr val="161B26"/>
                </a:solidFill>
                <a:latin typeface="Arial"/>
              </a:rPr>
              <a:t>Appeals</a:t>
            </a:r>
          </a:p>
          <a:p>
            <a:pPr algn="l">
              <a:spcAft>
                <a:spcPts val="300"/>
              </a:spcAft>
            </a:pPr>
            <a:r>
              <a:rPr sz="1200" b="0">
                <a:solidFill>
                  <a:srgbClr val="5B6372"/>
                </a:solidFill>
                <a:latin typeface="Arial"/>
              </a:rPr>
              <a:t>An appeal process is available if you wish to contest an assessment outcome.</a:t>
            </a:r>
          </a:p>
        </p:txBody>
      </p:sp>
      <p:sp>
        <p:nvSpPr>
          <p:cNvPr id="37" name="TextBox 36"/>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Manage AI Agents with Paperclip (TGS-2023036646)  ·  TGS-2023036646</a:t>
            </a:r>
          </a:p>
        </p:txBody>
      </p:sp>
      <p:sp>
        <p:nvSpPr>
          <p:cNvPr id="38" name="TextBox 37"/>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39" name="TextBox 38"/>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15</a:t>
            </a:r>
          </a:p>
        </p:txBody>
      </p:sp>
    </p:spTree>
  </p:cSld>
  <p:clrMapOvr>
    <a:masterClrMapping/>
  </p:clrMapOvr>
  <p:transition spd="fast" advClick="1">
    <p:fade/>
  </p:transition>
</p:sld>
</file>

<file path=ppt/slides/slide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1F6FEB"/>
                </a:solidFill>
                <a:latin typeface="Arial"/>
              </a:rPr>
              <a:t>ON ASSESSMENT DAY</a:t>
            </a:r>
          </a:p>
        </p:txBody>
      </p:sp>
      <p:sp>
        <p:nvSpPr>
          <p:cNvPr id="5" name="TextBox 4"/>
          <p:cNvSpPr txBox="1"/>
          <p:nvPr/>
        </p:nvSpPr>
        <p:spPr>
          <a:xfrm>
            <a:off x="777240" y="804672"/>
            <a:ext cx="10881360" cy="713232"/>
          </a:xfrm>
          <a:prstGeom prst="rect">
            <a:avLst/>
          </a:prstGeom>
          <a:noFill/>
        </p:spPr>
        <p:txBody>
          <a:bodyPr wrap="square" anchor="ctr">
            <a:spAutoFit/>
          </a:bodyPr>
          <a:lstStyle/>
          <a:p>
            <a:pPr algn="l">
              <a:spcAft>
                <a:spcPts val="400"/>
              </a:spcAft>
            </a:pPr>
            <a:r>
              <a:rPr sz="2900" b="1">
                <a:solidFill>
                  <a:srgbClr val="161B26"/>
                </a:solidFill>
                <a:latin typeface="Arial"/>
              </a:rPr>
              <a:t>Assessment Flow</a:t>
            </a:r>
          </a:p>
        </p:txBody>
      </p:sp>
      <p:sp>
        <p:nvSpPr>
          <p:cNvPr id="6" name="Rectangle 5"/>
          <p:cNvSpPr/>
          <p:nvPr/>
        </p:nvSpPr>
        <p:spPr>
          <a:xfrm>
            <a:off x="777240" y="155448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ounded Rectangle 6"/>
          <p:cNvSpPr/>
          <p:nvPr/>
        </p:nvSpPr>
        <p:spPr>
          <a:xfrm>
            <a:off x="777240" y="2148840"/>
            <a:ext cx="1819656" cy="2148840"/>
          </a:xfrm>
          <a:prstGeom prst="roundRect">
            <a:avLst>
              <a:gd name="adj" fmla="val 10000"/>
            </a:avLst>
          </a:prstGeom>
          <a:solidFill>
            <a:srgbClr val="F5F8FC"/>
          </a:solidFill>
          <a:ln w="1587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777240" y="2148840"/>
            <a:ext cx="1819656" cy="100584"/>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Oval 8"/>
          <p:cNvSpPr/>
          <p:nvPr/>
        </p:nvSpPr>
        <p:spPr>
          <a:xfrm>
            <a:off x="1403604" y="2459736"/>
            <a:ext cx="566928" cy="566928"/>
          </a:xfrm>
          <a:prstGeom prst="ellipse">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1403604" y="2459736"/>
            <a:ext cx="566928" cy="566928"/>
          </a:xfrm>
          <a:prstGeom prst="rect">
            <a:avLst/>
          </a:prstGeom>
          <a:noFill/>
        </p:spPr>
        <p:txBody>
          <a:bodyPr wrap="square" anchor="ctr">
            <a:spAutoFit/>
          </a:bodyPr>
          <a:lstStyle/>
          <a:p>
            <a:pPr algn="ctr">
              <a:spcAft>
                <a:spcPts val="400"/>
              </a:spcAft>
            </a:pPr>
            <a:r>
              <a:rPr sz="2400" b="1">
                <a:solidFill>
                  <a:srgbClr val="FFFFFF"/>
                </a:solidFill>
                <a:latin typeface="Arial"/>
              </a:rPr>
              <a:t>1</a:t>
            </a:r>
          </a:p>
        </p:txBody>
      </p:sp>
      <p:sp>
        <p:nvSpPr>
          <p:cNvPr id="11" name="TextBox 10"/>
          <p:cNvSpPr txBox="1"/>
          <p:nvPr/>
        </p:nvSpPr>
        <p:spPr>
          <a:xfrm>
            <a:off x="905256" y="3081528"/>
            <a:ext cx="1563624" cy="786384"/>
          </a:xfrm>
          <a:prstGeom prst="rect">
            <a:avLst/>
          </a:prstGeom>
          <a:noFill/>
        </p:spPr>
        <p:txBody>
          <a:bodyPr wrap="square" anchor="ctr">
            <a:spAutoFit/>
          </a:bodyPr>
          <a:lstStyle/>
          <a:p>
            <a:pPr algn="ctr">
              <a:spcAft>
                <a:spcPts val="0"/>
              </a:spcAft>
            </a:pPr>
            <a:r>
              <a:rPr sz="1300" b="1">
                <a:solidFill>
                  <a:srgbClr val="161B26"/>
                </a:solidFill>
                <a:latin typeface="Arial"/>
              </a:rPr>
              <a:t>TRAQOM survey</a:t>
            </a:r>
          </a:p>
        </p:txBody>
      </p:sp>
      <p:sp>
        <p:nvSpPr>
          <p:cNvPr id="12" name="TextBox 11"/>
          <p:cNvSpPr txBox="1"/>
          <p:nvPr/>
        </p:nvSpPr>
        <p:spPr>
          <a:xfrm>
            <a:off x="850392" y="3584448"/>
            <a:ext cx="1673352" cy="603504"/>
          </a:xfrm>
          <a:prstGeom prst="rect">
            <a:avLst/>
          </a:prstGeom>
          <a:noFill/>
        </p:spPr>
        <p:txBody>
          <a:bodyPr wrap="square" anchor="ctr">
            <a:spAutoFit/>
          </a:bodyPr>
          <a:lstStyle/>
          <a:p>
            <a:pPr algn="ctr">
              <a:spcAft>
                <a:spcPts val="0"/>
              </a:spcAft>
            </a:pPr>
            <a:r>
              <a:rPr sz="900" b="0">
                <a:solidFill>
                  <a:srgbClr val="5B6372"/>
                </a:solidFill>
                <a:latin typeface="Arial"/>
              </a:rPr>
              <a:t>Scan the QR code on the LMS</a:t>
            </a:r>
          </a:p>
        </p:txBody>
      </p:sp>
      <p:cxnSp>
        <p:nvCxnSpPr>
          <p:cNvPr id="13" name="Connector 12"/>
          <p:cNvCxnSpPr/>
          <p:nvPr/>
        </p:nvCxnSpPr>
        <p:spPr>
          <a:xfrm>
            <a:off x="2651760" y="3223260"/>
            <a:ext cx="274320" cy="0"/>
          </a:xfrm>
          <a:prstGeom prst="line">
            <a:avLst/>
          </a:prstGeom>
          <a:ln w="25400">
            <a:solidFill>
              <a:srgbClr val="1F6FEB"/>
            </a:solidFill>
            <a:tailEnd type="triangle" w="med" len="med"/>
          </a:ln>
        </p:spPr>
        <p:style>
          <a:lnRef idx="2">
            <a:schemeClr val="accent1"/>
          </a:lnRef>
          <a:fillRef idx="0">
            <a:schemeClr val="accent1"/>
          </a:fillRef>
          <a:effectRef idx="1">
            <a:schemeClr val="accent1"/>
          </a:effectRef>
          <a:fontRef idx="minor">
            <a:schemeClr val="tx1"/>
          </a:fontRef>
        </p:style>
      </p:cxnSp>
      <p:sp>
        <p:nvSpPr>
          <p:cNvPr id="14" name="Rounded Rectangle 13"/>
          <p:cNvSpPr/>
          <p:nvPr/>
        </p:nvSpPr>
        <p:spPr>
          <a:xfrm>
            <a:off x="2980944" y="2148840"/>
            <a:ext cx="1819656" cy="2148840"/>
          </a:xfrm>
          <a:prstGeom prst="roundRect">
            <a:avLst>
              <a:gd name="adj" fmla="val 10000"/>
            </a:avLst>
          </a:prstGeom>
          <a:solidFill>
            <a:srgbClr val="F5F8FC"/>
          </a:solidFill>
          <a:ln w="1587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2980944" y="2148840"/>
            <a:ext cx="1819656" cy="100584"/>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Oval 15"/>
          <p:cNvSpPr/>
          <p:nvPr/>
        </p:nvSpPr>
        <p:spPr>
          <a:xfrm>
            <a:off x="3607308" y="2459736"/>
            <a:ext cx="566928" cy="566928"/>
          </a:xfrm>
          <a:prstGeom prst="ellipse">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3607308" y="2459736"/>
            <a:ext cx="566928" cy="566928"/>
          </a:xfrm>
          <a:prstGeom prst="rect">
            <a:avLst/>
          </a:prstGeom>
          <a:noFill/>
        </p:spPr>
        <p:txBody>
          <a:bodyPr wrap="square" anchor="ctr">
            <a:spAutoFit/>
          </a:bodyPr>
          <a:lstStyle/>
          <a:p>
            <a:pPr algn="ctr">
              <a:spcAft>
                <a:spcPts val="400"/>
              </a:spcAft>
            </a:pPr>
            <a:r>
              <a:rPr sz="2400" b="1">
                <a:solidFill>
                  <a:srgbClr val="FFFFFF"/>
                </a:solidFill>
                <a:latin typeface="Arial"/>
              </a:rPr>
              <a:t>2</a:t>
            </a:r>
          </a:p>
        </p:txBody>
      </p:sp>
      <p:sp>
        <p:nvSpPr>
          <p:cNvPr id="18" name="TextBox 17"/>
          <p:cNvSpPr txBox="1"/>
          <p:nvPr/>
        </p:nvSpPr>
        <p:spPr>
          <a:xfrm>
            <a:off x="3108960" y="3081528"/>
            <a:ext cx="1563624" cy="786384"/>
          </a:xfrm>
          <a:prstGeom prst="rect">
            <a:avLst/>
          </a:prstGeom>
          <a:noFill/>
        </p:spPr>
        <p:txBody>
          <a:bodyPr wrap="square" anchor="ctr">
            <a:spAutoFit/>
          </a:bodyPr>
          <a:lstStyle/>
          <a:p>
            <a:pPr algn="ctr">
              <a:spcAft>
                <a:spcPts val="0"/>
              </a:spcAft>
            </a:pPr>
            <a:r>
              <a:rPr sz="1300" b="1">
                <a:solidFill>
                  <a:srgbClr val="161B26"/>
                </a:solidFill>
                <a:latin typeface="Arial"/>
              </a:rPr>
              <a:t>Digital attendance</a:t>
            </a:r>
          </a:p>
        </p:txBody>
      </p:sp>
      <p:sp>
        <p:nvSpPr>
          <p:cNvPr id="19" name="TextBox 18"/>
          <p:cNvSpPr txBox="1"/>
          <p:nvPr/>
        </p:nvSpPr>
        <p:spPr>
          <a:xfrm>
            <a:off x="3054096" y="3584448"/>
            <a:ext cx="1673352" cy="603504"/>
          </a:xfrm>
          <a:prstGeom prst="rect">
            <a:avLst/>
          </a:prstGeom>
          <a:noFill/>
        </p:spPr>
        <p:txBody>
          <a:bodyPr wrap="square" anchor="ctr">
            <a:spAutoFit/>
          </a:bodyPr>
          <a:lstStyle/>
          <a:p>
            <a:pPr algn="ctr">
              <a:spcAft>
                <a:spcPts val="0"/>
              </a:spcAft>
            </a:pPr>
            <a:r>
              <a:rPr sz="900" b="0">
                <a:solidFill>
                  <a:srgbClr val="5B6372"/>
                </a:solidFill>
                <a:latin typeface="Arial"/>
              </a:rPr>
              <a:t>Scan the SSG assessment QR</a:t>
            </a:r>
          </a:p>
        </p:txBody>
      </p:sp>
      <p:cxnSp>
        <p:nvCxnSpPr>
          <p:cNvPr id="20" name="Connector 19"/>
          <p:cNvCxnSpPr/>
          <p:nvPr/>
        </p:nvCxnSpPr>
        <p:spPr>
          <a:xfrm>
            <a:off x="4855464" y="3223260"/>
            <a:ext cx="274320" cy="0"/>
          </a:xfrm>
          <a:prstGeom prst="line">
            <a:avLst/>
          </a:prstGeom>
          <a:ln w="25400">
            <a:solidFill>
              <a:srgbClr val="1F6FEB"/>
            </a:solidFill>
            <a:tailEnd type="triangle" w="med" len="med"/>
          </a:ln>
        </p:spPr>
        <p:style>
          <a:lnRef idx="2">
            <a:schemeClr val="accent1"/>
          </a:lnRef>
          <a:fillRef idx="0">
            <a:schemeClr val="accent1"/>
          </a:fillRef>
          <a:effectRef idx="1">
            <a:schemeClr val="accent1"/>
          </a:effectRef>
          <a:fontRef idx="minor">
            <a:schemeClr val="tx1"/>
          </a:fontRef>
        </p:style>
      </p:cxnSp>
      <p:sp>
        <p:nvSpPr>
          <p:cNvPr id="21" name="Rounded Rectangle 20"/>
          <p:cNvSpPr/>
          <p:nvPr/>
        </p:nvSpPr>
        <p:spPr>
          <a:xfrm>
            <a:off x="5184648" y="2148840"/>
            <a:ext cx="1819656" cy="2148840"/>
          </a:xfrm>
          <a:prstGeom prst="roundRect">
            <a:avLst>
              <a:gd name="adj" fmla="val 10000"/>
            </a:avLst>
          </a:prstGeom>
          <a:solidFill>
            <a:srgbClr val="F5F8FC"/>
          </a:solidFill>
          <a:ln w="1587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Rectangle 21"/>
          <p:cNvSpPr/>
          <p:nvPr/>
        </p:nvSpPr>
        <p:spPr>
          <a:xfrm>
            <a:off x="5184648" y="2148840"/>
            <a:ext cx="1819656" cy="100584"/>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Oval 22"/>
          <p:cNvSpPr/>
          <p:nvPr/>
        </p:nvSpPr>
        <p:spPr>
          <a:xfrm>
            <a:off x="5811012" y="2459736"/>
            <a:ext cx="566928" cy="566928"/>
          </a:xfrm>
          <a:prstGeom prst="ellipse">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5811012" y="2459736"/>
            <a:ext cx="566928" cy="566928"/>
          </a:xfrm>
          <a:prstGeom prst="rect">
            <a:avLst/>
          </a:prstGeom>
          <a:noFill/>
        </p:spPr>
        <p:txBody>
          <a:bodyPr wrap="square" anchor="ctr">
            <a:spAutoFit/>
          </a:bodyPr>
          <a:lstStyle/>
          <a:p>
            <a:pPr algn="ctr">
              <a:spcAft>
                <a:spcPts val="400"/>
              </a:spcAft>
            </a:pPr>
            <a:r>
              <a:rPr sz="2400" b="1">
                <a:solidFill>
                  <a:srgbClr val="FFFFFF"/>
                </a:solidFill>
                <a:latin typeface="Arial"/>
              </a:rPr>
              <a:t>3</a:t>
            </a:r>
          </a:p>
        </p:txBody>
      </p:sp>
      <p:sp>
        <p:nvSpPr>
          <p:cNvPr id="25" name="TextBox 24"/>
          <p:cNvSpPr txBox="1"/>
          <p:nvPr/>
        </p:nvSpPr>
        <p:spPr>
          <a:xfrm>
            <a:off x="5312664" y="3081528"/>
            <a:ext cx="1563624" cy="786384"/>
          </a:xfrm>
          <a:prstGeom prst="rect">
            <a:avLst/>
          </a:prstGeom>
          <a:noFill/>
        </p:spPr>
        <p:txBody>
          <a:bodyPr wrap="square" anchor="ctr">
            <a:spAutoFit/>
          </a:bodyPr>
          <a:lstStyle/>
          <a:p>
            <a:pPr algn="ctr">
              <a:spcAft>
                <a:spcPts val="0"/>
              </a:spcAft>
            </a:pPr>
            <a:r>
              <a:rPr sz="1300" b="1">
                <a:solidFill>
                  <a:srgbClr val="161B26"/>
                </a:solidFill>
                <a:latin typeface="Arial"/>
              </a:rPr>
              <a:t>Sit WA then PP</a:t>
            </a:r>
          </a:p>
        </p:txBody>
      </p:sp>
      <p:sp>
        <p:nvSpPr>
          <p:cNvPr id="26" name="TextBox 25"/>
          <p:cNvSpPr txBox="1"/>
          <p:nvPr/>
        </p:nvSpPr>
        <p:spPr>
          <a:xfrm>
            <a:off x="5257800" y="3584448"/>
            <a:ext cx="1673352" cy="603504"/>
          </a:xfrm>
          <a:prstGeom prst="rect">
            <a:avLst/>
          </a:prstGeom>
          <a:noFill/>
        </p:spPr>
        <p:txBody>
          <a:bodyPr wrap="square" anchor="ctr">
            <a:spAutoFit/>
          </a:bodyPr>
          <a:lstStyle/>
          <a:p>
            <a:pPr algn="ctr">
              <a:spcAft>
                <a:spcPts val="0"/>
              </a:spcAft>
            </a:pPr>
            <a:r>
              <a:rPr sz="900" b="0">
                <a:solidFill>
                  <a:srgbClr val="5B6372"/>
                </a:solidFill>
                <a:latin typeface="Arial"/>
              </a:rPr>
              <a:t>Open book · 1 hour each</a:t>
            </a:r>
          </a:p>
        </p:txBody>
      </p:sp>
      <p:cxnSp>
        <p:nvCxnSpPr>
          <p:cNvPr id="27" name="Connector 26"/>
          <p:cNvCxnSpPr/>
          <p:nvPr/>
        </p:nvCxnSpPr>
        <p:spPr>
          <a:xfrm>
            <a:off x="7059168" y="3223260"/>
            <a:ext cx="274320" cy="0"/>
          </a:xfrm>
          <a:prstGeom prst="line">
            <a:avLst/>
          </a:prstGeom>
          <a:ln w="25400">
            <a:solidFill>
              <a:srgbClr val="1F6FEB"/>
            </a:solidFill>
            <a:tailEnd type="triangle" w="med" len="med"/>
          </a:ln>
        </p:spPr>
        <p:style>
          <a:lnRef idx="2">
            <a:schemeClr val="accent1"/>
          </a:lnRef>
          <a:fillRef idx="0">
            <a:schemeClr val="accent1"/>
          </a:fillRef>
          <a:effectRef idx="1">
            <a:schemeClr val="accent1"/>
          </a:effectRef>
          <a:fontRef idx="minor">
            <a:schemeClr val="tx1"/>
          </a:fontRef>
        </p:style>
      </p:cxnSp>
      <p:sp>
        <p:nvSpPr>
          <p:cNvPr id="28" name="Rounded Rectangle 27"/>
          <p:cNvSpPr/>
          <p:nvPr/>
        </p:nvSpPr>
        <p:spPr>
          <a:xfrm>
            <a:off x="7388352" y="2148840"/>
            <a:ext cx="1819656" cy="2148840"/>
          </a:xfrm>
          <a:prstGeom prst="roundRect">
            <a:avLst>
              <a:gd name="adj" fmla="val 10000"/>
            </a:avLst>
          </a:prstGeom>
          <a:solidFill>
            <a:srgbClr val="F5F8FC"/>
          </a:solidFill>
          <a:ln w="1587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Rectangle 28"/>
          <p:cNvSpPr/>
          <p:nvPr/>
        </p:nvSpPr>
        <p:spPr>
          <a:xfrm>
            <a:off x="7388352" y="2148840"/>
            <a:ext cx="1819656" cy="100584"/>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Oval 29"/>
          <p:cNvSpPr/>
          <p:nvPr/>
        </p:nvSpPr>
        <p:spPr>
          <a:xfrm>
            <a:off x="8014716" y="2459736"/>
            <a:ext cx="566928" cy="566928"/>
          </a:xfrm>
          <a:prstGeom prst="ellipse">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TextBox 30"/>
          <p:cNvSpPr txBox="1"/>
          <p:nvPr/>
        </p:nvSpPr>
        <p:spPr>
          <a:xfrm>
            <a:off x="8014716" y="2459736"/>
            <a:ext cx="566928" cy="566928"/>
          </a:xfrm>
          <a:prstGeom prst="rect">
            <a:avLst/>
          </a:prstGeom>
          <a:noFill/>
        </p:spPr>
        <p:txBody>
          <a:bodyPr wrap="square" anchor="ctr">
            <a:spAutoFit/>
          </a:bodyPr>
          <a:lstStyle/>
          <a:p>
            <a:pPr algn="ctr">
              <a:spcAft>
                <a:spcPts val="400"/>
              </a:spcAft>
            </a:pPr>
            <a:r>
              <a:rPr sz="2400" b="1">
                <a:solidFill>
                  <a:srgbClr val="FFFFFF"/>
                </a:solidFill>
                <a:latin typeface="Arial"/>
              </a:rPr>
              <a:t>4</a:t>
            </a:r>
          </a:p>
        </p:txBody>
      </p:sp>
      <p:sp>
        <p:nvSpPr>
          <p:cNvPr id="32" name="TextBox 31"/>
          <p:cNvSpPr txBox="1"/>
          <p:nvPr/>
        </p:nvSpPr>
        <p:spPr>
          <a:xfrm>
            <a:off x="7516368" y="3081528"/>
            <a:ext cx="1563624" cy="786384"/>
          </a:xfrm>
          <a:prstGeom prst="rect">
            <a:avLst/>
          </a:prstGeom>
          <a:noFill/>
        </p:spPr>
        <p:txBody>
          <a:bodyPr wrap="square" anchor="ctr">
            <a:spAutoFit/>
          </a:bodyPr>
          <a:lstStyle/>
          <a:p>
            <a:pPr algn="ctr">
              <a:spcAft>
                <a:spcPts val="0"/>
              </a:spcAft>
            </a:pPr>
            <a:r>
              <a:rPr sz="1300" b="1">
                <a:solidFill>
                  <a:srgbClr val="161B26"/>
                </a:solidFill>
                <a:latin typeface="Arial"/>
              </a:rPr>
              <a:t>Submit on the LMS</a:t>
            </a:r>
          </a:p>
        </p:txBody>
      </p:sp>
      <p:sp>
        <p:nvSpPr>
          <p:cNvPr id="33" name="TextBox 32"/>
          <p:cNvSpPr txBox="1"/>
          <p:nvPr/>
        </p:nvSpPr>
        <p:spPr>
          <a:xfrm>
            <a:off x="7461504" y="3584448"/>
            <a:ext cx="1673352" cy="603504"/>
          </a:xfrm>
          <a:prstGeom prst="rect">
            <a:avLst/>
          </a:prstGeom>
          <a:noFill/>
        </p:spPr>
        <p:txBody>
          <a:bodyPr wrap="square" anchor="ctr">
            <a:spAutoFit/>
          </a:bodyPr>
          <a:lstStyle/>
          <a:p>
            <a:pPr algn="ctr">
              <a:spcAft>
                <a:spcPts val="0"/>
              </a:spcAft>
            </a:pPr>
            <a:r>
              <a:rPr sz="900" b="0">
                <a:solidFill>
                  <a:srgbClr val="5B6372"/>
                </a:solidFill>
                <a:latin typeface="Arial"/>
              </a:rPr>
              <a:t>Upload your completed answers</a:t>
            </a:r>
          </a:p>
        </p:txBody>
      </p:sp>
      <p:cxnSp>
        <p:nvCxnSpPr>
          <p:cNvPr id="34" name="Connector 33"/>
          <p:cNvCxnSpPr/>
          <p:nvPr/>
        </p:nvCxnSpPr>
        <p:spPr>
          <a:xfrm>
            <a:off x="9262872" y="3223260"/>
            <a:ext cx="274320" cy="0"/>
          </a:xfrm>
          <a:prstGeom prst="line">
            <a:avLst/>
          </a:prstGeom>
          <a:ln w="25400">
            <a:solidFill>
              <a:srgbClr val="1F6FEB"/>
            </a:solidFill>
            <a:tailEnd type="triangle" w="med" len="med"/>
          </a:ln>
        </p:spPr>
        <p:style>
          <a:lnRef idx="2">
            <a:schemeClr val="accent1"/>
          </a:lnRef>
          <a:fillRef idx="0">
            <a:schemeClr val="accent1"/>
          </a:fillRef>
          <a:effectRef idx="1">
            <a:schemeClr val="accent1"/>
          </a:effectRef>
          <a:fontRef idx="minor">
            <a:schemeClr val="tx1"/>
          </a:fontRef>
        </p:style>
      </p:cxnSp>
      <p:sp>
        <p:nvSpPr>
          <p:cNvPr id="35" name="Rounded Rectangle 34"/>
          <p:cNvSpPr/>
          <p:nvPr/>
        </p:nvSpPr>
        <p:spPr>
          <a:xfrm>
            <a:off x="9592056" y="2148840"/>
            <a:ext cx="1819656" cy="2148840"/>
          </a:xfrm>
          <a:prstGeom prst="roundRect">
            <a:avLst>
              <a:gd name="adj" fmla="val 10000"/>
            </a:avLst>
          </a:prstGeom>
          <a:solidFill>
            <a:srgbClr val="F5F8FC"/>
          </a:solidFill>
          <a:ln w="1587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 name="Rectangle 35"/>
          <p:cNvSpPr/>
          <p:nvPr/>
        </p:nvSpPr>
        <p:spPr>
          <a:xfrm>
            <a:off x="9592056" y="2148840"/>
            <a:ext cx="1819656" cy="100584"/>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 name="Oval 36"/>
          <p:cNvSpPr/>
          <p:nvPr/>
        </p:nvSpPr>
        <p:spPr>
          <a:xfrm>
            <a:off x="10218420" y="2459736"/>
            <a:ext cx="566928" cy="566928"/>
          </a:xfrm>
          <a:prstGeom prst="ellipse">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 name="TextBox 37"/>
          <p:cNvSpPr txBox="1"/>
          <p:nvPr/>
        </p:nvSpPr>
        <p:spPr>
          <a:xfrm>
            <a:off x="10218420" y="2459736"/>
            <a:ext cx="566928" cy="566928"/>
          </a:xfrm>
          <a:prstGeom prst="rect">
            <a:avLst/>
          </a:prstGeom>
          <a:noFill/>
        </p:spPr>
        <p:txBody>
          <a:bodyPr wrap="square" anchor="ctr">
            <a:spAutoFit/>
          </a:bodyPr>
          <a:lstStyle/>
          <a:p>
            <a:pPr algn="ctr">
              <a:spcAft>
                <a:spcPts val="400"/>
              </a:spcAft>
            </a:pPr>
            <a:r>
              <a:rPr sz="2400" b="1">
                <a:solidFill>
                  <a:srgbClr val="FFFFFF"/>
                </a:solidFill>
                <a:latin typeface="Arial"/>
              </a:rPr>
              <a:t>5</a:t>
            </a:r>
          </a:p>
        </p:txBody>
      </p:sp>
      <p:sp>
        <p:nvSpPr>
          <p:cNvPr id="39" name="TextBox 38"/>
          <p:cNvSpPr txBox="1"/>
          <p:nvPr/>
        </p:nvSpPr>
        <p:spPr>
          <a:xfrm>
            <a:off x="9720072" y="3081528"/>
            <a:ext cx="1563624" cy="786384"/>
          </a:xfrm>
          <a:prstGeom prst="rect">
            <a:avLst/>
          </a:prstGeom>
          <a:noFill/>
        </p:spPr>
        <p:txBody>
          <a:bodyPr wrap="square" anchor="ctr">
            <a:spAutoFit/>
          </a:bodyPr>
          <a:lstStyle/>
          <a:p>
            <a:pPr algn="ctr">
              <a:spcAft>
                <a:spcPts val="0"/>
              </a:spcAft>
            </a:pPr>
            <a:r>
              <a:rPr sz="1300" b="1">
                <a:solidFill>
                  <a:srgbClr val="161B26"/>
                </a:solidFill>
                <a:latin typeface="Arial"/>
              </a:rPr>
              <a:t>Sign the record</a:t>
            </a:r>
          </a:p>
        </p:txBody>
      </p:sp>
      <p:sp>
        <p:nvSpPr>
          <p:cNvPr id="40" name="TextBox 39"/>
          <p:cNvSpPr txBox="1"/>
          <p:nvPr/>
        </p:nvSpPr>
        <p:spPr>
          <a:xfrm>
            <a:off x="9665208" y="3584448"/>
            <a:ext cx="1673352" cy="603504"/>
          </a:xfrm>
          <a:prstGeom prst="rect">
            <a:avLst/>
          </a:prstGeom>
          <a:noFill/>
        </p:spPr>
        <p:txBody>
          <a:bodyPr wrap="square" anchor="ctr">
            <a:spAutoFit/>
          </a:bodyPr>
          <a:lstStyle/>
          <a:p>
            <a:pPr algn="ctr">
              <a:spcAft>
                <a:spcPts val="0"/>
              </a:spcAft>
            </a:pPr>
            <a:r>
              <a:rPr sz="900" b="0">
                <a:solidFill>
                  <a:srgbClr val="5B6372"/>
                </a:solidFill>
                <a:latin typeface="Arial"/>
              </a:rPr>
              <a:t>Sign the Assessment Summary Record</a:t>
            </a:r>
          </a:p>
        </p:txBody>
      </p:sp>
      <p:sp>
        <p:nvSpPr>
          <p:cNvPr id="41" name="Rectangle 40"/>
          <p:cNvSpPr/>
          <p:nvPr/>
        </p:nvSpPr>
        <p:spPr>
          <a:xfrm>
            <a:off x="777240" y="4608576"/>
            <a:ext cx="10634472" cy="105156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2" name="Rectangle 41"/>
          <p:cNvSpPr/>
          <p:nvPr/>
        </p:nvSpPr>
        <p:spPr>
          <a:xfrm>
            <a:off x="777240" y="4608576"/>
            <a:ext cx="100584" cy="105156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3" name="TextBox 42"/>
          <p:cNvSpPr txBox="1"/>
          <p:nvPr/>
        </p:nvSpPr>
        <p:spPr>
          <a:xfrm>
            <a:off x="1051560" y="4718304"/>
            <a:ext cx="10149840" cy="292608"/>
          </a:xfrm>
          <a:prstGeom prst="rect">
            <a:avLst/>
          </a:prstGeom>
          <a:noFill/>
        </p:spPr>
        <p:txBody>
          <a:bodyPr wrap="square" anchor="t">
            <a:spAutoFit/>
          </a:bodyPr>
          <a:lstStyle/>
          <a:p>
            <a:pPr algn="l">
              <a:spcAft>
                <a:spcPts val="400"/>
              </a:spcAft>
            </a:pPr>
            <a:r>
              <a:rPr sz="1100" b="1">
                <a:solidFill>
                  <a:srgbClr val="1F6FEB"/>
                </a:solidFill>
                <a:latin typeface="Arial"/>
              </a:rPr>
              <a:t>REMEMBER</a:t>
            </a:r>
          </a:p>
        </p:txBody>
      </p:sp>
      <p:sp>
        <p:nvSpPr>
          <p:cNvPr id="44" name="TextBox 43"/>
          <p:cNvSpPr txBox="1"/>
          <p:nvPr/>
        </p:nvSpPr>
        <p:spPr>
          <a:xfrm>
            <a:off x="1051560" y="5029200"/>
            <a:ext cx="10149840" cy="566928"/>
          </a:xfrm>
          <a:prstGeom prst="rect">
            <a:avLst/>
          </a:prstGeom>
          <a:noFill/>
        </p:spPr>
        <p:txBody>
          <a:bodyPr wrap="square" anchor="t">
            <a:spAutoFit/>
          </a:bodyPr>
          <a:lstStyle/>
          <a:p>
            <a:pPr algn="l">
              <a:spcAft>
                <a:spcPts val="400"/>
              </a:spcAft>
            </a:pPr>
            <a:r>
              <a:rPr sz="1300" b="0">
                <a:solidFill>
                  <a:srgbClr val="161B26"/>
                </a:solidFill>
                <a:latin typeface="Arial"/>
              </a:rPr>
              <a:t>All five steps are mandatory for WSQ funding — missing the digital attendance or the TRAQOM survey can invalidate your claim.</a:t>
            </a:r>
          </a:p>
        </p:txBody>
      </p:sp>
      <p:sp>
        <p:nvSpPr>
          <p:cNvPr id="95" name="TextBox 94"/>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Manage AI Agents with Paperclip (TGS-2023036646)  ·  TGS-2023036646</a:t>
            </a:r>
          </a:p>
        </p:txBody>
      </p:sp>
      <p:sp>
        <p:nvSpPr>
          <p:cNvPr id="96" name="TextBox 95"/>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97" name="TextBox 96"/>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16</a:t>
            </a:r>
          </a:p>
        </p:txBody>
      </p:sp>
    </p:spTree>
  </p:cSld>
  <p:clrMapOvr>
    <a:masterClrMapping/>
  </p:clrMapOvr>
  <p:timing>
    <p:tnLst>
      <p:par>
        <p:cTn id="1" dur="indefinite" restart="never" nodeType="tmRoot">
          <p:childTnLst>
            <p:seq concurrent="1" nextAc="seek">
              <p:cTn id="2" dur="indefinite" nodeType="mainSeq">
                <p:childTnLst>
                  <p:par>
                    <p:cTn id="10" fill="hold">
                      <p:stCondLst>
                        <p:cond delay="indefinite"/>
                      </p:stCondLst>
                      <p:childTnLst>
                        <p:par>
                          <p:cTn id="11" fill="hold">
                            <p:stCondLst>
                              <p:cond delay="0"/>
                            </p:stCondLst>
                            <p:childTnLst>
                              <p:par>
                                <p:cTn id="12" presetID="1" presetClass="entr" presetSubtype="0" fill="hold" nodeType="clickEffect">
                                  <p:stCondLst>
                                    <p:cond delay="0"/>
                                  </p:stCondLst>
                                  <p:childTnLst>
                                    <p:set>
                                      <p:cBhvr>
                                        <p:cTn id="13" dur="1" fill="hold">
                                          <p:stCondLst>
                                            <p:cond delay="0"/>
                                          </p:stCondLst>
                                        </p:cTn>
                                        <p:tgtEl>
                                          <p:spTgt spid="7"/>
                                        </p:tgtEl>
                                        <p:attrNameLst>
                                          <p:attrName>style.visibility</p:attrName>
                                        </p:attrNameLst>
                                      </p:cBhvr>
                                      <p:to>
                                        <p:strVal val="visible"/>
                                      </p:to>
                                    </p:set>
                                    <p:animEffect transition="in" filter="fade">
                                      <p:cBhvr>
                                        <p:cTn id="14" dur="400"/>
                                        <p:tgtEl>
                                          <p:spTgt spid="7"/>
                                        </p:tgtEl>
                                      </p:cBhvr>
                                    </p:animEffect>
                                  </p:childTnLst>
                                </p:cTn>
                              </p:par>
                            </p:childTnLst>
                          </p:cTn>
                        </p:par>
                      </p:childTnLst>
                    </p:cTn>
                  </p:par>
                  <p:par>
                    <p:cTn id="20" fill="hold">
                      <p:stCondLst>
                        <p:cond delay="indefinite"/>
                      </p:stCondLst>
                      <p:childTnLst>
                        <p:par>
                          <p:cTn id="21" fill="hold">
                            <p:stCondLst>
                              <p:cond delay="0"/>
                            </p:stCondLst>
                            <p:childTnLst>
                              <p:par>
                                <p:cTn id="22" presetID="1" presetClass="entr" presetSubtype="0" fill="hold" nodeType="afterEffect">
                                  <p:stCondLst>
                                    <p:cond delay="0"/>
                                  </p:stCondLst>
                                  <p:childTnLst>
                                    <p:set>
                                      <p:cBhvr>
                                        <p:cTn id="23" dur="1" fill="hold">
                                          <p:stCondLst>
                                            <p:cond delay="0"/>
                                          </p:stCondLst>
                                        </p:cTn>
                                        <p:tgtEl>
                                          <p:spTgt spid="13"/>
                                        </p:tgtEl>
                                        <p:attrNameLst>
                                          <p:attrName>style.visibility</p:attrName>
                                        </p:attrNameLst>
                                      </p:cBhvr>
                                      <p:to>
                                        <p:strVal val="visible"/>
                                      </p:to>
                                    </p:set>
                                    <p:animEffect transition="in" filter="fade">
                                      <p:cBhvr>
                                        <p:cTn id="24" dur="400"/>
                                        <p:tgtEl>
                                          <p:spTgt spid="13"/>
                                        </p:tgtEl>
                                      </p:cBhvr>
                                    </p:animEffect>
                                  </p:childTnLst>
                                </p:cTn>
                              </p:par>
                            </p:childTnLst>
                          </p:cTn>
                        </p:par>
                      </p:childTnLst>
                    </p:cTn>
                  </p:par>
                  <p:par>
                    <p:cTn id="30" fill="hold">
                      <p:stCondLst>
                        <p:cond delay="indefinite"/>
                      </p:stCondLst>
                      <p:childTnLst>
                        <p:par>
                          <p:cTn id="31" fill="hold">
                            <p:stCondLst>
                              <p:cond delay="0"/>
                            </p:stCondLst>
                            <p:childTnLst>
                              <p:par>
                                <p:cTn id="32" presetID="1" presetClass="entr" presetSubtype="0" fill="hold" nodeType="afterEffect">
                                  <p:stCondLst>
                                    <p:cond delay="0"/>
                                  </p:stCondLst>
                                  <p:childTnLst>
                                    <p:set>
                                      <p:cBhvr>
                                        <p:cTn id="33" dur="1" fill="hold">
                                          <p:stCondLst>
                                            <p:cond delay="0"/>
                                          </p:stCondLst>
                                        </p:cTn>
                                        <p:tgtEl>
                                          <p:spTgt spid="14"/>
                                        </p:tgtEl>
                                        <p:attrNameLst>
                                          <p:attrName>style.visibility</p:attrName>
                                        </p:attrNameLst>
                                      </p:cBhvr>
                                      <p:to>
                                        <p:strVal val="visible"/>
                                      </p:to>
                                    </p:set>
                                    <p:animEffect transition="in" filter="fade">
                                      <p:cBhvr>
                                        <p:cTn id="34" dur="400"/>
                                        <p:tgtEl>
                                          <p:spTgt spid="14"/>
                                        </p:tgtEl>
                                      </p:cBhvr>
                                    </p:animEffect>
                                  </p:childTnLst>
                                </p:cTn>
                              </p:par>
                            </p:childTnLst>
                          </p:cTn>
                        </p:par>
                      </p:childTnLst>
                    </p:cTn>
                  </p:par>
                  <p:par>
                    <p:cTn id="40" fill="hold">
                      <p:stCondLst>
                        <p:cond delay="indefinite"/>
                      </p:stCondLst>
                      <p:childTnLst>
                        <p:par>
                          <p:cTn id="41" fill="hold">
                            <p:stCondLst>
                              <p:cond delay="0"/>
                            </p:stCondLst>
                            <p:childTnLst>
                              <p:par>
                                <p:cTn id="42" presetID="1" presetClass="entr" presetSubtype="0" fill="hold" nodeType="afterEffect">
                                  <p:stCondLst>
                                    <p:cond delay="0"/>
                                  </p:stCondLst>
                                  <p:childTnLst>
                                    <p:set>
                                      <p:cBhvr>
                                        <p:cTn id="43" dur="1" fill="hold">
                                          <p:stCondLst>
                                            <p:cond delay="0"/>
                                          </p:stCondLst>
                                        </p:cTn>
                                        <p:tgtEl>
                                          <p:spTgt spid="20"/>
                                        </p:tgtEl>
                                        <p:attrNameLst>
                                          <p:attrName>style.visibility</p:attrName>
                                        </p:attrNameLst>
                                      </p:cBhvr>
                                      <p:to>
                                        <p:strVal val="visible"/>
                                      </p:to>
                                    </p:set>
                                    <p:animEffect transition="in" filter="fade">
                                      <p:cBhvr>
                                        <p:cTn id="44" dur="400"/>
                                        <p:tgtEl>
                                          <p:spTgt spid="20"/>
                                        </p:tgtEl>
                                      </p:cBhvr>
                                    </p:animEffect>
                                  </p:childTnLst>
                                </p:cTn>
                              </p:par>
                            </p:childTnLst>
                          </p:cTn>
                        </p:par>
                      </p:childTnLst>
                    </p:cTn>
                  </p:par>
                  <p:par>
                    <p:cTn id="50" fill="hold">
                      <p:stCondLst>
                        <p:cond delay="indefinite"/>
                      </p:stCondLst>
                      <p:childTnLst>
                        <p:par>
                          <p:cTn id="51" fill="hold">
                            <p:stCondLst>
                              <p:cond delay="0"/>
                            </p:stCondLst>
                            <p:childTnLst>
                              <p:par>
                                <p:cTn id="52" presetID="1" presetClass="entr" presetSubtype="0" fill="hold" nodeType="afterEffect">
                                  <p:stCondLst>
                                    <p:cond delay="0"/>
                                  </p:stCondLst>
                                  <p:childTnLst>
                                    <p:set>
                                      <p:cBhvr>
                                        <p:cTn id="53" dur="1" fill="hold">
                                          <p:stCondLst>
                                            <p:cond delay="0"/>
                                          </p:stCondLst>
                                        </p:cTn>
                                        <p:tgtEl>
                                          <p:spTgt spid="21"/>
                                        </p:tgtEl>
                                        <p:attrNameLst>
                                          <p:attrName>style.visibility</p:attrName>
                                        </p:attrNameLst>
                                      </p:cBhvr>
                                      <p:to>
                                        <p:strVal val="visible"/>
                                      </p:to>
                                    </p:set>
                                    <p:animEffect transition="in" filter="fade">
                                      <p:cBhvr>
                                        <p:cTn id="54" dur="400"/>
                                        <p:tgtEl>
                                          <p:spTgt spid="21"/>
                                        </p:tgtEl>
                                      </p:cBhvr>
                                    </p:animEffect>
                                  </p:childTnLst>
                                </p:cTn>
                              </p:par>
                            </p:childTnLst>
                          </p:cTn>
                        </p:par>
                      </p:childTnLst>
                    </p:cTn>
                  </p:par>
                  <p:par>
                    <p:cTn id="60" fill="hold">
                      <p:stCondLst>
                        <p:cond delay="indefinite"/>
                      </p:stCondLst>
                      <p:childTnLst>
                        <p:par>
                          <p:cTn id="61" fill="hold">
                            <p:stCondLst>
                              <p:cond delay="0"/>
                            </p:stCondLst>
                            <p:childTnLst>
                              <p:par>
                                <p:cTn id="62" presetID="1" presetClass="entr" presetSubtype="0" fill="hold" nodeType="afterEffect">
                                  <p:stCondLst>
                                    <p:cond delay="0"/>
                                  </p:stCondLst>
                                  <p:childTnLst>
                                    <p:set>
                                      <p:cBhvr>
                                        <p:cTn id="63" dur="1" fill="hold">
                                          <p:stCondLst>
                                            <p:cond delay="0"/>
                                          </p:stCondLst>
                                        </p:cTn>
                                        <p:tgtEl>
                                          <p:spTgt spid="27"/>
                                        </p:tgtEl>
                                        <p:attrNameLst>
                                          <p:attrName>style.visibility</p:attrName>
                                        </p:attrNameLst>
                                      </p:cBhvr>
                                      <p:to>
                                        <p:strVal val="visible"/>
                                      </p:to>
                                    </p:set>
                                    <p:animEffect transition="in" filter="fade">
                                      <p:cBhvr>
                                        <p:cTn id="64" dur="400"/>
                                        <p:tgtEl>
                                          <p:spTgt spid="27"/>
                                        </p:tgtEl>
                                      </p:cBhvr>
                                    </p:animEffect>
                                  </p:childTnLst>
                                </p:cTn>
                              </p:par>
                            </p:childTnLst>
                          </p:cTn>
                        </p:par>
                      </p:childTnLst>
                    </p:cTn>
                  </p:par>
                  <p:par>
                    <p:cTn id="70" fill="hold">
                      <p:stCondLst>
                        <p:cond delay="indefinite"/>
                      </p:stCondLst>
                      <p:childTnLst>
                        <p:par>
                          <p:cTn id="71" fill="hold">
                            <p:stCondLst>
                              <p:cond delay="0"/>
                            </p:stCondLst>
                            <p:childTnLst>
                              <p:par>
                                <p:cTn id="72" presetID="1" presetClass="entr" presetSubtype="0" fill="hold" nodeType="afterEffect">
                                  <p:stCondLst>
                                    <p:cond delay="0"/>
                                  </p:stCondLst>
                                  <p:childTnLst>
                                    <p:set>
                                      <p:cBhvr>
                                        <p:cTn id="73" dur="1" fill="hold">
                                          <p:stCondLst>
                                            <p:cond delay="0"/>
                                          </p:stCondLst>
                                        </p:cTn>
                                        <p:tgtEl>
                                          <p:spTgt spid="28"/>
                                        </p:tgtEl>
                                        <p:attrNameLst>
                                          <p:attrName>style.visibility</p:attrName>
                                        </p:attrNameLst>
                                      </p:cBhvr>
                                      <p:to>
                                        <p:strVal val="visible"/>
                                      </p:to>
                                    </p:set>
                                    <p:animEffect transition="in" filter="fade">
                                      <p:cBhvr>
                                        <p:cTn id="74" dur="400"/>
                                        <p:tgtEl>
                                          <p:spTgt spid="28"/>
                                        </p:tgtEl>
                                      </p:cBhvr>
                                    </p:animEffect>
                                  </p:childTnLst>
                                </p:cTn>
                              </p:par>
                            </p:childTnLst>
                          </p:cTn>
                        </p:par>
                      </p:childTnLst>
                    </p:cTn>
                  </p:par>
                  <p:par>
                    <p:cTn id="80" fill="hold">
                      <p:stCondLst>
                        <p:cond delay="indefinite"/>
                      </p:stCondLst>
                      <p:childTnLst>
                        <p:par>
                          <p:cTn id="81" fill="hold">
                            <p:stCondLst>
                              <p:cond delay="0"/>
                            </p:stCondLst>
                            <p:childTnLst>
                              <p:par>
                                <p:cTn id="82" presetID="1" presetClass="entr" presetSubtype="0" fill="hold" nodeType="afterEffect">
                                  <p:stCondLst>
                                    <p:cond delay="0"/>
                                  </p:stCondLst>
                                  <p:childTnLst>
                                    <p:set>
                                      <p:cBhvr>
                                        <p:cTn id="83" dur="1" fill="hold">
                                          <p:stCondLst>
                                            <p:cond delay="0"/>
                                          </p:stCondLst>
                                        </p:cTn>
                                        <p:tgtEl>
                                          <p:spTgt spid="34"/>
                                        </p:tgtEl>
                                        <p:attrNameLst>
                                          <p:attrName>style.visibility</p:attrName>
                                        </p:attrNameLst>
                                      </p:cBhvr>
                                      <p:to>
                                        <p:strVal val="visible"/>
                                      </p:to>
                                    </p:set>
                                    <p:animEffect transition="in" filter="fade">
                                      <p:cBhvr>
                                        <p:cTn id="84" dur="400"/>
                                        <p:tgtEl>
                                          <p:spTgt spid="34"/>
                                        </p:tgtEl>
                                      </p:cBhvr>
                                    </p:animEffect>
                                  </p:childTnLst>
                                </p:cTn>
                              </p:par>
                            </p:childTnLst>
                          </p:cTn>
                        </p:par>
                      </p:childTnLst>
                    </p:cTn>
                  </p:par>
                  <p:par>
                    <p:cTn id="90" fill="hold">
                      <p:stCondLst>
                        <p:cond delay="indefinite"/>
                      </p:stCondLst>
                      <p:childTnLst>
                        <p:par>
                          <p:cTn id="91" fill="hold">
                            <p:stCondLst>
                              <p:cond delay="0"/>
                            </p:stCondLst>
                            <p:childTnLst>
                              <p:par>
                                <p:cTn id="92" presetID="1" presetClass="entr" presetSubtype="0" fill="hold" nodeType="afterEffect">
                                  <p:stCondLst>
                                    <p:cond delay="0"/>
                                  </p:stCondLst>
                                  <p:childTnLst>
                                    <p:set>
                                      <p:cBhvr>
                                        <p:cTn id="93" dur="1" fill="hold">
                                          <p:stCondLst>
                                            <p:cond delay="0"/>
                                          </p:stCondLst>
                                        </p:cTn>
                                        <p:tgtEl>
                                          <p:spTgt spid="35"/>
                                        </p:tgtEl>
                                        <p:attrNameLst>
                                          <p:attrName>style.visibility</p:attrName>
                                        </p:attrNameLst>
                                      </p:cBhvr>
                                      <p:to>
                                        <p:strVal val="visible"/>
                                      </p:to>
                                    </p:set>
                                    <p:animEffect transition="in" filter="fade">
                                      <p:cBhvr>
                                        <p:cTn id="94" dur="400"/>
                                        <p:tgtEl>
                                          <p:spTgt spid="35"/>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transition spd="fast" advClick="1">
    <p:fade/>
  </p:transition>
</p:sld>
</file>

<file path=ppt/slides/slide1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10B981"/>
                </a:solidFill>
                <a:latin typeface="Arial"/>
              </a:rPr>
              <a:t>EXAMS.TERTIARYINFOTECH.COM</a:t>
            </a:r>
          </a:p>
        </p:txBody>
      </p:sp>
      <p:sp>
        <p:nvSpPr>
          <p:cNvPr id="5" name="TextBox 4"/>
          <p:cNvSpPr txBox="1"/>
          <p:nvPr/>
        </p:nvSpPr>
        <p:spPr>
          <a:xfrm>
            <a:off x="777240" y="804672"/>
            <a:ext cx="10881360" cy="713232"/>
          </a:xfrm>
          <a:prstGeom prst="rect">
            <a:avLst/>
          </a:prstGeom>
          <a:noFill/>
        </p:spPr>
        <p:txBody>
          <a:bodyPr wrap="square" anchor="ctr">
            <a:spAutoFit/>
          </a:bodyPr>
          <a:lstStyle/>
          <a:p>
            <a:pPr algn="l">
              <a:spcAft>
                <a:spcPts val="400"/>
              </a:spcAft>
            </a:pPr>
            <a:r>
              <a:rPr sz="2900" b="1">
                <a:solidFill>
                  <a:srgbClr val="161B26"/>
                </a:solidFill>
                <a:latin typeface="Arial"/>
              </a:rPr>
              <a:t>Practice Exam</a:t>
            </a:r>
          </a:p>
        </p:txBody>
      </p:sp>
      <p:sp>
        <p:nvSpPr>
          <p:cNvPr id="6" name="Rectangle 5"/>
          <p:cNvSpPr/>
          <p:nvPr/>
        </p:nvSpPr>
        <p:spPr>
          <a:xfrm>
            <a:off x="777240" y="155448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77240" y="1783080"/>
            <a:ext cx="5180076" cy="2066544"/>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777240" y="1783080"/>
            <a:ext cx="91440" cy="2066544"/>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Oval 8"/>
          <p:cNvSpPr/>
          <p:nvPr/>
        </p:nvSpPr>
        <p:spPr>
          <a:xfrm>
            <a:off x="1033272" y="2542032"/>
            <a:ext cx="548640" cy="548640"/>
          </a:xfrm>
          <a:prstGeom prst="ellipse">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1033272" y="2542032"/>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1</a:t>
            </a:r>
          </a:p>
        </p:txBody>
      </p:sp>
      <p:sp>
        <p:nvSpPr>
          <p:cNvPr id="11" name="TextBox 10"/>
          <p:cNvSpPr txBox="1"/>
          <p:nvPr/>
        </p:nvSpPr>
        <p:spPr>
          <a:xfrm>
            <a:off x="1764792" y="1911096"/>
            <a:ext cx="3973068" cy="1883664"/>
          </a:xfrm>
          <a:prstGeom prst="rect">
            <a:avLst/>
          </a:prstGeom>
          <a:noFill/>
        </p:spPr>
        <p:txBody>
          <a:bodyPr wrap="square" anchor="ctr">
            <a:spAutoFit/>
          </a:bodyPr>
          <a:lstStyle/>
          <a:p>
            <a:pPr algn="l">
              <a:spcAft>
                <a:spcPts val="300"/>
              </a:spcAft>
            </a:pPr>
            <a:r>
              <a:rPr sz="1700" b="1">
                <a:solidFill>
                  <a:srgbClr val="161B26"/>
                </a:solidFill>
                <a:latin typeface="Arial"/>
              </a:rPr>
              <a:t>Practise before the real thing</a:t>
            </a:r>
          </a:p>
          <a:p>
            <a:pPr algn="l">
              <a:spcAft>
                <a:spcPts val="300"/>
              </a:spcAft>
            </a:pPr>
            <a:r>
              <a:rPr sz="1300" b="0">
                <a:solidFill>
                  <a:srgbClr val="5B6372"/>
                </a:solidFill>
                <a:latin typeface="Arial"/>
              </a:rPr>
              <a:t>Try the practice questions at https://exams.tertiaryinfotech.com before the final assessment.</a:t>
            </a:r>
          </a:p>
        </p:txBody>
      </p:sp>
      <p:sp>
        <p:nvSpPr>
          <p:cNvPr id="12" name="Rectangle 11"/>
          <p:cNvSpPr/>
          <p:nvPr/>
        </p:nvSpPr>
        <p:spPr>
          <a:xfrm>
            <a:off x="6231636" y="1783080"/>
            <a:ext cx="5180076" cy="2066544"/>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6231636" y="1783080"/>
            <a:ext cx="91440" cy="2066544"/>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Oval 13"/>
          <p:cNvSpPr/>
          <p:nvPr/>
        </p:nvSpPr>
        <p:spPr>
          <a:xfrm>
            <a:off x="6487668" y="2542032"/>
            <a:ext cx="548640" cy="548640"/>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487668" y="2542032"/>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2</a:t>
            </a:r>
          </a:p>
        </p:txBody>
      </p:sp>
      <p:sp>
        <p:nvSpPr>
          <p:cNvPr id="16" name="TextBox 15"/>
          <p:cNvSpPr txBox="1"/>
          <p:nvPr/>
        </p:nvSpPr>
        <p:spPr>
          <a:xfrm>
            <a:off x="7219188" y="1911096"/>
            <a:ext cx="3973068" cy="1883664"/>
          </a:xfrm>
          <a:prstGeom prst="rect">
            <a:avLst/>
          </a:prstGeom>
          <a:noFill/>
        </p:spPr>
        <p:txBody>
          <a:bodyPr wrap="square" anchor="ctr">
            <a:spAutoFit/>
          </a:bodyPr>
          <a:lstStyle/>
          <a:p>
            <a:pPr algn="l">
              <a:spcAft>
                <a:spcPts val="300"/>
              </a:spcAft>
            </a:pPr>
            <a:r>
              <a:rPr sz="1700" b="1">
                <a:solidFill>
                  <a:srgbClr val="161B26"/>
                </a:solidFill>
                <a:latin typeface="Arial"/>
              </a:rPr>
              <a:t>Same format</a:t>
            </a:r>
          </a:p>
          <a:p>
            <a:pPr algn="l">
              <a:spcAft>
                <a:spcPts val="300"/>
              </a:spcAft>
            </a:pPr>
            <a:r>
              <a:rPr sz="1300" b="0">
                <a:solidFill>
                  <a:srgbClr val="5B6372"/>
                </a:solidFill>
                <a:latin typeface="Arial"/>
              </a:rPr>
              <a:t>Short-answer knowledge questions in the same style as the Written Assessment.</a:t>
            </a:r>
          </a:p>
        </p:txBody>
      </p:sp>
      <p:sp>
        <p:nvSpPr>
          <p:cNvPr id="17" name="Rectangle 16"/>
          <p:cNvSpPr/>
          <p:nvPr/>
        </p:nvSpPr>
        <p:spPr>
          <a:xfrm>
            <a:off x="777240" y="4087368"/>
            <a:ext cx="5180076" cy="2066544"/>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777240" y="4087368"/>
            <a:ext cx="91440" cy="2066544"/>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Oval 18"/>
          <p:cNvSpPr/>
          <p:nvPr/>
        </p:nvSpPr>
        <p:spPr>
          <a:xfrm>
            <a:off x="1033272" y="4846320"/>
            <a:ext cx="548640" cy="548640"/>
          </a:xfrm>
          <a:prstGeom prst="ellipse">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1033272" y="4846320"/>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3</a:t>
            </a:r>
          </a:p>
        </p:txBody>
      </p:sp>
      <p:sp>
        <p:nvSpPr>
          <p:cNvPr id="21" name="TextBox 20"/>
          <p:cNvSpPr txBox="1"/>
          <p:nvPr/>
        </p:nvSpPr>
        <p:spPr>
          <a:xfrm>
            <a:off x="1764792" y="4215384"/>
            <a:ext cx="3973068" cy="1883664"/>
          </a:xfrm>
          <a:prstGeom prst="rect">
            <a:avLst/>
          </a:prstGeom>
          <a:noFill/>
        </p:spPr>
        <p:txBody>
          <a:bodyPr wrap="square" anchor="ctr">
            <a:spAutoFit/>
          </a:bodyPr>
          <a:lstStyle/>
          <a:p>
            <a:pPr algn="l">
              <a:spcAft>
                <a:spcPts val="300"/>
              </a:spcAft>
            </a:pPr>
            <a:r>
              <a:rPr sz="1700" b="1">
                <a:solidFill>
                  <a:srgbClr val="161B26"/>
                </a:solidFill>
                <a:latin typeface="Arial"/>
              </a:rPr>
              <a:t>Self-marked</a:t>
            </a:r>
          </a:p>
          <a:p>
            <a:pPr algn="l">
              <a:spcAft>
                <a:spcPts val="300"/>
              </a:spcAft>
            </a:pPr>
            <a:r>
              <a:rPr sz="1300" b="0">
                <a:solidFill>
                  <a:srgbClr val="5B6372"/>
                </a:solidFill>
                <a:latin typeface="Arial"/>
              </a:rPr>
              <a:t>Use it to find the topics you need to revisit, not to score yourself.</a:t>
            </a:r>
          </a:p>
        </p:txBody>
      </p:sp>
      <p:sp>
        <p:nvSpPr>
          <p:cNvPr id="22" name="Rectangle 21"/>
          <p:cNvSpPr/>
          <p:nvPr/>
        </p:nvSpPr>
        <p:spPr>
          <a:xfrm>
            <a:off x="6231636" y="4087368"/>
            <a:ext cx="5180076" cy="2066544"/>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ectangle 22"/>
          <p:cNvSpPr/>
          <p:nvPr/>
        </p:nvSpPr>
        <p:spPr>
          <a:xfrm>
            <a:off x="6231636" y="4087368"/>
            <a:ext cx="91440" cy="2066544"/>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Oval 23"/>
          <p:cNvSpPr/>
          <p:nvPr/>
        </p:nvSpPr>
        <p:spPr>
          <a:xfrm>
            <a:off x="6487668" y="4846320"/>
            <a:ext cx="548640" cy="548640"/>
          </a:xfrm>
          <a:prstGeom prst="ellipse">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6487668" y="4846320"/>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4</a:t>
            </a:r>
          </a:p>
        </p:txBody>
      </p:sp>
      <p:sp>
        <p:nvSpPr>
          <p:cNvPr id="26" name="TextBox 25"/>
          <p:cNvSpPr txBox="1"/>
          <p:nvPr/>
        </p:nvSpPr>
        <p:spPr>
          <a:xfrm>
            <a:off x="7219188" y="4215384"/>
            <a:ext cx="3973068" cy="1883664"/>
          </a:xfrm>
          <a:prstGeom prst="rect">
            <a:avLst/>
          </a:prstGeom>
          <a:noFill/>
        </p:spPr>
        <p:txBody>
          <a:bodyPr wrap="square" anchor="ctr">
            <a:spAutoFit/>
          </a:bodyPr>
          <a:lstStyle/>
          <a:p>
            <a:pPr algn="l">
              <a:spcAft>
                <a:spcPts val="300"/>
              </a:spcAft>
            </a:pPr>
            <a:r>
              <a:rPr sz="1700" b="1">
                <a:solidFill>
                  <a:srgbClr val="161B26"/>
                </a:solidFill>
                <a:latin typeface="Arial"/>
              </a:rPr>
              <a:t>Free and unlimited</a:t>
            </a:r>
          </a:p>
          <a:p>
            <a:pPr algn="l">
              <a:spcAft>
                <a:spcPts val="300"/>
              </a:spcAft>
            </a:pPr>
            <a:r>
              <a:rPr sz="1300" b="0">
                <a:solidFill>
                  <a:srgbClr val="5B6372"/>
                </a:solidFill>
                <a:latin typeface="Arial"/>
              </a:rPr>
              <a:t>Attempt it as many times as you like during the course.</a:t>
            </a:r>
          </a:p>
        </p:txBody>
      </p:sp>
      <p:sp>
        <p:nvSpPr>
          <p:cNvPr id="27" name="TextBox 26"/>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Manage AI Agents with Paperclip (TGS-2023036646)  ·  TGS-2023036646</a:t>
            </a:r>
          </a:p>
        </p:txBody>
      </p:sp>
      <p:sp>
        <p:nvSpPr>
          <p:cNvPr id="28" name="TextBox 27"/>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29" name="TextBox 28"/>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17</a:t>
            </a:r>
          </a:p>
        </p:txBody>
      </p:sp>
    </p:spTree>
  </p:cSld>
  <p:clrMapOvr>
    <a:masterClrMapping/>
  </p:clrMapOvr>
  <p:transition spd="fast" advClick="1">
    <p:fade/>
  </p:transition>
</p:sld>
</file>

<file path=ppt/slides/slide1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F59E0B"/>
                </a:solidFill>
                <a:latin typeface="Arial"/>
              </a:rPr>
              <a:t>WSQ FUNDING</a:t>
            </a:r>
          </a:p>
        </p:txBody>
      </p:sp>
      <p:sp>
        <p:nvSpPr>
          <p:cNvPr id="5" name="TextBox 4"/>
          <p:cNvSpPr txBox="1"/>
          <p:nvPr/>
        </p:nvSpPr>
        <p:spPr>
          <a:xfrm>
            <a:off x="777240" y="804672"/>
            <a:ext cx="10881360" cy="713232"/>
          </a:xfrm>
          <a:prstGeom prst="rect">
            <a:avLst/>
          </a:prstGeom>
          <a:noFill/>
        </p:spPr>
        <p:txBody>
          <a:bodyPr wrap="square" anchor="ctr">
            <a:spAutoFit/>
          </a:bodyPr>
          <a:lstStyle/>
          <a:p>
            <a:pPr algn="l">
              <a:spcAft>
                <a:spcPts val="400"/>
              </a:spcAft>
            </a:pPr>
            <a:r>
              <a:rPr sz="2900" b="1">
                <a:solidFill>
                  <a:srgbClr val="161B26"/>
                </a:solidFill>
                <a:latin typeface="Arial"/>
              </a:rPr>
              <a:t>Criteria for Funding</a:t>
            </a:r>
          </a:p>
        </p:txBody>
      </p:sp>
      <p:sp>
        <p:nvSpPr>
          <p:cNvPr id="6" name="Rectangle 5"/>
          <p:cNvSpPr/>
          <p:nvPr/>
        </p:nvSpPr>
        <p:spPr>
          <a:xfrm>
            <a:off x="777240" y="155448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77240" y="1783080"/>
            <a:ext cx="5180076" cy="2066544"/>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777240" y="1783080"/>
            <a:ext cx="91440" cy="2066544"/>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Oval 8"/>
          <p:cNvSpPr/>
          <p:nvPr/>
        </p:nvSpPr>
        <p:spPr>
          <a:xfrm>
            <a:off x="1033272" y="2542032"/>
            <a:ext cx="548640" cy="548640"/>
          </a:xfrm>
          <a:prstGeom prst="ellipse">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1033272" y="2542032"/>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1</a:t>
            </a:r>
          </a:p>
        </p:txBody>
      </p:sp>
      <p:sp>
        <p:nvSpPr>
          <p:cNvPr id="11" name="TextBox 10"/>
          <p:cNvSpPr txBox="1"/>
          <p:nvPr/>
        </p:nvSpPr>
        <p:spPr>
          <a:xfrm>
            <a:off x="1764792" y="1911096"/>
            <a:ext cx="3973068" cy="1883664"/>
          </a:xfrm>
          <a:prstGeom prst="rect">
            <a:avLst/>
          </a:prstGeom>
          <a:noFill/>
        </p:spPr>
        <p:txBody>
          <a:bodyPr wrap="square" anchor="ctr">
            <a:spAutoFit/>
          </a:bodyPr>
          <a:lstStyle/>
          <a:p>
            <a:pPr algn="l">
              <a:spcAft>
                <a:spcPts val="300"/>
              </a:spcAft>
            </a:pPr>
            <a:r>
              <a:rPr sz="1700" b="1">
                <a:solidFill>
                  <a:srgbClr val="161B26"/>
                </a:solidFill>
                <a:latin typeface="Arial"/>
              </a:rPr>
              <a:t>Attendance</a:t>
            </a:r>
          </a:p>
          <a:p>
            <a:pPr algn="l">
              <a:spcAft>
                <a:spcPts val="300"/>
              </a:spcAft>
            </a:pPr>
            <a:r>
              <a:rPr sz="1300" b="0">
                <a:solidFill>
                  <a:srgbClr val="5B6372"/>
                </a:solidFill>
                <a:latin typeface="Arial"/>
              </a:rPr>
              <a:t>A minimum attendance rate of 75%, based on the SSG Digital Attendance record.</a:t>
            </a:r>
          </a:p>
        </p:txBody>
      </p:sp>
      <p:sp>
        <p:nvSpPr>
          <p:cNvPr id="12" name="Rectangle 11"/>
          <p:cNvSpPr/>
          <p:nvPr/>
        </p:nvSpPr>
        <p:spPr>
          <a:xfrm>
            <a:off x="6231636" y="1783080"/>
            <a:ext cx="5180076" cy="2066544"/>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6231636" y="1783080"/>
            <a:ext cx="91440" cy="2066544"/>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Oval 13"/>
          <p:cNvSpPr/>
          <p:nvPr/>
        </p:nvSpPr>
        <p:spPr>
          <a:xfrm>
            <a:off x="6487668" y="2542032"/>
            <a:ext cx="548640" cy="548640"/>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487668" y="2542032"/>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2</a:t>
            </a:r>
          </a:p>
        </p:txBody>
      </p:sp>
      <p:sp>
        <p:nvSpPr>
          <p:cNvPr id="16" name="TextBox 15"/>
          <p:cNvSpPr txBox="1"/>
          <p:nvPr/>
        </p:nvSpPr>
        <p:spPr>
          <a:xfrm>
            <a:off x="7219188" y="1911096"/>
            <a:ext cx="3973068" cy="1883664"/>
          </a:xfrm>
          <a:prstGeom prst="rect">
            <a:avLst/>
          </a:prstGeom>
          <a:noFill/>
        </p:spPr>
        <p:txBody>
          <a:bodyPr wrap="square" anchor="ctr">
            <a:spAutoFit/>
          </a:bodyPr>
          <a:lstStyle/>
          <a:p>
            <a:pPr algn="l">
              <a:spcAft>
                <a:spcPts val="300"/>
              </a:spcAft>
            </a:pPr>
            <a:r>
              <a:rPr sz="1700" b="1">
                <a:solidFill>
                  <a:srgbClr val="161B26"/>
                </a:solidFill>
                <a:latin typeface="Arial"/>
              </a:rPr>
              <a:t>Assessment</a:t>
            </a:r>
          </a:p>
          <a:p>
            <a:pPr algn="l">
              <a:spcAft>
                <a:spcPts val="300"/>
              </a:spcAft>
            </a:pPr>
            <a:r>
              <a:rPr sz="1300" b="0">
                <a:solidFill>
                  <a:srgbClr val="5B6372"/>
                </a:solidFill>
                <a:latin typeface="Arial"/>
              </a:rPr>
              <a:t>Complete both assessment components and be assessed as 'Competent'.</a:t>
            </a:r>
          </a:p>
        </p:txBody>
      </p:sp>
      <p:sp>
        <p:nvSpPr>
          <p:cNvPr id="17" name="Rectangle 16"/>
          <p:cNvSpPr/>
          <p:nvPr/>
        </p:nvSpPr>
        <p:spPr>
          <a:xfrm>
            <a:off x="777240" y="4087368"/>
            <a:ext cx="5180076" cy="2066544"/>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777240" y="4087368"/>
            <a:ext cx="91440" cy="2066544"/>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Oval 18"/>
          <p:cNvSpPr/>
          <p:nvPr/>
        </p:nvSpPr>
        <p:spPr>
          <a:xfrm>
            <a:off x="1033272" y="4846320"/>
            <a:ext cx="548640" cy="548640"/>
          </a:xfrm>
          <a:prstGeom prst="ellipse">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1033272" y="4846320"/>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3</a:t>
            </a:r>
          </a:p>
        </p:txBody>
      </p:sp>
      <p:sp>
        <p:nvSpPr>
          <p:cNvPr id="21" name="TextBox 20"/>
          <p:cNvSpPr txBox="1"/>
          <p:nvPr/>
        </p:nvSpPr>
        <p:spPr>
          <a:xfrm>
            <a:off x="1764792" y="4215384"/>
            <a:ext cx="3973068" cy="1883664"/>
          </a:xfrm>
          <a:prstGeom prst="rect">
            <a:avLst/>
          </a:prstGeom>
          <a:noFill/>
        </p:spPr>
        <p:txBody>
          <a:bodyPr wrap="square" anchor="ctr">
            <a:spAutoFit/>
          </a:bodyPr>
          <a:lstStyle/>
          <a:p>
            <a:pPr algn="l">
              <a:spcAft>
                <a:spcPts val="300"/>
              </a:spcAft>
            </a:pPr>
            <a:r>
              <a:rPr sz="1700" b="1">
                <a:solidFill>
                  <a:srgbClr val="161B26"/>
                </a:solidFill>
                <a:latin typeface="Arial"/>
              </a:rPr>
              <a:t>Digital attendance</a:t>
            </a:r>
          </a:p>
          <a:p>
            <a:pPr algn="l">
              <a:spcAft>
                <a:spcPts val="300"/>
              </a:spcAft>
            </a:pPr>
            <a:r>
              <a:rPr sz="1300" b="0">
                <a:solidFill>
                  <a:srgbClr val="5B6372"/>
                </a:solidFill>
                <a:latin typeface="Arial"/>
              </a:rPr>
              <a:t>Scan the SSG QR code for AM, PM and Assessment on every training day.</a:t>
            </a:r>
          </a:p>
        </p:txBody>
      </p:sp>
      <p:sp>
        <p:nvSpPr>
          <p:cNvPr id="22" name="Rectangle 21"/>
          <p:cNvSpPr/>
          <p:nvPr/>
        </p:nvSpPr>
        <p:spPr>
          <a:xfrm>
            <a:off x="6231636" y="4087368"/>
            <a:ext cx="5180076" cy="2066544"/>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ectangle 22"/>
          <p:cNvSpPr/>
          <p:nvPr/>
        </p:nvSpPr>
        <p:spPr>
          <a:xfrm>
            <a:off x="6231636" y="4087368"/>
            <a:ext cx="91440" cy="2066544"/>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Oval 23"/>
          <p:cNvSpPr/>
          <p:nvPr/>
        </p:nvSpPr>
        <p:spPr>
          <a:xfrm>
            <a:off x="6487668" y="4846320"/>
            <a:ext cx="548640" cy="548640"/>
          </a:xfrm>
          <a:prstGeom prst="ellipse">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6487668" y="4846320"/>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4</a:t>
            </a:r>
          </a:p>
        </p:txBody>
      </p:sp>
      <p:sp>
        <p:nvSpPr>
          <p:cNvPr id="26" name="TextBox 25"/>
          <p:cNvSpPr txBox="1"/>
          <p:nvPr/>
        </p:nvSpPr>
        <p:spPr>
          <a:xfrm>
            <a:off x="7219188" y="4215384"/>
            <a:ext cx="3973068" cy="1883664"/>
          </a:xfrm>
          <a:prstGeom prst="rect">
            <a:avLst/>
          </a:prstGeom>
          <a:noFill/>
        </p:spPr>
        <p:txBody>
          <a:bodyPr wrap="square" anchor="ctr">
            <a:spAutoFit/>
          </a:bodyPr>
          <a:lstStyle/>
          <a:p>
            <a:pPr algn="l">
              <a:spcAft>
                <a:spcPts val="300"/>
              </a:spcAft>
            </a:pPr>
            <a:r>
              <a:rPr sz="1700" b="1">
                <a:solidFill>
                  <a:srgbClr val="161B26"/>
                </a:solidFill>
                <a:latin typeface="Arial"/>
              </a:rPr>
              <a:t>TRAQOM survey</a:t>
            </a:r>
          </a:p>
          <a:p>
            <a:pPr algn="l">
              <a:spcAft>
                <a:spcPts val="300"/>
              </a:spcAft>
            </a:pPr>
            <a:r>
              <a:rPr sz="1300" b="0">
                <a:solidFill>
                  <a:srgbClr val="5B6372"/>
                </a:solidFill>
                <a:latin typeface="Arial"/>
              </a:rPr>
              <a:t>Complete the mandatory TRAQOM course feedback survey on the LMS.</a:t>
            </a:r>
          </a:p>
        </p:txBody>
      </p:sp>
      <p:sp>
        <p:nvSpPr>
          <p:cNvPr id="27" name="TextBox 26"/>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Manage AI Agents with Paperclip (TGS-2023036646)  ·  TGS-2023036646</a:t>
            </a:r>
          </a:p>
        </p:txBody>
      </p:sp>
      <p:sp>
        <p:nvSpPr>
          <p:cNvPr id="28" name="TextBox 27"/>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29" name="TextBox 28"/>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18</a:t>
            </a:r>
          </a:p>
        </p:txBody>
      </p:sp>
    </p:spTree>
  </p:cSld>
  <p:clrMapOvr>
    <a:masterClrMapping/>
  </p:clrMapOvr>
  <p:transition spd="fast" advClick="1">
    <p:fade/>
  </p:transition>
</p:sld>
</file>

<file path=ppt/slides/slide1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10B981"/>
                </a:solidFill>
                <a:latin typeface="Arial"/>
              </a:rPr>
              <a:t>LAB ENVIRONMENT</a:t>
            </a:r>
          </a:p>
        </p:txBody>
      </p:sp>
      <p:sp>
        <p:nvSpPr>
          <p:cNvPr id="5" name="TextBox 4"/>
          <p:cNvSpPr txBox="1"/>
          <p:nvPr/>
        </p:nvSpPr>
        <p:spPr>
          <a:xfrm>
            <a:off x="777240" y="804672"/>
            <a:ext cx="10881360" cy="713232"/>
          </a:xfrm>
          <a:prstGeom prst="rect">
            <a:avLst/>
          </a:prstGeom>
          <a:noFill/>
        </p:spPr>
        <p:txBody>
          <a:bodyPr wrap="square" anchor="ctr">
            <a:spAutoFit/>
          </a:bodyPr>
          <a:lstStyle/>
          <a:p>
            <a:pPr algn="l">
              <a:spcAft>
                <a:spcPts val="400"/>
              </a:spcAft>
            </a:pPr>
            <a:r>
              <a:rPr sz="2900" b="1">
                <a:solidFill>
                  <a:srgbClr val="161B26"/>
                </a:solidFill>
                <a:latin typeface="Arial"/>
              </a:rPr>
              <a:t>Set Up Before We Start</a:t>
            </a:r>
          </a:p>
        </p:txBody>
      </p:sp>
      <p:sp>
        <p:nvSpPr>
          <p:cNvPr id="6" name="Rectangle 5"/>
          <p:cNvSpPr/>
          <p:nvPr/>
        </p:nvSpPr>
        <p:spPr>
          <a:xfrm>
            <a:off x="777240" y="155448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77240" y="1783080"/>
            <a:ext cx="5180076" cy="129844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777240" y="1783080"/>
            <a:ext cx="91440" cy="1298448"/>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Oval 8"/>
          <p:cNvSpPr/>
          <p:nvPr/>
        </p:nvSpPr>
        <p:spPr>
          <a:xfrm>
            <a:off x="1033272" y="2157984"/>
            <a:ext cx="548640" cy="548640"/>
          </a:xfrm>
          <a:prstGeom prst="ellipse">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1033272" y="2157984"/>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1</a:t>
            </a:r>
          </a:p>
        </p:txBody>
      </p:sp>
      <p:sp>
        <p:nvSpPr>
          <p:cNvPr id="11" name="TextBox 10"/>
          <p:cNvSpPr txBox="1"/>
          <p:nvPr/>
        </p:nvSpPr>
        <p:spPr>
          <a:xfrm>
            <a:off x="1764792" y="1911096"/>
            <a:ext cx="3973068" cy="1115568"/>
          </a:xfrm>
          <a:prstGeom prst="rect">
            <a:avLst/>
          </a:prstGeom>
          <a:noFill/>
        </p:spPr>
        <p:txBody>
          <a:bodyPr wrap="square" anchor="ctr">
            <a:spAutoFit/>
          </a:bodyPr>
          <a:lstStyle/>
          <a:p>
            <a:pPr algn="l">
              <a:spcAft>
                <a:spcPts val="300"/>
              </a:spcAft>
            </a:pPr>
            <a:r>
              <a:rPr sz="1600" b="1">
                <a:solidFill>
                  <a:srgbClr val="161B26"/>
                </a:solidFill>
                <a:latin typeface="Arial"/>
              </a:rPr>
              <a:t>Node.js 20 or later</a:t>
            </a:r>
          </a:p>
          <a:p>
            <a:pPr algn="l">
              <a:spcAft>
                <a:spcPts val="300"/>
              </a:spcAft>
            </a:pPr>
            <a:r>
              <a:rPr sz="1200" b="0">
                <a:solidFill>
                  <a:srgbClr val="5B6372"/>
                </a:solidFill>
                <a:latin typeface="Arial"/>
              </a:rPr>
              <a:t>Paperclip requires Node 20+. Check with node --version.</a:t>
            </a:r>
          </a:p>
        </p:txBody>
      </p:sp>
      <p:sp>
        <p:nvSpPr>
          <p:cNvPr id="12" name="Rectangle 11"/>
          <p:cNvSpPr/>
          <p:nvPr/>
        </p:nvSpPr>
        <p:spPr>
          <a:xfrm>
            <a:off x="6231636" y="1783080"/>
            <a:ext cx="5180076" cy="129844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6231636" y="1783080"/>
            <a:ext cx="91440" cy="1298448"/>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Oval 13"/>
          <p:cNvSpPr/>
          <p:nvPr/>
        </p:nvSpPr>
        <p:spPr>
          <a:xfrm>
            <a:off x="6487668" y="2157984"/>
            <a:ext cx="548640" cy="548640"/>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487668" y="2157984"/>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2</a:t>
            </a:r>
          </a:p>
        </p:txBody>
      </p:sp>
      <p:sp>
        <p:nvSpPr>
          <p:cNvPr id="16" name="TextBox 15"/>
          <p:cNvSpPr txBox="1"/>
          <p:nvPr/>
        </p:nvSpPr>
        <p:spPr>
          <a:xfrm>
            <a:off x="7219188" y="1911096"/>
            <a:ext cx="3973068" cy="1115568"/>
          </a:xfrm>
          <a:prstGeom prst="rect">
            <a:avLst/>
          </a:prstGeom>
          <a:noFill/>
        </p:spPr>
        <p:txBody>
          <a:bodyPr wrap="square" anchor="ctr">
            <a:spAutoFit/>
          </a:bodyPr>
          <a:lstStyle/>
          <a:p>
            <a:pPr algn="l">
              <a:spcAft>
                <a:spcPts val="300"/>
              </a:spcAft>
            </a:pPr>
            <a:r>
              <a:rPr sz="1600" b="1">
                <a:solidFill>
                  <a:srgbClr val="161B26"/>
                </a:solidFill>
                <a:latin typeface="Arial"/>
              </a:rPr>
              <a:t>A normal user shell</a:t>
            </a:r>
          </a:p>
          <a:p>
            <a:pPr algn="l">
              <a:spcAft>
                <a:spcPts val="300"/>
              </a:spcAft>
            </a:pPr>
            <a:r>
              <a:rPr sz="1200" b="0">
                <a:solidFill>
                  <a:srgbClr val="5B6372"/>
                </a:solidFill>
                <a:latin typeface="Arial"/>
              </a:rPr>
              <a:t>Never run onboarding from an elevated Administrator or root shell.</a:t>
            </a:r>
          </a:p>
        </p:txBody>
      </p:sp>
      <p:sp>
        <p:nvSpPr>
          <p:cNvPr id="17" name="Rectangle 16"/>
          <p:cNvSpPr/>
          <p:nvPr/>
        </p:nvSpPr>
        <p:spPr>
          <a:xfrm>
            <a:off x="777240" y="3319272"/>
            <a:ext cx="5180076" cy="129844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777240" y="3319272"/>
            <a:ext cx="91440" cy="1298448"/>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Oval 18"/>
          <p:cNvSpPr/>
          <p:nvPr/>
        </p:nvSpPr>
        <p:spPr>
          <a:xfrm>
            <a:off x="1033272" y="3694176"/>
            <a:ext cx="548640" cy="548640"/>
          </a:xfrm>
          <a:prstGeom prst="ellipse">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1033272" y="3694176"/>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3</a:t>
            </a:r>
          </a:p>
        </p:txBody>
      </p:sp>
      <p:sp>
        <p:nvSpPr>
          <p:cNvPr id="21" name="TextBox 20"/>
          <p:cNvSpPr txBox="1"/>
          <p:nvPr/>
        </p:nvSpPr>
        <p:spPr>
          <a:xfrm>
            <a:off x="1764792" y="3447288"/>
            <a:ext cx="3973068" cy="1115568"/>
          </a:xfrm>
          <a:prstGeom prst="rect">
            <a:avLst/>
          </a:prstGeom>
          <a:noFill/>
        </p:spPr>
        <p:txBody>
          <a:bodyPr wrap="square" anchor="ctr">
            <a:spAutoFit/>
          </a:bodyPr>
          <a:lstStyle/>
          <a:p>
            <a:pPr algn="l">
              <a:spcAft>
                <a:spcPts val="300"/>
              </a:spcAft>
            </a:pPr>
            <a:r>
              <a:rPr sz="1600" b="1">
                <a:solidFill>
                  <a:srgbClr val="161B26"/>
                </a:solidFill>
                <a:latin typeface="Arial"/>
              </a:rPr>
              <a:t>An agent runtime</a:t>
            </a:r>
          </a:p>
          <a:p>
            <a:pPr algn="l">
              <a:spcAft>
                <a:spcPts val="300"/>
              </a:spcAft>
            </a:pPr>
            <a:r>
              <a:rPr sz="1200" b="0">
                <a:solidFill>
                  <a:srgbClr val="5B6372"/>
                </a:solidFill>
                <a:latin typeface="Arial"/>
              </a:rPr>
              <a:t>One trainer-approved CLI runtime (e.g. Claude Code, Codex, Gemini CLI).</a:t>
            </a:r>
          </a:p>
        </p:txBody>
      </p:sp>
      <p:sp>
        <p:nvSpPr>
          <p:cNvPr id="22" name="Rectangle 21"/>
          <p:cNvSpPr/>
          <p:nvPr/>
        </p:nvSpPr>
        <p:spPr>
          <a:xfrm>
            <a:off x="6231636" y="3319272"/>
            <a:ext cx="5180076" cy="129844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ectangle 22"/>
          <p:cNvSpPr/>
          <p:nvPr/>
        </p:nvSpPr>
        <p:spPr>
          <a:xfrm>
            <a:off x="6231636" y="3319272"/>
            <a:ext cx="91440" cy="1298448"/>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Oval 23"/>
          <p:cNvSpPr/>
          <p:nvPr/>
        </p:nvSpPr>
        <p:spPr>
          <a:xfrm>
            <a:off x="6487668" y="3694176"/>
            <a:ext cx="548640" cy="548640"/>
          </a:xfrm>
          <a:prstGeom prst="ellipse">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6487668" y="3694176"/>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4</a:t>
            </a:r>
          </a:p>
        </p:txBody>
      </p:sp>
      <p:sp>
        <p:nvSpPr>
          <p:cNvPr id="26" name="TextBox 25"/>
          <p:cNvSpPr txBox="1"/>
          <p:nvPr/>
        </p:nvSpPr>
        <p:spPr>
          <a:xfrm>
            <a:off x="7219188" y="3447288"/>
            <a:ext cx="3973068" cy="1115568"/>
          </a:xfrm>
          <a:prstGeom prst="rect">
            <a:avLst/>
          </a:prstGeom>
          <a:noFill/>
        </p:spPr>
        <p:txBody>
          <a:bodyPr wrap="square" anchor="ctr">
            <a:spAutoFit/>
          </a:bodyPr>
          <a:lstStyle/>
          <a:p>
            <a:pPr algn="l">
              <a:spcAft>
                <a:spcPts val="300"/>
              </a:spcAft>
            </a:pPr>
            <a:r>
              <a:rPr sz="1600" b="1">
                <a:solidFill>
                  <a:srgbClr val="161B26"/>
                </a:solidFill>
                <a:latin typeface="Arial"/>
              </a:rPr>
              <a:t>Git</a:t>
            </a:r>
          </a:p>
          <a:p>
            <a:pPr algn="l">
              <a:spcAft>
                <a:spcPts val="300"/>
              </a:spcAft>
            </a:pPr>
            <a:r>
              <a:rPr sz="1200" b="0">
                <a:solidFill>
                  <a:srgbClr val="5B6372"/>
                </a:solidFill>
                <a:latin typeface="Arial"/>
              </a:rPr>
              <a:t>Used to baseline each agent workspace so every change is a readable diff.</a:t>
            </a:r>
          </a:p>
        </p:txBody>
      </p:sp>
      <p:sp>
        <p:nvSpPr>
          <p:cNvPr id="27" name="Rectangle 26"/>
          <p:cNvSpPr/>
          <p:nvPr/>
        </p:nvSpPr>
        <p:spPr>
          <a:xfrm>
            <a:off x="777240" y="4855464"/>
            <a:ext cx="5180076" cy="129844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Rectangle 27"/>
          <p:cNvSpPr/>
          <p:nvPr/>
        </p:nvSpPr>
        <p:spPr>
          <a:xfrm>
            <a:off x="777240" y="4855464"/>
            <a:ext cx="91440" cy="1298448"/>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Oval 28"/>
          <p:cNvSpPr/>
          <p:nvPr/>
        </p:nvSpPr>
        <p:spPr>
          <a:xfrm>
            <a:off x="1033272" y="5230368"/>
            <a:ext cx="548640" cy="548640"/>
          </a:xfrm>
          <a:prstGeom prst="ellipse">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TextBox 29"/>
          <p:cNvSpPr txBox="1"/>
          <p:nvPr/>
        </p:nvSpPr>
        <p:spPr>
          <a:xfrm>
            <a:off x="1033272" y="5230368"/>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5</a:t>
            </a:r>
          </a:p>
        </p:txBody>
      </p:sp>
      <p:sp>
        <p:nvSpPr>
          <p:cNvPr id="31" name="TextBox 30"/>
          <p:cNvSpPr txBox="1"/>
          <p:nvPr/>
        </p:nvSpPr>
        <p:spPr>
          <a:xfrm>
            <a:off x="1764792" y="4983480"/>
            <a:ext cx="3973068" cy="1115568"/>
          </a:xfrm>
          <a:prstGeom prst="rect">
            <a:avLst/>
          </a:prstGeom>
          <a:noFill/>
        </p:spPr>
        <p:txBody>
          <a:bodyPr wrap="square" anchor="ctr">
            <a:spAutoFit/>
          </a:bodyPr>
          <a:lstStyle/>
          <a:p>
            <a:pPr algn="l">
              <a:spcAft>
                <a:spcPts val="300"/>
              </a:spcAft>
            </a:pPr>
            <a:r>
              <a:rPr sz="1600" b="1">
                <a:solidFill>
                  <a:srgbClr val="161B26"/>
                </a:solidFill>
                <a:latin typeface="Arial"/>
              </a:rPr>
              <a:t>Lab repository</a:t>
            </a:r>
          </a:p>
          <a:p>
            <a:pPr algn="l">
              <a:spcAft>
                <a:spcPts val="300"/>
              </a:spcAft>
            </a:pPr>
            <a:r>
              <a:rPr sz="1200" b="0">
                <a:solidFill>
                  <a:srgbClr val="5B6372"/>
                </a:solidFill>
                <a:latin typeface="Arial"/>
              </a:rPr>
              <a:t>Clone the course labs — the link is on your LMS course page.</a:t>
            </a:r>
          </a:p>
        </p:txBody>
      </p:sp>
      <p:sp>
        <p:nvSpPr>
          <p:cNvPr id="32" name="Rectangle 31"/>
          <p:cNvSpPr/>
          <p:nvPr/>
        </p:nvSpPr>
        <p:spPr>
          <a:xfrm>
            <a:off x="6231636" y="4855464"/>
            <a:ext cx="5180076" cy="129844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Rectangle 32"/>
          <p:cNvSpPr/>
          <p:nvPr/>
        </p:nvSpPr>
        <p:spPr>
          <a:xfrm>
            <a:off x="6231636" y="4855464"/>
            <a:ext cx="91440" cy="1298448"/>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Oval 33"/>
          <p:cNvSpPr/>
          <p:nvPr/>
        </p:nvSpPr>
        <p:spPr>
          <a:xfrm>
            <a:off x="6487668" y="5230368"/>
            <a:ext cx="548640" cy="548640"/>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TextBox 34"/>
          <p:cNvSpPr txBox="1"/>
          <p:nvPr/>
        </p:nvSpPr>
        <p:spPr>
          <a:xfrm>
            <a:off x="6487668" y="5230368"/>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6</a:t>
            </a:r>
          </a:p>
        </p:txBody>
      </p:sp>
      <p:sp>
        <p:nvSpPr>
          <p:cNvPr id="36" name="TextBox 35"/>
          <p:cNvSpPr txBox="1"/>
          <p:nvPr/>
        </p:nvSpPr>
        <p:spPr>
          <a:xfrm>
            <a:off x="7219188" y="4983480"/>
            <a:ext cx="3973068" cy="1115568"/>
          </a:xfrm>
          <a:prstGeom prst="rect">
            <a:avLst/>
          </a:prstGeom>
          <a:noFill/>
        </p:spPr>
        <p:txBody>
          <a:bodyPr wrap="square" anchor="ctr">
            <a:spAutoFit/>
          </a:bodyPr>
          <a:lstStyle/>
          <a:p>
            <a:pPr algn="l">
              <a:spcAft>
                <a:spcPts val="300"/>
              </a:spcAft>
            </a:pPr>
            <a:r>
              <a:rPr sz="1600" b="1">
                <a:solidFill>
                  <a:srgbClr val="161B26"/>
                </a:solidFill>
                <a:latin typeface="Arial"/>
              </a:rPr>
              <a:t>Synthetic data only</a:t>
            </a:r>
          </a:p>
          <a:p>
            <a:pPr algn="l">
              <a:spcAft>
                <a:spcPts val="300"/>
              </a:spcAft>
            </a:pPr>
            <a:r>
              <a:rPr sz="1200" b="0">
                <a:solidFill>
                  <a:srgbClr val="5B6372"/>
                </a:solidFill>
                <a:latin typeface="Arial"/>
              </a:rPr>
              <a:t>All six company data sets are fabricated for training. Never load real company, market or candidate data.</a:t>
            </a:r>
          </a:p>
        </p:txBody>
      </p:sp>
      <p:sp>
        <p:nvSpPr>
          <p:cNvPr id="37" name="TextBox 36"/>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Manage AI Agents with Paperclip (TGS-2023036646)  ·  TGS-2023036646</a:t>
            </a:r>
          </a:p>
        </p:txBody>
      </p:sp>
      <p:sp>
        <p:nvSpPr>
          <p:cNvPr id="38" name="TextBox 37"/>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39" name="TextBox 38"/>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19</a:t>
            </a:r>
          </a:p>
        </p:txBody>
      </p:sp>
    </p:spTree>
  </p:cSld>
  <p:clrMapOvr>
    <a:masterClrMapping/>
  </p:clrMapOvr>
  <p:transition spd="fast" advClick="1">
    <p:fade/>
  </p:transition>
</p:sld>
</file>

<file path=ppt/slides/slide2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685800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777240" y="2286000"/>
            <a:ext cx="128016" cy="182880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1143000" y="2331720"/>
            <a:ext cx="10058400" cy="548640"/>
          </a:xfrm>
          <a:prstGeom prst="rect">
            <a:avLst/>
          </a:prstGeom>
          <a:noFill/>
        </p:spPr>
        <p:txBody>
          <a:bodyPr wrap="square" anchor="t">
            <a:spAutoFit/>
          </a:bodyPr>
          <a:lstStyle/>
          <a:p>
            <a:pPr algn="l">
              <a:spcAft>
                <a:spcPts val="400"/>
              </a:spcAft>
            </a:pPr>
            <a:r>
              <a:rPr sz="1800" b="1">
                <a:solidFill>
                  <a:srgbClr val="1F6FEB"/>
                </a:solidFill>
                <a:latin typeface="Arial"/>
              </a:rPr>
              <a:t>CORE CONCEPTS</a:t>
            </a:r>
          </a:p>
        </p:txBody>
      </p:sp>
      <p:sp>
        <p:nvSpPr>
          <p:cNvPr id="6" name="TextBox 5"/>
          <p:cNvSpPr txBox="1"/>
          <p:nvPr/>
        </p:nvSpPr>
        <p:spPr>
          <a:xfrm>
            <a:off x="1143000" y="2743200"/>
            <a:ext cx="10424160" cy="1463040"/>
          </a:xfrm>
          <a:prstGeom prst="rect">
            <a:avLst/>
          </a:prstGeom>
          <a:noFill/>
        </p:spPr>
        <p:txBody>
          <a:bodyPr wrap="square" anchor="t">
            <a:spAutoFit/>
          </a:bodyPr>
          <a:lstStyle/>
          <a:p>
            <a:pPr algn="l">
              <a:spcAft>
                <a:spcPts val="400"/>
              </a:spcAft>
            </a:pPr>
            <a:r>
              <a:rPr sz="4000" b="1">
                <a:solidFill>
                  <a:srgbClr val="161B26"/>
                </a:solidFill>
                <a:latin typeface="Arial"/>
              </a:rPr>
              <a:t>From a Single Agent to a Managed Agent Company</a:t>
            </a:r>
          </a:p>
        </p:txBody>
      </p:sp>
      <p:sp>
        <p:nvSpPr>
          <p:cNvPr id="7" name="TextBox 6"/>
          <p:cNvSpPr txBox="1"/>
          <p:nvPr/>
        </p:nvSpPr>
        <p:spPr>
          <a:xfrm>
            <a:off x="9144000" y="640080"/>
            <a:ext cx="2560320" cy="1463040"/>
          </a:xfrm>
          <a:prstGeom prst="rect">
            <a:avLst/>
          </a:prstGeom>
          <a:noFill/>
        </p:spPr>
        <p:txBody>
          <a:bodyPr wrap="square" anchor="t">
            <a:spAutoFit/>
          </a:bodyPr>
          <a:lstStyle/>
          <a:p>
            <a:pPr algn="r">
              <a:spcAft>
                <a:spcPts val="400"/>
              </a:spcAft>
            </a:pPr>
            <a:r>
              <a:rPr sz="7200" b="1">
                <a:solidFill>
                  <a:srgbClr val="E2E8F0"/>
                </a:solidFill>
                <a:latin typeface="Arial"/>
              </a:rPr>
              <a:t/>
            </a:r>
          </a:p>
        </p:txBody>
      </p:sp>
      <p:sp>
        <p:nvSpPr>
          <p:cNvPr id="8" name="TextBox 7"/>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Manage AI Agents with Paperclip (TGS-2023036646)  ·  TGS-2023036646</a:t>
            </a:r>
          </a:p>
        </p:txBody>
      </p:sp>
      <p:sp>
        <p:nvSpPr>
          <p:cNvPr id="9" name="TextBox 8"/>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10" name="TextBox 9"/>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20</a:t>
            </a:r>
          </a:p>
        </p:txBody>
      </p:sp>
    </p:spTree>
  </p:cSld>
  <p:clrMapOvr>
    <a:masterClrMapping/>
  </p:clrMapOvr>
  <p:transition spd="med" advClick="1">
    <p:push dir="l"/>
  </p:transition>
</p:sld>
</file>

<file path=ppt/slides/slide2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7C3AED"/>
                </a:solidFill>
                <a:latin typeface="Arial"/>
              </a:rPr>
              <a:t>THE SIX INGREDIENTS</a:t>
            </a:r>
          </a:p>
        </p:txBody>
      </p:sp>
      <p:sp>
        <p:nvSpPr>
          <p:cNvPr id="5" name="TextBox 4"/>
          <p:cNvSpPr txBox="1"/>
          <p:nvPr/>
        </p:nvSpPr>
        <p:spPr>
          <a:xfrm>
            <a:off x="777240" y="804672"/>
            <a:ext cx="10881360" cy="713232"/>
          </a:xfrm>
          <a:prstGeom prst="rect">
            <a:avLst/>
          </a:prstGeom>
          <a:noFill/>
        </p:spPr>
        <p:txBody>
          <a:bodyPr wrap="square" anchor="ctr">
            <a:spAutoFit/>
          </a:bodyPr>
          <a:lstStyle/>
          <a:p>
            <a:pPr algn="l">
              <a:spcAft>
                <a:spcPts val="400"/>
              </a:spcAft>
            </a:pPr>
            <a:r>
              <a:rPr sz="2900" b="1">
                <a:solidFill>
                  <a:srgbClr val="161B26"/>
                </a:solidFill>
                <a:latin typeface="Arial"/>
              </a:rPr>
              <a:t>What Makes a System 'Agentic'?</a:t>
            </a:r>
          </a:p>
        </p:txBody>
      </p:sp>
      <p:sp>
        <p:nvSpPr>
          <p:cNvPr id="6" name="Rectangle 5"/>
          <p:cNvSpPr/>
          <p:nvPr/>
        </p:nvSpPr>
        <p:spPr>
          <a:xfrm>
            <a:off x="777240" y="155448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77240" y="1783080"/>
            <a:ext cx="5180076" cy="129844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777240" y="1783080"/>
            <a:ext cx="91440" cy="1298448"/>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Oval 8"/>
          <p:cNvSpPr/>
          <p:nvPr/>
        </p:nvSpPr>
        <p:spPr>
          <a:xfrm>
            <a:off x="1033272" y="2157984"/>
            <a:ext cx="548640" cy="548640"/>
          </a:xfrm>
          <a:prstGeom prst="ellipse">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1033272" y="2157984"/>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1</a:t>
            </a:r>
          </a:p>
        </p:txBody>
      </p:sp>
      <p:sp>
        <p:nvSpPr>
          <p:cNvPr id="11" name="TextBox 10"/>
          <p:cNvSpPr txBox="1"/>
          <p:nvPr/>
        </p:nvSpPr>
        <p:spPr>
          <a:xfrm>
            <a:off x="1764792" y="1911096"/>
            <a:ext cx="3973068" cy="1115568"/>
          </a:xfrm>
          <a:prstGeom prst="rect">
            <a:avLst/>
          </a:prstGeom>
          <a:noFill/>
        </p:spPr>
        <p:txBody>
          <a:bodyPr wrap="square" anchor="ctr">
            <a:spAutoFit/>
          </a:bodyPr>
          <a:lstStyle/>
          <a:p>
            <a:pPr algn="l">
              <a:spcAft>
                <a:spcPts val="300"/>
              </a:spcAft>
            </a:pPr>
            <a:r>
              <a:rPr sz="1600" b="1">
                <a:solidFill>
                  <a:srgbClr val="161B26"/>
                </a:solidFill>
                <a:latin typeface="Arial"/>
              </a:rPr>
              <a:t>Reasoning</a:t>
            </a:r>
          </a:p>
          <a:p>
            <a:pPr algn="l">
              <a:spcAft>
                <a:spcPts val="300"/>
              </a:spcAft>
            </a:pPr>
            <a:r>
              <a:rPr sz="1200" b="0">
                <a:solidFill>
                  <a:srgbClr val="5B6372"/>
                </a:solidFill>
                <a:latin typeface="Arial"/>
              </a:rPr>
              <a:t>The model plans a sequence of steps instead of answering in one shot.</a:t>
            </a:r>
          </a:p>
        </p:txBody>
      </p:sp>
      <p:sp>
        <p:nvSpPr>
          <p:cNvPr id="12" name="Rectangle 11"/>
          <p:cNvSpPr/>
          <p:nvPr/>
        </p:nvSpPr>
        <p:spPr>
          <a:xfrm>
            <a:off x="6231636" y="1783080"/>
            <a:ext cx="5180076" cy="129844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6231636" y="1783080"/>
            <a:ext cx="91440" cy="1298448"/>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Oval 13"/>
          <p:cNvSpPr/>
          <p:nvPr/>
        </p:nvSpPr>
        <p:spPr>
          <a:xfrm>
            <a:off x="6487668" y="2157984"/>
            <a:ext cx="548640" cy="548640"/>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487668" y="2157984"/>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2</a:t>
            </a:r>
          </a:p>
        </p:txBody>
      </p:sp>
      <p:sp>
        <p:nvSpPr>
          <p:cNvPr id="16" name="TextBox 15"/>
          <p:cNvSpPr txBox="1"/>
          <p:nvPr/>
        </p:nvSpPr>
        <p:spPr>
          <a:xfrm>
            <a:off x="7219188" y="1911096"/>
            <a:ext cx="3973068" cy="1115568"/>
          </a:xfrm>
          <a:prstGeom prst="rect">
            <a:avLst/>
          </a:prstGeom>
          <a:noFill/>
        </p:spPr>
        <p:txBody>
          <a:bodyPr wrap="square" anchor="ctr">
            <a:spAutoFit/>
          </a:bodyPr>
          <a:lstStyle/>
          <a:p>
            <a:pPr algn="l">
              <a:spcAft>
                <a:spcPts val="300"/>
              </a:spcAft>
            </a:pPr>
            <a:r>
              <a:rPr sz="1600" b="1">
                <a:solidFill>
                  <a:srgbClr val="161B26"/>
                </a:solidFill>
                <a:latin typeface="Arial"/>
              </a:rPr>
              <a:t>Tool use</a:t>
            </a:r>
          </a:p>
          <a:p>
            <a:pPr algn="l">
              <a:spcAft>
                <a:spcPts val="300"/>
              </a:spcAft>
            </a:pPr>
            <a:r>
              <a:rPr sz="1200" b="0">
                <a:solidFill>
                  <a:srgbClr val="5B6372"/>
                </a:solidFill>
                <a:latin typeface="Arial"/>
              </a:rPr>
              <a:t>It calls functions, CLIs and APIs to fetch live data or take real actions.</a:t>
            </a:r>
          </a:p>
        </p:txBody>
      </p:sp>
      <p:sp>
        <p:nvSpPr>
          <p:cNvPr id="17" name="Rectangle 16"/>
          <p:cNvSpPr/>
          <p:nvPr/>
        </p:nvSpPr>
        <p:spPr>
          <a:xfrm>
            <a:off x="777240" y="3319272"/>
            <a:ext cx="5180076" cy="129844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777240" y="3319272"/>
            <a:ext cx="91440" cy="1298448"/>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Oval 18"/>
          <p:cNvSpPr/>
          <p:nvPr/>
        </p:nvSpPr>
        <p:spPr>
          <a:xfrm>
            <a:off x="1033272" y="3694176"/>
            <a:ext cx="548640" cy="548640"/>
          </a:xfrm>
          <a:prstGeom prst="ellipse">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1033272" y="3694176"/>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3</a:t>
            </a:r>
          </a:p>
        </p:txBody>
      </p:sp>
      <p:sp>
        <p:nvSpPr>
          <p:cNvPr id="21" name="TextBox 20"/>
          <p:cNvSpPr txBox="1"/>
          <p:nvPr/>
        </p:nvSpPr>
        <p:spPr>
          <a:xfrm>
            <a:off x="1764792" y="3447288"/>
            <a:ext cx="3973068" cy="1115568"/>
          </a:xfrm>
          <a:prstGeom prst="rect">
            <a:avLst/>
          </a:prstGeom>
          <a:noFill/>
        </p:spPr>
        <p:txBody>
          <a:bodyPr wrap="square" anchor="ctr">
            <a:spAutoFit/>
          </a:bodyPr>
          <a:lstStyle/>
          <a:p>
            <a:pPr algn="l">
              <a:spcAft>
                <a:spcPts val="300"/>
              </a:spcAft>
            </a:pPr>
            <a:r>
              <a:rPr sz="1600" b="1">
                <a:solidFill>
                  <a:srgbClr val="161B26"/>
                </a:solidFill>
                <a:latin typeface="Arial"/>
              </a:rPr>
              <a:t>Memory</a:t>
            </a:r>
          </a:p>
          <a:p>
            <a:pPr algn="l">
              <a:spcAft>
                <a:spcPts val="300"/>
              </a:spcAft>
            </a:pPr>
            <a:r>
              <a:rPr sz="1200" b="0">
                <a:solidFill>
                  <a:srgbClr val="5B6372"/>
                </a:solidFill>
                <a:latin typeface="Arial"/>
              </a:rPr>
              <a:t>State carries context across turns — and, in Paperclip, across heartbeats.</a:t>
            </a:r>
          </a:p>
        </p:txBody>
      </p:sp>
      <p:sp>
        <p:nvSpPr>
          <p:cNvPr id="22" name="Rectangle 21"/>
          <p:cNvSpPr/>
          <p:nvPr/>
        </p:nvSpPr>
        <p:spPr>
          <a:xfrm>
            <a:off x="6231636" y="3319272"/>
            <a:ext cx="5180076" cy="129844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ectangle 22"/>
          <p:cNvSpPr/>
          <p:nvPr/>
        </p:nvSpPr>
        <p:spPr>
          <a:xfrm>
            <a:off x="6231636" y="3319272"/>
            <a:ext cx="91440" cy="1298448"/>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Oval 23"/>
          <p:cNvSpPr/>
          <p:nvPr/>
        </p:nvSpPr>
        <p:spPr>
          <a:xfrm>
            <a:off x="6487668" y="3694176"/>
            <a:ext cx="548640" cy="548640"/>
          </a:xfrm>
          <a:prstGeom prst="ellipse">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6487668" y="3694176"/>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4</a:t>
            </a:r>
          </a:p>
        </p:txBody>
      </p:sp>
      <p:sp>
        <p:nvSpPr>
          <p:cNvPr id="26" name="TextBox 25"/>
          <p:cNvSpPr txBox="1"/>
          <p:nvPr/>
        </p:nvSpPr>
        <p:spPr>
          <a:xfrm>
            <a:off x="7219188" y="3447288"/>
            <a:ext cx="3973068" cy="1115568"/>
          </a:xfrm>
          <a:prstGeom prst="rect">
            <a:avLst/>
          </a:prstGeom>
          <a:noFill/>
        </p:spPr>
        <p:txBody>
          <a:bodyPr wrap="square" anchor="ctr">
            <a:spAutoFit/>
          </a:bodyPr>
          <a:lstStyle/>
          <a:p>
            <a:pPr algn="l">
              <a:spcAft>
                <a:spcPts val="300"/>
              </a:spcAft>
            </a:pPr>
            <a:r>
              <a:rPr sz="1600" b="1">
                <a:solidFill>
                  <a:srgbClr val="161B26"/>
                </a:solidFill>
                <a:latin typeface="Arial"/>
              </a:rPr>
              <a:t>Autonomy</a:t>
            </a:r>
          </a:p>
          <a:p>
            <a:pPr algn="l">
              <a:spcAft>
                <a:spcPts val="300"/>
              </a:spcAft>
            </a:pPr>
            <a:r>
              <a:rPr sz="1200" b="0">
                <a:solidFill>
                  <a:srgbClr val="5B6372"/>
                </a:solidFill>
                <a:latin typeface="Arial"/>
              </a:rPr>
              <a:t>It decides which tool to use and when the work is actually finished.</a:t>
            </a:r>
          </a:p>
        </p:txBody>
      </p:sp>
      <p:sp>
        <p:nvSpPr>
          <p:cNvPr id="27" name="Rectangle 26"/>
          <p:cNvSpPr/>
          <p:nvPr/>
        </p:nvSpPr>
        <p:spPr>
          <a:xfrm>
            <a:off x="777240" y="4855464"/>
            <a:ext cx="5180076" cy="129844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Rectangle 27"/>
          <p:cNvSpPr/>
          <p:nvPr/>
        </p:nvSpPr>
        <p:spPr>
          <a:xfrm>
            <a:off x="777240" y="4855464"/>
            <a:ext cx="91440" cy="1298448"/>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Oval 28"/>
          <p:cNvSpPr/>
          <p:nvPr/>
        </p:nvSpPr>
        <p:spPr>
          <a:xfrm>
            <a:off x="1033272" y="5230368"/>
            <a:ext cx="548640" cy="548640"/>
          </a:xfrm>
          <a:prstGeom prst="ellipse">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TextBox 29"/>
          <p:cNvSpPr txBox="1"/>
          <p:nvPr/>
        </p:nvSpPr>
        <p:spPr>
          <a:xfrm>
            <a:off x="1033272" y="5230368"/>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5</a:t>
            </a:r>
          </a:p>
        </p:txBody>
      </p:sp>
      <p:sp>
        <p:nvSpPr>
          <p:cNvPr id="31" name="TextBox 30"/>
          <p:cNvSpPr txBox="1"/>
          <p:nvPr/>
        </p:nvSpPr>
        <p:spPr>
          <a:xfrm>
            <a:off x="1764792" y="4983480"/>
            <a:ext cx="3973068" cy="1115568"/>
          </a:xfrm>
          <a:prstGeom prst="rect">
            <a:avLst/>
          </a:prstGeom>
          <a:noFill/>
        </p:spPr>
        <p:txBody>
          <a:bodyPr wrap="square" anchor="ctr">
            <a:spAutoFit/>
          </a:bodyPr>
          <a:lstStyle/>
          <a:p>
            <a:pPr algn="l">
              <a:spcAft>
                <a:spcPts val="300"/>
              </a:spcAft>
            </a:pPr>
            <a:r>
              <a:rPr sz="1600" b="1">
                <a:solidFill>
                  <a:srgbClr val="161B26"/>
                </a:solidFill>
                <a:latin typeface="Arial"/>
              </a:rPr>
              <a:t>Collaboration</a:t>
            </a:r>
          </a:p>
          <a:p>
            <a:pPr algn="l">
              <a:spcAft>
                <a:spcPts val="300"/>
              </a:spcAft>
            </a:pPr>
            <a:r>
              <a:rPr sz="1200" b="0">
                <a:solidFill>
                  <a:srgbClr val="5B6372"/>
                </a:solidFill>
                <a:latin typeface="Arial"/>
              </a:rPr>
              <a:t>Several specialised agents divide the work and hand off between themselves.</a:t>
            </a:r>
          </a:p>
        </p:txBody>
      </p:sp>
      <p:sp>
        <p:nvSpPr>
          <p:cNvPr id="32" name="Rectangle 31"/>
          <p:cNvSpPr/>
          <p:nvPr/>
        </p:nvSpPr>
        <p:spPr>
          <a:xfrm>
            <a:off x="6231636" y="4855464"/>
            <a:ext cx="5180076" cy="129844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Rectangle 32"/>
          <p:cNvSpPr/>
          <p:nvPr/>
        </p:nvSpPr>
        <p:spPr>
          <a:xfrm>
            <a:off x="6231636" y="4855464"/>
            <a:ext cx="91440" cy="1298448"/>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Oval 33"/>
          <p:cNvSpPr/>
          <p:nvPr/>
        </p:nvSpPr>
        <p:spPr>
          <a:xfrm>
            <a:off x="6487668" y="5230368"/>
            <a:ext cx="548640" cy="548640"/>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TextBox 34"/>
          <p:cNvSpPr txBox="1"/>
          <p:nvPr/>
        </p:nvSpPr>
        <p:spPr>
          <a:xfrm>
            <a:off x="6487668" y="5230368"/>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6</a:t>
            </a:r>
          </a:p>
        </p:txBody>
      </p:sp>
      <p:sp>
        <p:nvSpPr>
          <p:cNvPr id="36" name="TextBox 35"/>
          <p:cNvSpPr txBox="1"/>
          <p:nvPr/>
        </p:nvSpPr>
        <p:spPr>
          <a:xfrm>
            <a:off x="7219188" y="4983480"/>
            <a:ext cx="3973068" cy="1115568"/>
          </a:xfrm>
          <a:prstGeom prst="rect">
            <a:avLst/>
          </a:prstGeom>
          <a:noFill/>
        </p:spPr>
        <p:txBody>
          <a:bodyPr wrap="square" anchor="ctr">
            <a:spAutoFit/>
          </a:bodyPr>
          <a:lstStyle/>
          <a:p>
            <a:pPr algn="l">
              <a:spcAft>
                <a:spcPts val="300"/>
              </a:spcAft>
            </a:pPr>
            <a:r>
              <a:rPr sz="1600" b="1">
                <a:solidFill>
                  <a:srgbClr val="161B26"/>
                </a:solidFill>
                <a:latin typeface="Arial"/>
              </a:rPr>
              <a:t>Guardrails</a:t>
            </a:r>
          </a:p>
          <a:p>
            <a:pPr algn="l">
              <a:spcAft>
                <a:spcPts val="300"/>
              </a:spcAft>
            </a:pPr>
            <a:r>
              <a:rPr sz="1200" b="0">
                <a:solidFill>
                  <a:srgbClr val="5B6372"/>
                </a:solidFill>
                <a:latin typeface="Arial"/>
              </a:rPr>
              <a:t>Policies, budgets and approvals constrain what the agent may do.</a:t>
            </a:r>
          </a:p>
        </p:txBody>
      </p:sp>
      <p:sp>
        <p:nvSpPr>
          <p:cNvPr id="37" name="TextBox 36"/>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Manage AI Agents with Paperclip (TGS-2023036646)  ·  TGS-2023036646</a:t>
            </a:r>
          </a:p>
        </p:txBody>
      </p:sp>
      <p:sp>
        <p:nvSpPr>
          <p:cNvPr id="38" name="TextBox 37"/>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39" name="TextBox 38"/>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21</a:t>
            </a:r>
          </a:p>
        </p:txBody>
      </p:sp>
    </p:spTree>
  </p:cSld>
  <p:clrMapOvr>
    <a:masterClrMapping/>
  </p:clrMapOvr>
  <p:transition spd="fast" advClick="1">
    <p:fade/>
  </p:transition>
</p:sld>
</file>

<file path=ppt/slides/slide2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685800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1005840" y="2011680"/>
            <a:ext cx="10058400" cy="457200"/>
          </a:xfrm>
          <a:prstGeom prst="rect">
            <a:avLst/>
          </a:prstGeom>
          <a:noFill/>
        </p:spPr>
        <p:txBody>
          <a:bodyPr wrap="square" anchor="t">
            <a:spAutoFit/>
          </a:bodyPr>
          <a:lstStyle/>
          <a:p>
            <a:pPr algn="l">
              <a:spcAft>
                <a:spcPts val="400"/>
              </a:spcAft>
            </a:pPr>
            <a:r>
              <a:rPr sz="1600" b="1">
                <a:solidFill>
                  <a:srgbClr val="1F6FEB"/>
                </a:solidFill>
                <a:latin typeface="Arial"/>
              </a:rPr>
              <a:t>WHY A CONTROL PLANE</a:t>
            </a:r>
          </a:p>
        </p:txBody>
      </p:sp>
      <p:sp>
        <p:nvSpPr>
          <p:cNvPr id="5" name="TextBox 4"/>
          <p:cNvSpPr txBox="1"/>
          <p:nvPr/>
        </p:nvSpPr>
        <p:spPr>
          <a:xfrm>
            <a:off x="1005840" y="2560320"/>
            <a:ext cx="10332720" cy="2194560"/>
          </a:xfrm>
          <a:prstGeom prst="rect">
            <a:avLst/>
          </a:prstGeom>
          <a:noFill/>
        </p:spPr>
        <p:txBody>
          <a:bodyPr wrap="square" anchor="t">
            <a:spAutoFit/>
          </a:bodyPr>
          <a:lstStyle/>
          <a:p>
            <a:pPr algn="l">
              <a:spcAft>
                <a:spcPts val="400"/>
              </a:spcAft>
            </a:pPr>
            <a:r>
              <a:rPr sz="3800" b="1">
                <a:solidFill>
                  <a:srgbClr val="161B26"/>
                </a:solidFill>
                <a:latin typeface="Arial"/>
              </a:rPr>
              <a:t>An LLM answers. An agent acts. A company coordinates.</a:t>
            </a:r>
          </a:p>
        </p:txBody>
      </p:sp>
      <p:sp>
        <p:nvSpPr>
          <p:cNvPr id="6" name="TextBox 5"/>
          <p:cNvSpPr txBox="1"/>
          <p:nvPr/>
        </p:nvSpPr>
        <p:spPr>
          <a:xfrm>
            <a:off x="1024128" y="4480560"/>
            <a:ext cx="10058400" cy="1097280"/>
          </a:xfrm>
          <a:prstGeom prst="rect">
            <a:avLst/>
          </a:prstGeom>
          <a:noFill/>
        </p:spPr>
        <p:txBody>
          <a:bodyPr wrap="square" anchor="t">
            <a:spAutoFit/>
          </a:bodyPr>
          <a:lstStyle/>
          <a:p>
            <a:pPr algn="l">
              <a:spcAft>
                <a:spcPts val="400"/>
              </a:spcAft>
            </a:pPr>
            <a:r>
              <a:rPr sz="2000" b="0">
                <a:solidFill>
                  <a:srgbClr val="5B6372"/>
                </a:solidFill>
                <a:latin typeface="Arial"/>
              </a:rPr>
              <a:t>Paperclip is the third layer — it does not make your agents smarter, it makes a team of them accountable.</a:t>
            </a:r>
          </a:p>
        </p:txBody>
      </p:sp>
      <p:sp>
        <p:nvSpPr>
          <p:cNvPr id="7" name="TextBox 6"/>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Manage AI Agents with Paperclip (TGS-2023036646)  ·  TGS-2023036646</a:t>
            </a:r>
          </a:p>
        </p:txBody>
      </p:sp>
      <p:sp>
        <p:nvSpPr>
          <p:cNvPr id="8" name="TextBox 7"/>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9" name="TextBox 8"/>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22</a:t>
            </a:r>
          </a:p>
        </p:txBody>
      </p:sp>
    </p:spTree>
  </p:cSld>
  <p:clrMapOvr>
    <a:masterClrMapping/>
  </p:clrMapOvr>
  <p:transition spd="fast" advClick="1">
    <p:fade/>
  </p:transition>
</p:sld>
</file>

<file path=ppt/slides/slide2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1F6FEB"/>
                </a:solidFill>
                <a:latin typeface="Arial"/>
              </a:rPr>
              <a:t>LO1 · ORCHESTRATE, DO NOT REPLACE, THE RUNTIME</a:t>
            </a:r>
          </a:p>
        </p:txBody>
      </p:sp>
      <p:sp>
        <p:nvSpPr>
          <p:cNvPr id="5" name="TextBox 4"/>
          <p:cNvSpPr txBox="1"/>
          <p:nvPr/>
        </p:nvSpPr>
        <p:spPr>
          <a:xfrm>
            <a:off x="777240" y="804672"/>
            <a:ext cx="10881360" cy="713232"/>
          </a:xfrm>
          <a:prstGeom prst="rect">
            <a:avLst/>
          </a:prstGeom>
          <a:noFill/>
        </p:spPr>
        <p:txBody>
          <a:bodyPr wrap="square" anchor="ctr">
            <a:spAutoFit/>
          </a:bodyPr>
          <a:lstStyle/>
          <a:p>
            <a:pPr algn="l">
              <a:spcAft>
                <a:spcPts val="400"/>
              </a:spcAft>
            </a:pPr>
            <a:r>
              <a:rPr sz="2900" b="1">
                <a:solidFill>
                  <a:srgbClr val="161B26"/>
                </a:solidFill>
                <a:latin typeface="Arial"/>
              </a:rPr>
              <a:t>Paperclip Control-Plane Architecture</a:t>
            </a:r>
          </a:p>
        </p:txBody>
      </p:sp>
      <p:sp>
        <p:nvSpPr>
          <p:cNvPr id="6" name="Rectangle 5"/>
          <p:cNvSpPr/>
          <p:nvPr/>
        </p:nvSpPr>
        <p:spPr>
          <a:xfrm>
            <a:off x="777240" y="155448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7" name="Picture 6" descr="arch-control-plane.png"/>
          <p:cNvPicPr>
            <a:picLocks noChangeAspect="1"/>
          </p:cNvPicPr>
          <p:nvPr/>
        </p:nvPicPr>
        <p:blipFill>
          <a:blip r:embed="rId2"/>
          <a:stretch>
            <a:fillRect/>
          </a:stretch>
        </p:blipFill>
        <p:spPr>
          <a:xfrm>
            <a:off x="777240" y="2084656"/>
            <a:ext cx="6812280" cy="3676240"/>
          </a:xfrm>
          <a:prstGeom prst="rect">
            <a:avLst/>
          </a:prstGeom>
        </p:spPr>
      </p:pic>
      <p:sp>
        <p:nvSpPr>
          <p:cNvPr id="8" name="Rectangle 7"/>
          <p:cNvSpPr/>
          <p:nvPr/>
        </p:nvSpPr>
        <p:spPr>
          <a:xfrm>
            <a:off x="7882127" y="1810512"/>
            <a:ext cx="3529584" cy="987552"/>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7882127" y="1810512"/>
            <a:ext cx="3529584" cy="82296"/>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8083295" y="1975104"/>
            <a:ext cx="3127248" cy="310896"/>
          </a:xfrm>
          <a:prstGeom prst="rect">
            <a:avLst/>
          </a:prstGeom>
          <a:noFill/>
        </p:spPr>
        <p:txBody>
          <a:bodyPr wrap="square" anchor="t">
            <a:spAutoFit/>
          </a:bodyPr>
          <a:lstStyle/>
          <a:p>
            <a:pPr algn="l">
              <a:spcAft>
                <a:spcPts val="400"/>
              </a:spcAft>
            </a:pPr>
            <a:r>
              <a:rPr sz="1350" b="1">
                <a:solidFill>
                  <a:srgbClr val="1F6FEB"/>
                </a:solidFill>
                <a:latin typeface="Arial"/>
              </a:rPr>
              <a:t>Board · you</a:t>
            </a:r>
          </a:p>
        </p:txBody>
      </p:sp>
      <p:sp>
        <p:nvSpPr>
          <p:cNvPr id="11" name="TextBox 10"/>
          <p:cNvSpPr txBox="1"/>
          <p:nvPr/>
        </p:nvSpPr>
        <p:spPr>
          <a:xfrm>
            <a:off x="8083295" y="2322576"/>
            <a:ext cx="3127248" cy="384048"/>
          </a:xfrm>
          <a:prstGeom prst="rect">
            <a:avLst/>
          </a:prstGeom>
          <a:noFill/>
        </p:spPr>
        <p:txBody>
          <a:bodyPr wrap="square" anchor="t">
            <a:spAutoFit/>
          </a:bodyPr>
          <a:lstStyle/>
          <a:p>
            <a:pPr algn="l">
              <a:spcAft>
                <a:spcPts val="400"/>
              </a:spcAft>
            </a:pPr>
            <a:r>
              <a:rPr sz="900" b="0">
                <a:solidFill>
                  <a:srgbClr val="161B26"/>
                </a:solidFill>
                <a:latin typeface="Arial"/>
              </a:rPr>
              <a:t>You set direction, approve governed actions and intervene. Authority never leaves the human.</a:t>
            </a:r>
          </a:p>
        </p:txBody>
      </p:sp>
      <p:sp>
        <p:nvSpPr>
          <p:cNvPr id="12" name="Rectangle 11"/>
          <p:cNvSpPr/>
          <p:nvPr/>
        </p:nvSpPr>
        <p:spPr>
          <a:xfrm>
            <a:off x="7882127" y="2944368"/>
            <a:ext cx="3529584" cy="1133856"/>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7882127" y="2944368"/>
            <a:ext cx="3529584" cy="82296"/>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8083295" y="3108960"/>
            <a:ext cx="3127248" cy="310896"/>
          </a:xfrm>
          <a:prstGeom prst="rect">
            <a:avLst/>
          </a:prstGeom>
          <a:noFill/>
        </p:spPr>
        <p:txBody>
          <a:bodyPr wrap="square" anchor="t">
            <a:spAutoFit/>
          </a:bodyPr>
          <a:lstStyle/>
          <a:p>
            <a:pPr algn="l">
              <a:spcAft>
                <a:spcPts val="400"/>
              </a:spcAft>
            </a:pPr>
            <a:r>
              <a:rPr sz="1350" b="1">
                <a:solidFill>
                  <a:srgbClr val="10B981"/>
                </a:solidFill>
                <a:latin typeface="Arial"/>
              </a:rPr>
              <a:t>The control plane</a:t>
            </a:r>
          </a:p>
        </p:txBody>
      </p:sp>
      <p:sp>
        <p:nvSpPr>
          <p:cNvPr id="15" name="TextBox 14"/>
          <p:cNvSpPr txBox="1"/>
          <p:nvPr/>
        </p:nvSpPr>
        <p:spPr>
          <a:xfrm>
            <a:off x="8083295" y="3456432"/>
            <a:ext cx="3127248" cy="530352"/>
          </a:xfrm>
          <a:prstGeom prst="rect">
            <a:avLst/>
          </a:prstGeom>
          <a:noFill/>
        </p:spPr>
        <p:txBody>
          <a:bodyPr wrap="square" anchor="t">
            <a:spAutoFit/>
          </a:bodyPr>
          <a:lstStyle/>
          <a:p>
            <a:pPr algn="l">
              <a:spcAft>
                <a:spcPts val="400"/>
              </a:spcAft>
            </a:pPr>
            <a:r>
              <a:rPr sz="900" b="0">
                <a:solidFill>
                  <a:srgbClr val="161B26"/>
                </a:solidFill>
                <a:latin typeface="Arial"/>
              </a:rPr>
              <a:t>Stores companies, org charts, issues, budgets, secrets and the audit trail. Node.js + React on port 3100.</a:t>
            </a:r>
          </a:p>
        </p:txBody>
      </p:sp>
      <p:sp>
        <p:nvSpPr>
          <p:cNvPr id="16" name="Rectangle 15"/>
          <p:cNvSpPr/>
          <p:nvPr/>
        </p:nvSpPr>
        <p:spPr>
          <a:xfrm>
            <a:off x="7882127" y="4224528"/>
            <a:ext cx="3529584" cy="987552"/>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7882127" y="4224528"/>
            <a:ext cx="3529584" cy="82296"/>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8083295" y="4389120"/>
            <a:ext cx="3127248" cy="310896"/>
          </a:xfrm>
          <a:prstGeom prst="rect">
            <a:avLst/>
          </a:prstGeom>
          <a:noFill/>
        </p:spPr>
        <p:txBody>
          <a:bodyPr wrap="square" anchor="t">
            <a:spAutoFit/>
          </a:bodyPr>
          <a:lstStyle/>
          <a:p>
            <a:pPr algn="l">
              <a:spcAft>
                <a:spcPts val="400"/>
              </a:spcAft>
            </a:pPr>
            <a:r>
              <a:rPr sz="1350" b="1">
                <a:solidFill>
                  <a:srgbClr val="7C3AED"/>
                </a:solidFill>
                <a:latin typeface="Arial"/>
              </a:rPr>
              <a:t>The adapters</a:t>
            </a:r>
          </a:p>
        </p:txBody>
      </p:sp>
      <p:sp>
        <p:nvSpPr>
          <p:cNvPr id="19" name="TextBox 18"/>
          <p:cNvSpPr txBox="1"/>
          <p:nvPr/>
        </p:nvSpPr>
        <p:spPr>
          <a:xfrm>
            <a:off x="8083295" y="4736592"/>
            <a:ext cx="3127248" cy="384048"/>
          </a:xfrm>
          <a:prstGeom prst="rect">
            <a:avLst/>
          </a:prstGeom>
          <a:noFill/>
        </p:spPr>
        <p:txBody>
          <a:bodyPr wrap="square" anchor="t">
            <a:spAutoFit/>
          </a:bodyPr>
          <a:lstStyle/>
          <a:p>
            <a:pPr algn="l">
              <a:spcAft>
                <a:spcPts val="400"/>
              </a:spcAft>
            </a:pPr>
            <a:r>
              <a:rPr sz="900" b="0">
                <a:solidFill>
                  <a:srgbClr val="161B26"/>
                </a:solidFill>
                <a:latin typeface="Arial"/>
              </a:rPr>
              <a:t>Claude Code, Codex, Cursor, Gemini CLI, bash or an HTTP bot — these do the actual reasoning.</a:t>
            </a:r>
          </a:p>
        </p:txBody>
      </p:sp>
      <p:sp>
        <p:nvSpPr>
          <p:cNvPr id="20" name="Rectangle 19"/>
          <p:cNvSpPr/>
          <p:nvPr/>
        </p:nvSpPr>
        <p:spPr>
          <a:xfrm>
            <a:off x="7882127" y="5358384"/>
            <a:ext cx="3529584" cy="987552"/>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ectangle 20"/>
          <p:cNvSpPr/>
          <p:nvPr/>
        </p:nvSpPr>
        <p:spPr>
          <a:xfrm>
            <a:off x="7882127" y="5358384"/>
            <a:ext cx="3529584" cy="82296"/>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8083295" y="5522976"/>
            <a:ext cx="3127248" cy="310896"/>
          </a:xfrm>
          <a:prstGeom prst="rect">
            <a:avLst/>
          </a:prstGeom>
          <a:noFill/>
        </p:spPr>
        <p:txBody>
          <a:bodyPr wrap="square" anchor="t">
            <a:spAutoFit/>
          </a:bodyPr>
          <a:lstStyle/>
          <a:p>
            <a:pPr algn="l">
              <a:spcAft>
                <a:spcPts val="400"/>
              </a:spcAft>
            </a:pPr>
            <a:r>
              <a:rPr sz="1350" b="1">
                <a:solidFill>
                  <a:srgbClr val="F59E0B"/>
                </a:solidFill>
                <a:latin typeface="Arial"/>
              </a:rPr>
              <a:t>The separation</a:t>
            </a:r>
          </a:p>
        </p:txBody>
      </p:sp>
      <p:sp>
        <p:nvSpPr>
          <p:cNvPr id="23" name="TextBox 22"/>
          <p:cNvSpPr txBox="1"/>
          <p:nvPr/>
        </p:nvSpPr>
        <p:spPr>
          <a:xfrm>
            <a:off x="8083295" y="5870448"/>
            <a:ext cx="3127248" cy="384048"/>
          </a:xfrm>
          <a:prstGeom prst="rect">
            <a:avLst/>
          </a:prstGeom>
          <a:noFill/>
        </p:spPr>
        <p:txBody>
          <a:bodyPr wrap="square" anchor="t">
            <a:spAutoFit/>
          </a:bodyPr>
          <a:lstStyle/>
          <a:p>
            <a:pPr algn="l">
              <a:spcAft>
                <a:spcPts val="400"/>
              </a:spcAft>
            </a:pPr>
            <a:r>
              <a:rPr sz="900" b="0">
                <a:solidFill>
                  <a:srgbClr val="161B26"/>
                </a:solidFill>
                <a:latin typeface="Arial"/>
              </a:rPr>
              <a:t>Organisational authority, runtime capability and verification evidence are kept deliberately apart.</a:t>
            </a:r>
          </a:p>
        </p:txBody>
      </p:sp>
      <p:sp>
        <p:nvSpPr>
          <p:cNvPr id="24" name="TextBox 23"/>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Manage AI Agents with Paperclip (TGS-2023036646)  ·  TGS-2023036646</a:t>
            </a:r>
          </a:p>
        </p:txBody>
      </p:sp>
      <p:sp>
        <p:nvSpPr>
          <p:cNvPr id="25" name="TextBox 24"/>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26" name="TextBox 25"/>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23</a:t>
            </a:r>
          </a:p>
        </p:txBody>
      </p:sp>
    </p:spTree>
  </p:cSld>
  <p:clrMapOvr>
    <a:masterClrMapping/>
  </p:clrMapOvr>
  <p:transition spd="fast" advClick="1">
    <p:fade/>
  </p:transition>
</p:sld>
</file>

<file path=ppt/slides/slide2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10B981"/>
                </a:solidFill>
                <a:latin typeface="Arial"/>
              </a:rPr>
              <a:t>LO1 · SCOPE THE TOOL CORRECTLY</a:t>
            </a:r>
          </a:p>
        </p:txBody>
      </p:sp>
      <p:sp>
        <p:nvSpPr>
          <p:cNvPr id="5" name="TextBox 4"/>
          <p:cNvSpPr txBox="1"/>
          <p:nvPr/>
        </p:nvSpPr>
        <p:spPr>
          <a:xfrm>
            <a:off x="777240" y="804672"/>
            <a:ext cx="10881360" cy="713232"/>
          </a:xfrm>
          <a:prstGeom prst="rect">
            <a:avLst/>
          </a:prstGeom>
          <a:noFill/>
        </p:spPr>
        <p:txBody>
          <a:bodyPr wrap="square" anchor="ctr">
            <a:spAutoFit/>
          </a:bodyPr>
          <a:lstStyle/>
          <a:p>
            <a:pPr algn="l">
              <a:spcAft>
                <a:spcPts val="400"/>
              </a:spcAft>
            </a:pPr>
            <a:r>
              <a:rPr sz="2900" b="1">
                <a:solidFill>
                  <a:srgbClr val="161B26"/>
                </a:solidFill>
                <a:latin typeface="Arial"/>
              </a:rPr>
              <a:t>What Paperclip Is — and Is Not</a:t>
            </a:r>
          </a:p>
        </p:txBody>
      </p:sp>
      <p:sp>
        <p:nvSpPr>
          <p:cNvPr id="6" name="Rectangle 5"/>
          <p:cNvSpPr/>
          <p:nvPr/>
        </p:nvSpPr>
        <p:spPr>
          <a:xfrm>
            <a:off x="777240" y="155448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77240" y="1783080"/>
            <a:ext cx="5180076" cy="2066544"/>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777240" y="1783080"/>
            <a:ext cx="91440" cy="2066544"/>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Oval 8"/>
          <p:cNvSpPr/>
          <p:nvPr/>
        </p:nvSpPr>
        <p:spPr>
          <a:xfrm>
            <a:off x="1033272" y="2542032"/>
            <a:ext cx="548640" cy="548640"/>
          </a:xfrm>
          <a:prstGeom prst="ellipse">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1033272" y="2542032"/>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1</a:t>
            </a:r>
          </a:p>
        </p:txBody>
      </p:sp>
      <p:sp>
        <p:nvSpPr>
          <p:cNvPr id="11" name="TextBox 10"/>
          <p:cNvSpPr txBox="1"/>
          <p:nvPr/>
        </p:nvSpPr>
        <p:spPr>
          <a:xfrm>
            <a:off x="1764792" y="1911096"/>
            <a:ext cx="3973068" cy="1883664"/>
          </a:xfrm>
          <a:prstGeom prst="rect">
            <a:avLst/>
          </a:prstGeom>
          <a:noFill/>
        </p:spPr>
        <p:txBody>
          <a:bodyPr wrap="square" anchor="ctr">
            <a:spAutoFit/>
          </a:bodyPr>
          <a:lstStyle/>
          <a:p>
            <a:pPr algn="l">
              <a:spcAft>
                <a:spcPts val="300"/>
              </a:spcAft>
            </a:pPr>
            <a:r>
              <a:rPr sz="1600" b="1">
                <a:solidFill>
                  <a:srgbClr val="161B26"/>
                </a:solidFill>
                <a:latin typeface="Arial"/>
              </a:rPr>
              <a:t>IS · an organisational control plane</a:t>
            </a:r>
          </a:p>
          <a:p>
            <a:pPr algn="l">
              <a:spcAft>
                <a:spcPts val="300"/>
              </a:spcAft>
            </a:pPr>
            <a:r>
              <a:rPr sz="1200" b="0">
                <a:solidFill>
                  <a:srgbClr val="5B6372"/>
                </a:solidFill>
                <a:latin typeface="Arial"/>
              </a:rPr>
              <a:t>Org charts, issues, budgets, approvals and a durable audit trail for a team of agents.</a:t>
            </a:r>
          </a:p>
        </p:txBody>
      </p:sp>
      <p:sp>
        <p:nvSpPr>
          <p:cNvPr id="12" name="Rectangle 11"/>
          <p:cNvSpPr/>
          <p:nvPr/>
        </p:nvSpPr>
        <p:spPr>
          <a:xfrm>
            <a:off x="6231636" y="1783080"/>
            <a:ext cx="5180076" cy="2066544"/>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6231636" y="1783080"/>
            <a:ext cx="91440" cy="2066544"/>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Oval 13"/>
          <p:cNvSpPr/>
          <p:nvPr/>
        </p:nvSpPr>
        <p:spPr>
          <a:xfrm>
            <a:off x="6487668" y="2542032"/>
            <a:ext cx="548640" cy="548640"/>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487668" y="2542032"/>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2</a:t>
            </a:r>
          </a:p>
        </p:txBody>
      </p:sp>
      <p:sp>
        <p:nvSpPr>
          <p:cNvPr id="16" name="TextBox 15"/>
          <p:cNvSpPr txBox="1"/>
          <p:nvPr/>
        </p:nvSpPr>
        <p:spPr>
          <a:xfrm>
            <a:off x="7219188" y="1911096"/>
            <a:ext cx="3973068" cy="1883664"/>
          </a:xfrm>
          <a:prstGeom prst="rect">
            <a:avLst/>
          </a:prstGeom>
          <a:noFill/>
        </p:spPr>
        <p:txBody>
          <a:bodyPr wrap="square" anchor="ctr">
            <a:spAutoFit/>
          </a:bodyPr>
          <a:lstStyle/>
          <a:p>
            <a:pPr algn="l">
              <a:spcAft>
                <a:spcPts val="300"/>
              </a:spcAft>
            </a:pPr>
            <a:r>
              <a:rPr sz="1600" b="1">
                <a:solidFill>
                  <a:srgbClr val="161B26"/>
                </a:solidFill>
                <a:latin typeface="Arial"/>
              </a:rPr>
              <a:t>IS · a runtime-agnostic scheduler</a:t>
            </a:r>
          </a:p>
          <a:p>
            <a:pPr algn="l">
              <a:spcAft>
                <a:spcPts val="300"/>
              </a:spcAft>
            </a:pPr>
            <a:r>
              <a:rPr sz="1200" b="0">
                <a:solidFill>
                  <a:srgbClr val="5B6372"/>
                </a:solidFill>
                <a:latin typeface="Arial"/>
              </a:rPr>
              <a:t>'If it can receive a heartbeat, it's hired.' It schedules and budgets agents without replacing them.</a:t>
            </a:r>
          </a:p>
        </p:txBody>
      </p:sp>
      <p:sp>
        <p:nvSpPr>
          <p:cNvPr id="17" name="Rectangle 16"/>
          <p:cNvSpPr/>
          <p:nvPr/>
        </p:nvSpPr>
        <p:spPr>
          <a:xfrm>
            <a:off x="777240" y="4087368"/>
            <a:ext cx="5180076" cy="2066544"/>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777240" y="4087368"/>
            <a:ext cx="91440" cy="2066544"/>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Oval 18"/>
          <p:cNvSpPr/>
          <p:nvPr/>
        </p:nvSpPr>
        <p:spPr>
          <a:xfrm>
            <a:off x="1033272" y="4846320"/>
            <a:ext cx="548640" cy="548640"/>
          </a:xfrm>
          <a:prstGeom prst="ellipse">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1033272" y="4846320"/>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3</a:t>
            </a:r>
          </a:p>
        </p:txBody>
      </p:sp>
      <p:sp>
        <p:nvSpPr>
          <p:cNvPr id="21" name="TextBox 20"/>
          <p:cNvSpPr txBox="1"/>
          <p:nvPr/>
        </p:nvSpPr>
        <p:spPr>
          <a:xfrm>
            <a:off x="1764792" y="4215384"/>
            <a:ext cx="3973068" cy="1883664"/>
          </a:xfrm>
          <a:prstGeom prst="rect">
            <a:avLst/>
          </a:prstGeom>
          <a:noFill/>
        </p:spPr>
        <p:txBody>
          <a:bodyPr wrap="square" anchor="ctr">
            <a:spAutoFit/>
          </a:bodyPr>
          <a:lstStyle/>
          <a:p>
            <a:pPr algn="l">
              <a:spcAft>
                <a:spcPts val="300"/>
              </a:spcAft>
            </a:pPr>
            <a:r>
              <a:rPr sz="1600" b="1">
                <a:solidFill>
                  <a:srgbClr val="161B26"/>
                </a:solidFill>
                <a:latin typeface="Arial"/>
              </a:rPr>
              <a:t>IS NOT · an agent framework</a:t>
            </a:r>
          </a:p>
          <a:p>
            <a:pPr algn="l">
              <a:spcAft>
                <a:spcPts val="300"/>
              </a:spcAft>
            </a:pPr>
            <a:r>
              <a:rPr sz="1200" b="0">
                <a:solidFill>
                  <a:srgbClr val="5B6372"/>
                </a:solidFill>
                <a:latin typeface="Arial"/>
              </a:rPr>
              <a:t>It does not dictate how your agent reasons, prompts or calls tools. That is the adapter's job.</a:t>
            </a:r>
          </a:p>
        </p:txBody>
      </p:sp>
      <p:sp>
        <p:nvSpPr>
          <p:cNvPr id="22" name="Rectangle 21"/>
          <p:cNvSpPr/>
          <p:nvPr/>
        </p:nvSpPr>
        <p:spPr>
          <a:xfrm>
            <a:off x="6231636" y="4087368"/>
            <a:ext cx="5180076" cy="2066544"/>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ectangle 22"/>
          <p:cNvSpPr/>
          <p:nvPr/>
        </p:nvSpPr>
        <p:spPr>
          <a:xfrm>
            <a:off x="6231636" y="4087368"/>
            <a:ext cx="91440" cy="2066544"/>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Oval 23"/>
          <p:cNvSpPr/>
          <p:nvPr/>
        </p:nvSpPr>
        <p:spPr>
          <a:xfrm>
            <a:off x="6487668" y="4846320"/>
            <a:ext cx="548640" cy="548640"/>
          </a:xfrm>
          <a:prstGeom prst="ellipse">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6487668" y="4846320"/>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4</a:t>
            </a:r>
          </a:p>
        </p:txBody>
      </p:sp>
      <p:sp>
        <p:nvSpPr>
          <p:cNvPr id="26" name="TextBox 25"/>
          <p:cNvSpPr txBox="1"/>
          <p:nvPr/>
        </p:nvSpPr>
        <p:spPr>
          <a:xfrm>
            <a:off x="7219188" y="4215384"/>
            <a:ext cx="3973068" cy="1883664"/>
          </a:xfrm>
          <a:prstGeom prst="rect">
            <a:avLst/>
          </a:prstGeom>
          <a:noFill/>
        </p:spPr>
        <p:txBody>
          <a:bodyPr wrap="square" anchor="ctr">
            <a:spAutoFit/>
          </a:bodyPr>
          <a:lstStyle/>
          <a:p>
            <a:pPr algn="l">
              <a:spcAft>
                <a:spcPts val="300"/>
              </a:spcAft>
            </a:pPr>
            <a:r>
              <a:rPr sz="1600" b="1">
                <a:solidFill>
                  <a:srgbClr val="161B26"/>
                </a:solidFill>
                <a:latin typeface="Arial"/>
              </a:rPr>
              <a:t>IS NOT · a chatbot or workflow builder</a:t>
            </a:r>
          </a:p>
          <a:p>
            <a:pPr algn="l">
              <a:spcAft>
                <a:spcPts val="300"/>
              </a:spcAft>
            </a:pPr>
            <a:r>
              <a:rPr sz="1200" b="0">
                <a:solidFill>
                  <a:srgbClr val="5B6372"/>
                </a:solidFill>
                <a:latin typeface="Arial"/>
              </a:rPr>
              <a:t>No drag-and-drop canvas, no prompt manager, and not designed for a single-agent use case.</a:t>
            </a:r>
          </a:p>
        </p:txBody>
      </p:sp>
      <p:sp>
        <p:nvSpPr>
          <p:cNvPr id="27" name="TextBox 26"/>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Manage AI Agents with Paperclip (TGS-2023036646)  ·  TGS-2023036646</a:t>
            </a:r>
          </a:p>
        </p:txBody>
      </p:sp>
      <p:sp>
        <p:nvSpPr>
          <p:cNvPr id="28" name="TextBox 27"/>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29" name="TextBox 28"/>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24</a:t>
            </a:r>
          </a:p>
        </p:txBody>
      </p:sp>
      <p:sp>
        <p:nvSpPr>
          <p:cNvPr id="30" name="Rectangle 29"/>
          <p:cNvSpPr/>
          <p:nvPr/>
        </p:nvSpPr>
        <p:spPr>
          <a:xfrm>
            <a:off x="777240" y="5742432"/>
            <a:ext cx="10607040" cy="603504"/>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Rectangle 30"/>
          <p:cNvSpPr/>
          <p:nvPr/>
        </p:nvSpPr>
        <p:spPr>
          <a:xfrm>
            <a:off x="777240" y="5742432"/>
            <a:ext cx="91440" cy="603504"/>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TextBox 31"/>
          <p:cNvSpPr txBox="1"/>
          <p:nvPr/>
        </p:nvSpPr>
        <p:spPr>
          <a:xfrm>
            <a:off x="1051560" y="5742432"/>
            <a:ext cx="10241280" cy="603504"/>
          </a:xfrm>
          <a:prstGeom prst="rect">
            <a:avLst/>
          </a:prstGeom>
          <a:noFill/>
        </p:spPr>
        <p:txBody>
          <a:bodyPr wrap="square" anchor="ctr">
            <a:spAutoFit/>
          </a:bodyPr>
          <a:lstStyle/>
          <a:p>
            <a:pPr algn="l">
              <a:spcAft>
                <a:spcPts val="400"/>
              </a:spcAft>
            </a:pPr>
            <a:r>
              <a:rPr sz="1350" b="1">
                <a:solidFill>
                  <a:srgbClr val="161B26"/>
                </a:solidFill>
                <a:latin typeface="Arial"/>
              </a:rPr>
              <a:t>Choosing Paperclip is an organisational decision, not a modelling decision.</a:t>
            </a:r>
          </a:p>
        </p:txBody>
      </p:sp>
    </p:spTree>
  </p:cSld>
  <p:clrMapOvr>
    <a:masterClrMapping/>
  </p:clrMapOvr>
  <p:transition spd="fast" advClick="1">
    <p:fade/>
  </p:transition>
</p:sld>
</file>

<file path=ppt/slides/slide2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1F6FEB"/>
                </a:solidFill>
                <a:latin typeface="Arial"/>
              </a:rPr>
              <a:t>LO1 · THE PRODUCT MODEL</a:t>
            </a:r>
          </a:p>
        </p:txBody>
      </p:sp>
      <p:sp>
        <p:nvSpPr>
          <p:cNvPr id="5" name="TextBox 4"/>
          <p:cNvSpPr txBox="1"/>
          <p:nvPr/>
        </p:nvSpPr>
        <p:spPr>
          <a:xfrm>
            <a:off x="777240" y="804672"/>
            <a:ext cx="10881360" cy="713232"/>
          </a:xfrm>
          <a:prstGeom prst="rect">
            <a:avLst/>
          </a:prstGeom>
          <a:noFill/>
        </p:spPr>
        <p:txBody>
          <a:bodyPr wrap="square" anchor="ctr">
            <a:spAutoFit/>
          </a:bodyPr>
          <a:lstStyle/>
          <a:p>
            <a:pPr algn="l">
              <a:spcAft>
                <a:spcPts val="400"/>
              </a:spcAft>
            </a:pPr>
            <a:r>
              <a:rPr sz="2900" b="1">
                <a:solidFill>
                  <a:srgbClr val="161B26"/>
                </a:solidFill>
                <a:latin typeface="Arial"/>
              </a:rPr>
              <a:t>The Four Pillars of Paperclip</a:t>
            </a:r>
          </a:p>
        </p:txBody>
      </p:sp>
      <p:sp>
        <p:nvSpPr>
          <p:cNvPr id="6" name="Rectangle 5"/>
          <p:cNvSpPr/>
          <p:nvPr/>
        </p:nvSpPr>
        <p:spPr>
          <a:xfrm>
            <a:off x="777240" y="155448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7" name="Picture 6" descr="paperclip-four-pillars.png"/>
          <p:cNvPicPr>
            <a:picLocks noChangeAspect="1"/>
          </p:cNvPicPr>
          <p:nvPr/>
        </p:nvPicPr>
        <p:blipFill>
          <a:blip r:embed="rId2"/>
          <a:stretch>
            <a:fillRect/>
          </a:stretch>
        </p:blipFill>
        <p:spPr>
          <a:xfrm>
            <a:off x="2626360" y="1810512"/>
            <a:ext cx="6908800" cy="3886200"/>
          </a:xfrm>
          <a:prstGeom prst="rect">
            <a:avLst/>
          </a:prstGeom>
        </p:spPr>
      </p:pic>
      <p:sp>
        <p:nvSpPr>
          <p:cNvPr id="8" name="Rectangle 7"/>
          <p:cNvSpPr/>
          <p:nvPr/>
        </p:nvSpPr>
        <p:spPr>
          <a:xfrm>
            <a:off x="777240" y="5779008"/>
            <a:ext cx="10607040" cy="56692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777240" y="5779008"/>
            <a:ext cx="91440" cy="566928"/>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1024128" y="5779008"/>
            <a:ext cx="10241280" cy="566928"/>
          </a:xfrm>
          <a:prstGeom prst="rect">
            <a:avLst/>
          </a:prstGeom>
          <a:noFill/>
        </p:spPr>
        <p:txBody>
          <a:bodyPr wrap="square" anchor="ctr">
            <a:spAutoFit/>
          </a:bodyPr>
          <a:lstStyle/>
          <a:p>
            <a:pPr algn="l">
              <a:spcAft>
                <a:spcPts val="400"/>
              </a:spcAft>
            </a:pPr>
            <a:r>
              <a:rPr sz="1300" b="0">
                <a:solidFill>
                  <a:srgbClr val="161B26"/>
                </a:solidFill>
                <a:latin typeface="Arial"/>
              </a:rPr>
              <a:t>Agentic task manager · org chart for agents · agent employee training · agentic OS. Source: the official Paperclip project.</a:t>
            </a:r>
          </a:p>
        </p:txBody>
      </p:sp>
      <p:sp>
        <p:nvSpPr>
          <p:cNvPr id="11" name="TextBox 10"/>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Manage AI Agents with Paperclip (TGS-2023036646)  ·  TGS-2023036646</a:t>
            </a:r>
          </a:p>
        </p:txBody>
      </p:sp>
      <p:sp>
        <p:nvSpPr>
          <p:cNvPr id="12" name="TextBox 11"/>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13" name="TextBox 12"/>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25</a:t>
            </a:r>
          </a:p>
        </p:txBody>
      </p:sp>
    </p:spTree>
  </p:cSld>
  <p:clrMapOvr>
    <a:masterClrMapping/>
  </p:clrMapOvr>
  <p:transition spd="fast" advClick="1">
    <p:fade/>
  </p:transition>
</p:sld>
</file>

<file path=ppt/slides/slide2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1F6FEB"/>
                </a:solidFill>
                <a:latin typeface="Arial"/>
              </a:rPr>
              <a:t>LO1 · WHAT THE PLATFORM ACTUALLY CONTAINS</a:t>
            </a:r>
          </a:p>
        </p:txBody>
      </p:sp>
      <p:sp>
        <p:nvSpPr>
          <p:cNvPr id="5" name="TextBox 4"/>
          <p:cNvSpPr txBox="1"/>
          <p:nvPr/>
        </p:nvSpPr>
        <p:spPr>
          <a:xfrm>
            <a:off x="777240" y="804672"/>
            <a:ext cx="10881360" cy="713232"/>
          </a:xfrm>
          <a:prstGeom prst="rect">
            <a:avLst/>
          </a:prstGeom>
          <a:noFill/>
        </p:spPr>
        <p:txBody>
          <a:bodyPr wrap="square" anchor="ctr">
            <a:spAutoFit/>
          </a:bodyPr>
          <a:lstStyle/>
          <a:p>
            <a:pPr algn="l">
              <a:spcAft>
                <a:spcPts val="400"/>
              </a:spcAft>
            </a:pPr>
            <a:r>
              <a:rPr sz="2900" b="1">
                <a:solidFill>
                  <a:srgbClr val="161B26"/>
                </a:solidFill>
                <a:latin typeface="Arial"/>
              </a:rPr>
              <a:t>The Twelve Subsystems</a:t>
            </a:r>
          </a:p>
        </p:txBody>
      </p:sp>
      <p:sp>
        <p:nvSpPr>
          <p:cNvPr id="6" name="Rectangle 5"/>
          <p:cNvSpPr/>
          <p:nvPr/>
        </p:nvSpPr>
        <p:spPr>
          <a:xfrm>
            <a:off x="777240" y="155448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77240" y="1783080"/>
            <a:ext cx="5180076" cy="129844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777240" y="1783080"/>
            <a:ext cx="91440" cy="1298448"/>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Oval 8"/>
          <p:cNvSpPr/>
          <p:nvPr/>
        </p:nvSpPr>
        <p:spPr>
          <a:xfrm>
            <a:off x="1033272" y="2157984"/>
            <a:ext cx="548640" cy="548640"/>
          </a:xfrm>
          <a:prstGeom prst="ellipse">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1033272" y="2157984"/>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1</a:t>
            </a:r>
          </a:p>
        </p:txBody>
      </p:sp>
      <p:sp>
        <p:nvSpPr>
          <p:cNvPr id="11" name="TextBox 10"/>
          <p:cNvSpPr txBox="1"/>
          <p:nvPr/>
        </p:nvSpPr>
        <p:spPr>
          <a:xfrm>
            <a:off x="1764792" y="1911096"/>
            <a:ext cx="3973068" cy="1115568"/>
          </a:xfrm>
          <a:prstGeom prst="rect">
            <a:avLst/>
          </a:prstGeom>
          <a:noFill/>
        </p:spPr>
        <p:txBody>
          <a:bodyPr wrap="square" anchor="ctr">
            <a:spAutoFit/>
          </a:bodyPr>
          <a:lstStyle/>
          <a:p>
            <a:pPr algn="l">
              <a:spcAft>
                <a:spcPts val="300"/>
              </a:spcAft>
            </a:pPr>
            <a:r>
              <a:rPr sz="1600" b="1">
                <a:solidFill>
                  <a:srgbClr val="161B26"/>
                </a:solidFill>
                <a:latin typeface="Arial"/>
              </a:rPr>
              <a:t>Identity &amp; org chart</a:t>
            </a:r>
          </a:p>
          <a:p>
            <a:pPr algn="l">
              <a:spcAft>
                <a:spcPts val="300"/>
              </a:spcAft>
            </a:pPr>
            <a:r>
              <a:rPr sz="1200" b="0">
                <a:solidFill>
                  <a:srgbClr val="5B6372"/>
                </a:solidFill>
                <a:latin typeface="Arial"/>
              </a:rPr>
              <a:t>Who exists, who reports to whom, and what each role may do.</a:t>
            </a:r>
          </a:p>
        </p:txBody>
      </p:sp>
      <p:sp>
        <p:nvSpPr>
          <p:cNvPr id="12" name="Rectangle 11"/>
          <p:cNvSpPr/>
          <p:nvPr/>
        </p:nvSpPr>
        <p:spPr>
          <a:xfrm>
            <a:off x="6231636" y="1783080"/>
            <a:ext cx="5180076" cy="129844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6231636" y="1783080"/>
            <a:ext cx="91440" cy="1298448"/>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Oval 13"/>
          <p:cNvSpPr/>
          <p:nvPr/>
        </p:nvSpPr>
        <p:spPr>
          <a:xfrm>
            <a:off x="6487668" y="2157984"/>
            <a:ext cx="548640" cy="548640"/>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487668" y="2157984"/>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2</a:t>
            </a:r>
          </a:p>
        </p:txBody>
      </p:sp>
      <p:sp>
        <p:nvSpPr>
          <p:cNvPr id="16" name="TextBox 15"/>
          <p:cNvSpPr txBox="1"/>
          <p:nvPr/>
        </p:nvSpPr>
        <p:spPr>
          <a:xfrm>
            <a:off x="7219188" y="1911096"/>
            <a:ext cx="3973068" cy="1115568"/>
          </a:xfrm>
          <a:prstGeom prst="rect">
            <a:avLst/>
          </a:prstGeom>
          <a:noFill/>
        </p:spPr>
        <p:txBody>
          <a:bodyPr wrap="square" anchor="ctr">
            <a:spAutoFit/>
          </a:bodyPr>
          <a:lstStyle/>
          <a:p>
            <a:pPr algn="l">
              <a:spcAft>
                <a:spcPts val="300"/>
              </a:spcAft>
            </a:pPr>
            <a:r>
              <a:rPr sz="1600" b="1">
                <a:solidFill>
                  <a:srgbClr val="161B26"/>
                </a:solidFill>
                <a:latin typeface="Arial"/>
              </a:rPr>
              <a:t>Work &amp; heartbeat</a:t>
            </a:r>
          </a:p>
          <a:p>
            <a:pPr algn="l">
              <a:spcAft>
                <a:spcPts val="300"/>
              </a:spcAft>
            </a:pPr>
            <a:r>
              <a:rPr sz="1200" b="0">
                <a:solidFill>
                  <a:srgbClr val="5B6372"/>
                </a:solidFill>
                <a:latin typeface="Arial"/>
              </a:rPr>
              <a:t>Issues with atomic checkout, woken by bounded execution bursts.</a:t>
            </a:r>
          </a:p>
        </p:txBody>
      </p:sp>
      <p:sp>
        <p:nvSpPr>
          <p:cNvPr id="17" name="Rectangle 16"/>
          <p:cNvSpPr/>
          <p:nvPr/>
        </p:nvSpPr>
        <p:spPr>
          <a:xfrm>
            <a:off x="777240" y="3319272"/>
            <a:ext cx="5180076" cy="129844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777240" y="3319272"/>
            <a:ext cx="91440" cy="1298448"/>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Oval 18"/>
          <p:cNvSpPr/>
          <p:nvPr/>
        </p:nvSpPr>
        <p:spPr>
          <a:xfrm>
            <a:off x="1033272" y="3694176"/>
            <a:ext cx="548640" cy="548640"/>
          </a:xfrm>
          <a:prstGeom prst="ellipse">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1033272" y="3694176"/>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3</a:t>
            </a:r>
          </a:p>
        </p:txBody>
      </p:sp>
      <p:sp>
        <p:nvSpPr>
          <p:cNvPr id="21" name="TextBox 20"/>
          <p:cNvSpPr txBox="1"/>
          <p:nvPr/>
        </p:nvSpPr>
        <p:spPr>
          <a:xfrm>
            <a:off x="1764792" y="3447288"/>
            <a:ext cx="3973068" cy="1115568"/>
          </a:xfrm>
          <a:prstGeom prst="rect">
            <a:avLst/>
          </a:prstGeom>
          <a:noFill/>
        </p:spPr>
        <p:txBody>
          <a:bodyPr wrap="square" anchor="ctr">
            <a:spAutoFit/>
          </a:bodyPr>
          <a:lstStyle/>
          <a:p>
            <a:pPr algn="l">
              <a:spcAft>
                <a:spcPts val="300"/>
              </a:spcAft>
            </a:pPr>
            <a:r>
              <a:rPr sz="1600" b="1">
                <a:solidFill>
                  <a:srgbClr val="161B26"/>
                </a:solidFill>
                <a:latin typeface="Arial"/>
              </a:rPr>
              <a:t>Workspaces &amp; runtime</a:t>
            </a:r>
          </a:p>
          <a:p>
            <a:pPr algn="l">
              <a:spcAft>
                <a:spcPts val="300"/>
              </a:spcAft>
            </a:pPr>
            <a:r>
              <a:rPr sz="1200" b="0">
                <a:solidFill>
                  <a:srgbClr val="5B6372"/>
                </a:solidFill>
                <a:latin typeface="Arial"/>
              </a:rPr>
              <a:t>Isolated roots (git worktrees) and the adapter that runs there.</a:t>
            </a:r>
          </a:p>
        </p:txBody>
      </p:sp>
      <p:sp>
        <p:nvSpPr>
          <p:cNvPr id="22" name="Rectangle 21"/>
          <p:cNvSpPr/>
          <p:nvPr/>
        </p:nvSpPr>
        <p:spPr>
          <a:xfrm>
            <a:off x="6231636" y="3319272"/>
            <a:ext cx="5180076" cy="129844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ectangle 22"/>
          <p:cNvSpPr/>
          <p:nvPr/>
        </p:nvSpPr>
        <p:spPr>
          <a:xfrm>
            <a:off x="6231636" y="3319272"/>
            <a:ext cx="91440" cy="1298448"/>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Oval 23"/>
          <p:cNvSpPr/>
          <p:nvPr/>
        </p:nvSpPr>
        <p:spPr>
          <a:xfrm>
            <a:off x="6487668" y="3694176"/>
            <a:ext cx="548640" cy="548640"/>
          </a:xfrm>
          <a:prstGeom prst="ellipse">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6487668" y="3694176"/>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4</a:t>
            </a:r>
          </a:p>
        </p:txBody>
      </p:sp>
      <p:sp>
        <p:nvSpPr>
          <p:cNvPr id="26" name="TextBox 25"/>
          <p:cNvSpPr txBox="1"/>
          <p:nvPr/>
        </p:nvSpPr>
        <p:spPr>
          <a:xfrm>
            <a:off x="7219188" y="3447288"/>
            <a:ext cx="3973068" cy="1115568"/>
          </a:xfrm>
          <a:prstGeom prst="rect">
            <a:avLst/>
          </a:prstGeom>
          <a:noFill/>
        </p:spPr>
        <p:txBody>
          <a:bodyPr wrap="square" anchor="ctr">
            <a:spAutoFit/>
          </a:bodyPr>
          <a:lstStyle/>
          <a:p>
            <a:pPr algn="l">
              <a:spcAft>
                <a:spcPts val="300"/>
              </a:spcAft>
            </a:pPr>
            <a:r>
              <a:rPr sz="1600" b="1">
                <a:solidFill>
                  <a:srgbClr val="161B26"/>
                </a:solidFill>
                <a:latin typeface="Arial"/>
              </a:rPr>
              <a:t>Governance &amp; budget</a:t>
            </a:r>
          </a:p>
          <a:p>
            <a:pPr algn="l">
              <a:spcAft>
                <a:spcPts val="300"/>
              </a:spcAft>
            </a:pPr>
            <a:r>
              <a:rPr sz="1200" b="0">
                <a:solidFill>
                  <a:srgbClr val="5B6372"/>
                </a:solidFill>
                <a:latin typeface="Arial"/>
              </a:rPr>
              <a:t>Approval gates and caps enforced at checkout, not at billing.</a:t>
            </a:r>
          </a:p>
        </p:txBody>
      </p:sp>
      <p:sp>
        <p:nvSpPr>
          <p:cNvPr id="27" name="Rectangle 26"/>
          <p:cNvSpPr/>
          <p:nvPr/>
        </p:nvSpPr>
        <p:spPr>
          <a:xfrm>
            <a:off x="777240" y="4855464"/>
            <a:ext cx="5180076" cy="129844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Rectangle 27"/>
          <p:cNvSpPr/>
          <p:nvPr/>
        </p:nvSpPr>
        <p:spPr>
          <a:xfrm>
            <a:off x="777240" y="4855464"/>
            <a:ext cx="91440" cy="1298448"/>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Oval 28"/>
          <p:cNvSpPr/>
          <p:nvPr/>
        </p:nvSpPr>
        <p:spPr>
          <a:xfrm>
            <a:off x="1033272" y="5230368"/>
            <a:ext cx="548640" cy="548640"/>
          </a:xfrm>
          <a:prstGeom prst="ellipse">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TextBox 29"/>
          <p:cNvSpPr txBox="1"/>
          <p:nvPr/>
        </p:nvSpPr>
        <p:spPr>
          <a:xfrm>
            <a:off x="1033272" y="5230368"/>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5</a:t>
            </a:r>
          </a:p>
        </p:txBody>
      </p:sp>
      <p:sp>
        <p:nvSpPr>
          <p:cNvPr id="31" name="TextBox 30"/>
          <p:cNvSpPr txBox="1"/>
          <p:nvPr/>
        </p:nvSpPr>
        <p:spPr>
          <a:xfrm>
            <a:off x="1764792" y="4983480"/>
            <a:ext cx="3973068" cy="1115568"/>
          </a:xfrm>
          <a:prstGeom prst="rect">
            <a:avLst/>
          </a:prstGeom>
          <a:noFill/>
        </p:spPr>
        <p:txBody>
          <a:bodyPr wrap="square" anchor="ctr">
            <a:spAutoFit/>
          </a:bodyPr>
          <a:lstStyle/>
          <a:p>
            <a:pPr algn="l">
              <a:spcAft>
                <a:spcPts val="300"/>
              </a:spcAft>
            </a:pPr>
            <a:r>
              <a:rPr sz="1600" b="1">
                <a:solidFill>
                  <a:srgbClr val="161B26"/>
                </a:solidFill>
                <a:latin typeface="Arial"/>
              </a:rPr>
              <a:t>Routines &amp; plugins</a:t>
            </a:r>
          </a:p>
          <a:p>
            <a:pPr algn="l">
              <a:spcAft>
                <a:spcPts val="300"/>
              </a:spcAft>
            </a:pPr>
            <a:r>
              <a:rPr sz="1200" b="0">
                <a:solidFill>
                  <a:srgbClr val="5B6372"/>
                </a:solidFill>
                <a:latin typeface="Arial"/>
              </a:rPr>
              <a:t>Scheduled recurring work, and the skills library agents draw on.</a:t>
            </a:r>
          </a:p>
        </p:txBody>
      </p:sp>
      <p:sp>
        <p:nvSpPr>
          <p:cNvPr id="32" name="Rectangle 31"/>
          <p:cNvSpPr/>
          <p:nvPr/>
        </p:nvSpPr>
        <p:spPr>
          <a:xfrm>
            <a:off x="6231636" y="4855464"/>
            <a:ext cx="5180076" cy="129844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Rectangle 32"/>
          <p:cNvSpPr/>
          <p:nvPr/>
        </p:nvSpPr>
        <p:spPr>
          <a:xfrm>
            <a:off x="6231636" y="4855464"/>
            <a:ext cx="91440" cy="1298448"/>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Oval 33"/>
          <p:cNvSpPr/>
          <p:nvPr/>
        </p:nvSpPr>
        <p:spPr>
          <a:xfrm>
            <a:off x="6487668" y="5230368"/>
            <a:ext cx="548640" cy="548640"/>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TextBox 34"/>
          <p:cNvSpPr txBox="1"/>
          <p:nvPr/>
        </p:nvSpPr>
        <p:spPr>
          <a:xfrm>
            <a:off x="6487668" y="5230368"/>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6</a:t>
            </a:r>
          </a:p>
        </p:txBody>
      </p:sp>
      <p:sp>
        <p:nvSpPr>
          <p:cNvPr id="36" name="TextBox 35"/>
          <p:cNvSpPr txBox="1"/>
          <p:nvPr/>
        </p:nvSpPr>
        <p:spPr>
          <a:xfrm>
            <a:off x="7219188" y="4983480"/>
            <a:ext cx="3973068" cy="1115568"/>
          </a:xfrm>
          <a:prstGeom prst="rect">
            <a:avLst/>
          </a:prstGeom>
          <a:noFill/>
        </p:spPr>
        <p:txBody>
          <a:bodyPr wrap="square" anchor="ctr">
            <a:spAutoFit/>
          </a:bodyPr>
          <a:lstStyle/>
          <a:p>
            <a:pPr algn="l">
              <a:spcAft>
                <a:spcPts val="300"/>
              </a:spcAft>
            </a:pPr>
            <a:r>
              <a:rPr sz="1600" b="1">
                <a:solidFill>
                  <a:srgbClr val="161B26"/>
                </a:solidFill>
                <a:latin typeface="Arial"/>
              </a:rPr>
              <a:t>Secrets, activity &amp; portability</a:t>
            </a:r>
          </a:p>
          <a:p>
            <a:pPr algn="l">
              <a:spcAft>
                <a:spcPts val="300"/>
              </a:spcAft>
            </a:pPr>
            <a:r>
              <a:rPr sz="1200" b="0">
                <a:solidFill>
                  <a:srgbClr val="5B6372"/>
                </a:solidFill>
                <a:latin typeface="Arial"/>
              </a:rPr>
              <a:t>Scoped injection, a durable audit log, and export/import of a whole company.</a:t>
            </a:r>
          </a:p>
        </p:txBody>
      </p:sp>
      <p:sp>
        <p:nvSpPr>
          <p:cNvPr id="37" name="TextBox 36"/>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Manage AI Agents with Paperclip (TGS-2023036646)  ·  TGS-2023036646</a:t>
            </a:r>
          </a:p>
        </p:txBody>
      </p:sp>
      <p:sp>
        <p:nvSpPr>
          <p:cNvPr id="38" name="TextBox 37"/>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39" name="TextBox 38"/>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26</a:t>
            </a:r>
          </a:p>
        </p:txBody>
      </p:sp>
    </p:spTree>
  </p:cSld>
  <p:clrMapOvr>
    <a:masterClrMapping/>
  </p:clrMapOvr>
  <p:transition spd="fast" advClick="1">
    <p:fade/>
  </p:transition>
</p:sld>
</file>

<file path=ppt/slides/slide2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1F6FEB"/>
                </a:solidFill>
                <a:latin typeface="Arial"/>
              </a:rPr>
              <a:t>LO1 · THE EXECUTION MODEL</a:t>
            </a:r>
          </a:p>
        </p:txBody>
      </p:sp>
      <p:sp>
        <p:nvSpPr>
          <p:cNvPr id="5" name="TextBox 4"/>
          <p:cNvSpPr txBox="1"/>
          <p:nvPr/>
        </p:nvSpPr>
        <p:spPr>
          <a:xfrm>
            <a:off x="777240" y="804672"/>
            <a:ext cx="10881360" cy="713232"/>
          </a:xfrm>
          <a:prstGeom prst="rect">
            <a:avLst/>
          </a:prstGeom>
          <a:noFill/>
        </p:spPr>
        <p:txBody>
          <a:bodyPr wrap="square" anchor="ctr">
            <a:spAutoFit/>
          </a:bodyPr>
          <a:lstStyle/>
          <a:p>
            <a:pPr algn="l">
              <a:spcAft>
                <a:spcPts val="400"/>
              </a:spcAft>
            </a:pPr>
            <a:r>
              <a:rPr sz="2500" b="1">
                <a:solidFill>
                  <a:srgbClr val="161B26"/>
                </a:solidFill>
                <a:latin typeface="Arial"/>
              </a:rPr>
              <a:t>The Heartbeat — Bounded Execution, Not a Running Process</a:t>
            </a:r>
          </a:p>
        </p:txBody>
      </p:sp>
      <p:sp>
        <p:nvSpPr>
          <p:cNvPr id="6" name="Rectangle 5"/>
          <p:cNvSpPr/>
          <p:nvPr/>
        </p:nvSpPr>
        <p:spPr>
          <a:xfrm>
            <a:off x="777240" y="155448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7" name="Picture 6" descr="diagram-heartbeat.png"/>
          <p:cNvPicPr>
            <a:picLocks noChangeAspect="1"/>
          </p:cNvPicPr>
          <p:nvPr/>
        </p:nvPicPr>
        <p:blipFill>
          <a:blip r:embed="rId2"/>
          <a:stretch>
            <a:fillRect/>
          </a:stretch>
        </p:blipFill>
        <p:spPr>
          <a:xfrm>
            <a:off x="777240" y="2361927"/>
            <a:ext cx="6812280" cy="3121697"/>
          </a:xfrm>
          <a:prstGeom prst="rect">
            <a:avLst/>
          </a:prstGeom>
        </p:spPr>
      </p:pic>
      <p:sp>
        <p:nvSpPr>
          <p:cNvPr id="8" name="Rectangle 7"/>
          <p:cNvSpPr/>
          <p:nvPr/>
        </p:nvSpPr>
        <p:spPr>
          <a:xfrm>
            <a:off x="7882127" y="1810512"/>
            <a:ext cx="3529584" cy="987552"/>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7882127" y="1810512"/>
            <a:ext cx="3529584" cy="82296"/>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8083295" y="1975104"/>
            <a:ext cx="3127248" cy="310896"/>
          </a:xfrm>
          <a:prstGeom prst="rect">
            <a:avLst/>
          </a:prstGeom>
          <a:noFill/>
        </p:spPr>
        <p:txBody>
          <a:bodyPr wrap="square" anchor="t">
            <a:spAutoFit/>
          </a:bodyPr>
          <a:lstStyle/>
          <a:p>
            <a:pPr algn="l">
              <a:spcAft>
                <a:spcPts val="400"/>
              </a:spcAft>
            </a:pPr>
            <a:r>
              <a:rPr sz="1350" b="1">
                <a:solidFill>
                  <a:srgbClr val="1F6FEB"/>
                </a:solidFill>
                <a:latin typeface="Arial"/>
              </a:rPr>
              <a:t>Dormant by default</a:t>
            </a:r>
          </a:p>
        </p:txBody>
      </p:sp>
      <p:sp>
        <p:nvSpPr>
          <p:cNvPr id="11" name="TextBox 10"/>
          <p:cNvSpPr txBox="1"/>
          <p:nvPr/>
        </p:nvSpPr>
        <p:spPr>
          <a:xfrm>
            <a:off x="8083295" y="2322576"/>
            <a:ext cx="3127248" cy="384048"/>
          </a:xfrm>
          <a:prstGeom prst="rect">
            <a:avLst/>
          </a:prstGeom>
          <a:noFill/>
        </p:spPr>
        <p:txBody>
          <a:bodyPr wrap="square" anchor="t">
            <a:spAutoFit/>
          </a:bodyPr>
          <a:lstStyle/>
          <a:p>
            <a:pPr algn="l">
              <a:spcAft>
                <a:spcPts val="400"/>
              </a:spcAft>
            </a:pPr>
            <a:r>
              <a:rPr sz="900" b="0">
                <a:solidFill>
                  <a:srgbClr val="161B26"/>
                </a:solidFill>
                <a:latin typeface="Arial"/>
              </a:rPr>
              <a:t>Between heartbeats the agent is not idling and not billing.</a:t>
            </a:r>
          </a:p>
        </p:txBody>
      </p:sp>
      <p:sp>
        <p:nvSpPr>
          <p:cNvPr id="12" name="Rectangle 11"/>
          <p:cNvSpPr/>
          <p:nvPr/>
        </p:nvSpPr>
        <p:spPr>
          <a:xfrm>
            <a:off x="7882127" y="2944368"/>
            <a:ext cx="3529584" cy="1133856"/>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7882127" y="2944368"/>
            <a:ext cx="3529584" cy="82296"/>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8083295" y="3108960"/>
            <a:ext cx="3127248" cy="310896"/>
          </a:xfrm>
          <a:prstGeom prst="rect">
            <a:avLst/>
          </a:prstGeom>
          <a:noFill/>
        </p:spPr>
        <p:txBody>
          <a:bodyPr wrap="square" anchor="t">
            <a:spAutoFit/>
          </a:bodyPr>
          <a:lstStyle/>
          <a:p>
            <a:pPr algn="l">
              <a:spcAft>
                <a:spcPts val="400"/>
              </a:spcAft>
            </a:pPr>
            <a:r>
              <a:rPr sz="1350" b="1">
                <a:solidFill>
                  <a:srgbClr val="10B981"/>
                </a:solidFill>
                <a:latin typeface="Arial"/>
              </a:rPr>
              <a:t>Five triggers</a:t>
            </a:r>
          </a:p>
        </p:txBody>
      </p:sp>
      <p:sp>
        <p:nvSpPr>
          <p:cNvPr id="15" name="TextBox 14"/>
          <p:cNvSpPr txBox="1"/>
          <p:nvPr/>
        </p:nvSpPr>
        <p:spPr>
          <a:xfrm>
            <a:off x="8083295" y="3456432"/>
            <a:ext cx="3127248" cy="530352"/>
          </a:xfrm>
          <a:prstGeom prst="rect">
            <a:avLst/>
          </a:prstGeom>
          <a:noFill/>
        </p:spPr>
        <p:txBody>
          <a:bodyPr wrap="square" anchor="t">
            <a:spAutoFit/>
          </a:bodyPr>
          <a:lstStyle/>
          <a:p>
            <a:pPr algn="l">
              <a:spcAft>
                <a:spcPts val="400"/>
              </a:spcAft>
            </a:pPr>
            <a:r>
              <a:rPr sz="900" b="0">
                <a:solidFill>
                  <a:srgbClr val="161B26"/>
                </a:solidFill>
                <a:latin typeface="Arial"/>
              </a:rPr>
              <a:t>A schedule/interval tick, a task assignment, an @-mention, a manual Run Heartbeat, or an approval being resolved.</a:t>
            </a:r>
          </a:p>
        </p:txBody>
      </p:sp>
      <p:sp>
        <p:nvSpPr>
          <p:cNvPr id="16" name="Rectangle 15"/>
          <p:cNvSpPr/>
          <p:nvPr/>
        </p:nvSpPr>
        <p:spPr>
          <a:xfrm>
            <a:off x="7882127" y="4224528"/>
            <a:ext cx="3529584" cy="987552"/>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7882127" y="4224528"/>
            <a:ext cx="3529584" cy="82296"/>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8083295" y="4389120"/>
            <a:ext cx="3127248" cy="310896"/>
          </a:xfrm>
          <a:prstGeom prst="rect">
            <a:avLst/>
          </a:prstGeom>
          <a:noFill/>
        </p:spPr>
        <p:txBody>
          <a:bodyPr wrap="square" anchor="t">
            <a:spAutoFit/>
          </a:bodyPr>
          <a:lstStyle/>
          <a:p>
            <a:pPr algn="l">
              <a:spcAft>
                <a:spcPts val="400"/>
              </a:spcAft>
            </a:pPr>
            <a:r>
              <a:rPr sz="1350" b="1">
                <a:solidFill>
                  <a:srgbClr val="7C3AED"/>
                </a:solidFill>
                <a:latin typeface="Arial"/>
              </a:rPr>
              <a:t>Atomic checkout</a:t>
            </a:r>
          </a:p>
        </p:txBody>
      </p:sp>
      <p:sp>
        <p:nvSpPr>
          <p:cNvPr id="19" name="TextBox 18"/>
          <p:cNvSpPr txBox="1"/>
          <p:nvPr/>
        </p:nvSpPr>
        <p:spPr>
          <a:xfrm>
            <a:off x="8083295" y="4736592"/>
            <a:ext cx="3127248" cy="384048"/>
          </a:xfrm>
          <a:prstGeom prst="rect">
            <a:avLst/>
          </a:prstGeom>
          <a:noFill/>
        </p:spPr>
        <p:txBody>
          <a:bodyPr wrap="square" anchor="t">
            <a:spAutoFit/>
          </a:bodyPr>
          <a:lstStyle/>
          <a:p>
            <a:pPr algn="l">
              <a:spcAft>
                <a:spcPts val="400"/>
              </a:spcAft>
            </a:pPr>
            <a:r>
              <a:rPr sz="900" b="0">
                <a:solidFill>
                  <a:srgbClr val="161B26"/>
                </a:solidFill>
                <a:latin typeface="Arial"/>
              </a:rPr>
              <a:t>An execution lock means two heartbeats can never double-work the same issue.</a:t>
            </a:r>
          </a:p>
        </p:txBody>
      </p:sp>
      <p:sp>
        <p:nvSpPr>
          <p:cNvPr id="20" name="Rectangle 19"/>
          <p:cNvSpPr/>
          <p:nvPr/>
        </p:nvSpPr>
        <p:spPr>
          <a:xfrm>
            <a:off x="7882127" y="5358384"/>
            <a:ext cx="3529584" cy="987552"/>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ectangle 20"/>
          <p:cNvSpPr/>
          <p:nvPr/>
        </p:nvSpPr>
        <p:spPr>
          <a:xfrm>
            <a:off x="7882127" y="5358384"/>
            <a:ext cx="3529584" cy="82296"/>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8083295" y="5522976"/>
            <a:ext cx="3127248" cy="310896"/>
          </a:xfrm>
          <a:prstGeom prst="rect">
            <a:avLst/>
          </a:prstGeom>
          <a:noFill/>
        </p:spPr>
        <p:txBody>
          <a:bodyPr wrap="square" anchor="t">
            <a:spAutoFit/>
          </a:bodyPr>
          <a:lstStyle/>
          <a:p>
            <a:pPr algn="l">
              <a:spcAft>
                <a:spcPts val="400"/>
              </a:spcAft>
            </a:pPr>
            <a:r>
              <a:rPr sz="1350" b="1">
                <a:solidFill>
                  <a:srgbClr val="F59E0B"/>
                </a:solidFill>
                <a:latin typeface="Arial"/>
              </a:rPr>
              <a:t>Budget checked first</a:t>
            </a:r>
          </a:p>
        </p:txBody>
      </p:sp>
      <p:sp>
        <p:nvSpPr>
          <p:cNvPr id="23" name="TextBox 22"/>
          <p:cNvSpPr txBox="1"/>
          <p:nvPr/>
        </p:nvSpPr>
        <p:spPr>
          <a:xfrm>
            <a:off x="8083295" y="5870448"/>
            <a:ext cx="3127248" cy="384048"/>
          </a:xfrm>
          <a:prstGeom prst="rect">
            <a:avLst/>
          </a:prstGeom>
          <a:noFill/>
        </p:spPr>
        <p:txBody>
          <a:bodyPr wrap="square" anchor="t">
            <a:spAutoFit/>
          </a:bodyPr>
          <a:lstStyle/>
          <a:p>
            <a:pPr algn="l">
              <a:spcAft>
                <a:spcPts val="400"/>
              </a:spcAft>
            </a:pPr>
            <a:r>
              <a:rPr sz="900" b="0">
                <a:solidFill>
                  <a:srgbClr val="161B26"/>
                </a:solidFill>
                <a:latin typeface="Arial"/>
              </a:rPr>
              <a:t>The cap is tested at checkout — a runaway loop stops at the ceiling.</a:t>
            </a:r>
          </a:p>
        </p:txBody>
      </p:sp>
      <p:sp>
        <p:nvSpPr>
          <p:cNvPr id="24" name="TextBox 23"/>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Manage AI Agents with Paperclip (TGS-2023036646)  ·  TGS-2023036646</a:t>
            </a:r>
          </a:p>
        </p:txBody>
      </p:sp>
      <p:sp>
        <p:nvSpPr>
          <p:cNvPr id="25" name="TextBox 24"/>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26" name="TextBox 25"/>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27</a:t>
            </a:r>
          </a:p>
        </p:txBody>
      </p:sp>
    </p:spTree>
  </p:cSld>
  <p:clrMapOvr>
    <a:masterClrMapping/>
  </p:clrMapOvr>
  <p:transition spd="fast" advClick="1">
    <p:fade/>
  </p:transition>
</p:sld>
</file>

<file path=ppt/slides/slide2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7C3AED"/>
                </a:solidFill>
                <a:latin typeface="Arial"/>
              </a:rPr>
              <a:t>LO1 · THE MOST IMPORTANT DECISION IN THE COURSE</a:t>
            </a:r>
          </a:p>
        </p:txBody>
      </p:sp>
      <p:sp>
        <p:nvSpPr>
          <p:cNvPr id="5" name="TextBox 4"/>
          <p:cNvSpPr txBox="1"/>
          <p:nvPr/>
        </p:nvSpPr>
        <p:spPr>
          <a:xfrm>
            <a:off x="777240" y="804672"/>
            <a:ext cx="10881360" cy="713232"/>
          </a:xfrm>
          <a:prstGeom prst="rect">
            <a:avLst/>
          </a:prstGeom>
          <a:noFill/>
        </p:spPr>
        <p:txBody>
          <a:bodyPr wrap="square" anchor="ctr">
            <a:spAutoFit/>
          </a:bodyPr>
          <a:lstStyle/>
          <a:p>
            <a:pPr algn="l">
              <a:spcAft>
                <a:spcPts val="400"/>
              </a:spcAft>
            </a:pPr>
            <a:r>
              <a:rPr sz="2900" b="1">
                <a:solidFill>
                  <a:srgbClr val="161B26"/>
                </a:solidFill>
                <a:latin typeface="Arial"/>
              </a:rPr>
              <a:t>Feasibility Scan — Does Coordination Earn Its Cost?</a:t>
            </a:r>
          </a:p>
        </p:txBody>
      </p:sp>
      <p:sp>
        <p:nvSpPr>
          <p:cNvPr id="6" name="Rectangle 5"/>
          <p:cNvSpPr/>
          <p:nvPr/>
        </p:nvSpPr>
        <p:spPr>
          <a:xfrm>
            <a:off x="777240" y="155448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7" name="Picture 6" descr="diagram-feasibility.png"/>
          <p:cNvPicPr>
            <a:picLocks noChangeAspect="1"/>
          </p:cNvPicPr>
          <p:nvPr/>
        </p:nvPicPr>
        <p:blipFill>
          <a:blip r:embed="rId2"/>
          <a:stretch>
            <a:fillRect/>
          </a:stretch>
        </p:blipFill>
        <p:spPr>
          <a:xfrm>
            <a:off x="777240" y="2351862"/>
            <a:ext cx="6812279" cy="3141827"/>
          </a:xfrm>
          <a:prstGeom prst="rect">
            <a:avLst/>
          </a:prstGeom>
        </p:spPr>
      </p:pic>
      <p:sp>
        <p:nvSpPr>
          <p:cNvPr id="8" name="Rectangle 7"/>
          <p:cNvSpPr/>
          <p:nvPr/>
        </p:nvSpPr>
        <p:spPr>
          <a:xfrm>
            <a:off x="7882127" y="1810512"/>
            <a:ext cx="3529584" cy="987552"/>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7882127" y="1810512"/>
            <a:ext cx="3529584" cy="82296"/>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8083295" y="1975104"/>
            <a:ext cx="3127248" cy="310896"/>
          </a:xfrm>
          <a:prstGeom prst="rect">
            <a:avLst/>
          </a:prstGeom>
          <a:noFill/>
        </p:spPr>
        <p:txBody>
          <a:bodyPr wrap="square" anchor="t">
            <a:spAutoFit/>
          </a:bodyPr>
          <a:lstStyle/>
          <a:p>
            <a:pPr algn="l">
              <a:spcAft>
                <a:spcPts val="400"/>
              </a:spcAft>
            </a:pPr>
            <a:r>
              <a:rPr sz="1350" b="1">
                <a:solidFill>
                  <a:srgbClr val="1F6FEB"/>
                </a:solidFill>
                <a:latin typeface="Arial"/>
              </a:rPr>
              <a:t>Use ONE agent</a:t>
            </a:r>
          </a:p>
        </p:txBody>
      </p:sp>
      <p:sp>
        <p:nvSpPr>
          <p:cNvPr id="11" name="TextBox 10"/>
          <p:cNvSpPr txBox="1"/>
          <p:nvPr/>
        </p:nvSpPr>
        <p:spPr>
          <a:xfrm>
            <a:off x="8083295" y="2322576"/>
            <a:ext cx="3127248" cy="384048"/>
          </a:xfrm>
          <a:prstGeom prst="rect">
            <a:avLst/>
          </a:prstGeom>
          <a:noFill/>
        </p:spPr>
        <p:txBody>
          <a:bodyPr wrap="square" anchor="t">
            <a:spAutoFit/>
          </a:bodyPr>
          <a:lstStyle/>
          <a:p>
            <a:pPr algn="l">
              <a:spcAft>
                <a:spcPts val="400"/>
              </a:spcAft>
            </a:pPr>
            <a:r>
              <a:rPr sz="900" b="0">
                <a:solidFill>
                  <a:srgbClr val="161B26"/>
                </a:solidFill>
                <a:latin typeface="Arial"/>
              </a:rPr>
              <a:t>When inputs, tools, authority and verification are the same across the whole task.</a:t>
            </a:r>
          </a:p>
        </p:txBody>
      </p:sp>
      <p:sp>
        <p:nvSpPr>
          <p:cNvPr id="12" name="Rectangle 11"/>
          <p:cNvSpPr/>
          <p:nvPr/>
        </p:nvSpPr>
        <p:spPr>
          <a:xfrm>
            <a:off x="7882127" y="2944368"/>
            <a:ext cx="3529584" cy="987552"/>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7882127" y="2944368"/>
            <a:ext cx="3529584" cy="82296"/>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8083295" y="3108960"/>
            <a:ext cx="3127248" cy="310896"/>
          </a:xfrm>
          <a:prstGeom prst="rect">
            <a:avLst/>
          </a:prstGeom>
          <a:noFill/>
        </p:spPr>
        <p:txBody>
          <a:bodyPr wrap="square" anchor="t">
            <a:spAutoFit/>
          </a:bodyPr>
          <a:lstStyle/>
          <a:p>
            <a:pPr algn="l">
              <a:spcAft>
                <a:spcPts val="400"/>
              </a:spcAft>
            </a:pPr>
            <a:r>
              <a:rPr sz="1350" b="1">
                <a:solidFill>
                  <a:srgbClr val="10B981"/>
                </a:solidFill>
                <a:latin typeface="Arial"/>
              </a:rPr>
              <a:t>Add a specialist</a:t>
            </a:r>
          </a:p>
        </p:txBody>
      </p:sp>
      <p:sp>
        <p:nvSpPr>
          <p:cNvPr id="15" name="TextBox 14"/>
          <p:cNvSpPr txBox="1"/>
          <p:nvPr/>
        </p:nvSpPr>
        <p:spPr>
          <a:xfrm>
            <a:off x="8083295" y="3456432"/>
            <a:ext cx="3127248" cy="384048"/>
          </a:xfrm>
          <a:prstGeom prst="rect">
            <a:avLst/>
          </a:prstGeom>
          <a:noFill/>
        </p:spPr>
        <p:txBody>
          <a:bodyPr wrap="square" anchor="t">
            <a:spAutoFit/>
          </a:bodyPr>
          <a:lstStyle/>
          <a:p>
            <a:pPr algn="l">
              <a:spcAft>
                <a:spcPts val="400"/>
              </a:spcAft>
            </a:pPr>
            <a:r>
              <a:rPr sz="900" b="0">
                <a:solidFill>
                  <a:srgbClr val="161B26"/>
                </a:solidFill>
                <a:latin typeface="Arial"/>
              </a:rPr>
              <a:t>Only when different expertise is required, or evidence must be produced independently.</a:t>
            </a:r>
          </a:p>
        </p:txBody>
      </p:sp>
      <p:sp>
        <p:nvSpPr>
          <p:cNvPr id="16" name="Rectangle 15"/>
          <p:cNvSpPr/>
          <p:nvPr/>
        </p:nvSpPr>
        <p:spPr>
          <a:xfrm>
            <a:off x="7882127" y="4078224"/>
            <a:ext cx="3529584" cy="987552"/>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7882127" y="4078224"/>
            <a:ext cx="3529584" cy="82296"/>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8083295" y="4242816"/>
            <a:ext cx="3127248" cy="310896"/>
          </a:xfrm>
          <a:prstGeom prst="rect">
            <a:avLst/>
          </a:prstGeom>
          <a:noFill/>
        </p:spPr>
        <p:txBody>
          <a:bodyPr wrap="square" anchor="t">
            <a:spAutoFit/>
          </a:bodyPr>
          <a:lstStyle/>
          <a:p>
            <a:pPr algn="l">
              <a:spcAft>
                <a:spcPts val="400"/>
              </a:spcAft>
            </a:pPr>
            <a:r>
              <a:rPr sz="1350" b="1">
                <a:solidFill>
                  <a:srgbClr val="7C3AED"/>
                </a:solidFill>
                <a:latin typeface="Arial"/>
              </a:rPr>
              <a:t>The real cost</a:t>
            </a:r>
          </a:p>
        </p:txBody>
      </p:sp>
      <p:sp>
        <p:nvSpPr>
          <p:cNvPr id="19" name="TextBox 18"/>
          <p:cNvSpPr txBox="1"/>
          <p:nvPr/>
        </p:nvSpPr>
        <p:spPr>
          <a:xfrm>
            <a:off x="8083295" y="4590288"/>
            <a:ext cx="3127248" cy="384048"/>
          </a:xfrm>
          <a:prstGeom prst="rect">
            <a:avLst/>
          </a:prstGeom>
          <a:noFill/>
        </p:spPr>
        <p:txBody>
          <a:bodyPr wrap="square" anchor="t">
            <a:spAutoFit/>
          </a:bodyPr>
          <a:lstStyle/>
          <a:p>
            <a:pPr algn="l">
              <a:spcAft>
                <a:spcPts val="400"/>
              </a:spcAft>
            </a:pPr>
            <a:r>
              <a:rPr sz="900" b="0">
                <a:solidFill>
                  <a:srgbClr val="161B26"/>
                </a:solidFill>
                <a:latin typeface="Arial"/>
              </a:rPr>
              <a:t>Every extra agent is another workspace, budget, instruction and audit trail to maintain.</a:t>
            </a:r>
          </a:p>
        </p:txBody>
      </p:sp>
      <p:sp>
        <p:nvSpPr>
          <p:cNvPr id="20" name="Rectangle 19"/>
          <p:cNvSpPr/>
          <p:nvPr/>
        </p:nvSpPr>
        <p:spPr>
          <a:xfrm>
            <a:off x="7882127" y="5212080"/>
            <a:ext cx="3529584" cy="987552"/>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ectangle 20"/>
          <p:cNvSpPr/>
          <p:nvPr/>
        </p:nvSpPr>
        <p:spPr>
          <a:xfrm>
            <a:off x="7882127" y="5212080"/>
            <a:ext cx="3529584" cy="82296"/>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8083295" y="5376672"/>
            <a:ext cx="3127248" cy="310896"/>
          </a:xfrm>
          <a:prstGeom prst="rect">
            <a:avLst/>
          </a:prstGeom>
          <a:noFill/>
        </p:spPr>
        <p:txBody>
          <a:bodyPr wrap="square" anchor="t">
            <a:spAutoFit/>
          </a:bodyPr>
          <a:lstStyle/>
          <a:p>
            <a:pPr algn="l">
              <a:spcAft>
                <a:spcPts val="400"/>
              </a:spcAft>
            </a:pPr>
            <a:r>
              <a:rPr sz="1350" b="1">
                <a:solidFill>
                  <a:srgbClr val="F59E0B"/>
                </a:solidFill>
                <a:latin typeface="Arial"/>
              </a:rPr>
              <a:t>Start single</a:t>
            </a:r>
          </a:p>
        </p:txBody>
      </p:sp>
      <p:sp>
        <p:nvSpPr>
          <p:cNvPr id="23" name="TextBox 22"/>
          <p:cNvSpPr txBox="1"/>
          <p:nvPr/>
        </p:nvSpPr>
        <p:spPr>
          <a:xfrm>
            <a:off x="8083295" y="5724144"/>
            <a:ext cx="3127248" cy="384048"/>
          </a:xfrm>
          <a:prstGeom prst="rect">
            <a:avLst/>
          </a:prstGeom>
          <a:noFill/>
        </p:spPr>
        <p:txBody>
          <a:bodyPr wrap="square" anchor="t">
            <a:spAutoFit/>
          </a:bodyPr>
          <a:lstStyle/>
          <a:p>
            <a:pPr algn="l">
              <a:spcAft>
                <a:spcPts val="400"/>
              </a:spcAft>
            </a:pPr>
            <a:r>
              <a:rPr sz="900" b="0">
                <a:solidFill>
                  <a:srgbClr val="161B26"/>
                </a:solidFill>
                <a:latin typeface="Arial"/>
              </a:rPr>
              <a:t>Split only when one instruction can no longer describe the job clearly.</a:t>
            </a:r>
          </a:p>
        </p:txBody>
      </p:sp>
      <p:sp>
        <p:nvSpPr>
          <p:cNvPr id="24" name="TextBox 23"/>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Manage AI Agents with Paperclip (TGS-2023036646)  ·  TGS-2023036646</a:t>
            </a:r>
          </a:p>
        </p:txBody>
      </p:sp>
      <p:sp>
        <p:nvSpPr>
          <p:cNvPr id="25" name="TextBox 24"/>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26" name="TextBox 25"/>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28</a:t>
            </a:r>
          </a:p>
        </p:txBody>
      </p:sp>
    </p:spTree>
  </p:cSld>
  <p:clrMapOvr>
    <a:masterClrMapping/>
  </p:clrMapOvr>
  <p:transition spd="fast" advClick="1">
    <p:fade/>
  </p:transition>
</p:sld>
</file>

<file path=ppt/slides/slide2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1F6FEB"/>
                </a:solidFill>
                <a:latin typeface="Arial"/>
              </a:rPr>
              <a:t>LO1 · WHEN THE CONTROL PLANE PAYS FOR ITSELF</a:t>
            </a:r>
          </a:p>
        </p:txBody>
      </p:sp>
      <p:sp>
        <p:nvSpPr>
          <p:cNvPr id="5" name="TextBox 4"/>
          <p:cNvSpPr txBox="1"/>
          <p:nvPr/>
        </p:nvSpPr>
        <p:spPr>
          <a:xfrm>
            <a:off x="777240" y="804672"/>
            <a:ext cx="10881360" cy="713232"/>
          </a:xfrm>
          <a:prstGeom prst="rect">
            <a:avLst/>
          </a:prstGeom>
          <a:noFill/>
        </p:spPr>
        <p:txBody>
          <a:bodyPr wrap="square" anchor="ctr">
            <a:spAutoFit/>
          </a:bodyPr>
          <a:lstStyle/>
          <a:p>
            <a:pPr algn="l">
              <a:spcAft>
                <a:spcPts val="400"/>
              </a:spcAft>
            </a:pPr>
            <a:r>
              <a:rPr sz="2900" b="1">
                <a:solidFill>
                  <a:srgbClr val="161B26"/>
                </a:solidFill>
                <a:latin typeface="Arial"/>
              </a:rPr>
              <a:t>One Agent vs a Paperclip Agent Company</a:t>
            </a:r>
          </a:p>
        </p:txBody>
      </p:sp>
      <p:sp>
        <p:nvSpPr>
          <p:cNvPr id="6" name="Rectangle 5"/>
          <p:cNvSpPr/>
          <p:nvPr/>
        </p:nvSpPr>
        <p:spPr>
          <a:xfrm>
            <a:off x="777240" y="155448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77240" y="1783080"/>
            <a:ext cx="2764962" cy="475488"/>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905256" y="1783080"/>
            <a:ext cx="2508930" cy="475488"/>
          </a:xfrm>
          <a:prstGeom prst="rect">
            <a:avLst/>
          </a:prstGeom>
          <a:noFill/>
        </p:spPr>
        <p:txBody>
          <a:bodyPr wrap="square" anchor="ctr">
            <a:spAutoFit/>
          </a:bodyPr>
          <a:lstStyle/>
          <a:p>
            <a:pPr algn="l">
              <a:spcAft>
                <a:spcPts val="400"/>
              </a:spcAft>
            </a:pPr>
            <a:r>
              <a:rPr sz="1300" b="1">
                <a:solidFill>
                  <a:srgbClr val="FFFFFF"/>
                </a:solidFill>
                <a:latin typeface="Arial"/>
              </a:rPr>
              <a:t>Dimension</a:t>
            </a:r>
          </a:p>
        </p:txBody>
      </p:sp>
      <p:sp>
        <p:nvSpPr>
          <p:cNvPr id="9" name="Rectangle 8"/>
          <p:cNvSpPr/>
          <p:nvPr/>
        </p:nvSpPr>
        <p:spPr>
          <a:xfrm>
            <a:off x="3542202" y="1783080"/>
            <a:ext cx="3934755" cy="475488"/>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3670218" y="1783080"/>
            <a:ext cx="3678723" cy="475488"/>
          </a:xfrm>
          <a:prstGeom prst="rect">
            <a:avLst/>
          </a:prstGeom>
          <a:noFill/>
        </p:spPr>
        <p:txBody>
          <a:bodyPr wrap="square" anchor="ctr">
            <a:spAutoFit/>
          </a:bodyPr>
          <a:lstStyle/>
          <a:p>
            <a:pPr algn="l">
              <a:spcAft>
                <a:spcPts val="400"/>
              </a:spcAft>
            </a:pPr>
            <a:r>
              <a:rPr sz="1300" b="1">
                <a:solidFill>
                  <a:srgbClr val="FFFFFF"/>
                </a:solidFill>
                <a:latin typeface="Arial"/>
              </a:rPr>
              <a:t>One agent, run by hand</a:t>
            </a:r>
          </a:p>
        </p:txBody>
      </p:sp>
      <p:sp>
        <p:nvSpPr>
          <p:cNvPr id="11" name="Rectangle 10"/>
          <p:cNvSpPr/>
          <p:nvPr/>
        </p:nvSpPr>
        <p:spPr>
          <a:xfrm>
            <a:off x="7476957" y="1783080"/>
            <a:ext cx="3934755" cy="475488"/>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7604973" y="1783080"/>
            <a:ext cx="3678723" cy="475488"/>
          </a:xfrm>
          <a:prstGeom prst="rect">
            <a:avLst/>
          </a:prstGeom>
          <a:noFill/>
        </p:spPr>
        <p:txBody>
          <a:bodyPr wrap="square" anchor="ctr">
            <a:spAutoFit/>
          </a:bodyPr>
          <a:lstStyle/>
          <a:p>
            <a:pPr algn="l">
              <a:spcAft>
                <a:spcPts val="400"/>
              </a:spcAft>
            </a:pPr>
            <a:r>
              <a:rPr sz="1300" b="1">
                <a:solidFill>
                  <a:srgbClr val="FFFFFF"/>
                </a:solidFill>
                <a:latin typeface="Arial"/>
              </a:rPr>
              <a:t>A Paperclip agent company</a:t>
            </a:r>
          </a:p>
        </p:txBody>
      </p:sp>
      <p:sp>
        <p:nvSpPr>
          <p:cNvPr id="13" name="Rectangle 12"/>
          <p:cNvSpPr/>
          <p:nvPr/>
        </p:nvSpPr>
        <p:spPr>
          <a:xfrm>
            <a:off x="777240" y="2258568"/>
            <a:ext cx="2764962" cy="483108"/>
          </a:xfrm>
          <a:prstGeom prst="rect">
            <a:avLst/>
          </a:prstGeom>
          <a:solidFill>
            <a:srgbClr val="F5F8FC"/>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905256" y="2258568"/>
            <a:ext cx="2508930" cy="483108"/>
          </a:xfrm>
          <a:prstGeom prst="rect">
            <a:avLst/>
          </a:prstGeom>
          <a:noFill/>
        </p:spPr>
        <p:txBody>
          <a:bodyPr wrap="square" anchor="ctr">
            <a:spAutoFit/>
          </a:bodyPr>
          <a:lstStyle/>
          <a:p>
            <a:pPr algn="l">
              <a:spcAft>
                <a:spcPts val="400"/>
              </a:spcAft>
            </a:pPr>
            <a:r>
              <a:rPr sz="1150" b="1">
                <a:solidFill>
                  <a:srgbClr val="161B26"/>
                </a:solidFill>
                <a:latin typeface="Arial"/>
              </a:rPr>
              <a:t>Direction</a:t>
            </a:r>
          </a:p>
        </p:txBody>
      </p:sp>
      <p:sp>
        <p:nvSpPr>
          <p:cNvPr id="15" name="Rectangle 14"/>
          <p:cNvSpPr/>
          <p:nvPr/>
        </p:nvSpPr>
        <p:spPr>
          <a:xfrm>
            <a:off x="3542202" y="2258568"/>
            <a:ext cx="3934755" cy="483108"/>
          </a:xfrm>
          <a:prstGeom prst="rect">
            <a:avLst/>
          </a:prstGeom>
          <a:solidFill>
            <a:srgbClr val="F5F8FC"/>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3670218" y="2258568"/>
            <a:ext cx="3678723" cy="483108"/>
          </a:xfrm>
          <a:prstGeom prst="rect">
            <a:avLst/>
          </a:prstGeom>
          <a:noFill/>
        </p:spPr>
        <p:txBody>
          <a:bodyPr wrap="square" anchor="ctr">
            <a:spAutoFit/>
          </a:bodyPr>
          <a:lstStyle/>
          <a:p>
            <a:pPr algn="l">
              <a:spcAft>
                <a:spcPts val="400"/>
              </a:spcAft>
            </a:pPr>
            <a:r>
              <a:rPr sz="1150" b="0">
                <a:solidFill>
                  <a:srgbClr val="5B6372"/>
                </a:solidFill>
                <a:latin typeface="Arial"/>
              </a:rPr>
              <a:t>Restated in every prompt</a:t>
            </a:r>
          </a:p>
        </p:txBody>
      </p:sp>
      <p:sp>
        <p:nvSpPr>
          <p:cNvPr id="17" name="Rectangle 16"/>
          <p:cNvSpPr/>
          <p:nvPr/>
        </p:nvSpPr>
        <p:spPr>
          <a:xfrm>
            <a:off x="7476957" y="2258568"/>
            <a:ext cx="3934755" cy="483108"/>
          </a:xfrm>
          <a:prstGeom prst="rect">
            <a:avLst/>
          </a:prstGeom>
          <a:solidFill>
            <a:srgbClr val="F5F8FC"/>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7604973" y="2258568"/>
            <a:ext cx="3678723" cy="483108"/>
          </a:xfrm>
          <a:prstGeom prst="rect">
            <a:avLst/>
          </a:prstGeom>
          <a:noFill/>
        </p:spPr>
        <p:txBody>
          <a:bodyPr wrap="square" anchor="ctr">
            <a:spAutoFit/>
          </a:bodyPr>
          <a:lstStyle/>
          <a:p>
            <a:pPr algn="l">
              <a:spcAft>
                <a:spcPts val="400"/>
              </a:spcAft>
            </a:pPr>
            <a:r>
              <a:rPr sz="1150" b="0">
                <a:solidFill>
                  <a:srgbClr val="5B6372"/>
                </a:solidFill>
                <a:latin typeface="Arial"/>
              </a:rPr>
              <a:t>A mission that flows down as goal lineage</a:t>
            </a:r>
          </a:p>
        </p:txBody>
      </p:sp>
      <p:sp>
        <p:nvSpPr>
          <p:cNvPr id="19" name="Rectangle 18"/>
          <p:cNvSpPr/>
          <p:nvPr/>
        </p:nvSpPr>
        <p:spPr>
          <a:xfrm>
            <a:off x="777240" y="2741676"/>
            <a:ext cx="2764962" cy="483108"/>
          </a:xfrm>
          <a:prstGeom prst="rect">
            <a:avLst/>
          </a:prstGeom>
          <a:solidFill>
            <a:srgbClr val="FFFFFF"/>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905256" y="2741676"/>
            <a:ext cx="2508930" cy="483108"/>
          </a:xfrm>
          <a:prstGeom prst="rect">
            <a:avLst/>
          </a:prstGeom>
          <a:noFill/>
        </p:spPr>
        <p:txBody>
          <a:bodyPr wrap="square" anchor="ctr">
            <a:spAutoFit/>
          </a:bodyPr>
          <a:lstStyle/>
          <a:p>
            <a:pPr algn="l">
              <a:spcAft>
                <a:spcPts val="400"/>
              </a:spcAft>
            </a:pPr>
            <a:r>
              <a:rPr sz="1150" b="1">
                <a:solidFill>
                  <a:srgbClr val="161B26"/>
                </a:solidFill>
                <a:latin typeface="Arial"/>
              </a:rPr>
              <a:t>Memory</a:t>
            </a:r>
          </a:p>
        </p:txBody>
      </p:sp>
      <p:sp>
        <p:nvSpPr>
          <p:cNvPr id="21" name="Rectangle 20"/>
          <p:cNvSpPr/>
          <p:nvPr/>
        </p:nvSpPr>
        <p:spPr>
          <a:xfrm>
            <a:off x="3542202" y="2741676"/>
            <a:ext cx="3934755" cy="483108"/>
          </a:xfrm>
          <a:prstGeom prst="rect">
            <a:avLst/>
          </a:prstGeom>
          <a:solidFill>
            <a:srgbClr val="FFFFFF"/>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3670218" y="2741676"/>
            <a:ext cx="3678723" cy="483108"/>
          </a:xfrm>
          <a:prstGeom prst="rect">
            <a:avLst/>
          </a:prstGeom>
          <a:noFill/>
        </p:spPr>
        <p:txBody>
          <a:bodyPr wrap="square" anchor="ctr">
            <a:spAutoFit/>
          </a:bodyPr>
          <a:lstStyle/>
          <a:p>
            <a:pPr algn="l">
              <a:spcAft>
                <a:spcPts val="400"/>
              </a:spcAft>
            </a:pPr>
            <a:r>
              <a:rPr sz="1150" b="0">
                <a:solidFill>
                  <a:srgbClr val="5B6372"/>
                </a:solidFill>
                <a:latin typeface="Arial"/>
              </a:rPr>
              <a:t>Ends with the session</a:t>
            </a:r>
          </a:p>
        </p:txBody>
      </p:sp>
      <p:sp>
        <p:nvSpPr>
          <p:cNvPr id="23" name="Rectangle 22"/>
          <p:cNvSpPr/>
          <p:nvPr/>
        </p:nvSpPr>
        <p:spPr>
          <a:xfrm>
            <a:off x="7476957" y="2741676"/>
            <a:ext cx="3934755" cy="483108"/>
          </a:xfrm>
          <a:prstGeom prst="rect">
            <a:avLst/>
          </a:prstGeom>
          <a:solidFill>
            <a:srgbClr val="FFFFFF"/>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7604973" y="2741676"/>
            <a:ext cx="3678723" cy="483108"/>
          </a:xfrm>
          <a:prstGeom prst="rect">
            <a:avLst/>
          </a:prstGeom>
          <a:noFill/>
        </p:spPr>
        <p:txBody>
          <a:bodyPr wrap="square" anchor="ctr">
            <a:spAutoFit/>
          </a:bodyPr>
          <a:lstStyle/>
          <a:p>
            <a:pPr algn="l">
              <a:spcAft>
                <a:spcPts val="400"/>
              </a:spcAft>
            </a:pPr>
            <a:r>
              <a:rPr sz="1150" b="0">
                <a:solidFill>
                  <a:srgbClr val="5B6372"/>
                </a:solidFill>
                <a:latin typeface="Arial"/>
              </a:rPr>
              <a:t>Persists across heartbeats in the control plane</a:t>
            </a:r>
          </a:p>
        </p:txBody>
      </p:sp>
      <p:sp>
        <p:nvSpPr>
          <p:cNvPr id="25" name="Rectangle 24"/>
          <p:cNvSpPr/>
          <p:nvPr/>
        </p:nvSpPr>
        <p:spPr>
          <a:xfrm>
            <a:off x="777240" y="3224784"/>
            <a:ext cx="2764962" cy="483108"/>
          </a:xfrm>
          <a:prstGeom prst="rect">
            <a:avLst/>
          </a:prstGeom>
          <a:solidFill>
            <a:srgbClr val="F5F8FC"/>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905256" y="3224784"/>
            <a:ext cx="2508930" cy="483108"/>
          </a:xfrm>
          <a:prstGeom prst="rect">
            <a:avLst/>
          </a:prstGeom>
          <a:noFill/>
        </p:spPr>
        <p:txBody>
          <a:bodyPr wrap="square" anchor="ctr">
            <a:spAutoFit/>
          </a:bodyPr>
          <a:lstStyle/>
          <a:p>
            <a:pPr algn="l">
              <a:spcAft>
                <a:spcPts val="400"/>
              </a:spcAft>
            </a:pPr>
            <a:r>
              <a:rPr sz="1150" b="1">
                <a:solidFill>
                  <a:srgbClr val="161B26"/>
                </a:solidFill>
                <a:latin typeface="Arial"/>
              </a:rPr>
              <a:t>Cost</a:t>
            </a:r>
          </a:p>
        </p:txBody>
      </p:sp>
      <p:sp>
        <p:nvSpPr>
          <p:cNvPr id="27" name="Rectangle 26"/>
          <p:cNvSpPr/>
          <p:nvPr/>
        </p:nvSpPr>
        <p:spPr>
          <a:xfrm>
            <a:off x="3542202" y="3224784"/>
            <a:ext cx="3934755" cy="483108"/>
          </a:xfrm>
          <a:prstGeom prst="rect">
            <a:avLst/>
          </a:prstGeom>
          <a:solidFill>
            <a:srgbClr val="F5F8FC"/>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3670218" y="3224784"/>
            <a:ext cx="3678723" cy="483108"/>
          </a:xfrm>
          <a:prstGeom prst="rect">
            <a:avLst/>
          </a:prstGeom>
          <a:noFill/>
        </p:spPr>
        <p:txBody>
          <a:bodyPr wrap="square" anchor="ctr">
            <a:spAutoFit/>
          </a:bodyPr>
          <a:lstStyle/>
          <a:p>
            <a:pPr algn="l">
              <a:spcAft>
                <a:spcPts val="400"/>
              </a:spcAft>
            </a:pPr>
            <a:r>
              <a:rPr sz="1150" b="0">
                <a:solidFill>
                  <a:srgbClr val="5B6372"/>
                </a:solidFill>
                <a:latin typeface="Arial"/>
              </a:rPr>
              <a:t>Discovered on the invoice</a:t>
            </a:r>
          </a:p>
        </p:txBody>
      </p:sp>
      <p:sp>
        <p:nvSpPr>
          <p:cNvPr id="29" name="Rectangle 28"/>
          <p:cNvSpPr/>
          <p:nvPr/>
        </p:nvSpPr>
        <p:spPr>
          <a:xfrm>
            <a:off x="7476957" y="3224784"/>
            <a:ext cx="3934755" cy="483108"/>
          </a:xfrm>
          <a:prstGeom prst="rect">
            <a:avLst/>
          </a:prstGeom>
          <a:solidFill>
            <a:srgbClr val="F5F8FC"/>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TextBox 29"/>
          <p:cNvSpPr txBox="1"/>
          <p:nvPr/>
        </p:nvSpPr>
        <p:spPr>
          <a:xfrm>
            <a:off x="7604973" y="3224784"/>
            <a:ext cx="3678723" cy="483108"/>
          </a:xfrm>
          <a:prstGeom prst="rect">
            <a:avLst/>
          </a:prstGeom>
          <a:noFill/>
        </p:spPr>
        <p:txBody>
          <a:bodyPr wrap="square" anchor="ctr">
            <a:spAutoFit/>
          </a:bodyPr>
          <a:lstStyle/>
          <a:p>
            <a:pPr algn="l">
              <a:spcAft>
                <a:spcPts val="400"/>
              </a:spcAft>
            </a:pPr>
            <a:r>
              <a:rPr sz="1150" b="0">
                <a:solidFill>
                  <a:srgbClr val="5B6372"/>
                </a:solidFill>
                <a:latin typeface="Arial"/>
              </a:rPr>
              <a:t>Capped at checkout per company, project and agent</a:t>
            </a:r>
          </a:p>
        </p:txBody>
      </p:sp>
      <p:sp>
        <p:nvSpPr>
          <p:cNvPr id="31" name="Rectangle 30"/>
          <p:cNvSpPr/>
          <p:nvPr/>
        </p:nvSpPr>
        <p:spPr>
          <a:xfrm>
            <a:off x="777240" y="3707892"/>
            <a:ext cx="2764962" cy="483108"/>
          </a:xfrm>
          <a:prstGeom prst="rect">
            <a:avLst/>
          </a:prstGeom>
          <a:solidFill>
            <a:srgbClr val="FFFFFF"/>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TextBox 31"/>
          <p:cNvSpPr txBox="1"/>
          <p:nvPr/>
        </p:nvSpPr>
        <p:spPr>
          <a:xfrm>
            <a:off x="905256" y="3707892"/>
            <a:ext cx="2508930" cy="483108"/>
          </a:xfrm>
          <a:prstGeom prst="rect">
            <a:avLst/>
          </a:prstGeom>
          <a:noFill/>
        </p:spPr>
        <p:txBody>
          <a:bodyPr wrap="square" anchor="ctr">
            <a:spAutoFit/>
          </a:bodyPr>
          <a:lstStyle/>
          <a:p>
            <a:pPr algn="l">
              <a:spcAft>
                <a:spcPts val="400"/>
              </a:spcAft>
            </a:pPr>
            <a:r>
              <a:rPr sz="1150" b="1">
                <a:solidFill>
                  <a:srgbClr val="161B26"/>
                </a:solidFill>
                <a:latin typeface="Arial"/>
              </a:rPr>
              <a:t>Authority</a:t>
            </a:r>
          </a:p>
        </p:txBody>
      </p:sp>
      <p:sp>
        <p:nvSpPr>
          <p:cNvPr id="33" name="Rectangle 32"/>
          <p:cNvSpPr/>
          <p:nvPr/>
        </p:nvSpPr>
        <p:spPr>
          <a:xfrm>
            <a:off x="3542202" y="3707892"/>
            <a:ext cx="3934755" cy="483108"/>
          </a:xfrm>
          <a:prstGeom prst="rect">
            <a:avLst/>
          </a:prstGeom>
          <a:solidFill>
            <a:srgbClr val="FFFFFF"/>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TextBox 33"/>
          <p:cNvSpPr txBox="1"/>
          <p:nvPr/>
        </p:nvSpPr>
        <p:spPr>
          <a:xfrm>
            <a:off x="3670218" y="3707892"/>
            <a:ext cx="3678723" cy="483108"/>
          </a:xfrm>
          <a:prstGeom prst="rect">
            <a:avLst/>
          </a:prstGeom>
          <a:noFill/>
        </p:spPr>
        <p:txBody>
          <a:bodyPr wrap="square" anchor="ctr">
            <a:spAutoFit/>
          </a:bodyPr>
          <a:lstStyle/>
          <a:p>
            <a:pPr algn="l">
              <a:spcAft>
                <a:spcPts val="400"/>
              </a:spcAft>
            </a:pPr>
            <a:r>
              <a:rPr sz="1150" b="0">
                <a:solidFill>
                  <a:srgbClr val="5B6372"/>
                </a:solidFill>
                <a:latin typeface="Arial"/>
              </a:rPr>
              <a:t>Implicit — whatever you allow</a:t>
            </a:r>
          </a:p>
        </p:txBody>
      </p:sp>
      <p:sp>
        <p:nvSpPr>
          <p:cNvPr id="35" name="Rectangle 34"/>
          <p:cNvSpPr/>
          <p:nvPr/>
        </p:nvSpPr>
        <p:spPr>
          <a:xfrm>
            <a:off x="7476957" y="3707892"/>
            <a:ext cx="3934755" cy="483108"/>
          </a:xfrm>
          <a:prstGeom prst="rect">
            <a:avLst/>
          </a:prstGeom>
          <a:solidFill>
            <a:srgbClr val="FFFFFF"/>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 name="TextBox 35"/>
          <p:cNvSpPr txBox="1"/>
          <p:nvPr/>
        </p:nvSpPr>
        <p:spPr>
          <a:xfrm>
            <a:off x="7604973" y="3707892"/>
            <a:ext cx="3678723" cy="483108"/>
          </a:xfrm>
          <a:prstGeom prst="rect">
            <a:avLst/>
          </a:prstGeom>
          <a:noFill/>
        </p:spPr>
        <p:txBody>
          <a:bodyPr wrap="square" anchor="ctr">
            <a:spAutoFit/>
          </a:bodyPr>
          <a:lstStyle/>
          <a:p>
            <a:pPr algn="l">
              <a:spcAft>
                <a:spcPts val="400"/>
              </a:spcAft>
            </a:pPr>
            <a:r>
              <a:rPr sz="1150" b="0">
                <a:solidFill>
                  <a:srgbClr val="5B6372"/>
                </a:solidFill>
                <a:latin typeface="Arial"/>
              </a:rPr>
              <a:t>Explicit — org chart, roles and approvals</a:t>
            </a:r>
          </a:p>
        </p:txBody>
      </p:sp>
      <p:sp>
        <p:nvSpPr>
          <p:cNvPr id="37" name="Rectangle 36"/>
          <p:cNvSpPr/>
          <p:nvPr/>
        </p:nvSpPr>
        <p:spPr>
          <a:xfrm>
            <a:off x="777240" y="4191000"/>
            <a:ext cx="2764962" cy="483108"/>
          </a:xfrm>
          <a:prstGeom prst="rect">
            <a:avLst/>
          </a:prstGeom>
          <a:solidFill>
            <a:srgbClr val="F5F8FC"/>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 name="TextBox 37"/>
          <p:cNvSpPr txBox="1"/>
          <p:nvPr/>
        </p:nvSpPr>
        <p:spPr>
          <a:xfrm>
            <a:off x="905256" y="4191000"/>
            <a:ext cx="2508930" cy="483108"/>
          </a:xfrm>
          <a:prstGeom prst="rect">
            <a:avLst/>
          </a:prstGeom>
          <a:noFill/>
        </p:spPr>
        <p:txBody>
          <a:bodyPr wrap="square" anchor="ctr">
            <a:spAutoFit/>
          </a:bodyPr>
          <a:lstStyle/>
          <a:p>
            <a:pPr algn="l">
              <a:spcAft>
                <a:spcPts val="400"/>
              </a:spcAft>
            </a:pPr>
            <a:r>
              <a:rPr sz="1150" b="1">
                <a:solidFill>
                  <a:srgbClr val="161B26"/>
                </a:solidFill>
                <a:latin typeface="Arial"/>
              </a:rPr>
              <a:t>Evidence</a:t>
            </a:r>
          </a:p>
        </p:txBody>
      </p:sp>
      <p:sp>
        <p:nvSpPr>
          <p:cNvPr id="39" name="Rectangle 38"/>
          <p:cNvSpPr/>
          <p:nvPr/>
        </p:nvSpPr>
        <p:spPr>
          <a:xfrm>
            <a:off x="3542202" y="4191000"/>
            <a:ext cx="3934755" cy="483108"/>
          </a:xfrm>
          <a:prstGeom prst="rect">
            <a:avLst/>
          </a:prstGeom>
          <a:solidFill>
            <a:srgbClr val="F5F8FC"/>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0" name="TextBox 39"/>
          <p:cNvSpPr txBox="1"/>
          <p:nvPr/>
        </p:nvSpPr>
        <p:spPr>
          <a:xfrm>
            <a:off x="3670218" y="4191000"/>
            <a:ext cx="3678723" cy="483108"/>
          </a:xfrm>
          <a:prstGeom prst="rect">
            <a:avLst/>
          </a:prstGeom>
          <a:noFill/>
        </p:spPr>
        <p:txBody>
          <a:bodyPr wrap="square" anchor="ctr">
            <a:spAutoFit/>
          </a:bodyPr>
          <a:lstStyle/>
          <a:p>
            <a:pPr algn="l">
              <a:spcAft>
                <a:spcPts val="400"/>
              </a:spcAft>
            </a:pPr>
            <a:r>
              <a:rPr sz="1150" b="0">
                <a:solidFill>
                  <a:srgbClr val="5B6372"/>
                </a:solidFill>
                <a:latin typeface="Arial"/>
              </a:rPr>
              <a:t>Scrollback you must trust</a:t>
            </a:r>
          </a:p>
        </p:txBody>
      </p:sp>
      <p:sp>
        <p:nvSpPr>
          <p:cNvPr id="41" name="Rectangle 40"/>
          <p:cNvSpPr/>
          <p:nvPr/>
        </p:nvSpPr>
        <p:spPr>
          <a:xfrm>
            <a:off x="7476957" y="4191000"/>
            <a:ext cx="3934755" cy="483108"/>
          </a:xfrm>
          <a:prstGeom prst="rect">
            <a:avLst/>
          </a:prstGeom>
          <a:solidFill>
            <a:srgbClr val="F5F8FC"/>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2" name="TextBox 41"/>
          <p:cNvSpPr txBox="1"/>
          <p:nvPr/>
        </p:nvSpPr>
        <p:spPr>
          <a:xfrm>
            <a:off x="7604973" y="4191000"/>
            <a:ext cx="3678723" cy="483108"/>
          </a:xfrm>
          <a:prstGeom prst="rect">
            <a:avLst/>
          </a:prstGeom>
          <a:noFill/>
        </p:spPr>
        <p:txBody>
          <a:bodyPr wrap="square" anchor="ctr">
            <a:spAutoFit/>
          </a:bodyPr>
          <a:lstStyle/>
          <a:p>
            <a:pPr algn="l">
              <a:spcAft>
                <a:spcPts val="400"/>
              </a:spcAft>
            </a:pPr>
            <a:r>
              <a:rPr sz="1150" b="0">
                <a:solidFill>
                  <a:srgbClr val="5B6372"/>
                </a:solidFill>
                <a:latin typeface="Arial"/>
              </a:rPr>
              <a:t>Runs, comments, diffs and a durable activity log</a:t>
            </a:r>
          </a:p>
        </p:txBody>
      </p:sp>
      <p:sp>
        <p:nvSpPr>
          <p:cNvPr id="43" name="Rectangle 42"/>
          <p:cNvSpPr/>
          <p:nvPr/>
        </p:nvSpPr>
        <p:spPr>
          <a:xfrm>
            <a:off x="777240" y="4674108"/>
            <a:ext cx="2764962" cy="483108"/>
          </a:xfrm>
          <a:prstGeom prst="rect">
            <a:avLst/>
          </a:prstGeom>
          <a:solidFill>
            <a:srgbClr val="FFFFFF"/>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4" name="TextBox 43"/>
          <p:cNvSpPr txBox="1"/>
          <p:nvPr/>
        </p:nvSpPr>
        <p:spPr>
          <a:xfrm>
            <a:off x="905256" y="4674108"/>
            <a:ext cx="2508930" cy="483108"/>
          </a:xfrm>
          <a:prstGeom prst="rect">
            <a:avLst/>
          </a:prstGeom>
          <a:noFill/>
        </p:spPr>
        <p:txBody>
          <a:bodyPr wrap="square" anchor="ctr">
            <a:spAutoFit/>
          </a:bodyPr>
          <a:lstStyle/>
          <a:p>
            <a:pPr algn="l">
              <a:spcAft>
                <a:spcPts val="400"/>
              </a:spcAft>
            </a:pPr>
            <a:r>
              <a:rPr sz="1150" b="1">
                <a:solidFill>
                  <a:srgbClr val="161B26"/>
                </a:solidFill>
                <a:latin typeface="Arial"/>
              </a:rPr>
              <a:t>Main risk</a:t>
            </a:r>
          </a:p>
        </p:txBody>
      </p:sp>
      <p:sp>
        <p:nvSpPr>
          <p:cNvPr id="45" name="Rectangle 44"/>
          <p:cNvSpPr/>
          <p:nvPr/>
        </p:nvSpPr>
        <p:spPr>
          <a:xfrm>
            <a:off x="3542202" y="4674108"/>
            <a:ext cx="3934755" cy="483108"/>
          </a:xfrm>
          <a:prstGeom prst="rect">
            <a:avLst/>
          </a:prstGeom>
          <a:solidFill>
            <a:srgbClr val="FFFFFF"/>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6" name="TextBox 45"/>
          <p:cNvSpPr txBox="1"/>
          <p:nvPr/>
        </p:nvSpPr>
        <p:spPr>
          <a:xfrm>
            <a:off x="3670218" y="4674108"/>
            <a:ext cx="3678723" cy="483108"/>
          </a:xfrm>
          <a:prstGeom prst="rect">
            <a:avLst/>
          </a:prstGeom>
          <a:noFill/>
        </p:spPr>
        <p:txBody>
          <a:bodyPr wrap="square" anchor="ctr">
            <a:spAutoFit/>
          </a:bodyPr>
          <a:lstStyle/>
          <a:p>
            <a:pPr algn="l">
              <a:spcAft>
                <a:spcPts val="400"/>
              </a:spcAft>
            </a:pPr>
            <a:r>
              <a:rPr sz="1150" b="0">
                <a:solidFill>
                  <a:srgbClr val="5B6372"/>
                </a:solidFill>
                <a:latin typeface="Arial"/>
              </a:rPr>
              <a:t>Context saturation</a:t>
            </a:r>
          </a:p>
        </p:txBody>
      </p:sp>
      <p:sp>
        <p:nvSpPr>
          <p:cNvPr id="47" name="Rectangle 46"/>
          <p:cNvSpPr/>
          <p:nvPr/>
        </p:nvSpPr>
        <p:spPr>
          <a:xfrm>
            <a:off x="7476957" y="4674108"/>
            <a:ext cx="3934755" cy="483108"/>
          </a:xfrm>
          <a:prstGeom prst="rect">
            <a:avLst/>
          </a:prstGeom>
          <a:solidFill>
            <a:srgbClr val="FFFFFF"/>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8" name="TextBox 47"/>
          <p:cNvSpPr txBox="1"/>
          <p:nvPr/>
        </p:nvSpPr>
        <p:spPr>
          <a:xfrm>
            <a:off x="7604973" y="4674108"/>
            <a:ext cx="3678723" cy="483108"/>
          </a:xfrm>
          <a:prstGeom prst="rect">
            <a:avLst/>
          </a:prstGeom>
          <a:noFill/>
        </p:spPr>
        <p:txBody>
          <a:bodyPr wrap="square" anchor="ctr">
            <a:spAutoFit/>
          </a:bodyPr>
          <a:lstStyle/>
          <a:p>
            <a:pPr algn="l">
              <a:spcAft>
                <a:spcPts val="400"/>
              </a:spcAft>
            </a:pPr>
            <a:r>
              <a:rPr sz="1150" b="0">
                <a:solidFill>
                  <a:srgbClr val="5B6372"/>
                </a:solidFill>
                <a:latin typeface="Arial"/>
              </a:rPr>
              <a:t>Coordination overhead you did not need</a:t>
            </a:r>
          </a:p>
        </p:txBody>
      </p:sp>
      <p:sp>
        <p:nvSpPr>
          <p:cNvPr id="49" name="Rectangle 48"/>
          <p:cNvSpPr/>
          <p:nvPr/>
        </p:nvSpPr>
        <p:spPr>
          <a:xfrm>
            <a:off x="777240" y="5358384"/>
            <a:ext cx="10634472" cy="84124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0" name="Rectangle 49"/>
          <p:cNvSpPr/>
          <p:nvPr/>
        </p:nvSpPr>
        <p:spPr>
          <a:xfrm>
            <a:off x="777240" y="5358384"/>
            <a:ext cx="100584" cy="841248"/>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1" name="TextBox 50"/>
          <p:cNvSpPr txBox="1"/>
          <p:nvPr/>
        </p:nvSpPr>
        <p:spPr>
          <a:xfrm>
            <a:off x="1051560" y="5468112"/>
            <a:ext cx="10085832" cy="603504"/>
          </a:xfrm>
          <a:prstGeom prst="rect">
            <a:avLst/>
          </a:prstGeom>
          <a:noFill/>
        </p:spPr>
        <p:txBody>
          <a:bodyPr wrap="square" anchor="t">
            <a:spAutoFit/>
          </a:bodyPr>
          <a:lstStyle/>
          <a:p>
            <a:pPr algn="l">
              <a:spcAft>
                <a:spcPts val="400"/>
              </a:spcAft>
            </a:pPr>
            <a:r>
              <a:rPr sz="1100" b="1">
                <a:solidFill>
                  <a:srgbClr val="1F6FEB"/>
                </a:solidFill>
                <a:latin typeface="Arial"/>
              </a:rPr>
              <a:t>WHEN IT MATTERS  </a:t>
            </a:r>
            <a:r>
              <a:rPr sz="1200" b="0">
                <a:solidFill>
                  <a:srgbClr val="161B26"/>
                </a:solidFill>
                <a:latin typeface="Arial"/>
              </a:rPr>
              <a:t>The right answer is often still ONE agent. Reach for the company when the work has genuinely separable roles that must each be evidenced.</a:t>
            </a:r>
          </a:p>
        </p:txBody>
      </p:sp>
      <p:sp>
        <p:nvSpPr>
          <p:cNvPr id="52" name="TextBox 51"/>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Manage AI Agents with Paperclip (TGS-2023036646)  ·  TGS-2023036646</a:t>
            </a:r>
          </a:p>
        </p:txBody>
      </p:sp>
      <p:sp>
        <p:nvSpPr>
          <p:cNvPr id="53" name="TextBox 52"/>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54" name="TextBox 53"/>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29</a:t>
            </a:r>
          </a:p>
        </p:txBody>
      </p:sp>
    </p:spTree>
  </p:cSld>
  <p:clrMapOvr>
    <a:masterClrMapping/>
  </p:clrMapOvr>
  <p:transition spd="fast" advClick="1">
    <p:fade/>
  </p:transition>
</p:sld>
</file>

<file path=ppt/slides/slide3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1F6FEB"/>
                </a:solidFill>
                <a:latin typeface="Arial"/>
              </a:rPr>
              <a:t>LESSON PLAN · TIME ALLOCATION</a:t>
            </a:r>
          </a:p>
        </p:txBody>
      </p:sp>
      <p:sp>
        <p:nvSpPr>
          <p:cNvPr id="5" name="TextBox 4"/>
          <p:cNvSpPr txBox="1"/>
          <p:nvPr/>
        </p:nvSpPr>
        <p:spPr>
          <a:xfrm>
            <a:off x="777240" y="804672"/>
            <a:ext cx="10881360" cy="713232"/>
          </a:xfrm>
          <a:prstGeom prst="rect">
            <a:avLst/>
          </a:prstGeom>
          <a:noFill/>
        </p:spPr>
        <p:txBody>
          <a:bodyPr wrap="square" anchor="ctr">
            <a:spAutoFit/>
          </a:bodyPr>
          <a:lstStyle/>
          <a:p>
            <a:pPr algn="l">
              <a:spcAft>
                <a:spcPts val="400"/>
              </a:spcAft>
            </a:pPr>
            <a:r>
              <a:rPr sz="2900" b="1">
                <a:solidFill>
                  <a:srgbClr val="161B26"/>
                </a:solidFill>
                <a:latin typeface="Arial"/>
              </a:rPr>
              <a:t>Where Course Time Goes — Topic Weighting</a:t>
            </a:r>
          </a:p>
        </p:txBody>
      </p:sp>
      <p:sp>
        <p:nvSpPr>
          <p:cNvPr id="6" name="Rectangle 5"/>
          <p:cNvSpPr/>
          <p:nvPr/>
        </p:nvSpPr>
        <p:spPr>
          <a:xfrm>
            <a:off x="777240" y="155448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graphicFrame>
        <p:nvGraphicFramePr>
          <p:cNvPr id="7" name="Chart 6"/>
          <p:cNvGraphicFramePr>
            <a:graphicFrameLocks noGrp="1"/>
          </p:cNvGraphicFramePr>
          <p:nvPr/>
        </p:nvGraphicFramePr>
        <p:xfrm>
          <a:off x="777240" y="1783080"/>
          <a:ext cx="10634472" cy="3246120"/>
        </p:xfrm>
        <a:graphic>
          <a:graphicData uri="http://schemas.openxmlformats.org/drawingml/2006/chart">
            <c:chart xmlns:c="http://schemas.openxmlformats.org/drawingml/2006/chart" r:id="rId2"/>
          </a:graphicData>
        </a:graphic>
      </p:graphicFrame>
      <p:sp>
        <p:nvSpPr>
          <p:cNvPr id="8" name="Rectangle 7"/>
          <p:cNvSpPr/>
          <p:nvPr/>
        </p:nvSpPr>
        <p:spPr>
          <a:xfrm>
            <a:off x="777240" y="5230368"/>
            <a:ext cx="10634472" cy="100584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777240" y="5230368"/>
            <a:ext cx="100584" cy="100584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1051560" y="5340096"/>
            <a:ext cx="10149840" cy="274320"/>
          </a:xfrm>
          <a:prstGeom prst="rect">
            <a:avLst/>
          </a:prstGeom>
          <a:noFill/>
        </p:spPr>
        <p:txBody>
          <a:bodyPr wrap="square" anchor="t">
            <a:spAutoFit/>
          </a:bodyPr>
          <a:lstStyle/>
          <a:p>
            <a:pPr algn="l">
              <a:spcAft>
                <a:spcPts val="400"/>
              </a:spcAft>
            </a:pPr>
            <a:r>
              <a:rPr sz="1100" b="1">
                <a:solidFill>
                  <a:srgbClr val="1F6FEB"/>
                </a:solidFill>
                <a:latin typeface="Arial"/>
              </a:rPr>
              <a:t>WHAT THE DATA SHOWS</a:t>
            </a:r>
          </a:p>
        </p:txBody>
      </p:sp>
      <p:sp>
        <p:nvSpPr>
          <p:cNvPr id="11" name="TextBox 10"/>
          <p:cNvSpPr txBox="1"/>
          <p:nvPr/>
        </p:nvSpPr>
        <p:spPr>
          <a:xfrm>
            <a:off x="1051560" y="5632704"/>
            <a:ext cx="10149840" cy="548640"/>
          </a:xfrm>
          <a:prstGeom prst="rect">
            <a:avLst/>
          </a:prstGeom>
          <a:noFill/>
        </p:spPr>
        <p:txBody>
          <a:bodyPr wrap="square" anchor="t">
            <a:spAutoFit/>
          </a:bodyPr>
          <a:lstStyle/>
          <a:p>
            <a:pPr algn="l">
              <a:spcAft>
                <a:spcPts val="400"/>
              </a:spcAft>
            </a:pPr>
            <a:r>
              <a:rPr sz="1200" b="0">
                <a:solidFill>
                  <a:srgbClr val="161B26"/>
                </a:solidFill>
                <a:latin typeface="Arial"/>
              </a:rPr>
              <a:t>The four topics carry equal weighting — but Topics 3 and 4 are where the assessable practical skill sits, because that is where governance and verification are actually exercised.</a:t>
            </a:r>
          </a:p>
        </p:txBody>
      </p:sp>
      <p:sp>
        <p:nvSpPr>
          <p:cNvPr id="12" name="TextBox 11"/>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Manage AI Agents with Paperclip (TGS-2023036646)  ·  TGS-2023036646</a:t>
            </a:r>
          </a:p>
        </p:txBody>
      </p:sp>
      <p:sp>
        <p:nvSpPr>
          <p:cNvPr id="13" name="TextBox 12"/>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14" name="TextBox 13"/>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30</a:t>
            </a:r>
          </a:p>
        </p:txBody>
      </p:sp>
    </p:spTree>
  </p:cSld>
  <p:clrMapOvr>
    <a:masterClrMapping/>
  </p:clrMapOvr>
  <p:transition spd="fast" advClick="1">
    <p:fade/>
  </p:transition>
</p:sld>
</file>

<file path=ppt/slides/slide3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685800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777240" y="2286000"/>
            <a:ext cx="128016" cy="182880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1143000" y="2331720"/>
            <a:ext cx="10058400" cy="548640"/>
          </a:xfrm>
          <a:prstGeom prst="rect">
            <a:avLst/>
          </a:prstGeom>
          <a:noFill/>
        </p:spPr>
        <p:txBody>
          <a:bodyPr wrap="square" anchor="t">
            <a:spAutoFit/>
          </a:bodyPr>
          <a:lstStyle/>
          <a:p>
            <a:pPr algn="l">
              <a:spcAft>
                <a:spcPts val="400"/>
              </a:spcAft>
            </a:pPr>
            <a:r>
              <a:rPr sz="1800" b="1">
                <a:solidFill>
                  <a:srgbClr val="1F6FEB"/>
                </a:solidFill>
                <a:latin typeface="Arial"/>
              </a:rPr>
              <a:t>TOPIC 01</a:t>
            </a:r>
          </a:p>
        </p:txBody>
      </p:sp>
      <p:sp>
        <p:nvSpPr>
          <p:cNvPr id="6" name="TextBox 5"/>
          <p:cNvSpPr txBox="1"/>
          <p:nvPr/>
        </p:nvSpPr>
        <p:spPr>
          <a:xfrm>
            <a:off x="1143000" y="2743200"/>
            <a:ext cx="10424160" cy="1463040"/>
          </a:xfrm>
          <a:prstGeom prst="rect">
            <a:avLst/>
          </a:prstGeom>
          <a:noFill/>
        </p:spPr>
        <p:txBody>
          <a:bodyPr wrap="square" anchor="t">
            <a:spAutoFit/>
          </a:bodyPr>
          <a:lstStyle/>
          <a:p>
            <a:pPr algn="l">
              <a:spcAft>
                <a:spcPts val="400"/>
              </a:spcAft>
            </a:pPr>
            <a:r>
              <a:rPr sz="4000" b="1">
                <a:solidFill>
                  <a:srgbClr val="161B26"/>
                </a:solidFill>
                <a:latin typeface="Arial"/>
              </a:rPr>
              <a:t>Fundamentals of Agentic AI and Paperclip</a:t>
            </a:r>
          </a:p>
        </p:txBody>
      </p:sp>
      <p:sp>
        <p:nvSpPr>
          <p:cNvPr id="7" name="TextBox 6"/>
          <p:cNvSpPr txBox="1"/>
          <p:nvPr/>
        </p:nvSpPr>
        <p:spPr>
          <a:xfrm>
            <a:off x="1161288" y="4160520"/>
            <a:ext cx="10058400" cy="731520"/>
          </a:xfrm>
          <a:prstGeom prst="rect">
            <a:avLst/>
          </a:prstGeom>
          <a:noFill/>
        </p:spPr>
        <p:txBody>
          <a:bodyPr wrap="square" anchor="t">
            <a:spAutoFit/>
          </a:bodyPr>
          <a:lstStyle/>
          <a:p>
            <a:pPr algn="l">
              <a:spcAft>
                <a:spcPts val="400"/>
              </a:spcAft>
            </a:pPr>
            <a:r>
              <a:rPr sz="1600" b="0">
                <a:solidFill>
                  <a:srgbClr val="5B6372"/>
                </a:solidFill>
                <a:latin typeface="Arial"/>
              </a:rPr>
              <a:t>Agentic AI foundations · the control-plane model · the twelve subsystems · feasibility and when NOT to use multi-agent</a:t>
            </a:r>
          </a:p>
        </p:txBody>
      </p:sp>
      <p:sp>
        <p:nvSpPr>
          <p:cNvPr id="8" name="TextBox 7"/>
          <p:cNvSpPr txBox="1"/>
          <p:nvPr/>
        </p:nvSpPr>
        <p:spPr>
          <a:xfrm>
            <a:off x="9144000" y="640080"/>
            <a:ext cx="2560320" cy="1463040"/>
          </a:xfrm>
          <a:prstGeom prst="rect">
            <a:avLst/>
          </a:prstGeom>
          <a:noFill/>
        </p:spPr>
        <p:txBody>
          <a:bodyPr wrap="square" anchor="t">
            <a:spAutoFit/>
          </a:bodyPr>
          <a:lstStyle/>
          <a:p>
            <a:pPr algn="r">
              <a:spcAft>
                <a:spcPts val="400"/>
              </a:spcAft>
            </a:pPr>
            <a:r>
              <a:rPr sz="7200" b="1">
                <a:solidFill>
                  <a:srgbClr val="E2E8F0"/>
                </a:solidFill>
                <a:latin typeface="Arial"/>
              </a:rPr>
              <a:t>01</a:t>
            </a:r>
          </a:p>
        </p:txBody>
      </p:sp>
      <p:sp>
        <p:nvSpPr>
          <p:cNvPr id="9" name="TextBox 8"/>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Manage AI Agents with Paperclip (TGS-2023036646)  ·  TGS-2023036646</a:t>
            </a:r>
          </a:p>
        </p:txBody>
      </p:sp>
      <p:sp>
        <p:nvSpPr>
          <p:cNvPr id="10" name="TextBox 9"/>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11" name="TextBox 10"/>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31</a:t>
            </a:r>
          </a:p>
        </p:txBody>
      </p:sp>
    </p:spTree>
  </p:cSld>
  <p:clrMapOvr>
    <a:masterClrMapping/>
  </p:clrMapOvr>
  <p:transition spd="med" advClick="1">
    <p:push dir="l"/>
  </p:transition>
</p:sld>
</file>

<file path=ppt/slides/slide3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1F6FEB"/>
                </a:solidFill>
                <a:latin typeface="Arial"/>
              </a:rPr>
              <a:t>TOPIC WEIGHTING 25%</a:t>
            </a:r>
          </a:p>
        </p:txBody>
      </p:sp>
      <p:sp>
        <p:nvSpPr>
          <p:cNvPr id="5" name="TextBox 4"/>
          <p:cNvSpPr txBox="1"/>
          <p:nvPr/>
        </p:nvSpPr>
        <p:spPr>
          <a:xfrm>
            <a:off x="777240" y="804672"/>
            <a:ext cx="10881360" cy="713232"/>
          </a:xfrm>
          <a:prstGeom prst="rect">
            <a:avLst/>
          </a:prstGeom>
          <a:noFill/>
        </p:spPr>
        <p:txBody>
          <a:bodyPr wrap="square" anchor="ctr">
            <a:spAutoFit/>
          </a:bodyPr>
          <a:lstStyle/>
          <a:p>
            <a:pPr algn="l">
              <a:spcAft>
                <a:spcPts val="400"/>
              </a:spcAft>
            </a:pPr>
            <a:r>
              <a:rPr sz="2500" b="1">
                <a:solidFill>
                  <a:srgbClr val="161B26"/>
                </a:solidFill>
                <a:latin typeface="Arial"/>
              </a:rPr>
              <a:t>Key Concepts — Fundamentals of Agentic AI and Paperclip</a:t>
            </a:r>
          </a:p>
        </p:txBody>
      </p:sp>
      <p:sp>
        <p:nvSpPr>
          <p:cNvPr id="6" name="Rectangle 5"/>
          <p:cNvSpPr/>
          <p:nvPr/>
        </p:nvSpPr>
        <p:spPr>
          <a:xfrm>
            <a:off x="777240" y="155448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77240" y="1783080"/>
            <a:ext cx="5180076" cy="2066544"/>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777240" y="1783080"/>
            <a:ext cx="91440" cy="2066544"/>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Oval 8"/>
          <p:cNvSpPr/>
          <p:nvPr/>
        </p:nvSpPr>
        <p:spPr>
          <a:xfrm>
            <a:off x="1033272" y="2542032"/>
            <a:ext cx="548640" cy="548640"/>
          </a:xfrm>
          <a:prstGeom prst="ellipse">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1033272" y="2542032"/>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1</a:t>
            </a:r>
          </a:p>
        </p:txBody>
      </p:sp>
      <p:sp>
        <p:nvSpPr>
          <p:cNvPr id="11" name="TextBox 10"/>
          <p:cNvSpPr txBox="1"/>
          <p:nvPr/>
        </p:nvSpPr>
        <p:spPr>
          <a:xfrm>
            <a:off x="1764792" y="1874520"/>
            <a:ext cx="3973068" cy="1920240"/>
          </a:xfrm>
          <a:prstGeom prst="rect">
            <a:avLst/>
          </a:prstGeom>
          <a:noFill/>
        </p:spPr>
        <p:txBody>
          <a:bodyPr wrap="square" anchor="ctr">
            <a:spAutoFit/>
          </a:bodyPr>
          <a:lstStyle/>
          <a:p>
            <a:pPr algn="l">
              <a:spcAft>
                <a:spcPts val="400"/>
              </a:spcAft>
            </a:pPr>
            <a:r>
              <a:rPr sz="1300" b="0">
                <a:solidFill>
                  <a:srgbClr val="161B26"/>
                </a:solidFill>
                <a:latin typeface="Arial"/>
              </a:rPr>
              <a:t>Agentic AI adds reasoning, tool use, memory and autonomy on top of a language model, so the system completes work rather than only producing text.</a:t>
            </a:r>
          </a:p>
        </p:txBody>
      </p:sp>
      <p:sp>
        <p:nvSpPr>
          <p:cNvPr id="12" name="Rectangle 11"/>
          <p:cNvSpPr/>
          <p:nvPr/>
        </p:nvSpPr>
        <p:spPr>
          <a:xfrm>
            <a:off x="6231636" y="1783080"/>
            <a:ext cx="5180076" cy="2066544"/>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6231636" y="1783080"/>
            <a:ext cx="91440" cy="2066544"/>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Oval 13"/>
          <p:cNvSpPr/>
          <p:nvPr/>
        </p:nvSpPr>
        <p:spPr>
          <a:xfrm>
            <a:off x="6487668" y="2542032"/>
            <a:ext cx="548640" cy="548640"/>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487668" y="2542032"/>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2</a:t>
            </a:r>
          </a:p>
        </p:txBody>
      </p:sp>
      <p:sp>
        <p:nvSpPr>
          <p:cNvPr id="16" name="TextBox 15"/>
          <p:cNvSpPr txBox="1"/>
          <p:nvPr/>
        </p:nvSpPr>
        <p:spPr>
          <a:xfrm>
            <a:off x="7219188" y="1874520"/>
            <a:ext cx="3973068" cy="1920240"/>
          </a:xfrm>
          <a:prstGeom prst="rect">
            <a:avLst/>
          </a:prstGeom>
          <a:noFill/>
        </p:spPr>
        <p:txBody>
          <a:bodyPr wrap="square" anchor="ctr">
            <a:spAutoFit/>
          </a:bodyPr>
          <a:lstStyle/>
          <a:p>
            <a:pPr algn="l">
              <a:spcAft>
                <a:spcPts val="400"/>
              </a:spcAft>
            </a:pPr>
            <a:r>
              <a:rPr sz="1300" b="0">
                <a:solidFill>
                  <a:srgbClr val="161B26"/>
                </a:solidFill>
                <a:latin typeface="Arial"/>
              </a:rPr>
              <a:t>Paperclip is an organisational control plane — a Node.js server with a React UI that coordinates agents, goals, work, cost and governance. It is not an agent framework and it does not perform the reasoning itself.</a:t>
            </a:r>
          </a:p>
        </p:txBody>
      </p:sp>
      <p:sp>
        <p:nvSpPr>
          <p:cNvPr id="17" name="Rectangle 16"/>
          <p:cNvSpPr/>
          <p:nvPr/>
        </p:nvSpPr>
        <p:spPr>
          <a:xfrm>
            <a:off x="777240" y="4087368"/>
            <a:ext cx="5180076" cy="2066544"/>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777240" y="4087368"/>
            <a:ext cx="91440" cy="2066544"/>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Oval 18"/>
          <p:cNvSpPr/>
          <p:nvPr/>
        </p:nvSpPr>
        <p:spPr>
          <a:xfrm>
            <a:off x="1033272" y="4846320"/>
            <a:ext cx="548640" cy="548640"/>
          </a:xfrm>
          <a:prstGeom prst="ellipse">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1033272" y="4846320"/>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3</a:t>
            </a:r>
          </a:p>
        </p:txBody>
      </p:sp>
      <p:sp>
        <p:nvSpPr>
          <p:cNvPr id="21" name="TextBox 20"/>
          <p:cNvSpPr txBox="1"/>
          <p:nvPr/>
        </p:nvSpPr>
        <p:spPr>
          <a:xfrm>
            <a:off x="1764792" y="4178808"/>
            <a:ext cx="3973068" cy="1920240"/>
          </a:xfrm>
          <a:prstGeom prst="rect">
            <a:avLst/>
          </a:prstGeom>
          <a:noFill/>
        </p:spPr>
        <p:txBody>
          <a:bodyPr wrap="square" anchor="ctr">
            <a:spAutoFit/>
          </a:bodyPr>
          <a:lstStyle/>
          <a:p>
            <a:pPr algn="l">
              <a:spcAft>
                <a:spcPts val="400"/>
              </a:spcAft>
            </a:pPr>
            <a:r>
              <a:rPr sz="1300" b="0">
                <a:solidFill>
                  <a:srgbClr val="161B26"/>
                </a:solidFill>
                <a:latin typeface="Arial"/>
              </a:rPr>
              <a:t>The defining separation: Paperclip manages the company; adapters run the agents. Organisational authority, runtime capability and verification evidence stay apart.</a:t>
            </a:r>
          </a:p>
        </p:txBody>
      </p:sp>
      <p:sp>
        <p:nvSpPr>
          <p:cNvPr id="22" name="Rectangle 21"/>
          <p:cNvSpPr/>
          <p:nvPr/>
        </p:nvSpPr>
        <p:spPr>
          <a:xfrm>
            <a:off x="6231636" y="4087368"/>
            <a:ext cx="5180076" cy="2066544"/>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ectangle 22"/>
          <p:cNvSpPr/>
          <p:nvPr/>
        </p:nvSpPr>
        <p:spPr>
          <a:xfrm>
            <a:off x="6231636" y="4087368"/>
            <a:ext cx="91440" cy="2066544"/>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Oval 23"/>
          <p:cNvSpPr/>
          <p:nvPr/>
        </p:nvSpPr>
        <p:spPr>
          <a:xfrm>
            <a:off x="6487668" y="4846320"/>
            <a:ext cx="548640" cy="548640"/>
          </a:xfrm>
          <a:prstGeom prst="ellipse">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6487668" y="4846320"/>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4</a:t>
            </a:r>
          </a:p>
        </p:txBody>
      </p:sp>
      <p:sp>
        <p:nvSpPr>
          <p:cNvPr id="26" name="TextBox 25"/>
          <p:cNvSpPr txBox="1"/>
          <p:nvPr/>
        </p:nvSpPr>
        <p:spPr>
          <a:xfrm>
            <a:off x="7219188" y="4178808"/>
            <a:ext cx="3973068" cy="1920240"/>
          </a:xfrm>
          <a:prstGeom prst="rect">
            <a:avLst/>
          </a:prstGeom>
          <a:noFill/>
        </p:spPr>
        <p:txBody>
          <a:bodyPr wrap="square" anchor="ctr">
            <a:spAutoFit/>
          </a:bodyPr>
          <a:lstStyle/>
          <a:p>
            <a:pPr algn="l">
              <a:spcAft>
                <a:spcPts val="400"/>
              </a:spcAft>
            </a:pPr>
            <a:r>
              <a:rPr sz="1300" b="0">
                <a:solidFill>
                  <a:srgbClr val="161B26"/>
                </a:solidFill>
                <a:latin typeface="Arial"/>
              </a:rPr>
              <a:t>A company is the boundary for one mission, its human members, AI employees, projects, issues, budget and activity history. One deployment holds many companies.</a:t>
            </a:r>
          </a:p>
        </p:txBody>
      </p:sp>
      <p:sp>
        <p:nvSpPr>
          <p:cNvPr id="27" name="TextBox 26"/>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Manage AI Agents with Paperclip (TGS-2023036646)  ·  TGS-2023036646</a:t>
            </a:r>
          </a:p>
        </p:txBody>
      </p:sp>
      <p:sp>
        <p:nvSpPr>
          <p:cNvPr id="28" name="TextBox 27"/>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29" name="TextBox 28"/>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32</a:t>
            </a:r>
          </a:p>
        </p:txBody>
      </p:sp>
    </p:spTree>
  </p:cSld>
  <p:clrMapOvr>
    <a:masterClrMapping/>
  </p:clrMapOvr>
  <p:transition spd="fast" advClick="1">
    <p:fade/>
  </p:transition>
</p:sld>
</file>

<file path=ppt/slides/slide3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1F6FEB"/>
                </a:solidFill>
                <a:latin typeface="Arial"/>
              </a:rPr>
              <a:t>TOPIC WEIGHTING 25%</a:t>
            </a:r>
          </a:p>
        </p:txBody>
      </p:sp>
      <p:sp>
        <p:nvSpPr>
          <p:cNvPr id="5" name="TextBox 4"/>
          <p:cNvSpPr txBox="1"/>
          <p:nvPr/>
        </p:nvSpPr>
        <p:spPr>
          <a:xfrm>
            <a:off x="777240" y="804672"/>
            <a:ext cx="10881360" cy="713232"/>
          </a:xfrm>
          <a:prstGeom prst="rect">
            <a:avLst/>
          </a:prstGeom>
          <a:noFill/>
        </p:spPr>
        <p:txBody>
          <a:bodyPr wrap="square" anchor="ctr">
            <a:spAutoFit/>
          </a:bodyPr>
          <a:lstStyle/>
          <a:p>
            <a:pPr algn="l">
              <a:spcAft>
                <a:spcPts val="400"/>
              </a:spcAft>
            </a:pPr>
            <a:r>
              <a:rPr sz="2200" b="1">
                <a:solidFill>
                  <a:srgbClr val="161B26"/>
                </a:solidFill>
                <a:latin typeface="Arial"/>
              </a:rPr>
              <a:t>Key Concepts — Fundamentals of Agentic AI and Paperclip (continued)</a:t>
            </a:r>
          </a:p>
        </p:txBody>
      </p:sp>
      <p:sp>
        <p:nvSpPr>
          <p:cNvPr id="6" name="Rectangle 5"/>
          <p:cNvSpPr/>
          <p:nvPr/>
        </p:nvSpPr>
        <p:spPr>
          <a:xfrm>
            <a:off x="777240" y="155448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77240" y="1783080"/>
            <a:ext cx="5180076" cy="2066544"/>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777240" y="1783080"/>
            <a:ext cx="91440" cy="2066544"/>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Oval 8"/>
          <p:cNvSpPr/>
          <p:nvPr/>
        </p:nvSpPr>
        <p:spPr>
          <a:xfrm>
            <a:off x="1033272" y="2542032"/>
            <a:ext cx="548640" cy="548640"/>
          </a:xfrm>
          <a:prstGeom prst="ellipse">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1033272" y="2542032"/>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1</a:t>
            </a:r>
          </a:p>
        </p:txBody>
      </p:sp>
      <p:sp>
        <p:nvSpPr>
          <p:cNvPr id="11" name="TextBox 10"/>
          <p:cNvSpPr txBox="1"/>
          <p:nvPr/>
        </p:nvSpPr>
        <p:spPr>
          <a:xfrm>
            <a:off x="1764792" y="1874520"/>
            <a:ext cx="3973068" cy="1920240"/>
          </a:xfrm>
          <a:prstGeom prst="rect">
            <a:avLst/>
          </a:prstGeom>
          <a:noFill/>
        </p:spPr>
        <p:txBody>
          <a:bodyPr wrap="square" anchor="ctr">
            <a:spAutoFit/>
          </a:bodyPr>
          <a:lstStyle/>
          <a:p>
            <a:pPr algn="l">
              <a:spcAft>
                <a:spcPts val="400"/>
              </a:spcAft>
            </a:pPr>
            <a:r>
              <a:rPr sz="1300" b="0">
                <a:solidFill>
                  <a:srgbClr val="161B26"/>
                </a:solidFill>
                <a:latin typeface="Arial"/>
              </a:rPr>
              <a:t>The four pillars are the agentic task manager, the org chart for agents, agent employee training (skills and evaluations) and the agentic OS (runtime, sandboxing, MCP, RBAC and cost control).</a:t>
            </a:r>
          </a:p>
        </p:txBody>
      </p:sp>
      <p:sp>
        <p:nvSpPr>
          <p:cNvPr id="12" name="Rectangle 11"/>
          <p:cNvSpPr/>
          <p:nvPr/>
        </p:nvSpPr>
        <p:spPr>
          <a:xfrm>
            <a:off x="6231636" y="1783080"/>
            <a:ext cx="5180076" cy="2066544"/>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6231636" y="1783080"/>
            <a:ext cx="91440" cy="2066544"/>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Oval 13"/>
          <p:cNvSpPr/>
          <p:nvPr/>
        </p:nvSpPr>
        <p:spPr>
          <a:xfrm>
            <a:off x="6487668" y="2542032"/>
            <a:ext cx="548640" cy="548640"/>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487668" y="2542032"/>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2</a:t>
            </a:r>
          </a:p>
        </p:txBody>
      </p:sp>
      <p:sp>
        <p:nvSpPr>
          <p:cNvPr id="16" name="TextBox 15"/>
          <p:cNvSpPr txBox="1"/>
          <p:nvPr/>
        </p:nvSpPr>
        <p:spPr>
          <a:xfrm>
            <a:off x="7219188" y="1874520"/>
            <a:ext cx="3973068" cy="1920240"/>
          </a:xfrm>
          <a:prstGeom prst="rect">
            <a:avLst/>
          </a:prstGeom>
          <a:noFill/>
        </p:spPr>
        <p:txBody>
          <a:bodyPr wrap="square" anchor="ctr">
            <a:spAutoFit/>
          </a:bodyPr>
          <a:lstStyle/>
          <a:p>
            <a:pPr algn="l">
              <a:spcAft>
                <a:spcPts val="400"/>
              </a:spcAft>
            </a:pPr>
            <a:r>
              <a:rPr sz="1300" b="0">
                <a:solidFill>
                  <a:srgbClr val="161B26"/>
                </a:solidFill>
                <a:latin typeface="Arial"/>
              </a:rPr>
              <a:t>Twelve subsystems make up the platform: identity, org chart, work, heartbeat, workspaces, governance, budget, routines, plugins, secrets, activity and portability.</a:t>
            </a:r>
          </a:p>
        </p:txBody>
      </p:sp>
      <p:sp>
        <p:nvSpPr>
          <p:cNvPr id="17" name="Rectangle 16"/>
          <p:cNvSpPr/>
          <p:nvPr/>
        </p:nvSpPr>
        <p:spPr>
          <a:xfrm>
            <a:off x="777240" y="4087368"/>
            <a:ext cx="5180076" cy="2066544"/>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777240" y="4087368"/>
            <a:ext cx="91440" cy="2066544"/>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Oval 18"/>
          <p:cNvSpPr/>
          <p:nvPr/>
        </p:nvSpPr>
        <p:spPr>
          <a:xfrm>
            <a:off x="1033272" y="4846320"/>
            <a:ext cx="548640" cy="548640"/>
          </a:xfrm>
          <a:prstGeom prst="ellipse">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1033272" y="4846320"/>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3</a:t>
            </a:r>
          </a:p>
        </p:txBody>
      </p:sp>
      <p:sp>
        <p:nvSpPr>
          <p:cNvPr id="21" name="TextBox 20"/>
          <p:cNvSpPr txBox="1"/>
          <p:nvPr/>
        </p:nvSpPr>
        <p:spPr>
          <a:xfrm>
            <a:off x="1764792" y="4178808"/>
            <a:ext cx="3973068" cy="1920240"/>
          </a:xfrm>
          <a:prstGeom prst="rect">
            <a:avLst/>
          </a:prstGeom>
          <a:noFill/>
        </p:spPr>
        <p:txBody>
          <a:bodyPr wrap="square" anchor="ctr">
            <a:spAutoFit/>
          </a:bodyPr>
          <a:lstStyle/>
          <a:p>
            <a:pPr algn="l">
              <a:spcAft>
                <a:spcPts val="400"/>
              </a:spcAft>
            </a:pPr>
            <a:r>
              <a:rPr sz="1300" b="0">
                <a:solidFill>
                  <a:srgbClr val="161B26"/>
                </a:solidFill>
                <a:latin typeface="Arial"/>
              </a:rPr>
              <a:t>A heartbeat is a bounded execution window with FIVE triggers: a schedule/interval tick, a task assignment, an @-mention in a comment, a manual Run Heartbeat, or an approval being resolved. Between heartbeats the agent is dormant — not idling and not billing.</a:t>
            </a:r>
          </a:p>
        </p:txBody>
      </p:sp>
      <p:sp>
        <p:nvSpPr>
          <p:cNvPr id="22" name="Rectangle 21"/>
          <p:cNvSpPr/>
          <p:nvPr/>
        </p:nvSpPr>
        <p:spPr>
          <a:xfrm>
            <a:off x="6231636" y="4087368"/>
            <a:ext cx="5180076" cy="2066544"/>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ectangle 22"/>
          <p:cNvSpPr/>
          <p:nvPr/>
        </p:nvSpPr>
        <p:spPr>
          <a:xfrm>
            <a:off x="6231636" y="4087368"/>
            <a:ext cx="91440" cy="2066544"/>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Oval 23"/>
          <p:cNvSpPr/>
          <p:nvPr/>
        </p:nvSpPr>
        <p:spPr>
          <a:xfrm>
            <a:off x="6487668" y="4846320"/>
            <a:ext cx="548640" cy="548640"/>
          </a:xfrm>
          <a:prstGeom prst="ellipse">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6487668" y="4846320"/>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4</a:t>
            </a:r>
          </a:p>
        </p:txBody>
      </p:sp>
      <p:sp>
        <p:nvSpPr>
          <p:cNvPr id="26" name="TextBox 25"/>
          <p:cNvSpPr txBox="1"/>
          <p:nvPr/>
        </p:nvSpPr>
        <p:spPr>
          <a:xfrm>
            <a:off x="7219188" y="4178808"/>
            <a:ext cx="3973068" cy="1920240"/>
          </a:xfrm>
          <a:prstGeom prst="rect">
            <a:avLst/>
          </a:prstGeom>
          <a:noFill/>
        </p:spPr>
        <p:txBody>
          <a:bodyPr wrap="square" anchor="ctr">
            <a:spAutoFit/>
          </a:bodyPr>
          <a:lstStyle/>
          <a:p>
            <a:pPr algn="l">
              <a:spcAft>
                <a:spcPts val="400"/>
              </a:spcAft>
            </a:pPr>
            <a:r>
              <a:rPr sz="1300" b="0">
                <a:solidFill>
                  <a:srgbClr val="161B26"/>
                </a:solidFill>
                <a:latin typeface="Arial"/>
              </a:rPr>
              <a:t>Work is checked out atomically with an execution lock, so two heartbeats can never double-work the same issue or race past a budget ceiling.</a:t>
            </a:r>
          </a:p>
        </p:txBody>
      </p:sp>
      <p:sp>
        <p:nvSpPr>
          <p:cNvPr id="27" name="TextBox 26"/>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Manage AI Agents with Paperclip (TGS-2023036646)  ·  TGS-2023036646</a:t>
            </a:r>
          </a:p>
        </p:txBody>
      </p:sp>
      <p:sp>
        <p:nvSpPr>
          <p:cNvPr id="28" name="TextBox 27"/>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29" name="TextBox 28"/>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33</a:t>
            </a:r>
          </a:p>
        </p:txBody>
      </p:sp>
    </p:spTree>
  </p:cSld>
  <p:clrMapOvr>
    <a:masterClrMapping/>
  </p:clrMapOvr>
  <p:transition spd="fast" advClick="1">
    <p:fade/>
  </p:transition>
</p:sld>
</file>

<file path=ppt/slides/slide3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1F6FEB"/>
                </a:solidFill>
                <a:latin typeface="Arial"/>
              </a:rPr>
              <a:t>TOPIC WEIGHTING 25%</a:t>
            </a:r>
          </a:p>
        </p:txBody>
      </p:sp>
      <p:sp>
        <p:nvSpPr>
          <p:cNvPr id="5" name="TextBox 4"/>
          <p:cNvSpPr txBox="1"/>
          <p:nvPr/>
        </p:nvSpPr>
        <p:spPr>
          <a:xfrm>
            <a:off x="777240" y="804672"/>
            <a:ext cx="10881360" cy="713232"/>
          </a:xfrm>
          <a:prstGeom prst="rect">
            <a:avLst/>
          </a:prstGeom>
          <a:noFill/>
        </p:spPr>
        <p:txBody>
          <a:bodyPr wrap="square" anchor="ctr">
            <a:spAutoFit/>
          </a:bodyPr>
          <a:lstStyle/>
          <a:p>
            <a:pPr algn="l">
              <a:spcAft>
                <a:spcPts val="400"/>
              </a:spcAft>
            </a:pPr>
            <a:r>
              <a:rPr sz="2200" b="1">
                <a:solidFill>
                  <a:srgbClr val="161B26"/>
                </a:solidFill>
                <a:latin typeface="Arial"/>
              </a:rPr>
              <a:t>Key Concepts — Fundamentals of Agentic AI and Paperclip (continued)</a:t>
            </a:r>
          </a:p>
        </p:txBody>
      </p:sp>
      <p:sp>
        <p:nvSpPr>
          <p:cNvPr id="6" name="Rectangle 5"/>
          <p:cNvSpPr/>
          <p:nvPr/>
        </p:nvSpPr>
        <p:spPr>
          <a:xfrm>
            <a:off x="777240" y="155448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77240" y="1783080"/>
            <a:ext cx="5180076" cy="2066544"/>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777240" y="1783080"/>
            <a:ext cx="91440" cy="2066544"/>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Oval 8"/>
          <p:cNvSpPr/>
          <p:nvPr/>
        </p:nvSpPr>
        <p:spPr>
          <a:xfrm>
            <a:off x="1033272" y="2542032"/>
            <a:ext cx="548640" cy="548640"/>
          </a:xfrm>
          <a:prstGeom prst="ellipse">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1033272" y="2542032"/>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1</a:t>
            </a:r>
          </a:p>
        </p:txBody>
      </p:sp>
      <p:sp>
        <p:nvSpPr>
          <p:cNvPr id="11" name="TextBox 10"/>
          <p:cNvSpPr txBox="1"/>
          <p:nvPr/>
        </p:nvSpPr>
        <p:spPr>
          <a:xfrm>
            <a:off x="1764792" y="1874520"/>
            <a:ext cx="3973068" cy="1920240"/>
          </a:xfrm>
          <a:prstGeom prst="rect">
            <a:avLst/>
          </a:prstGeom>
          <a:noFill/>
        </p:spPr>
        <p:txBody>
          <a:bodyPr wrap="square" anchor="ctr">
            <a:spAutoFit/>
          </a:bodyPr>
          <a:lstStyle/>
          <a:p>
            <a:pPr algn="l">
              <a:spcAft>
                <a:spcPts val="400"/>
              </a:spcAft>
            </a:pPr>
            <a:r>
              <a:rPr sz="1300" b="0">
                <a:solidFill>
                  <a:srgbClr val="161B26"/>
                </a:solidFill>
                <a:latin typeface="Arial"/>
              </a:rPr>
              <a:t>'If it can receive a heartbeat, it's hired' — adapter type keys include claude_local, codex_local, gemini_local, opencode_local, cursor, pi_local and hermes_local, plus process, http and openclaw_gateway.</a:t>
            </a:r>
          </a:p>
        </p:txBody>
      </p:sp>
      <p:sp>
        <p:nvSpPr>
          <p:cNvPr id="12" name="Rectangle 11"/>
          <p:cNvSpPr/>
          <p:nvPr/>
        </p:nvSpPr>
        <p:spPr>
          <a:xfrm>
            <a:off x="6231636" y="1783080"/>
            <a:ext cx="5180076" cy="2066544"/>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6231636" y="1783080"/>
            <a:ext cx="91440" cy="2066544"/>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Oval 13"/>
          <p:cNvSpPr/>
          <p:nvPr/>
        </p:nvSpPr>
        <p:spPr>
          <a:xfrm>
            <a:off x="6487668" y="2542032"/>
            <a:ext cx="548640" cy="548640"/>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487668" y="2542032"/>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2</a:t>
            </a:r>
          </a:p>
        </p:txBody>
      </p:sp>
      <p:sp>
        <p:nvSpPr>
          <p:cNvPr id="16" name="TextBox 15"/>
          <p:cNvSpPr txBox="1"/>
          <p:nvPr/>
        </p:nvSpPr>
        <p:spPr>
          <a:xfrm>
            <a:off x="7219188" y="1874520"/>
            <a:ext cx="3973068" cy="1920240"/>
          </a:xfrm>
          <a:prstGeom prst="rect">
            <a:avLst/>
          </a:prstGeom>
          <a:noFill/>
        </p:spPr>
        <p:txBody>
          <a:bodyPr wrap="square" anchor="ctr">
            <a:spAutoFit/>
          </a:bodyPr>
          <a:lstStyle/>
          <a:p>
            <a:pPr algn="l">
              <a:spcAft>
                <a:spcPts val="400"/>
              </a:spcAft>
            </a:pPr>
            <a:r>
              <a:rPr sz="1300" b="0">
                <a:solidFill>
                  <a:srgbClr val="161B26"/>
                </a:solidFill>
                <a:latin typeface="Arial"/>
              </a:rPr>
              <a:t>Feasibility comes before architecture: use one agent when the inputs, tools, authority and verification are the same across the whole task.</a:t>
            </a:r>
          </a:p>
        </p:txBody>
      </p:sp>
      <p:sp>
        <p:nvSpPr>
          <p:cNvPr id="17" name="Rectangle 16"/>
          <p:cNvSpPr/>
          <p:nvPr/>
        </p:nvSpPr>
        <p:spPr>
          <a:xfrm>
            <a:off x="777240" y="4087368"/>
            <a:ext cx="5180076" cy="2066544"/>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777240" y="4087368"/>
            <a:ext cx="91440" cy="2066544"/>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Oval 18"/>
          <p:cNvSpPr/>
          <p:nvPr/>
        </p:nvSpPr>
        <p:spPr>
          <a:xfrm>
            <a:off x="1033272" y="4846320"/>
            <a:ext cx="548640" cy="548640"/>
          </a:xfrm>
          <a:prstGeom prst="ellipse">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1033272" y="4846320"/>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3</a:t>
            </a:r>
          </a:p>
        </p:txBody>
      </p:sp>
      <p:sp>
        <p:nvSpPr>
          <p:cNvPr id="21" name="TextBox 20"/>
          <p:cNvSpPr txBox="1"/>
          <p:nvPr/>
        </p:nvSpPr>
        <p:spPr>
          <a:xfrm>
            <a:off x="1764792" y="4178808"/>
            <a:ext cx="3973068" cy="1920240"/>
          </a:xfrm>
          <a:prstGeom prst="rect">
            <a:avLst/>
          </a:prstGeom>
          <a:noFill/>
        </p:spPr>
        <p:txBody>
          <a:bodyPr wrap="square" anchor="ctr">
            <a:spAutoFit/>
          </a:bodyPr>
          <a:lstStyle/>
          <a:p>
            <a:pPr algn="l">
              <a:spcAft>
                <a:spcPts val="400"/>
              </a:spcAft>
            </a:pPr>
            <a:r>
              <a:rPr sz="1300" b="0">
                <a:solidFill>
                  <a:srgbClr val="161B26"/>
                </a:solidFill>
                <a:latin typeface="Arial"/>
              </a:rPr>
              <a:t>Add a specialist only when different expertise is genuinely required, or when evidence must be produced independently of the agent that will use it.</a:t>
            </a:r>
          </a:p>
        </p:txBody>
      </p:sp>
      <p:sp>
        <p:nvSpPr>
          <p:cNvPr id="22" name="Rectangle 21"/>
          <p:cNvSpPr/>
          <p:nvPr/>
        </p:nvSpPr>
        <p:spPr>
          <a:xfrm>
            <a:off x="6231636" y="4087368"/>
            <a:ext cx="5180076" cy="2066544"/>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ectangle 22"/>
          <p:cNvSpPr/>
          <p:nvPr/>
        </p:nvSpPr>
        <p:spPr>
          <a:xfrm>
            <a:off x="6231636" y="4087368"/>
            <a:ext cx="91440" cy="2066544"/>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Oval 23"/>
          <p:cNvSpPr/>
          <p:nvPr/>
        </p:nvSpPr>
        <p:spPr>
          <a:xfrm>
            <a:off x="6487668" y="4846320"/>
            <a:ext cx="548640" cy="548640"/>
          </a:xfrm>
          <a:prstGeom prst="ellipse">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6487668" y="4846320"/>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4</a:t>
            </a:r>
          </a:p>
        </p:txBody>
      </p:sp>
      <p:sp>
        <p:nvSpPr>
          <p:cNvPr id="26" name="TextBox 25"/>
          <p:cNvSpPr txBox="1"/>
          <p:nvPr/>
        </p:nvSpPr>
        <p:spPr>
          <a:xfrm>
            <a:off x="7219188" y="4178808"/>
            <a:ext cx="3973068" cy="1920240"/>
          </a:xfrm>
          <a:prstGeom prst="rect">
            <a:avLst/>
          </a:prstGeom>
          <a:noFill/>
        </p:spPr>
        <p:txBody>
          <a:bodyPr wrap="square" anchor="ctr">
            <a:spAutoFit/>
          </a:bodyPr>
          <a:lstStyle/>
          <a:p>
            <a:pPr algn="l">
              <a:spcAft>
                <a:spcPts val="400"/>
              </a:spcAft>
            </a:pPr>
            <a:r>
              <a:rPr sz="1300" b="0">
                <a:solidFill>
                  <a:srgbClr val="161B26"/>
                </a:solidFill>
                <a:latin typeface="Arial"/>
              </a:rPr>
              <a:t>Installation is ready only when Node.js, the Paperclip configuration, the embedded database, server health, the browser UI and the doctor diagnostic all agree.</a:t>
            </a:r>
          </a:p>
        </p:txBody>
      </p:sp>
      <p:sp>
        <p:nvSpPr>
          <p:cNvPr id="27" name="TextBox 26"/>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Manage AI Agents with Paperclip (TGS-2023036646)  ·  TGS-2023036646</a:t>
            </a:r>
          </a:p>
        </p:txBody>
      </p:sp>
      <p:sp>
        <p:nvSpPr>
          <p:cNvPr id="28" name="TextBox 27"/>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29" name="TextBox 28"/>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34</a:t>
            </a:r>
          </a:p>
        </p:txBody>
      </p:sp>
    </p:spTree>
  </p:cSld>
  <p:clrMapOvr>
    <a:masterClrMapping/>
  </p:clrMapOvr>
  <p:transition spd="fast" advClick="1">
    <p:fade/>
  </p:transition>
</p:sld>
</file>

<file path=ppt/slides/slide3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F59E0B"/>
                </a:solidFill>
                <a:latin typeface="Arial"/>
              </a:rPr>
              <a:t>LO4 · TROUBLESHOOTING DISCIPLINE</a:t>
            </a:r>
          </a:p>
        </p:txBody>
      </p:sp>
      <p:sp>
        <p:nvSpPr>
          <p:cNvPr id="5" name="TextBox 4"/>
          <p:cNvSpPr txBox="1"/>
          <p:nvPr/>
        </p:nvSpPr>
        <p:spPr>
          <a:xfrm>
            <a:off x="777240" y="804672"/>
            <a:ext cx="10881360" cy="713232"/>
          </a:xfrm>
          <a:prstGeom prst="rect">
            <a:avLst/>
          </a:prstGeom>
          <a:noFill/>
        </p:spPr>
        <p:txBody>
          <a:bodyPr wrap="square" anchor="ctr">
            <a:spAutoFit/>
          </a:bodyPr>
          <a:lstStyle/>
          <a:p>
            <a:pPr algn="l">
              <a:spcAft>
                <a:spcPts val="400"/>
              </a:spcAft>
            </a:pPr>
            <a:r>
              <a:rPr sz="2900" b="1">
                <a:solidFill>
                  <a:srgbClr val="161B26"/>
                </a:solidFill>
                <a:latin typeface="Arial"/>
              </a:rPr>
              <a:t>Diagnosis Ladder — Fix the Earliest Broken Link</a:t>
            </a:r>
          </a:p>
        </p:txBody>
      </p:sp>
      <p:sp>
        <p:nvSpPr>
          <p:cNvPr id="6" name="Rectangle 5"/>
          <p:cNvSpPr/>
          <p:nvPr/>
        </p:nvSpPr>
        <p:spPr>
          <a:xfrm>
            <a:off x="777240" y="155448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7" name="Picture 6" descr="diagram-diagnosis-ladder.png"/>
          <p:cNvPicPr>
            <a:picLocks noChangeAspect="1"/>
          </p:cNvPicPr>
          <p:nvPr/>
        </p:nvPicPr>
        <p:blipFill>
          <a:blip r:embed="rId2"/>
          <a:stretch>
            <a:fillRect/>
          </a:stretch>
        </p:blipFill>
        <p:spPr>
          <a:xfrm>
            <a:off x="777240" y="2409213"/>
            <a:ext cx="6812279" cy="3027125"/>
          </a:xfrm>
          <a:prstGeom prst="rect">
            <a:avLst/>
          </a:prstGeom>
        </p:spPr>
      </p:pic>
      <p:sp>
        <p:nvSpPr>
          <p:cNvPr id="8" name="Rectangle 7"/>
          <p:cNvSpPr/>
          <p:nvPr/>
        </p:nvSpPr>
        <p:spPr>
          <a:xfrm>
            <a:off x="7882127" y="1810512"/>
            <a:ext cx="3529584" cy="987552"/>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7882127" y="1810512"/>
            <a:ext cx="3529584" cy="82296"/>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8083295" y="1975104"/>
            <a:ext cx="3127248" cy="310896"/>
          </a:xfrm>
          <a:prstGeom prst="rect">
            <a:avLst/>
          </a:prstGeom>
          <a:noFill/>
        </p:spPr>
        <p:txBody>
          <a:bodyPr wrap="square" anchor="t">
            <a:spAutoFit/>
          </a:bodyPr>
          <a:lstStyle/>
          <a:p>
            <a:pPr algn="l">
              <a:spcAft>
                <a:spcPts val="400"/>
              </a:spcAft>
            </a:pPr>
            <a:r>
              <a:rPr sz="1350" b="1">
                <a:solidFill>
                  <a:srgbClr val="1F6FEB"/>
                </a:solidFill>
                <a:latin typeface="Arial"/>
              </a:rPr>
              <a:t>Host first</a:t>
            </a:r>
          </a:p>
        </p:txBody>
      </p:sp>
      <p:sp>
        <p:nvSpPr>
          <p:cNvPr id="11" name="TextBox 10"/>
          <p:cNvSpPr txBox="1"/>
          <p:nvPr/>
        </p:nvSpPr>
        <p:spPr>
          <a:xfrm>
            <a:off x="8083295" y="2322576"/>
            <a:ext cx="3127248" cy="384048"/>
          </a:xfrm>
          <a:prstGeom prst="rect">
            <a:avLst/>
          </a:prstGeom>
          <a:noFill/>
        </p:spPr>
        <p:txBody>
          <a:bodyPr wrap="square" anchor="t">
            <a:spAutoFit/>
          </a:bodyPr>
          <a:lstStyle/>
          <a:p>
            <a:pPr algn="l">
              <a:spcAft>
                <a:spcPts val="400"/>
              </a:spcAft>
            </a:pPr>
            <a:r>
              <a:rPr sz="900" b="0">
                <a:solidFill>
                  <a:srgbClr val="161B26"/>
                </a:solidFill>
                <a:latin typeface="Arial"/>
              </a:rPr>
              <a:t>Node 20+, a normal non-elevated user, a writable practice root.</a:t>
            </a:r>
          </a:p>
        </p:txBody>
      </p:sp>
      <p:sp>
        <p:nvSpPr>
          <p:cNvPr id="12" name="Rectangle 11"/>
          <p:cNvSpPr/>
          <p:nvPr/>
        </p:nvSpPr>
        <p:spPr>
          <a:xfrm>
            <a:off x="7882127" y="2944368"/>
            <a:ext cx="3529584" cy="84124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7882127" y="2944368"/>
            <a:ext cx="3529584" cy="82296"/>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8083295" y="3108960"/>
            <a:ext cx="3127248" cy="310896"/>
          </a:xfrm>
          <a:prstGeom prst="rect">
            <a:avLst/>
          </a:prstGeom>
          <a:noFill/>
        </p:spPr>
        <p:txBody>
          <a:bodyPr wrap="square" anchor="t">
            <a:spAutoFit/>
          </a:bodyPr>
          <a:lstStyle/>
          <a:p>
            <a:pPr algn="l">
              <a:spcAft>
                <a:spcPts val="400"/>
              </a:spcAft>
            </a:pPr>
            <a:r>
              <a:rPr sz="1350" b="1">
                <a:solidFill>
                  <a:srgbClr val="10B981"/>
                </a:solidFill>
                <a:latin typeface="Arial"/>
              </a:rPr>
              <a:t>Then the control plane</a:t>
            </a:r>
          </a:p>
        </p:txBody>
      </p:sp>
      <p:sp>
        <p:nvSpPr>
          <p:cNvPr id="15" name="TextBox 14"/>
          <p:cNvSpPr txBox="1"/>
          <p:nvPr/>
        </p:nvSpPr>
        <p:spPr>
          <a:xfrm>
            <a:off x="8083295" y="3456432"/>
            <a:ext cx="3127248" cy="237744"/>
          </a:xfrm>
          <a:prstGeom prst="rect">
            <a:avLst/>
          </a:prstGeom>
          <a:noFill/>
        </p:spPr>
        <p:txBody>
          <a:bodyPr wrap="square" anchor="t">
            <a:spAutoFit/>
          </a:bodyPr>
          <a:lstStyle/>
          <a:p>
            <a:pPr algn="l">
              <a:spcAft>
                <a:spcPts val="400"/>
              </a:spcAft>
            </a:pPr>
            <a:r>
              <a:rPr sz="900" b="0">
                <a:solidFill>
                  <a:srgbClr val="161B26"/>
                </a:solidFill>
                <a:latin typeface="Arial"/>
              </a:rPr>
              <a:t>doctor is clean and /api/health returns ok.</a:t>
            </a:r>
          </a:p>
        </p:txBody>
      </p:sp>
      <p:sp>
        <p:nvSpPr>
          <p:cNvPr id="16" name="Rectangle 15"/>
          <p:cNvSpPr/>
          <p:nvPr/>
        </p:nvSpPr>
        <p:spPr>
          <a:xfrm>
            <a:off x="7882127" y="3931920"/>
            <a:ext cx="3529584" cy="987552"/>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7882127" y="3931920"/>
            <a:ext cx="3529584" cy="82296"/>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8083295" y="4096512"/>
            <a:ext cx="3127248" cy="310896"/>
          </a:xfrm>
          <a:prstGeom prst="rect">
            <a:avLst/>
          </a:prstGeom>
          <a:noFill/>
        </p:spPr>
        <p:txBody>
          <a:bodyPr wrap="square" anchor="t">
            <a:spAutoFit/>
          </a:bodyPr>
          <a:lstStyle/>
          <a:p>
            <a:pPr algn="l">
              <a:spcAft>
                <a:spcPts val="400"/>
              </a:spcAft>
            </a:pPr>
            <a:r>
              <a:rPr sz="1350" b="1">
                <a:solidFill>
                  <a:srgbClr val="7C3AED"/>
                </a:solidFill>
                <a:latin typeface="Arial"/>
              </a:rPr>
              <a:t>Then the adapter</a:t>
            </a:r>
          </a:p>
        </p:txBody>
      </p:sp>
      <p:sp>
        <p:nvSpPr>
          <p:cNvPr id="19" name="TextBox 18"/>
          <p:cNvSpPr txBox="1"/>
          <p:nvPr/>
        </p:nvSpPr>
        <p:spPr>
          <a:xfrm>
            <a:off x="8083295" y="4443984"/>
            <a:ext cx="3127248" cy="384048"/>
          </a:xfrm>
          <a:prstGeom prst="rect">
            <a:avLst/>
          </a:prstGeom>
          <a:noFill/>
        </p:spPr>
        <p:txBody>
          <a:bodyPr wrap="square" anchor="t">
            <a:spAutoFit/>
          </a:bodyPr>
          <a:lstStyle/>
          <a:p>
            <a:pPr algn="l">
              <a:spcAft>
                <a:spcPts val="400"/>
              </a:spcAft>
            </a:pPr>
            <a:r>
              <a:rPr sz="900" b="0">
                <a:solidFill>
                  <a:srgbClr val="161B26"/>
                </a:solidFill>
                <a:latin typeface="Arial"/>
              </a:rPr>
              <a:t>The runtime must authenticate OUTSIDE Paperclip first.</a:t>
            </a:r>
          </a:p>
        </p:txBody>
      </p:sp>
      <p:sp>
        <p:nvSpPr>
          <p:cNvPr id="20" name="Rectangle 19"/>
          <p:cNvSpPr/>
          <p:nvPr/>
        </p:nvSpPr>
        <p:spPr>
          <a:xfrm>
            <a:off x="7882127" y="5065776"/>
            <a:ext cx="3529584" cy="987552"/>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ectangle 20"/>
          <p:cNvSpPr/>
          <p:nvPr/>
        </p:nvSpPr>
        <p:spPr>
          <a:xfrm>
            <a:off x="7882127" y="5065776"/>
            <a:ext cx="3529584" cy="82296"/>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8083295" y="5230368"/>
            <a:ext cx="3127248" cy="310896"/>
          </a:xfrm>
          <a:prstGeom prst="rect">
            <a:avLst/>
          </a:prstGeom>
          <a:noFill/>
        </p:spPr>
        <p:txBody>
          <a:bodyPr wrap="square" anchor="t">
            <a:spAutoFit/>
          </a:bodyPr>
          <a:lstStyle/>
          <a:p>
            <a:pPr algn="l">
              <a:spcAft>
                <a:spcPts val="400"/>
              </a:spcAft>
            </a:pPr>
            <a:r>
              <a:rPr sz="1350" b="1">
                <a:solidFill>
                  <a:srgbClr val="F59E0B"/>
                </a:solidFill>
                <a:latin typeface="Arial"/>
              </a:rPr>
              <a:t>Then the agent</a:t>
            </a:r>
          </a:p>
        </p:txBody>
      </p:sp>
      <p:sp>
        <p:nvSpPr>
          <p:cNvPr id="23" name="TextBox 22"/>
          <p:cNvSpPr txBox="1"/>
          <p:nvPr/>
        </p:nvSpPr>
        <p:spPr>
          <a:xfrm>
            <a:off x="8083295" y="5577840"/>
            <a:ext cx="3127248" cy="384048"/>
          </a:xfrm>
          <a:prstGeom prst="rect">
            <a:avLst/>
          </a:prstGeom>
          <a:noFill/>
        </p:spPr>
        <p:txBody>
          <a:bodyPr wrap="square" anchor="t">
            <a:spAutoFit/>
          </a:bodyPr>
          <a:lstStyle/>
          <a:p>
            <a:pPr algn="l">
              <a:spcAft>
                <a:spcPts val="400"/>
              </a:spcAft>
            </a:pPr>
            <a:r>
              <a:rPr sz="900" b="0">
                <a:solidFill>
                  <a:srgbClr val="161B26"/>
                </a:solidFill>
                <a:latin typeface="Arial"/>
              </a:rPr>
              <a:t>A marker run puts a real artifact in the right workspace.</a:t>
            </a:r>
          </a:p>
        </p:txBody>
      </p:sp>
      <p:sp>
        <p:nvSpPr>
          <p:cNvPr id="24" name="TextBox 23"/>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Manage AI Agents with Paperclip (TGS-2023036646)  ·  TGS-2023036646</a:t>
            </a:r>
          </a:p>
        </p:txBody>
      </p:sp>
      <p:sp>
        <p:nvSpPr>
          <p:cNvPr id="25" name="TextBox 24"/>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26" name="TextBox 25"/>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35</a:t>
            </a:r>
          </a:p>
        </p:txBody>
      </p:sp>
    </p:spTree>
  </p:cSld>
  <p:clrMapOvr>
    <a:masterClrMapping/>
  </p:clrMapOvr>
  <p:transition spd="fast" advClick="1">
    <p:fade/>
  </p:transition>
</p:sld>
</file>

<file path=ppt/slides/slide3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1F6FEB"/>
                </a:solidFill>
                <a:latin typeface="Arial"/>
              </a:rPr>
              <a:t>LO2 · THE READINESS CHECKLIST</a:t>
            </a:r>
          </a:p>
        </p:txBody>
      </p:sp>
      <p:sp>
        <p:nvSpPr>
          <p:cNvPr id="5" name="TextBox 4"/>
          <p:cNvSpPr txBox="1"/>
          <p:nvPr/>
        </p:nvSpPr>
        <p:spPr>
          <a:xfrm>
            <a:off x="777240" y="804672"/>
            <a:ext cx="10881360" cy="713232"/>
          </a:xfrm>
          <a:prstGeom prst="rect">
            <a:avLst/>
          </a:prstGeom>
          <a:noFill/>
        </p:spPr>
        <p:txBody>
          <a:bodyPr wrap="square" anchor="ctr">
            <a:spAutoFit/>
          </a:bodyPr>
          <a:lstStyle/>
          <a:p>
            <a:pPr algn="l">
              <a:spcAft>
                <a:spcPts val="400"/>
              </a:spcAft>
            </a:pPr>
            <a:r>
              <a:rPr sz="2900" b="1">
                <a:solidFill>
                  <a:srgbClr val="161B26"/>
                </a:solidFill>
                <a:latin typeface="Arial"/>
              </a:rPr>
              <a:t>Installation Is Ready Only When Everything Agrees</a:t>
            </a:r>
          </a:p>
        </p:txBody>
      </p:sp>
      <p:sp>
        <p:nvSpPr>
          <p:cNvPr id="6" name="Rectangle 5"/>
          <p:cNvSpPr/>
          <p:nvPr/>
        </p:nvSpPr>
        <p:spPr>
          <a:xfrm>
            <a:off x="777240" y="155448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77240" y="1783080"/>
            <a:ext cx="5180076" cy="129844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777240" y="1783080"/>
            <a:ext cx="91440" cy="1298448"/>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Oval 8"/>
          <p:cNvSpPr/>
          <p:nvPr/>
        </p:nvSpPr>
        <p:spPr>
          <a:xfrm>
            <a:off x="1033272" y="2157984"/>
            <a:ext cx="548640" cy="548640"/>
          </a:xfrm>
          <a:prstGeom prst="ellipse">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1033272" y="2157984"/>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1</a:t>
            </a:r>
          </a:p>
        </p:txBody>
      </p:sp>
      <p:sp>
        <p:nvSpPr>
          <p:cNvPr id="11" name="TextBox 10"/>
          <p:cNvSpPr txBox="1"/>
          <p:nvPr/>
        </p:nvSpPr>
        <p:spPr>
          <a:xfrm>
            <a:off x="1764792" y="1911096"/>
            <a:ext cx="3973068" cy="1115568"/>
          </a:xfrm>
          <a:prstGeom prst="rect">
            <a:avLst/>
          </a:prstGeom>
          <a:noFill/>
        </p:spPr>
        <p:txBody>
          <a:bodyPr wrap="square" anchor="ctr">
            <a:spAutoFit/>
          </a:bodyPr>
          <a:lstStyle/>
          <a:p>
            <a:pPr algn="l">
              <a:spcAft>
                <a:spcPts val="300"/>
              </a:spcAft>
            </a:pPr>
            <a:r>
              <a:rPr sz="1600" b="1">
                <a:solidFill>
                  <a:srgbClr val="161B26"/>
                </a:solidFill>
                <a:latin typeface="Arial"/>
              </a:rPr>
              <a:t>Node.js</a:t>
            </a:r>
          </a:p>
          <a:p>
            <a:pPr algn="l">
              <a:spcAft>
                <a:spcPts val="300"/>
              </a:spcAft>
            </a:pPr>
            <a:r>
              <a:rPr sz="1200" b="0">
                <a:solidFill>
                  <a:srgbClr val="5B6372"/>
                </a:solidFill>
                <a:latin typeface="Arial"/>
              </a:rPr>
              <a:t>Major version 20 or later — the most common cause of a failed onboard.</a:t>
            </a:r>
          </a:p>
        </p:txBody>
      </p:sp>
      <p:sp>
        <p:nvSpPr>
          <p:cNvPr id="12" name="Rectangle 11"/>
          <p:cNvSpPr/>
          <p:nvPr/>
        </p:nvSpPr>
        <p:spPr>
          <a:xfrm>
            <a:off x="6231636" y="1783080"/>
            <a:ext cx="5180076" cy="129844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6231636" y="1783080"/>
            <a:ext cx="91440" cy="1298448"/>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Oval 13"/>
          <p:cNvSpPr/>
          <p:nvPr/>
        </p:nvSpPr>
        <p:spPr>
          <a:xfrm>
            <a:off x="6487668" y="2157984"/>
            <a:ext cx="548640" cy="548640"/>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487668" y="2157984"/>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2</a:t>
            </a:r>
          </a:p>
        </p:txBody>
      </p:sp>
      <p:sp>
        <p:nvSpPr>
          <p:cNvPr id="16" name="TextBox 15"/>
          <p:cNvSpPr txBox="1"/>
          <p:nvPr/>
        </p:nvSpPr>
        <p:spPr>
          <a:xfrm>
            <a:off x="7219188" y="1911096"/>
            <a:ext cx="3973068" cy="1115568"/>
          </a:xfrm>
          <a:prstGeom prst="rect">
            <a:avLst/>
          </a:prstGeom>
          <a:noFill/>
        </p:spPr>
        <p:txBody>
          <a:bodyPr wrap="square" anchor="ctr">
            <a:spAutoFit/>
          </a:bodyPr>
          <a:lstStyle/>
          <a:p>
            <a:pPr algn="l">
              <a:spcAft>
                <a:spcPts val="300"/>
              </a:spcAft>
            </a:pPr>
            <a:r>
              <a:rPr sz="1600" b="1">
                <a:solidFill>
                  <a:srgbClr val="161B26"/>
                </a:solidFill>
                <a:latin typeface="Arial"/>
              </a:rPr>
              <a:t>Configuration &amp; database</a:t>
            </a:r>
          </a:p>
          <a:p>
            <a:pPr algn="l">
              <a:spcAft>
                <a:spcPts val="300"/>
              </a:spcAft>
            </a:pPr>
            <a:r>
              <a:rPr sz="1200" b="0">
                <a:solidFill>
                  <a:srgbClr val="5B6372"/>
                </a:solidFill>
                <a:latin typeface="Arial"/>
              </a:rPr>
              <a:t>Written by onboard; the embedded PostgreSQL starts as the normal user.</a:t>
            </a:r>
          </a:p>
        </p:txBody>
      </p:sp>
      <p:sp>
        <p:nvSpPr>
          <p:cNvPr id="17" name="Rectangle 16"/>
          <p:cNvSpPr/>
          <p:nvPr/>
        </p:nvSpPr>
        <p:spPr>
          <a:xfrm>
            <a:off x="777240" y="3319272"/>
            <a:ext cx="5180076" cy="129844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777240" y="3319272"/>
            <a:ext cx="91440" cy="1298448"/>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Oval 18"/>
          <p:cNvSpPr/>
          <p:nvPr/>
        </p:nvSpPr>
        <p:spPr>
          <a:xfrm>
            <a:off x="1033272" y="3694176"/>
            <a:ext cx="548640" cy="548640"/>
          </a:xfrm>
          <a:prstGeom prst="ellipse">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1033272" y="3694176"/>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3</a:t>
            </a:r>
          </a:p>
        </p:txBody>
      </p:sp>
      <p:sp>
        <p:nvSpPr>
          <p:cNvPr id="21" name="TextBox 20"/>
          <p:cNvSpPr txBox="1"/>
          <p:nvPr/>
        </p:nvSpPr>
        <p:spPr>
          <a:xfrm>
            <a:off x="1764792" y="3447288"/>
            <a:ext cx="3973068" cy="1115568"/>
          </a:xfrm>
          <a:prstGeom prst="rect">
            <a:avLst/>
          </a:prstGeom>
          <a:noFill/>
        </p:spPr>
        <p:txBody>
          <a:bodyPr wrap="square" anchor="ctr">
            <a:spAutoFit/>
          </a:bodyPr>
          <a:lstStyle/>
          <a:p>
            <a:pPr algn="l">
              <a:spcAft>
                <a:spcPts val="300"/>
              </a:spcAft>
            </a:pPr>
            <a:r>
              <a:rPr sz="1600" b="1">
                <a:solidFill>
                  <a:srgbClr val="161B26"/>
                </a:solidFill>
                <a:latin typeface="Arial"/>
              </a:rPr>
              <a:t>Server health</a:t>
            </a:r>
          </a:p>
          <a:p>
            <a:pPr algn="l">
              <a:spcAft>
                <a:spcPts val="300"/>
              </a:spcAft>
            </a:pPr>
            <a:r>
              <a:rPr sz="1200" b="0">
                <a:solidFill>
                  <a:srgbClr val="5B6372"/>
                </a:solidFill>
                <a:latin typeface="Arial"/>
              </a:rPr>
              <a:t>GET /api/health returns an ok status.</a:t>
            </a:r>
          </a:p>
        </p:txBody>
      </p:sp>
      <p:sp>
        <p:nvSpPr>
          <p:cNvPr id="22" name="Rectangle 21"/>
          <p:cNvSpPr/>
          <p:nvPr/>
        </p:nvSpPr>
        <p:spPr>
          <a:xfrm>
            <a:off x="6231636" y="3319272"/>
            <a:ext cx="5180076" cy="129844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ectangle 22"/>
          <p:cNvSpPr/>
          <p:nvPr/>
        </p:nvSpPr>
        <p:spPr>
          <a:xfrm>
            <a:off x="6231636" y="3319272"/>
            <a:ext cx="91440" cy="1298448"/>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Oval 23"/>
          <p:cNvSpPr/>
          <p:nvPr/>
        </p:nvSpPr>
        <p:spPr>
          <a:xfrm>
            <a:off x="6487668" y="3694176"/>
            <a:ext cx="548640" cy="548640"/>
          </a:xfrm>
          <a:prstGeom prst="ellipse">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6487668" y="3694176"/>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4</a:t>
            </a:r>
          </a:p>
        </p:txBody>
      </p:sp>
      <p:sp>
        <p:nvSpPr>
          <p:cNvPr id="26" name="TextBox 25"/>
          <p:cNvSpPr txBox="1"/>
          <p:nvPr/>
        </p:nvSpPr>
        <p:spPr>
          <a:xfrm>
            <a:off x="7219188" y="3447288"/>
            <a:ext cx="3973068" cy="1115568"/>
          </a:xfrm>
          <a:prstGeom prst="rect">
            <a:avLst/>
          </a:prstGeom>
          <a:noFill/>
        </p:spPr>
        <p:txBody>
          <a:bodyPr wrap="square" anchor="ctr">
            <a:spAutoFit/>
          </a:bodyPr>
          <a:lstStyle/>
          <a:p>
            <a:pPr algn="l">
              <a:spcAft>
                <a:spcPts val="300"/>
              </a:spcAft>
            </a:pPr>
            <a:r>
              <a:rPr sz="1600" b="1">
                <a:solidFill>
                  <a:srgbClr val="161B26"/>
                </a:solidFill>
                <a:latin typeface="Arial"/>
              </a:rPr>
              <a:t>Browser UI</a:t>
            </a:r>
          </a:p>
          <a:p>
            <a:pPr algn="l">
              <a:spcAft>
                <a:spcPts val="300"/>
              </a:spcAft>
            </a:pPr>
            <a:r>
              <a:rPr sz="1200" b="0">
                <a:solidFill>
                  <a:srgbClr val="5B6372"/>
                </a:solidFill>
                <a:latin typeface="Arial"/>
              </a:rPr>
              <a:t>http://localhost:3100 loads without a connection error.</a:t>
            </a:r>
          </a:p>
        </p:txBody>
      </p:sp>
      <p:sp>
        <p:nvSpPr>
          <p:cNvPr id="27" name="Rectangle 26"/>
          <p:cNvSpPr/>
          <p:nvPr/>
        </p:nvSpPr>
        <p:spPr>
          <a:xfrm>
            <a:off x="777240" y="4855464"/>
            <a:ext cx="5180076" cy="129844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Rectangle 27"/>
          <p:cNvSpPr/>
          <p:nvPr/>
        </p:nvSpPr>
        <p:spPr>
          <a:xfrm>
            <a:off x="777240" y="4855464"/>
            <a:ext cx="91440" cy="1298448"/>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Oval 28"/>
          <p:cNvSpPr/>
          <p:nvPr/>
        </p:nvSpPr>
        <p:spPr>
          <a:xfrm>
            <a:off x="1033272" y="5230368"/>
            <a:ext cx="548640" cy="548640"/>
          </a:xfrm>
          <a:prstGeom prst="ellipse">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TextBox 29"/>
          <p:cNvSpPr txBox="1"/>
          <p:nvPr/>
        </p:nvSpPr>
        <p:spPr>
          <a:xfrm>
            <a:off x="1033272" y="5230368"/>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5</a:t>
            </a:r>
          </a:p>
        </p:txBody>
      </p:sp>
      <p:sp>
        <p:nvSpPr>
          <p:cNvPr id="31" name="TextBox 30"/>
          <p:cNvSpPr txBox="1"/>
          <p:nvPr/>
        </p:nvSpPr>
        <p:spPr>
          <a:xfrm>
            <a:off x="1764792" y="4983480"/>
            <a:ext cx="3973068" cy="1115568"/>
          </a:xfrm>
          <a:prstGeom prst="rect">
            <a:avLst/>
          </a:prstGeom>
          <a:noFill/>
        </p:spPr>
        <p:txBody>
          <a:bodyPr wrap="square" anchor="ctr">
            <a:spAutoFit/>
          </a:bodyPr>
          <a:lstStyle/>
          <a:p>
            <a:pPr algn="l">
              <a:spcAft>
                <a:spcPts val="300"/>
              </a:spcAft>
            </a:pPr>
            <a:r>
              <a:rPr sz="1600" b="1">
                <a:solidFill>
                  <a:srgbClr val="161B26"/>
                </a:solidFill>
                <a:latin typeface="Arial"/>
              </a:rPr>
              <a:t>Doctor</a:t>
            </a:r>
          </a:p>
          <a:p>
            <a:pPr algn="l">
              <a:spcAft>
                <a:spcPts val="300"/>
              </a:spcAft>
            </a:pPr>
            <a:r>
              <a:rPr sz="1200" b="0">
                <a:solidFill>
                  <a:srgbClr val="5B6372"/>
                </a:solidFill>
                <a:latin typeface="Arial"/>
              </a:rPr>
              <a:t>npx paperclipai doctor completes with no blocking error.</a:t>
            </a:r>
          </a:p>
        </p:txBody>
      </p:sp>
      <p:sp>
        <p:nvSpPr>
          <p:cNvPr id="32" name="Rectangle 31"/>
          <p:cNvSpPr/>
          <p:nvPr/>
        </p:nvSpPr>
        <p:spPr>
          <a:xfrm>
            <a:off x="6231636" y="4855464"/>
            <a:ext cx="5180076" cy="129844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Rectangle 32"/>
          <p:cNvSpPr/>
          <p:nvPr/>
        </p:nvSpPr>
        <p:spPr>
          <a:xfrm>
            <a:off x="6231636" y="4855464"/>
            <a:ext cx="91440" cy="1298448"/>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Oval 33"/>
          <p:cNvSpPr/>
          <p:nvPr/>
        </p:nvSpPr>
        <p:spPr>
          <a:xfrm>
            <a:off x="6487668" y="5230368"/>
            <a:ext cx="548640" cy="548640"/>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TextBox 34"/>
          <p:cNvSpPr txBox="1"/>
          <p:nvPr/>
        </p:nvSpPr>
        <p:spPr>
          <a:xfrm>
            <a:off x="6487668" y="5230368"/>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6</a:t>
            </a:r>
          </a:p>
        </p:txBody>
      </p:sp>
      <p:sp>
        <p:nvSpPr>
          <p:cNvPr id="36" name="TextBox 35"/>
          <p:cNvSpPr txBox="1"/>
          <p:nvPr/>
        </p:nvSpPr>
        <p:spPr>
          <a:xfrm>
            <a:off x="7219188" y="4983480"/>
            <a:ext cx="3973068" cy="1115568"/>
          </a:xfrm>
          <a:prstGeom prst="rect">
            <a:avLst/>
          </a:prstGeom>
          <a:noFill/>
        </p:spPr>
        <p:txBody>
          <a:bodyPr wrap="square" anchor="ctr">
            <a:spAutoFit/>
          </a:bodyPr>
          <a:lstStyle/>
          <a:p>
            <a:pPr algn="l">
              <a:spcAft>
                <a:spcPts val="300"/>
              </a:spcAft>
            </a:pPr>
            <a:r>
              <a:rPr sz="1600" b="1">
                <a:solidFill>
                  <a:srgbClr val="161B26"/>
                </a:solidFill>
                <a:latin typeface="Arial"/>
              </a:rPr>
              <a:t>Evidence</a:t>
            </a:r>
          </a:p>
          <a:p>
            <a:pPr algn="l">
              <a:spcAft>
                <a:spcPts val="300"/>
              </a:spcAft>
            </a:pPr>
            <a:r>
              <a:rPr sz="1200" b="0">
                <a:solidFill>
                  <a:srgbClr val="5B6372"/>
                </a:solidFill>
                <a:latin typeface="Arial"/>
              </a:rPr>
              <a:t>All of the above recorded — with no credential ever captured.</a:t>
            </a:r>
          </a:p>
        </p:txBody>
      </p:sp>
      <p:sp>
        <p:nvSpPr>
          <p:cNvPr id="37" name="TextBox 36"/>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Manage AI Agents with Paperclip (TGS-2023036646)  ·  TGS-2023036646</a:t>
            </a:r>
          </a:p>
        </p:txBody>
      </p:sp>
      <p:sp>
        <p:nvSpPr>
          <p:cNvPr id="38" name="TextBox 37"/>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39" name="TextBox 38"/>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36</a:t>
            </a:r>
          </a:p>
        </p:txBody>
      </p:sp>
      <p:sp>
        <p:nvSpPr>
          <p:cNvPr id="40" name="Rectangle 39"/>
          <p:cNvSpPr/>
          <p:nvPr/>
        </p:nvSpPr>
        <p:spPr>
          <a:xfrm>
            <a:off x="777240" y="5742432"/>
            <a:ext cx="10607040" cy="603504"/>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1" name="Rectangle 40"/>
          <p:cNvSpPr/>
          <p:nvPr/>
        </p:nvSpPr>
        <p:spPr>
          <a:xfrm>
            <a:off x="777240" y="5742432"/>
            <a:ext cx="91440" cy="603504"/>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2" name="TextBox 41"/>
          <p:cNvSpPr txBox="1"/>
          <p:nvPr/>
        </p:nvSpPr>
        <p:spPr>
          <a:xfrm>
            <a:off x="1051560" y="5742432"/>
            <a:ext cx="10241280" cy="603504"/>
          </a:xfrm>
          <a:prstGeom prst="rect">
            <a:avLst/>
          </a:prstGeom>
          <a:noFill/>
        </p:spPr>
        <p:txBody>
          <a:bodyPr wrap="square" anchor="ctr">
            <a:spAutoFit/>
          </a:bodyPr>
          <a:lstStyle/>
          <a:p>
            <a:pPr algn="l">
              <a:spcAft>
                <a:spcPts val="400"/>
              </a:spcAft>
            </a:pPr>
            <a:r>
              <a:rPr sz="1350" b="1">
                <a:solidFill>
                  <a:srgbClr val="161B26"/>
                </a:solidFill>
                <a:latin typeface="Arial"/>
              </a:rPr>
              <a:t>A green badge is not evidence. An observable artifact is.</a:t>
            </a:r>
          </a:p>
        </p:txBody>
      </p:sp>
    </p:spTree>
  </p:cSld>
  <p:clrMapOvr>
    <a:masterClrMapping/>
  </p:clrMapOvr>
  <p:transition spd="fast" advClick="1">
    <p:fade/>
  </p:transition>
</p:sld>
</file>

<file path=ppt/slides/slide3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1F6FEB"/>
                </a:solidFill>
                <a:latin typeface="Arial"/>
              </a:rPr>
              <a:t>WHAT YOU'LL DO</a:t>
            </a:r>
          </a:p>
        </p:txBody>
      </p:sp>
      <p:sp>
        <p:nvSpPr>
          <p:cNvPr id="5" name="TextBox 4"/>
          <p:cNvSpPr txBox="1"/>
          <p:nvPr/>
        </p:nvSpPr>
        <p:spPr>
          <a:xfrm>
            <a:off x="777240" y="804672"/>
            <a:ext cx="10881360" cy="713232"/>
          </a:xfrm>
          <a:prstGeom prst="rect">
            <a:avLst/>
          </a:prstGeom>
          <a:noFill/>
        </p:spPr>
        <p:txBody>
          <a:bodyPr wrap="square" anchor="ctr">
            <a:spAutoFit/>
          </a:bodyPr>
          <a:lstStyle/>
          <a:p>
            <a:pPr algn="l">
              <a:spcAft>
                <a:spcPts val="400"/>
              </a:spcAft>
            </a:pPr>
            <a:r>
              <a:rPr sz="2500" b="1">
                <a:solidFill>
                  <a:srgbClr val="161B26"/>
                </a:solidFill>
                <a:latin typeface="Arial"/>
              </a:rPr>
              <a:t>Hands-On Labs — Fundamentals of Agentic AI and Paperclip</a:t>
            </a:r>
          </a:p>
        </p:txBody>
      </p:sp>
      <p:sp>
        <p:nvSpPr>
          <p:cNvPr id="6" name="Rectangle 5"/>
          <p:cNvSpPr/>
          <p:nvPr/>
        </p:nvSpPr>
        <p:spPr>
          <a:xfrm>
            <a:off x="777240" y="155448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77240" y="1783080"/>
            <a:ext cx="3337560" cy="429768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777240" y="1783080"/>
            <a:ext cx="3337560" cy="109728"/>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1005840" y="2011680"/>
            <a:ext cx="2926080" cy="548640"/>
          </a:xfrm>
          <a:prstGeom prst="rect">
            <a:avLst/>
          </a:prstGeom>
          <a:noFill/>
        </p:spPr>
        <p:txBody>
          <a:bodyPr wrap="square" anchor="t">
            <a:spAutoFit/>
          </a:bodyPr>
          <a:lstStyle/>
          <a:p>
            <a:pPr algn="l">
              <a:spcAft>
                <a:spcPts val="400"/>
              </a:spcAft>
            </a:pPr>
            <a:r>
              <a:rPr sz="1900" b="1">
                <a:solidFill>
                  <a:srgbClr val="1F6FEB"/>
                </a:solidFill>
                <a:latin typeface="Arial"/>
              </a:rPr>
              <a:t>Lab 1</a:t>
            </a:r>
          </a:p>
        </p:txBody>
      </p:sp>
      <p:sp>
        <p:nvSpPr>
          <p:cNvPr id="10" name="TextBox 9"/>
          <p:cNvSpPr txBox="1"/>
          <p:nvPr/>
        </p:nvSpPr>
        <p:spPr>
          <a:xfrm>
            <a:off x="1005840" y="2697480"/>
            <a:ext cx="2926080" cy="3108960"/>
          </a:xfrm>
          <a:prstGeom prst="rect">
            <a:avLst/>
          </a:prstGeom>
          <a:noFill/>
        </p:spPr>
        <p:txBody>
          <a:bodyPr wrap="square">
            <a:spAutoFit/>
          </a:bodyPr>
          <a:lstStyle/>
          <a:p>
            <a:pPr>
              <a:spcAft>
                <a:spcPts val="900"/>
              </a:spcAft>
            </a:pPr>
            <a:r>
              <a:rPr sz="1400" b="0">
                <a:solidFill>
                  <a:srgbClr val="161B26"/>
                </a:solidFill>
                <a:latin typeface="Arial"/>
              </a:rPr>
              <a:t>•  Install Paperclip and Prove the Control Plane (ClipReel Studio)</a:t>
            </a:r>
          </a:p>
          <a:p>
            <a:pPr>
              <a:spcAft>
                <a:spcPts val="900"/>
              </a:spcAft>
            </a:pPr>
            <a:r>
              <a:rPr sz="1400" b="0">
                <a:solidFill>
                  <a:srgbClr val="161B26"/>
                </a:solidFill>
                <a:latin typeface="Arial"/>
              </a:rPr>
              <a:t>•  ClipReel Studio (Short Video Production)</a:t>
            </a:r>
          </a:p>
        </p:txBody>
      </p:sp>
      <p:sp>
        <p:nvSpPr>
          <p:cNvPr id="11" name="Rectangle 10"/>
          <p:cNvSpPr/>
          <p:nvPr/>
        </p:nvSpPr>
        <p:spPr>
          <a:xfrm>
            <a:off x="4572000" y="1783080"/>
            <a:ext cx="3337560" cy="429768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ectangle 11"/>
          <p:cNvSpPr/>
          <p:nvPr/>
        </p:nvSpPr>
        <p:spPr>
          <a:xfrm>
            <a:off x="4572000" y="1783080"/>
            <a:ext cx="3337560" cy="109728"/>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4800600" y="2011680"/>
            <a:ext cx="2926080" cy="548640"/>
          </a:xfrm>
          <a:prstGeom prst="rect">
            <a:avLst/>
          </a:prstGeom>
          <a:noFill/>
        </p:spPr>
        <p:txBody>
          <a:bodyPr wrap="square" anchor="t">
            <a:spAutoFit/>
          </a:bodyPr>
          <a:lstStyle/>
          <a:p>
            <a:pPr algn="l">
              <a:spcAft>
                <a:spcPts val="400"/>
              </a:spcAft>
            </a:pPr>
            <a:r>
              <a:rPr sz="1900" b="1">
                <a:solidFill>
                  <a:srgbClr val="F59E0B"/>
                </a:solidFill>
                <a:latin typeface="Arial"/>
              </a:rPr>
              <a:t>—</a:t>
            </a:r>
          </a:p>
        </p:txBody>
      </p:sp>
      <p:sp>
        <p:nvSpPr>
          <p:cNvPr id="14" name="TextBox 13"/>
          <p:cNvSpPr txBox="1"/>
          <p:nvPr/>
        </p:nvSpPr>
        <p:spPr>
          <a:xfrm>
            <a:off x="4800600" y="2697480"/>
            <a:ext cx="2926080" cy="3108960"/>
          </a:xfrm>
          <a:prstGeom prst="rect">
            <a:avLst/>
          </a:prstGeom>
          <a:noFill/>
        </p:spPr>
        <p:txBody>
          <a:bodyPr wrap="square">
            <a:spAutoFit/>
          </a:bodyPr>
          <a:lstStyle/>
          <a:p>
            <a:pPr>
              <a:spcAft>
                <a:spcPts val="900"/>
              </a:spcAft>
            </a:pPr>
            <a:r>
              <a:rPr sz="1400" b="0">
                <a:solidFill>
                  <a:srgbClr val="161B26"/>
                </a:solidFill>
                <a:latin typeface="Arial"/>
              </a:rPr>
              <a:t>•  —</a:t>
            </a:r>
          </a:p>
        </p:txBody>
      </p:sp>
      <p:sp>
        <p:nvSpPr>
          <p:cNvPr id="15" name="Rectangle 14"/>
          <p:cNvSpPr/>
          <p:nvPr/>
        </p:nvSpPr>
        <p:spPr>
          <a:xfrm>
            <a:off x="8366760" y="1783080"/>
            <a:ext cx="3337560" cy="429768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ectangle 15"/>
          <p:cNvSpPr/>
          <p:nvPr/>
        </p:nvSpPr>
        <p:spPr>
          <a:xfrm>
            <a:off x="8366760" y="1783080"/>
            <a:ext cx="3337560" cy="109728"/>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8595360" y="2011680"/>
            <a:ext cx="2926080" cy="548640"/>
          </a:xfrm>
          <a:prstGeom prst="rect">
            <a:avLst/>
          </a:prstGeom>
          <a:noFill/>
        </p:spPr>
        <p:txBody>
          <a:bodyPr wrap="square" anchor="t">
            <a:spAutoFit/>
          </a:bodyPr>
          <a:lstStyle/>
          <a:p>
            <a:pPr algn="l">
              <a:spcAft>
                <a:spcPts val="400"/>
              </a:spcAft>
            </a:pPr>
            <a:r>
              <a:rPr sz="1900" b="1">
                <a:solidFill>
                  <a:srgbClr val="F59E0B"/>
                </a:solidFill>
                <a:latin typeface="Arial"/>
              </a:rPr>
              <a:t>—</a:t>
            </a:r>
          </a:p>
        </p:txBody>
      </p:sp>
      <p:sp>
        <p:nvSpPr>
          <p:cNvPr id="18" name="TextBox 17"/>
          <p:cNvSpPr txBox="1"/>
          <p:nvPr/>
        </p:nvSpPr>
        <p:spPr>
          <a:xfrm>
            <a:off x="8595360" y="2697480"/>
            <a:ext cx="2926080" cy="3108960"/>
          </a:xfrm>
          <a:prstGeom prst="rect">
            <a:avLst/>
          </a:prstGeom>
          <a:noFill/>
        </p:spPr>
        <p:txBody>
          <a:bodyPr wrap="square">
            <a:spAutoFit/>
          </a:bodyPr>
          <a:lstStyle/>
          <a:p>
            <a:pPr>
              <a:spcAft>
                <a:spcPts val="900"/>
              </a:spcAft>
            </a:pPr>
            <a:r>
              <a:rPr sz="1400" b="0">
                <a:solidFill>
                  <a:srgbClr val="161B26"/>
                </a:solidFill>
                <a:latin typeface="Arial"/>
              </a:rPr>
              <a:t>•  —</a:t>
            </a:r>
          </a:p>
        </p:txBody>
      </p:sp>
      <p:sp>
        <p:nvSpPr>
          <p:cNvPr id="19" name="TextBox 18"/>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Manage AI Agents with Paperclip (TGS-2023036646)  ·  TGS-2023036646</a:t>
            </a:r>
          </a:p>
        </p:txBody>
      </p:sp>
      <p:sp>
        <p:nvSpPr>
          <p:cNvPr id="20" name="TextBox 19"/>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21" name="TextBox 20"/>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37</a:t>
            </a:r>
          </a:p>
        </p:txBody>
      </p:sp>
    </p:spTree>
  </p:cSld>
  <p:clrMapOvr>
    <a:masterClrMapping/>
  </p:clrMapOvr>
  <p:transition spd="fast" advClick="1">
    <p:fade/>
  </p:transition>
</p:sld>
</file>

<file path=ppt/slides/slide3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10B981"/>
                </a:solidFill>
                <a:latin typeface="Arial"/>
              </a:rPr>
              <a:t>LAB 1  ·  HANDS-ON</a:t>
            </a:r>
          </a:p>
        </p:txBody>
      </p:sp>
      <p:sp>
        <p:nvSpPr>
          <p:cNvPr id="5" name="TextBox 4"/>
          <p:cNvSpPr txBox="1"/>
          <p:nvPr/>
        </p:nvSpPr>
        <p:spPr>
          <a:xfrm>
            <a:off x="777240" y="804672"/>
            <a:ext cx="10881360" cy="713232"/>
          </a:xfrm>
          <a:prstGeom prst="rect">
            <a:avLst/>
          </a:prstGeom>
          <a:noFill/>
        </p:spPr>
        <p:txBody>
          <a:bodyPr wrap="square" anchor="ctr">
            <a:spAutoFit/>
          </a:bodyPr>
          <a:lstStyle/>
          <a:p>
            <a:pPr algn="l">
              <a:spcAft>
                <a:spcPts val="400"/>
              </a:spcAft>
            </a:pPr>
            <a:r>
              <a:rPr sz="2500" b="1">
                <a:solidFill>
                  <a:srgbClr val="161B26"/>
                </a:solidFill>
                <a:latin typeface="Arial"/>
              </a:rPr>
              <a:t>Install Paperclip and Prove the Control Plane (ClipReel Studio)</a:t>
            </a:r>
          </a:p>
        </p:txBody>
      </p:sp>
      <p:sp>
        <p:nvSpPr>
          <p:cNvPr id="6" name="Rectangle 5"/>
          <p:cNvSpPr/>
          <p:nvPr/>
        </p:nvSpPr>
        <p:spPr>
          <a:xfrm>
            <a:off x="777240" y="155448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77240" y="1783080"/>
            <a:ext cx="10607040" cy="56692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777240" y="1783080"/>
            <a:ext cx="91440" cy="566928"/>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1051560" y="1783080"/>
            <a:ext cx="10241280" cy="566928"/>
          </a:xfrm>
          <a:prstGeom prst="rect">
            <a:avLst/>
          </a:prstGeom>
          <a:noFill/>
        </p:spPr>
        <p:txBody>
          <a:bodyPr wrap="square" anchor="ctr">
            <a:spAutoFit/>
          </a:bodyPr>
          <a:lstStyle/>
          <a:p>
            <a:pPr algn="l">
              <a:spcAft>
                <a:spcPts val="400"/>
              </a:spcAft>
            </a:pPr>
            <a:r>
              <a:rPr sz="1300" b="1">
                <a:solidFill>
                  <a:srgbClr val="7C3AED"/>
                </a:solidFill>
                <a:latin typeface="Arial"/>
              </a:rPr>
              <a:t>SIMULATED COMPANY  ·  ClipReel Studio (Short Video Production)</a:t>
            </a:r>
          </a:p>
        </p:txBody>
      </p:sp>
      <p:sp>
        <p:nvSpPr>
          <p:cNvPr id="10" name="TextBox 9"/>
          <p:cNvSpPr txBox="1"/>
          <p:nvPr/>
        </p:nvSpPr>
        <p:spPr>
          <a:xfrm>
            <a:off x="777240" y="2514600"/>
            <a:ext cx="10607040" cy="1298448"/>
          </a:xfrm>
          <a:prstGeom prst="rect">
            <a:avLst/>
          </a:prstGeom>
          <a:noFill/>
        </p:spPr>
        <p:txBody>
          <a:bodyPr wrap="square" anchor="t">
            <a:spAutoFit/>
          </a:bodyPr>
          <a:lstStyle/>
          <a:p>
            <a:pPr algn="l">
              <a:spcAft>
                <a:spcPts val="400"/>
              </a:spcAft>
            </a:pPr>
            <a:r>
              <a:rPr sz="1350" b="0">
                <a:solidFill>
                  <a:srgbClr val="161B26"/>
                </a:solidFill>
                <a:latin typeface="Arial"/>
              </a:rPr>
              <a:t>You prepare a dedicated synthetic practice root for ClipReel Studio, a one-person short-video production company, verify the supported Node.js runtime, onboard Paperclip as a normal (non-elevated) user, and then inspect BOTH the built-in diagnostic and the live health endpoint. Proving the control plane before you hire any agent matters because every later adapter, budget or heartbeat failure is far easier to isolate when the platform itself has a recorded clean baseline.</a:t>
            </a:r>
          </a:p>
        </p:txBody>
      </p:sp>
      <p:sp>
        <p:nvSpPr>
          <p:cNvPr id="11" name="Rectangle 10"/>
          <p:cNvSpPr/>
          <p:nvPr/>
        </p:nvSpPr>
        <p:spPr>
          <a:xfrm>
            <a:off x="777240" y="3931920"/>
            <a:ext cx="6766560" cy="157276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ectangle 11"/>
          <p:cNvSpPr/>
          <p:nvPr/>
        </p:nvSpPr>
        <p:spPr>
          <a:xfrm>
            <a:off x="777240" y="3931920"/>
            <a:ext cx="6766560" cy="82296"/>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1005840" y="4069080"/>
            <a:ext cx="6309360" cy="329184"/>
          </a:xfrm>
          <a:prstGeom prst="rect">
            <a:avLst/>
          </a:prstGeom>
          <a:noFill/>
        </p:spPr>
        <p:txBody>
          <a:bodyPr wrap="square" anchor="t">
            <a:spAutoFit/>
          </a:bodyPr>
          <a:lstStyle/>
          <a:p>
            <a:pPr algn="l">
              <a:spcAft>
                <a:spcPts val="400"/>
              </a:spcAft>
            </a:pPr>
            <a:r>
              <a:rPr sz="1200" b="1">
                <a:solidFill>
                  <a:srgbClr val="10B981"/>
                </a:solidFill>
                <a:latin typeface="Arial"/>
              </a:rPr>
              <a:t>YOU'LL BUILD</a:t>
            </a:r>
          </a:p>
        </p:txBody>
      </p:sp>
      <p:sp>
        <p:nvSpPr>
          <p:cNvPr id="14" name="TextBox 13"/>
          <p:cNvSpPr txBox="1"/>
          <p:nvPr/>
        </p:nvSpPr>
        <p:spPr>
          <a:xfrm>
            <a:off x="1005840" y="4416552"/>
            <a:ext cx="6309360" cy="1005840"/>
          </a:xfrm>
          <a:prstGeom prst="rect">
            <a:avLst/>
          </a:prstGeom>
          <a:noFill/>
        </p:spPr>
        <p:txBody>
          <a:bodyPr wrap="square" anchor="t">
            <a:spAutoFit/>
          </a:bodyPr>
          <a:lstStyle/>
          <a:p>
            <a:pPr algn="l">
              <a:spcAft>
                <a:spcPts val="400"/>
              </a:spcAft>
            </a:pPr>
            <a:r>
              <a:rPr sz="1150" b="0">
                <a:solidFill>
                  <a:srgbClr val="161B26"/>
                </a:solidFill>
                <a:latin typeface="Arial"/>
              </a:rPr>
              <a:t>A running Paperclip instance at http://localhost:3100 plus evidence/lab01-installation.md recording the Node/npm versions, the doctor summary and the /api/health response — with no credentials captured.</a:t>
            </a:r>
          </a:p>
        </p:txBody>
      </p:sp>
      <p:sp>
        <p:nvSpPr>
          <p:cNvPr id="15" name="Rectangle 14"/>
          <p:cNvSpPr/>
          <p:nvPr/>
        </p:nvSpPr>
        <p:spPr>
          <a:xfrm>
            <a:off x="7818120" y="3931920"/>
            <a:ext cx="3566160" cy="157276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ectangle 15"/>
          <p:cNvSpPr/>
          <p:nvPr/>
        </p:nvSpPr>
        <p:spPr>
          <a:xfrm>
            <a:off x="7818120" y="3931920"/>
            <a:ext cx="3566160" cy="82296"/>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8046720" y="4069080"/>
            <a:ext cx="3108960" cy="329184"/>
          </a:xfrm>
          <a:prstGeom prst="rect">
            <a:avLst/>
          </a:prstGeom>
          <a:noFill/>
        </p:spPr>
        <p:txBody>
          <a:bodyPr wrap="square" anchor="t">
            <a:spAutoFit/>
          </a:bodyPr>
          <a:lstStyle/>
          <a:p>
            <a:pPr algn="l">
              <a:spcAft>
                <a:spcPts val="400"/>
              </a:spcAft>
            </a:pPr>
            <a:r>
              <a:rPr sz="1200" b="1">
                <a:solidFill>
                  <a:srgbClr val="1F6FEB"/>
                </a:solidFill>
                <a:latin typeface="Arial"/>
              </a:rPr>
              <a:t>MAPS TO</a:t>
            </a:r>
          </a:p>
        </p:txBody>
      </p:sp>
      <p:sp>
        <p:nvSpPr>
          <p:cNvPr id="18" name="TextBox 17"/>
          <p:cNvSpPr txBox="1"/>
          <p:nvPr/>
        </p:nvSpPr>
        <p:spPr>
          <a:xfrm>
            <a:off x="8046720" y="4416552"/>
            <a:ext cx="3108960" cy="1005840"/>
          </a:xfrm>
          <a:prstGeom prst="rect">
            <a:avLst/>
          </a:prstGeom>
          <a:noFill/>
        </p:spPr>
        <p:txBody>
          <a:bodyPr wrap="square" anchor="t">
            <a:spAutoFit/>
          </a:bodyPr>
          <a:lstStyle/>
          <a:p>
            <a:pPr algn="l">
              <a:spcAft>
                <a:spcPts val="400"/>
              </a:spcAft>
            </a:pPr>
            <a:r>
              <a:rPr sz="1050" b="0">
                <a:solidFill>
                  <a:srgbClr val="161B26"/>
                </a:solidFill>
                <a:latin typeface="Arial"/>
              </a:rPr>
              <a:t>LO1: Explain the control-plane / runtime boundary and verify a healthy local Paperclip installation with observable evidence.</a:t>
            </a:r>
          </a:p>
        </p:txBody>
      </p:sp>
      <p:sp>
        <p:nvSpPr>
          <p:cNvPr id="19" name="TextBox 18"/>
          <p:cNvSpPr txBox="1"/>
          <p:nvPr/>
        </p:nvSpPr>
        <p:spPr>
          <a:xfrm>
            <a:off x="777240" y="5669280"/>
            <a:ext cx="10607040" cy="640080"/>
          </a:xfrm>
          <a:prstGeom prst="rect">
            <a:avLst/>
          </a:prstGeom>
          <a:noFill/>
        </p:spPr>
        <p:txBody>
          <a:bodyPr wrap="square" anchor="t">
            <a:spAutoFit/>
          </a:bodyPr>
          <a:lstStyle/>
          <a:p>
            <a:pPr algn="l">
              <a:spcAft>
                <a:spcPts val="300"/>
              </a:spcAft>
            </a:pPr>
            <a:r>
              <a:rPr sz="1100" b="0">
                <a:solidFill>
                  <a:srgbClr val="5B6372"/>
                </a:solidFill>
                <a:latin typeface="Arial"/>
              </a:rPr>
              <a:t>Tools:  Node.js 20+, npm/npx, Paperclip CLI, browser, terminal or PowerShell</a:t>
            </a:r>
          </a:p>
          <a:p>
            <a:pPr algn="l">
              <a:spcAft>
                <a:spcPts val="300"/>
              </a:spcAft>
            </a:pPr>
            <a:r>
              <a:rPr sz="1100" b="0">
                <a:solidFill>
                  <a:srgbClr val="5B6372"/>
                </a:solidFill>
                <a:latin typeface="Arial"/>
              </a:rPr>
              <a:t>Full step-by-step procedure: Learner Guide, Lab 1  ·  labs/ folder</a:t>
            </a:r>
          </a:p>
        </p:txBody>
      </p:sp>
      <p:sp>
        <p:nvSpPr>
          <p:cNvPr id="20" name="TextBox 19"/>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Manage AI Agents with Paperclip (TGS-2023036646)  ·  TGS-2023036646</a:t>
            </a:r>
          </a:p>
        </p:txBody>
      </p:sp>
      <p:sp>
        <p:nvSpPr>
          <p:cNvPr id="21" name="TextBox 20"/>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22" name="TextBox 21"/>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38</a:t>
            </a:r>
          </a:p>
        </p:txBody>
      </p:sp>
    </p:spTree>
  </p:cSld>
  <p:clrMapOvr>
    <a:masterClrMapping/>
  </p:clrMapOvr>
  <p:transition spd="fast" advClick="1">
    <p:fade/>
  </p:transition>
</p:sld>
</file>

<file path=ppt/slides/slide3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10B981"/>
                </a:solidFill>
                <a:latin typeface="Arial"/>
              </a:rPr>
              <a:t>LAB 1 · PROCESS MAP</a:t>
            </a:r>
          </a:p>
        </p:txBody>
      </p:sp>
      <p:sp>
        <p:nvSpPr>
          <p:cNvPr id="5" name="TextBox 4"/>
          <p:cNvSpPr txBox="1"/>
          <p:nvPr/>
        </p:nvSpPr>
        <p:spPr>
          <a:xfrm>
            <a:off x="777240" y="804672"/>
            <a:ext cx="10881360" cy="713232"/>
          </a:xfrm>
          <a:prstGeom prst="rect">
            <a:avLst/>
          </a:prstGeom>
          <a:noFill/>
        </p:spPr>
        <p:txBody>
          <a:bodyPr wrap="square" anchor="ctr">
            <a:spAutoFit/>
          </a:bodyPr>
          <a:lstStyle/>
          <a:p>
            <a:pPr algn="l">
              <a:spcAft>
                <a:spcPts val="400"/>
              </a:spcAft>
            </a:pPr>
            <a:r>
              <a:rPr sz="2900" b="1">
                <a:solidFill>
                  <a:srgbClr val="161B26"/>
                </a:solidFill>
                <a:latin typeface="Arial"/>
              </a:rPr>
              <a:t>How Lab 1 Runs</a:t>
            </a:r>
          </a:p>
        </p:txBody>
      </p:sp>
      <p:sp>
        <p:nvSpPr>
          <p:cNvPr id="6" name="Rectangle 5"/>
          <p:cNvSpPr/>
          <p:nvPr/>
        </p:nvSpPr>
        <p:spPr>
          <a:xfrm>
            <a:off x="777240" y="155448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ounded Rectangle 6"/>
          <p:cNvSpPr/>
          <p:nvPr/>
        </p:nvSpPr>
        <p:spPr>
          <a:xfrm>
            <a:off x="777240" y="2148840"/>
            <a:ext cx="1819656" cy="2148840"/>
          </a:xfrm>
          <a:prstGeom prst="roundRect">
            <a:avLst>
              <a:gd name="adj" fmla="val 10000"/>
            </a:avLst>
          </a:prstGeom>
          <a:solidFill>
            <a:srgbClr val="F5F8FC"/>
          </a:solidFill>
          <a:ln w="1587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777240" y="2148840"/>
            <a:ext cx="1819656" cy="100584"/>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Oval 8"/>
          <p:cNvSpPr/>
          <p:nvPr/>
        </p:nvSpPr>
        <p:spPr>
          <a:xfrm>
            <a:off x="1403604" y="2459736"/>
            <a:ext cx="566928" cy="566928"/>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1403604" y="2459736"/>
            <a:ext cx="566928" cy="566928"/>
          </a:xfrm>
          <a:prstGeom prst="rect">
            <a:avLst/>
          </a:prstGeom>
          <a:noFill/>
        </p:spPr>
        <p:txBody>
          <a:bodyPr wrap="square" anchor="ctr">
            <a:spAutoFit/>
          </a:bodyPr>
          <a:lstStyle/>
          <a:p>
            <a:pPr algn="ctr">
              <a:spcAft>
                <a:spcPts val="400"/>
              </a:spcAft>
            </a:pPr>
            <a:r>
              <a:rPr sz="2400" b="1">
                <a:solidFill>
                  <a:srgbClr val="FFFFFF"/>
                </a:solidFill>
                <a:latin typeface="Arial"/>
              </a:rPr>
              <a:t>1</a:t>
            </a:r>
          </a:p>
        </p:txBody>
      </p:sp>
      <p:sp>
        <p:nvSpPr>
          <p:cNvPr id="11" name="TextBox 10"/>
          <p:cNvSpPr txBox="1"/>
          <p:nvPr/>
        </p:nvSpPr>
        <p:spPr>
          <a:xfrm>
            <a:off x="905256" y="3081528"/>
            <a:ext cx="1563624" cy="786384"/>
          </a:xfrm>
          <a:prstGeom prst="rect">
            <a:avLst/>
          </a:prstGeom>
          <a:noFill/>
        </p:spPr>
        <p:txBody>
          <a:bodyPr wrap="square" anchor="ctr">
            <a:spAutoFit/>
          </a:bodyPr>
          <a:lstStyle/>
          <a:p>
            <a:pPr algn="ctr">
              <a:spcAft>
                <a:spcPts val="0"/>
              </a:spcAft>
            </a:pPr>
            <a:r>
              <a:rPr sz="1300" b="1">
                <a:solidFill>
                  <a:srgbClr val="161B26"/>
                </a:solidFill>
                <a:latin typeface="Arial"/>
              </a:rPr>
              <a:t>Prepare the practice root</a:t>
            </a:r>
          </a:p>
        </p:txBody>
      </p:sp>
      <p:sp>
        <p:nvSpPr>
          <p:cNvPr id="12" name="TextBox 11"/>
          <p:cNvSpPr txBox="1"/>
          <p:nvPr/>
        </p:nvSpPr>
        <p:spPr>
          <a:xfrm>
            <a:off x="850392" y="3584448"/>
            <a:ext cx="1673352" cy="603504"/>
          </a:xfrm>
          <a:prstGeom prst="rect">
            <a:avLst/>
          </a:prstGeom>
          <a:noFill/>
        </p:spPr>
        <p:txBody>
          <a:bodyPr wrap="square" anchor="ctr">
            <a:spAutoFit/>
          </a:bodyPr>
          <a:lstStyle/>
          <a:p>
            <a:pPr algn="ctr">
              <a:spcAft>
                <a:spcPts val="0"/>
              </a:spcAft>
            </a:pPr>
            <a:r>
              <a:rPr sz="900" b="0">
                <a:solidFill>
                  <a:srgbClr val="5B6372"/>
                </a:solidFill>
                <a:latin typeface="Arial"/>
              </a:rPr>
              <a:t>separate workspace + evidence folders</a:t>
            </a:r>
          </a:p>
        </p:txBody>
      </p:sp>
      <p:cxnSp>
        <p:nvCxnSpPr>
          <p:cNvPr id="13" name="Connector 12"/>
          <p:cNvCxnSpPr/>
          <p:nvPr/>
        </p:nvCxnSpPr>
        <p:spPr>
          <a:xfrm>
            <a:off x="2651760" y="3223260"/>
            <a:ext cx="274320" cy="0"/>
          </a:xfrm>
          <a:prstGeom prst="line">
            <a:avLst/>
          </a:prstGeom>
          <a:ln w="25400">
            <a:solidFill>
              <a:srgbClr val="10B981"/>
            </a:solidFill>
            <a:tailEnd type="triangle" w="med" len="med"/>
          </a:ln>
        </p:spPr>
        <p:style>
          <a:lnRef idx="2">
            <a:schemeClr val="accent1"/>
          </a:lnRef>
          <a:fillRef idx="0">
            <a:schemeClr val="accent1"/>
          </a:fillRef>
          <a:effectRef idx="1">
            <a:schemeClr val="accent1"/>
          </a:effectRef>
          <a:fontRef idx="minor">
            <a:schemeClr val="tx1"/>
          </a:fontRef>
        </p:style>
      </p:cxnSp>
      <p:sp>
        <p:nvSpPr>
          <p:cNvPr id="14" name="Rounded Rectangle 13"/>
          <p:cNvSpPr/>
          <p:nvPr/>
        </p:nvSpPr>
        <p:spPr>
          <a:xfrm>
            <a:off x="2980944" y="2148840"/>
            <a:ext cx="1819656" cy="2148840"/>
          </a:xfrm>
          <a:prstGeom prst="roundRect">
            <a:avLst>
              <a:gd name="adj" fmla="val 10000"/>
            </a:avLst>
          </a:prstGeom>
          <a:solidFill>
            <a:srgbClr val="F5F8FC"/>
          </a:solidFill>
          <a:ln w="1587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2980944" y="2148840"/>
            <a:ext cx="1819656" cy="100584"/>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Oval 15"/>
          <p:cNvSpPr/>
          <p:nvPr/>
        </p:nvSpPr>
        <p:spPr>
          <a:xfrm>
            <a:off x="3607308" y="2459736"/>
            <a:ext cx="566928" cy="566928"/>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3607308" y="2459736"/>
            <a:ext cx="566928" cy="566928"/>
          </a:xfrm>
          <a:prstGeom prst="rect">
            <a:avLst/>
          </a:prstGeom>
          <a:noFill/>
        </p:spPr>
        <p:txBody>
          <a:bodyPr wrap="square" anchor="ctr">
            <a:spAutoFit/>
          </a:bodyPr>
          <a:lstStyle/>
          <a:p>
            <a:pPr algn="ctr">
              <a:spcAft>
                <a:spcPts val="400"/>
              </a:spcAft>
            </a:pPr>
            <a:r>
              <a:rPr sz="2400" b="1">
                <a:solidFill>
                  <a:srgbClr val="FFFFFF"/>
                </a:solidFill>
                <a:latin typeface="Arial"/>
              </a:rPr>
              <a:t>2</a:t>
            </a:r>
          </a:p>
        </p:txBody>
      </p:sp>
      <p:sp>
        <p:nvSpPr>
          <p:cNvPr id="18" name="TextBox 17"/>
          <p:cNvSpPr txBox="1"/>
          <p:nvPr/>
        </p:nvSpPr>
        <p:spPr>
          <a:xfrm>
            <a:off x="3108960" y="3081528"/>
            <a:ext cx="1563624" cy="786384"/>
          </a:xfrm>
          <a:prstGeom prst="rect">
            <a:avLst/>
          </a:prstGeom>
          <a:noFill/>
        </p:spPr>
        <p:txBody>
          <a:bodyPr wrap="square" anchor="ctr">
            <a:spAutoFit/>
          </a:bodyPr>
          <a:lstStyle/>
          <a:p>
            <a:pPr algn="ctr">
              <a:spcAft>
                <a:spcPts val="0"/>
              </a:spcAft>
            </a:pPr>
            <a:r>
              <a:rPr sz="1300" b="1">
                <a:solidFill>
                  <a:srgbClr val="161B26"/>
                </a:solidFill>
                <a:latin typeface="Arial"/>
              </a:rPr>
              <a:t>Verify Node.js 20+</a:t>
            </a:r>
          </a:p>
        </p:txBody>
      </p:sp>
      <p:sp>
        <p:nvSpPr>
          <p:cNvPr id="19" name="TextBox 18"/>
          <p:cNvSpPr txBox="1"/>
          <p:nvPr/>
        </p:nvSpPr>
        <p:spPr>
          <a:xfrm>
            <a:off x="3054096" y="3584448"/>
            <a:ext cx="1673352" cy="603504"/>
          </a:xfrm>
          <a:prstGeom prst="rect">
            <a:avLst/>
          </a:prstGeom>
          <a:noFill/>
        </p:spPr>
        <p:txBody>
          <a:bodyPr wrap="square" anchor="ctr">
            <a:spAutoFit/>
          </a:bodyPr>
          <a:lstStyle/>
          <a:p>
            <a:pPr algn="ctr">
              <a:spcAft>
                <a:spcPts val="0"/>
              </a:spcAft>
            </a:pPr>
            <a:r>
              <a:rPr sz="900" b="0">
                <a:solidFill>
                  <a:srgbClr val="5B6372"/>
                </a:solidFill>
                <a:latin typeface="Arial"/>
              </a:rPr>
              <a:t>the top cause of a failed onboard</a:t>
            </a:r>
          </a:p>
        </p:txBody>
      </p:sp>
      <p:cxnSp>
        <p:nvCxnSpPr>
          <p:cNvPr id="20" name="Connector 19"/>
          <p:cNvCxnSpPr/>
          <p:nvPr/>
        </p:nvCxnSpPr>
        <p:spPr>
          <a:xfrm>
            <a:off x="4855464" y="3223260"/>
            <a:ext cx="274320" cy="0"/>
          </a:xfrm>
          <a:prstGeom prst="line">
            <a:avLst/>
          </a:prstGeom>
          <a:ln w="25400">
            <a:solidFill>
              <a:srgbClr val="10B981"/>
            </a:solidFill>
            <a:tailEnd type="triangle" w="med" len="med"/>
          </a:ln>
        </p:spPr>
        <p:style>
          <a:lnRef idx="2">
            <a:schemeClr val="accent1"/>
          </a:lnRef>
          <a:fillRef idx="0">
            <a:schemeClr val="accent1"/>
          </a:fillRef>
          <a:effectRef idx="1">
            <a:schemeClr val="accent1"/>
          </a:effectRef>
          <a:fontRef idx="minor">
            <a:schemeClr val="tx1"/>
          </a:fontRef>
        </p:style>
      </p:cxnSp>
      <p:sp>
        <p:nvSpPr>
          <p:cNvPr id="21" name="Rounded Rectangle 20"/>
          <p:cNvSpPr/>
          <p:nvPr/>
        </p:nvSpPr>
        <p:spPr>
          <a:xfrm>
            <a:off x="5184648" y="2148840"/>
            <a:ext cx="1819656" cy="2148840"/>
          </a:xfrm>
          <a:prstGeom prst="roundRect">
            <a:avLst>
              <a:gd name="adj" fmla="val 10000"/>
            </a:avLst>
          </a:prstGeom>
          <a:solidFill>
            <a:srgbClr val="F5F8FC"/>
          </a:solidFill>
          <a:ln w="1587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Rectangle 21"/>
          <p:cNvSpPr/>
          <p:nvPr/>
        </p:nvSpPr>
        <p:spPr>
          <a:xfrm>
            <a:off x="5184648" y="2148840"/>
            <a:ext cx="1819656" cy="100584"/>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Oval 22"/>
          <p:cNvSpPr/>
          <p:nvPr/>
        </p:nvSpPr>
        <p:spPr>
          <a:xfrm>
            <a:off x="5811012" y="2459736"/>
            <a:ext cx="566928" cy="566928"/>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5811012" y="2459736"/>
            <a:ext cx="566928" cy="566928"/>
          </a:xfrm>
          <a:prstGeom prst="rect">
            <a:avLst/>
          </a:prstGeom>
          <a:noFill/>
        </p:spPr>
        <p:txBody>
          <a:bodyPr wrap="square" anchor="ctr">
            <a:spAutoFit/>
          </a:bodyPr>
          <a:lstStyle/>
          <a:p>
            <a:pPr algn="ctr">
              <a:spcAft>
                <a:spcPts val="400"/>
              </a:spcAft>
            </a:pPr>
            <a:r>
              <a:rPr sz="2400" b="1">
                <a:solidFill>
                  <a:srgbClr val="FFFFFF"/>
                </a:solidFill>
                <a:latin typeface="Arial"/>
              </a:rPr>
              <a:t>3</a:t>
            </a:r>
          </a:p>
        </p:txBody>
      </p:sp>
      <p:sp>
        <p:nvSpPr>
          <p:cNvPr id="25" name="TextBox 24"/>
          <p:cNvSpPr txBox="1"/>
          <p:nvPr/>
        </p:nvSpPr>
        <p:spPr>
          <a:xfrm>
            <a:off x="5312664" y="3081528"/>
            <a:ext cx="1563624" cy="786384"/>
          </a:xfrm>
          <a:prstGeom prst="rect">
            <a:avLst/>
          </a:prstGeom>
          <a:noFill/>
        </p:spPr>
        <p:txBody>
          <a:bodyPr wrap="square" anchor="ctr">
            <a:spAutoFit/>
          </a:bodyPr>
          <a:lstStyle/>
          <a:p>
            <a:pPr algn="ctr">
              <a:spcAft>
                <a:spcPts val="0"/>
              </a:spcAft>
            </a:pPr>
            <a:r>
              <a:rPr sz="1300" b="1">
                <a:solidFill>
                  <a:srgbClr val="161B26"/>
                </a:solidFill>
                <a:latin typeface="Arial"/>
              </a:rPr>
              <a:t>Onboard Paperclip</a:t>
            </a:r>
          </a:p>
        </p:txBody>
      </p:sp>
      <p:sp>
        <p:nvSpPr>
          <p:cNvPr id="26" name="TextBox 25"/>
          <p:cNvSpPr txBox="1"/>
          <p:nvPr/>
        </p:nvSpPr>
        <p:spPr>
          <a:xfrm>
            <a:off x="5257800" y="3584448"/>
            <a:ext cx="1673352" cy="603504"/>
          </a:xfrm>
          <a:prstGeom prst="rect">
            <a:avLst/>
          </a:prstGeom>
          <a:noFill/>
        </p:spPr>
        <p:txBody>
          <a:bodyPr wrap="square" anchor="ctr">
            <a:spAutoFit/>
          </a:bodyPr>
          <a:lstStyle/>
          <a:p>
            <a:pPr algn="ctr">
              <a:spcAft>
                <a:spcPts val="0"/>
              </a:spcAft>
            </a:pPr>
            <a:r>
              <a:rPr sz="900" b="0">
                <a:solidFill>
                  <a:srgbClr val="5B6372"/>
                </a:solidFill>
                <a:latin typeface="Arial"/>
              </a:rPr>
              <a:t>normal user shell — never sudo</a:t>
            </a:r>
          </a:p>
        </p:txBody>
      </p:sp>
      <p:cxnSp>
        <p:nvCxnSpPr>
          <p:cNvPr id="27" name="Connector 26"/>
          <p:cNvCxnSpPr/>
          <p:nvPr/>
        </p:nvCxnSpPr>
        <p:spPr>
          <a:xfrm>
            <a:off x="7059168" y="3223260"/>
            <a:ext cx="274320" cy="0"/>
          </a:xfrm>
          <a:prstGeom prst="line">
            <a:avLst/>
          </a:prstGeom>
          <a:ln w="25400">
            <a:solidFill>
              <a:srgbClr val="10B981"/>
            </a:solidFill>
            <a:tailEnd type="triangle" w="med" len="med"/>
          </a:ln>
        </p:spPr>
        <p:style>
          <a:lnRef idx="2">
            <a:schemeClr val="accent1"/>
          </a:lnRef>
          <a:fillRef idx="0">
            <a:schemeClr val="accent1"/>
          </a:fillRef>
          <a:effectRef idx="1">
            <a:schemeClr val="accent1"/>
          </a:effectRef>
          <a:fontRef idx="minor">
            <a:schemeClr val="tx1"/>
          </a:fontRef>
        </p:style>
      </p:cxnSp>
      <p:sp>
        <p:nvSpPr>
          <p:cNvPr id="28" name="Rounded Rectangle 27"/>
          <p:cNvSpPr/>
          <p:nvPr/>
        </p:nvSpPr>
        <p:spPr>
          <a:xfrm>
            <a:off x="7388352" y="2148840"/>
            <a:ext cx="1819656" cy="2148840"/>
          </a:xfrm>
          <a:prstGeom prst="roundRect">
            <a:avLst>
              <a:gd name="adj" fmla="val 10000"/>
            </a:avLst>
          </a:prstGeom>
          <a:solidFill>
            <a:srgbClr val="F5F8FC"/>
          </a:solidFill>
          <a:ln w="1587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Rectangle 28"/>
          <p:cNvSpPr/>
          <p:nvPr/>
        </p:nvSpPr>
        <p:spPr>
          <a:xfrm>
            <a:off x="7388352" y="2148840"/>
            <a:ext cx="1819656" cy="100584"/>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Oval 29"/>
          <p:cNvSpPr/>
          <p:nvPr/>
        </p:nvSpPr>
        <p:spPr>
          <a:xfrm>
            <a:off x="8014716" y="2459736"/>
            <a:ext cx="566928" cy="566928"/>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TextBox 30"/>
          <p:cNvSpPr txBox="1"/>
          <p:nvPr/>
        </p:nvSpPr>
        <p:spPr>
          <a:xfrm>
            <a:off x="8014716" y="2459736"/>
            <a:ext cx="566928" cy="566928"/>
          </a:xfrm>
          <a:prstGeom prst="rect">
            <a:avLst/>
          </a:prstGeom>
          <a:noFill/>
        </p:spPr>
        <p:txBody>
          <a:bodyPr wrap="square" anchor="ctr">
            <a:spAutoFit/>
          </a:bodyPr>
          <a:lstStyle/>
          <a:p>
            <a:pPr algn="ctr">
              <a:spcAft>
                <a:spcPts val="400"/>
              </a:spcAft>
            </a:pPr>
            <a:r>
              <a:rPr sz="2400" b="1">
                <a:solidFill>
                  <a:srgbClr val="FFFFFF"/>
                </a:solidFill>
                <a:latin typeface="Arial"/>
              </a:rPr>
              <a:t>4</a:t>
            </a:r>
          </a:p>
        </p:txBody>
      </p:sp>
      <p:sp>
        <p:nvSpPr>
          <p:cNvPr id="32" name="TextBox 31"/>
          <p:cNvSpPr txBox="1"/>
          <p:nvPr/>
        </p:nvSpPr>
        <p:spPr>
          <a:xfrm>
            <a:off x="7516368" y="3081528"/>
            <a:ext cx="1563624" cy="786384"/>
          </a:xfrm>
          <a:prstGeom prst="rect">
            <a:avLst/>
          </a:prstGeom>
          <a:noFill/>
        </p:spPr>
        <p:txBody>
          <a:bodyPr wrap="square" anchor="ctr">
            <a:spAutoFit/>
          </a:bodyPr>
          <a:lstStyle/>
          <a:p>
            <a:pPr algn="ctr">
              <a:spcAft>
                <a:spcPts val="0"/>
              </a:spcAft>
            </a:pPr>
            <a:r>
              <a:rPr sz="1300" b="1">
                <a:solidFill>
                  <a:srgbClr val="161B26"/>
                </a:solidFill>
                <a:latin typeface="Arial"/>
              </a:rPr>
              <a:t>Run doctor</a:t>
            </a:r>
          </a:p>
        </p:txBody>
      </p:sp>
      <p:sp>
        <p:nvSpPr>
          <p:cNvPr id="33" name="TextBox 32"/>
          <p:cNvSpPr txBox="1"/>
          <p:nvPr/>
        </p:nvSpPr>
        <p:spPr>
          <a:xfrm>
            <a:off x="7461504" y="3584448"/>
            <a:ext cx="1673352" cy="603504"/>
          </a:xfrm>
          <a:prstGeom prst="rect">
            <a:avLst/>
          </a:prstGeom>
          <a:noFill/>
        </p:spPr>
        <p:txBody>
          <a:bodyPr wrap="square" anchor="ctr">
            <a:spAutoFit/>
          </a:bodyPr>
          <a:lstStyle/>
          <a:p>
            <a:pPr algn="ctr">
              <a:spcAft>
                <a:spcPts val="0"/>
              </a:spcAft>
            </a:pPr>
            <a:r>
              <a:rPr sz="900" b="0">
                <a:solidFill>
                  <a:srgbClr val="5B6372"/>
                </a:solidFill>
                <a:latin typeface="Arial"/>
              </a:rPr>
              <a:t>fix the EARLIEST error first</a:t>
            </a:r>
          </a:p>
        </p:txBody>
      </p:sp>
      <p:cxnSp>
        <p:nvCxnSpPr>
          <p:cNvPr id="34" name="Connector 33"/>
          <p:cNvCxnSpPr/>
          <p:nvPr/>
        </p:nvCxnSpPr>
        <p:spPr>
          <a:xfrm>
            <a:off x="9262872" y="3223260"/>
            <a:ext cx="274320" cy="0"/>
          </a:xfrm>
          <a:prstGeom prst="line">
            <a:avLst/>
          </a:prstGeom>
          <a:ln w="25400">
            <a:solidFill>
              <a:srgbClr val="10B981"/>
            </a:solidFill>
            <a:tailEnd type="triangle" w="med" len="med"/>
          </a:ln>
        </p:spPr>
        <p:style>
          <a:lnRef idx="2">
            <a:schemeClr val="accent1"/>
          </a:lnRef>
          <a:fillRef idx="0">
            <a:schemeClr val="accent1"/>
          </a:fillRef>
          <a:effectRef idx="1">
            <a:schemeClr val="accent1"/>
          </a:effectRef>
          <a:fontRef idx="minor">
            <a:schemeClr val="tx1"/>
          </a:fontRef>
        </p:style>
      </p:cxnSp>
      <p:sp>
        <p:nvSpPr>
          <p:cNvPr id="35" name="Rounded Rectangle 34"/>
          <p:cNvSpPr/>
          <p:nvPr/>
        </p:nvSpPr>
        <p:spPr>
          <a:xfrm>
            <a:off x="9592056" y="2148840"/>
            <a:ext cx="1819656" cy="2148840"/>
          </a:xfrm>
          <a:prstGeom prst="roundRect">
            <a:avLst>
              <a:gd name="adj" fmla="val 10000"/>
            </a:avLst>
          </a:prstGeom>
          <a:solidFill>
            <a:srgbClr val="F5F8FC"/>
          </a:solidFill>
          <a:ln w="1587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 name="Rectangle 35"/>
          <p:cNvSpPr/>
          <p:nvPr/>
        </p:nvSpPr>
        <p:spPr>
          <a:xfrm>
            <a:off x="9592056" y="2148840"/>
            <a:ext cx="1819656" cy="100584"/>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 name="Oval 36"/>
          <p:cNvSpPr/>
          <p:nvPr/>
        </p:nvSpPr>
        <p:spPr>
          <a:xfrm>
            <a:off x="10218420" y="2459736"/>
            <a:ext cx="566928" cy="566928"/>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 name="TextBox 37"/>
          <p:cNvSpPr txBox="1"/>
          <p:nvPr/>
        </p:nvSpPr>
        <p:spPr>
          <a:xfrm>
            <a:off x="10218420" y="2459736"/>
            <a:ext cx="566928" cy="566928"/>
          </a:xfrm>
          <a:prstGeom prst="rect">
            <a:avLst/>
          </a:prstGeom>
          <a:noFill/>
        </p:spPr>
        <p:txBody>
          <a:bodyPr wrap="square" anchor="ctr">
            <a:spAutoFit/>
          </a:bodyPr>
          <a:lstStyle/>
          <a:p>
            <a:pPr algn="ctr">
              <a:spcAft>
                <a:spcPts val="400"/>
              </a:spcAft>
            </a:pPr>
            <a:r>
              <a:rPr sz="2400" b="1">
                <a:solidFill>
                  <a:srgbClr val="FFFFFF"/>
                </a:solidFill>
                <a:latin typeface="Arial"/>
              </a:rPr>
              <a:t>5</a:t>
            </a:r>
          </a:p>
        </p:txBody>
      </p:sp>
      <p:sp>
        <p:nvSpPr>
          <p:cNvPr id="39" name="TextBox 38"/>
          <p:cNvSpPr txBox="1"/>
          <p:nvPr/>
        </p:nvSpPr>
        <p:spPr>
          <a:xfrm>
            <a:off x="9720072" y="3081528"/>
            <a:ext cx="1563624" cy="786384"/>
          </a:xfrm>
          <a:prstGeom prst="rect">
            <a:avLst/>
          </a:prstGeom>
          <a:noFill/>
        </p:spPr>
        <p:txBody>
          <a:bodyPr wrap="square" anchor="ctr">
            <a:spAutoFit/>
          </a:bodyPr>
          <a:lstStyle/>
          <a:p>
            <a:pPr algn="ctr">
              <a:spcAft>
                <a:spcPts val="0"/>
              </a:spcAft>
            </a:pPr>
            <a:r>
              <a:rPr sz="1300" b="1">
                <a:solidFill>
                  <a:srgbClr val="161B26"/>
                </a:solidFill>
                <a:latin typeface="Arial"/>
              </a:rPr>
              <a:t>Prove /api/health</a:t>
            </a:r>
          </a:p>
        </p:txBody>
      </p:sp>
      <p:sp>
        <p:nvSpPr>
          <p:cNvPr id="40" name="TextBox 39"/>
          <p:cNvSpPr txBox="1"/>
          <p:nvPr/>
        </p:nvSpPr>
        <p:spPr>
          <a:xfrm>
            <a:off x="9665208" y="3584448"/>
            <a:ext cx="1673352" cy="603504"/>
          </a:xfrm>
          <a:prstGeom prst="rect">
            <a:avLst/>
          </a:prstGeom>
          <a:noFill/>
        </p:spPr>
        <p:txBody>
          <a:bodyPr wrap="square" anchor="ctr">
            <a:spAutoFit/>
          </a:bodyPr>
          <a:lstStyle/>
          <a:p>
            <a:pPr algn="ctr">
              <a:spcAft>
                <a:spcPts val="0"/>
              </a:spcAft>
            </a:pPr>
            <a:r>
              <a:rPr sz="900" b="0">
                <a:solidFill>
                  <a:srgbClr val="5B6372"/>
                </a:solidFill>
                <a:latin typeface="Arial"/>
              </a:rPr>
              <a:t>record the clean baseline</a:t>
            </a:r>
          </a:p>
        </p:txBody>
      </p:sp>
      <p:sp>
        <p:nvSpPr>
          <p:cNvPr id="41" name="Rectangle 40"/>
          <p:cNvSpPr/>
          <p:nvPr/>
        </p:nvSpPr>
        <p:spPr>
          <a:xfrm>
            <a:off x="777240" y="4608576"/>
            <a:ext cx="10634472" cy="105156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2" name="Rectangle 41"/>
          <p:cNvSpPr/>
          <p:nvPr/>
        </p:nvSpPr>
        <p:spPr>
          <a:xfrm>
            <a:off x="777240" y="4608576"/>
            <a:ext cx="100584" cy="105156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3" name="TextBox 42"/>
          <p:cNvSpPr txBox="1"/>
          <p:nvPr/>
        </p:nvSpPr>
        <p:spPr>
          <a:xfrm>
            <a:off x="1051560" y="4718304"/>
            <a:ext cx="10149840" cy="292608"/>
          </a:xfrm>
          <a:prstGeom prst="rect">
            <a:avLst/>
          </a:prstGeom>
          <a:noFill/>
        </p:spPr>
        <p:txBody>
          <a:bodyPr wrap="square" anchor="t">
            <a:spAutoFit/>
          </a:bodyPr>
          <a:lstStyle/>
          <a:p>
            <a:pPr algn="l">
              <a:spcAft>
                <a:spcPts val="400"/>
              </a:spcAft>
            </a:pPr>
            <a:r>
              <a:rPr sz="1100" b="1">
                <a:solidFill>
                  <a:srgbClr val="10B981"/>
                </a:solidFill>
                <a:latin typeface="Arial"/>
              </a:rPr>
              <a:t>THE POINT</a:t>
            </a:r>
          </a:p>
        </p:txBody>
      </p:sp>
      <p:sp>
        <p:nvSpPr>
          <p:cNvPr id="44" name="TextBox 43"/>
          <p:cNvSpPr txBox="1"/>
          <p:nvPr/>
        </p:nvSpPr>
        <p:spPr>
          <a:xfrm>
            <a:off x="1051560" y="5029200"/>
            <a:ext cx="10149840" cy="566928"/>
          </a:xfrm>
          <a:prstGeom prst="rect">
            <a:avLst/>
          </a:prstGeom>
          <a:noFill/>
        </p:spPr>
        <p:txBody>
          <a:bodyPr wrap="square" anchor="t">
            <a:spAutoFit/>
          </a:bodyPr>
          <a:lstStyle/>
          <a:p>
            <a:pPr algn="l">
              <a:spcAft>
                <a:spcPts val="400"/>
              </a:spcAft>
            </a:pPr>
            <a:r>
              <a:rPr sz="1300" b="0">
                <a:solidFill>
                  <a:srgbClr val="161B26"/>
                </a:solidFill>
                <a:latin typeface="Arial"/>
              </a:rPr>
              <a:t>LO1: Explain the control-plane / runtime boundary and verify a healthy local Paperclip installation with observable evidence.</a:t>
            </a:r>
          </a:p>
        </p:txBody>
      </p:sp>
      <p:sp>
        <p:nvSpPr>
          <p:cNvPr id="95" name="TextBox 94"/>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Manage AI Agents with Paperclip (TGS-2023036646)  ·  TGS-2023036646</a:t>
            </a:r>
          </a:p>
        </p:txBody>
      </p:sp>
      <p:sp>
        <p:nvSpPr>
          <p:cNvPr id="96" name="TextBox 95"/>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97" name="TextBox 96"/>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39</a:t>
            </a:r>
          </a:p>
        </p:txBody>
      </p:sp>
    </p:spTree>
  </p:cSld>
  <p:clrMapOvr>
    <a:masterClrMapping/>
  </p:clrMapOvr>
  <p:timing>
    <p:tnLst>
      <p:par>
        <p:cTn id="1" dur="indefinite" restart="never" nodeType="tmRoot">
          <p:childTnLst>
            <p:seq concurrent="1" nextAc="seek">
              <p:cTn id="2" dur="indefinite" nodeType="mainSeq">
                <p:childTnLst>
                  <p:par>
                    <p:cTn id="10" fill="hold">
                      <p:stCondLst>
                        <p:cond delay="indefinite"/>
                      </p:stCondLst>
                      <p:childTnLst>
                        <p:par>
                          <p:cTn id="11" fill="hold">
                            <p:stCondLst>
                              <p:cond delay="0"/>
                            </p:stCondLst>
                            <p:childTnLst>
                              <p:par>
                                <p:cTn id="12" presetID="1" presetClass="entr" presetSubtype="0" fill="hold" nodeType="clickEffect">
                                  <p:stCondLst>
                                    <p:cond delay="0"/>
                                  </p:stCondLst>
                                  <p:childTnLst>
                                    <p:set>
                                      <p:cBhvr>
                                        <p:cTn id="13" dur="1" fill="hold">
                                          <p:stCondLst>
                                            <p:cond delay="0"/>
                                          </p:stCondLst>
                                        </p:cTn>
                                        <p:tgtEl>
                                          <p:spTgt spid="7"/>
                                        </p:tgtEl>
                                        <p:attrNameLst>
                                          <p:attrName>style.visibility</p:attrName>
                                        </p:attrNameLst>
                                      </p:cBhvr>
                                      <p:to>
                                        <p:strVal val="visible"/>
                                      </p:to>
                                    </p:set>
                                    <p:animEffect transition="in" filter="fade">
                                      <p:cBhvr>
                                        <p:cTn id="14" dur="400"/>
                                        <p:tgtEl>
                                          <p:spTgt spid="7"/>
                                        </p:tgtEl>
                                      </p:cBhvr>
                                    </p:animEffect>
                                  </p:childTnLst>
                                </p:cTn>
                              </p:par>
                            </p:childTnLst>
                          </p:cTn>
                        </p:par>
                      </p:childTnLst>
                    </p:cTn>
                  </p:par>
                  <p:par>
                    <p:cTn id="20" fill="hold">
                      <p:stCondLst>
                        <p:cond delay="indefinite"/>
                      </p:stCondLst>
                      <p:childTnLst>
                        <p:par>
                          <p:cTn id="21" fill="hold">
                            <p:stCondLst>
                              <p:cond delay="0"/>
                            </p:stCondLst>
                            <p:childTnLst>
                              <p:par>
                                <p:cTn id="22" presetID="1" presetClass="entr" presetSubtype="0" fill="hold" nodeType="afterEffect">
                                  <p:stCondLst>
                                    <p:cond delay="0"/>
                                  </p:stCondLst>
                                  <p:childTnLst>
                                    <p:set>
                                      <p:cBhvr>
                                        <p:cTn id="23" dur="1" fill="hold">
                                          <p:stCondLst>
                                            <p:cond delay="0"/>
                                          </p:stCondLst>
                                        </p:cTn>
                                        <p:tgtEl>
                                          <p:spTgt spid="13"/>
                                        </p:tgtEl>
                                        <p:attrNameLst>
                                          <p:attrName>style.visibility</p:attrName>
                                        </p:attrNameLst>
                                      </p:cBhvr>
                                      <p:to>
                                        <p:strVal val="visible"/>
                                      </p:to>
                                    </p:set>
                                    <p:animEffect transition="in" filter="fade">
                                      <p:cBhvr>
                                        <p:cTn id="24" dur="400"/>
                                        <p:tgtEl>
                                          <p:spTgt spid="13"/>
                                        </p:tgtEl>
                                      </p:cBhvr>
                                    </p:animEffect>
                                  </p:childTnLst>
                                </p:cTn>
                              </p:par>
                            </p:childTnLst>
                          </p:cTn>
                        </p:par>
                      </p:childTnLst>
                    </p:cTn>
                  </p:par>
                  <p:par>
                    <p:cTn id="30" fill="hold">
                      <p:stCondLst>
                        <p:cond delay="indefinite"/>
                      </p:stCondLst>
                      <p:childTnLst>
                        <p:par>
                          <p:cTn id="31" fill="hold">
                            <p:stCondLst>
                              <p:cond delay="0"/>
                            </p:stCondLst>
                            <p:childTnLst>
                              <p:par>
                                <p:cTn id="32" presetID="1" presetClass="entr" presetSubtype="0" fill="hold" nodeType="afterEffect">
                                  <p:stCondLst>
                                    <p:cond delay="0"/>
                                  </p:stCondLst>
                                  <p:childTnLst>
                                    <p:set>
                                      <p:cBhvr>
                                        <p:cTn id="33" dur="1" fill="hold">
                                          <p:stCondLst>
                                            <p:cond delay="0"/>
                                          </p:stCondLst>
                                        </p:cTn>
                                        <p:tgtEl>
                                          <p:spTgt spid="14"/>
                                        </p:tgtEl>
                                        <p:attrNameLst>
                                          <p:attrName>style.visibility</p:attrName>
                                        </p:attrNameLst>
                                      </p:cBhvr>
                                      <p:to>
                                        <p:strVal val="visible"/>
                                      </p:to>
                                    </p:set>
                                    <p:animEffect transition="in" filter="fade">
                                      <p:cBhvr>
                                        <p:cTn id="34" dur="400"/>
                                        <p:tgtEl>
                                          <p:spTgt spid="14"/>
                                        </p:tgtEl>
                                      </p:cBhvr>
                                    </p:animEffect>
                                  </p:childTnLst>
                                </p:cTn>
                              </p:par>
                            </p:childTnLst>
                          </p:cTn>
                        </p:par>
                      </p:childTnLst>
                    </p:cTn>
                  </p:par>
                  <p:par>
                    <p:cTn id="40" fill="hold">
                      <p:stCondLst>
                        <p:cond delay="indefinite"/>
                      </p:stCondLst>
                      <p:childTnLst>
                        <p:par>
                          <p:cTn id="41" fill="hold">
                            <p:stCondLst>
                              <p:cond delay="0"/>
                            </p:stCondLst>
                            <p:childTnLst>
                              <p:par>
                                <p:cTn id="42" presetID="1" presetClass="entr" presetSubtype="0" fill="hold" nodeType="afterEffect">
                                  <p:stCondLst>
                                    <p:cond delay="0"/>
                                  </p:stCondLst>
                                  <p:childTnLst>
                                    <p:set>
                                      <p:cBhvr>
                                        <p:cTn id="43" dur="1" fill="hold">
                                          <p:stCondLst>
                                            <p:cond delay="0"/>
                                          </p:stCondLst>
                                        </p:cTn>
                                        <p:tgtEl>
                                          <p:spTgt spid="20"/>
                                        </p:tgtEl>
                                        <p:attrNameLst>
                                          <p:attrName>style.visibility</p:attrName>
                                        </p:attrNameLst>
                                      </p:cBhvr>
                                      <p:to>
                                        <p:strVal val="visible"/>
                                      </p:to>
                                    </p:set>
                                    <p:animEffect transition="in" filter="fade">
                                      <p:cBhvr>
                                        <p:cTn id="44" dur="400"/>
                                        <p:tgtEl>
                                          <p:spTgt spid="20"/>
                                        </p:tgtEl>
                                      </p:cBhvr>
                                    </p:animEffect>
                                  </p:childTnLst>
                                </p:cTn>
                              </p:par>
                            </p:childTnLst>
                          </p:cTn>
                        </p:par>
                      </p:childTnLst>
                    </p:cTn>
                  </p:par>
                  <p:par>
                    <p:cTn id="50" fill="hold">
                      <p:stCondLst>
                        <p:cond delay="indefinite"/>
                      </p:stCondLst>
                      <p:childTnLst>
                        <p:par>
                          <p:cTn id="51" fill="hold">
                            <p:stCondLst>
                              <p:cond delay="0"/>
                            </p:stCondLst>
                            <p:childTnLst>
                              <p:par>
                                <p:cTn id="52" presetID="1" presetClass="entr" presetSubtype="0" fill="hold" nodeType="afterEffect">
                                  <p:stCondLst>
                                    <p:cond delay="0"/>
                                  </p:stCondLst>
                                  <p:childTnLst>
                                    <p:set>
                                      <p:cBhvr>
                                        <p:cTn id="53" dur="1" fill="hold">
                                          <p:stCondLst>
                                            <p:cond delay="0"/>
                                          </p:stCondLst>
                                        </p:cTn>
                                        <p:tgtEl>
                                          <p:spTgt spid="21"/>
                                        </p:tgtEl>
                                        <p:attrNameLst>
                                          <p:attrName>style.visibility</p:attrName>
                                        </p:attrNameLst>
                                      </p:cBhvr>
                                      <p:to>
                                        <p:strVal val="visible"/>
                                      </p:to>
                                    </p:set>
                                    <p:animEffect transition="in" filter="fade">
                                      <p:cBhvr>
                                        <p:cTn id="54" dur="400"/>
                                        <p:tgtEl>
                                          <p:spTgt spid="21"/>
                                        </p:tgtEl>
                                      </p:cBhvr>
                                    </p:animEffect>
                                  </p:childTnLst>
                                </p:cTn>
                              </p:par>
                            </p:childTnLst>
                          </p:cTn>
                        </p:par>
                      </p:childTnLst>
                    </p:cTn>
                  </p:par>
                  <p:par>
                    <p:cTn id="60" fill="hold">
                      <p:stCondLst>
                        <p:cond delay="indefinite"/>
                      </p:stCondLst>
                      <p:childTnLst>
                        <p:par>
                          <p:cTn id="61" fill="hold">
                            <p:stCondLst>
                              <p:cond delay="0"/>
                            </p:stCondLst>
                            <p:childTnLst>
                              <p:par>
                                <p:cTn id="62" presetID="1" presetClass="entr" presetSubtype="0" fill="hold" nodeType="afterEffect">
                                  <p:stCondLst>
                                    <p:cond delay="0"/>
                                  </p:stCondLst>
                                  <p:childTnLst>
                                    <p:set>
                                      <p:cBhvr>
                                        <p:cTn id="63" dur="1" fill="hold">
                                          <p:stCondLst>
                                            <p:cond delay="0"/>
                                          </p:stCondLst>
                                        </p:cTn>
                                        <p:tgtEl>
                                          <p:spTgt spid="27"/>
                                        </p:tgtEl>
                                        <p:attrNameLst>
                                          <p:attrName>style.visibility</p:attrName>
                                        </p:attrNameLst>
                                      </p:cBhvr>
                                      <p:to>
                                        <p:strVal val="visible"/>
                                      </p:to>
                                    </p:set>
                                    <p:animEffect transition="in" filter="fade">
                                      <p:cBhvr>
                                        <p:cTn id="64" dur="400"/>
                                        <p:tgtEl>
                                          <p:spTgt spid="27"/>
                                        </p:tgtEl>
                                      </p:cBhvr>
                                    </p:animEffect>
                                  </p:childTnLst>
                                </p:cTn>
                              </p:par>
                            </p:childTnLst>
                          </p:cTn>
                        </p:par>
                      </p:childTnLst>
                    </p:cTn>
                  </p:par>
                  <p:par>
                    <p:cTn id="70" fill="hold">
                      <p:stCondLst>
                        <p:cond delay="indefinite"/>
                      </p:stCondLst>
                      <p:childTnLst>
                        <p:par>
                          <p:cTn id="71" fill="hold">
                            <p:stCondLst>
                              <p:cond delay="0"/>
                            </p:stCondLst>
                            <p:childTnLst>
                              <p:par>
                                <p:cTn id="72" presetID="1" presetClass="entr" presetSubtype="0" fill="hold" nodeType="afterEffect">
                                  <p:stCondLst>
                                    <p:cond delay="0"/>
                                  </p:stCondLst>
                                  <p:childTnLst>
                                    <p:set>
                                      <p:cBhvr>
                                        <p:cTn id="73" dur="1" fill="hold">
                                          <p:stCondLst>
                                            <p:cond delay="0"/>
                                          </p:stCondLst>
                                        </p:cTn>
                                        <p:tgtEl>
                                          <p:spTgt spid="28"/>
                                        </p:tgtEl>
                                        <p:attrNameLst>
                                          <p:attrName>style.visibility</p:attrName>
                                        </p:attrNameLst>
                                      </p:cBhvr>
                                      <p:to>
                                        <p:strVal val="visible"/>
                                      </p:to>
                                    </p:set>
                                    <p:animEffect transition="in" filter="fade">
                                      <p:cBhvr>
                                        <p:cTn id="74" dur="400"/>
                                        <p:tgtEl>
                                          <p:spTgt spid="28"/>
                                        </p:tgtEl>
                                      </p:cBhvr>
                                    </p:animEffect>
                                  </p:childTnLst>
                                </p:cTn>
                              </p:par>
                            </p:childTnLst>
                          </p:cTn>
                        </p:par>
                      </p:childTnLst>
                    </p:cTn>
                  </p:par>
                  <p:par>
                    <p:cTn id="80" fill="hold">
                      <p:stCondLst>
                        <p:cond delay="indefinite"/>
                      </p:stCondLst>
                      <p:childTnLst>
                        <p:par>
                          <p:cTn id="81" fill="hold">
                            <p:stCondLst>
                              <p:cond delay="0"/>
                            </p:stCondLst>
                            <p:childTnLst>
                              <p:par>
                                <p:cTn id="82" presetID="1" presetClass="entr" presetSubtype="0" fill="hold" nodeType="afterEffect">
                                  <p:stCondLst>
                                    <p:cond delay="0"/>
                                  </p:stCondLst>
                                  <p:childTnLst>
                                    <p:set>
                                      <p:cBhvr>
                                        <p:cTn id="83" dur="1" fill="hold">
                                          <p:stCondLst>
                                            <p:cond delay="0"/>
                                          </p:stCondLst>
                                        </p:cTn>
                                        <p:tgtEl>
                                          <p:spTgt spid="34"/>
                                        </p:tgtEl>
                                        <p:attrNameLst>
                                          <p:attrName>style.visibility</p:attrName>
                                        </p:attrNameLst>
                                      </p:cBhvr>
                                      <p:to>
                                        <p:strVal val="visible"/>
                                      </p:to>
                                    </p:set>
                                    <p:animEffect transition="in" filter="fade">
                                      <p:cBhvr>
                                        <p:cTn id="84" dur="400"/>
                                        <p:tgtEl>
                                          <p:spTgt spid="34"/>
                                        </p:tgtEl>
                                      </p:cBhvr>
                                    </p:animEffect>
                                  </p:childTnLst>
                                </p:cTn>
                              </p:par>
                            </p:childTnLst>
                          </p:cTn>
                        </p:par>
                      </p:childTnLst>
                    </p:cTn>
                  </p:par>
                  <p:par>
                    <p:cTn id="90" fill="hold">
                      <p:stCondLst>
                        <p:cond delay="indefinite"/>
                      </p:stCondLst>
                      <p:childTnLst>
                        <p:par>
                          <p:cTn id="91" fill="hold">
                            <p:stCondLst>
                              <p:cond delay="0"/>
                            </p:stCondLst>
                            <p:childTnLst>
                              <p:par>
                                <p:cTn id="92" presetID="1" presetClass="entr" presetSubtype="0" fill="hold" nodeType="afterEffect">
                                  <p:stCondLst>
                                    <p:cond delay="0"/>
                                  </p:stCondLst>
                                  <p:childTnLst>
                                    <p:set>
                                      <p:cBhvr>
                                        <p:cTn id="93" dur="1" fill="hold">
                                          <p:stCondLst>
                                            <p:cond delay="0"/>
                                          </p:stCondLst>
                                        </p:cTn>
                                        <p:tgtEl>
                                          <p:spTgt spid="35"/>
                                        </p:tgtEl>
                                        <p:attrNameLst>
                                          <p:attrName>style.visibility</p:attrName>
                                        </p:attrNameLst>
                                      </p:cBhvr>
                                      <p:to>
                                        <p:strVal val="visible"/>
                                      </p:to>
                                    </p:set>
                                    <p:animEffect transition="in" filter="fade">
                                      <p:cBhvr>
                                        <p:cTn id="94" dur="400"/>
                                        <p:tgtEl>
                                          <p:spTgt spid="35"/>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transition spd="fast" advClick="1">
    <p:fade/>
  </p:transition>
</p:sld>
</file>

<file path=ppt/slides/slide4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10B981"/>
                </a:solidFill>
                <a:latin typeface="Arial"/>
              </a:rPr>
              <a:t>LAB 1 · VERIFY</a:t>
            </a:r>
          </a:p>
        </p:txBody>
      </p:sp>
      <p:sp>
        <p:nvSpPr>
          <p:cNvPr id="5" name="TextBox 4"/>
          <p:cNvSpPr txBox="1"/>
          <p:nvPr/>
        </p:nvSpPr>
        <p:spPr>
          <a:xfrm>
            <a:off x="777240" y="804672"/>
            <a:ext cx="10881360" cy="713232"/>
          </a:xfrm>
          <a:prstGeom prst="rect">
            <a:avLst/>
          </a:prstGeom>
          <a:noFill/>
        </p:spPr>
        <p:txBody>
          <a:bodyPr wrap="square" anchor="ctr">
            <a:spAutoFit/>
          </a:bodyPr>
          <a:lstStyle/>
          <a:p>
            <a:pPr algn="l">
              <a:spcAft>
                <a:spcPts val="400"/>
              </a:spcAft>
            </a:pPr>
            <a:r>
              <a:rPr sz="2500" b="1">
                <a:solidFill>
                  <a:srgbClr val="161B26"/>
                </a:solidFill>
                <a:latin typeface="Arial"/>
              </a:rPr>
              <a:t>Install Paperclip and Prove the Control Plane (ClipReel Studio)</a:t>
            </a:r>
          </a:p>
        </p:txBody>
      </p:sp>
      <p:sp>
        <p:nvSpPr>
          <p:cNvPr id="6" name="Rectangle 5"/>
          <p:cNvSpPr/>
          <p:nvPr/>
        </p:nvSpPr>
        <p:spPr>
          <a:xfrm>
            <a:off x="777240" y="155448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77240" y="1783080"/>
            <a:ext cx="10634472" cy="1965960"/>
          </a:xfrm>
          <a:prstGeom prst="rect">
            <a:avLst/>
          </a:prstGeom>
          <a:solidFill>
            <a:srgbClr val="E8F7E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777240" y="1783080"/>
            <a:ext cx="100584" cy="1965960"/>
          </a:xfrm>
          <a:prstGeom prst="rect">
            <a:avLst/>
          </a:prstGeom>
          <a:solidFill>
            <a:srgbClr val="127A3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1097280" y="1938528"/>
            <a:ext cx="10058400" cy="402336"/>
          </a:xfrm>
          <a:prstGeom prst="rect">
            <a:avLst/>
          </a:prstGeom>
          <a:noFill/>
        </p:spPr>
        <p:txBody>
          <a:bodyPr wrap="square" anchor="t">
            <a:spAutoFit/>
          </a:bodyPr>
          <a:lstStyle/>
          <a:p>
            <a:pPr algn="l">
              <a:spcAft>
                <a:spcPts val="400"/>
              </a:spcAft>
            </a:pPr>
            <a:r>
              <a:rPr sz="1700" b="1">
                <a:solidFill>
                  <a:srgbClr val="127A3E"/>
                </a:solidFill>
                <a:latin typeface="Arial"/>
              </a:rPr>
              <a:t>✅  Expected result</a:t>
            </a:r>
          </a:p>
        </p:txBody>
      </p:sp>
      <p:sp>
        <p:nvSpPr>
          <p:cNvPr id="10" name="TextBox 9"/>
          <p:cNvSpPr txBox="1"/>
          <p:nvPr/>
        </p:nvSpPr>
        <p:spPr>
          <a:xfrm>
            <a:off x="1097280" y="2395728"/>
            <a:ext cx="10058400" cy="1234440"/>
          </a:xfrm>
          <a:prstGeom prst="rect">
            <a:avLst/>
          </a:prstGeom>
          <a:noFill/>
        </p:spPr>
        <p:txBody>
          <a:bodyPr wrap="square" anchor="t">
            <a:spAutoFit/>
          </a:bodyPr>
          <a:lstStyle/>
          <a:p>
            <a:pPr algn="l">
              <a:spcAft>
                <a:spcPts val="400"/>
              </a:spcAft>
            </a:pPr>
            <a:r>
              <a:rPr sz="1500" b="0">
                <a:solidFill>
                  <a:srgbClr val="161B26"/>
                </a:solidFill>
                <a:latin typeface="Arial"/>
              </a:rPr>
              <a:t>npx paperclipai doctor completes with no unresolved blocking error, GET http://localhost:3100/api/health returns status ok, the browser loads the Paperclip UI, and evidence/lab01-installation.md records all three checks with no credential or personal identifier.</a:t>
            </a:r>
          </a:p>
        </p:txBody>
      </p:sp>
      <p:sp>
        <p:nvSpPr>
          <p:cNvPr id="11" name="TextBox 10"/>
          <p:cNvSpPr txBox="1"/>
          <p:nvPr/>
        </p:nvSpPr>
        <p:spPr>
          <a:xfrm>
            <a:off x="777240" y="3950208"/>
            <a:ext cx="10634472" cy="310896"/>
          </a:xfrm>
          <a:prstGeom prst="rect">
            <a:avLst/>
          </a:prstGeom>
          <a:noFill/>
        </p:spPr>
        <p:txBody>
          <a:bodyPr wrap="square" anchor="t">
            <a:spAutoFit/>
          </a:bodyPr>
          <a:lstStyle/>
          <a:p>
            <a:pPr algn="l">
              <a:spcAft>
                <a:spcPts val="400"/>
              </a:spcAft>
            </a:pPr>
            <a:r>
              <a:rPr sz="1100" b="1">
                <a:solidFill>
                  <a:srgbClr val="F59E0B"/>
                </a:solidFill>
                <a:latin typeface="Arial"/>
              </a:rPr>
              <a:t>IF IT DOESN'T WORK</a:t>
            </a:r>
          </a:p>
        </p:txBody>
      </p:sp>
      <p:sp>
        <p:nvSpPr>
          <p:cNvPr id="12" name="Rectangle 11"/>
          <p:cNvSpPr/>
          <p:nvPr/>
        </p:nvSpPr>
        <p:spPr>
          <a:xfrm>
            <a:off x="777240" y="4297680"/>
            <a:ext cx="3392424" cy="157276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777240" y="4297680"/>
            <a:ext cx="3392424" cy="82296"/>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996696" y="4453128"/>
            <a:ext cx="2980944" cy="329184"/>
          </a:xfrm>
          <a:prstGeom prst="rect">
            <a:avLst/>
          </a:prstGeom>
          <a:noFill/>
        </p:spPr>
        <p:txBody>
          <a:bodyPr wrap="square" anchor="t">
            <a:spAutoFit/>
          </a:bodyPr>
          <a:lstStyle/>
          <a:p>
            <a:pPr algn="l">
              <a:spcAft>
                <a:spcPts val="400"/>
              </a:spcAft>
            </a:pPr>
            <a:r>
              <a:rPr sz="1250" b="1">
                <a:solidFill>
                  <a:srgbClr val="161B26"/>
                </a:solidFill>
                <a:latin typeface="Arial"/>
              </a:rPr>
              <a:t>Embedded PostgreSQL refuses to start</a:t>
            </a:r>
          </a:p>
        </p:txBody>
      </p:sp>
      <p:sp>
        <p:nvSpPr>
          <p:cNvPr id="15" name="TextBox 14"/>
          <p:cNvSpPr txBox="1"/>
          <p:nvPr/>
        </p:nvSpPr>
        <p:spPr>
          <a:xfrm>
            <a:off x="996696" y="4809744"/>
            <a:ext cx="2980944" cy="960120"/>
          </a:xfrm>
          <a:prstGeom prst="rect">
            <a:avLst/>
          </a:prstGeom>
          <a:noFill/>
        </p:spPr>
        <p:txBody>
          <a:bodyPr wrap="square" anchor="t">
            <a:spAutoFit/>
          </a:bodyPr>
          <a:lstStyle/>
          <a:p>
            <a:pPr algn="l">
              <a:spcAft>
                <a:spcPts val="400"/>
              </a:spcAft>
            </a:pPr>
            <a:r>
              <a:rPr sz="1100" b="0">
                <a:solidFill>
                  <a:srgbClr val="5B6372"/>
                </a:solidFill>
                <a:latin typeface="Arial"/>
              </a:rPr>
              <a:t>Confirm the shell is NOT elevated. Stop the process and re-run onboarding as the normal user who owns the practice folder.</a:t>
            </a:r>
          </a:p>
        </p:txBody>
      </p:sp>
      <p:sp>
        <p:nvSpPr>
          <p:cNvPr id="16" name="Rectangle 15"/>
          <p:cNvSpPr/>
          <p:nvPr/>
        </p:nvSpPr>
        <p:spPr>
          <a:xfrm>
            <a:off x="4398264" y="4297680"/>
            <a:ext cx="3392424" cy="157276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4398264" y="4297680"/>
            <a:ext cx="3392424" cy="82296"/>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4617720" y="4453128"/>
            <a:ext cx="2980944" cy="329184"/>
          </a:xfrm>
          <a:prstGeom prst="rect">
            <a:avLst/>
          </a:prstGeom>
          <a:noFill/>
        </p:spPr>
        <p:txBody>
          <a:bodyPr wrap="square" anchor="t">
            <a:spAutoFit/>
          </a:bodyPr>
          <a:lstStyle/>
          <a:p>
            <a:pPr algn="l">
              <a:spcAft>
                <a:spcPts val="400"/>
              </a:spcAft>
            </a:pPr>
            <a:r>
              <a:rPr sz="1250" b="1">
                <a:solidFill>
                  <a:srgbClr val="161B26"/>
                </a:solidFill>
                <a:latin typeface="Arial"/>
              </a:rPr>
              <a:t>The browser cannot reach port 3100</a:t>
            </a:r>
          </a:p>
        </p:txBody>
      </p:sp>
      <p:sp>
        <p:nvSpPr>
          <p:cNvPr id="19" name="TextBox 18"/>
          <p:cNvSpPr txBox="1"/>
          <p:nvPr/>
        </p:nvSpPr>
        <p:spPr>
          <a:xfrm>
            <a:off x="4617720" y="4809744"/>
            <a:ext cx="2980944" cy="960120"/>
          </a:xfrm>
          <a:prstGeom prst="rect">
            <a:avLst/>
          </a:prstGeom>
          <a:noFill/>
        </p:spPr>
        <p:txBody>
          <a:bodyPr wrap="square" anchor="t">
            <a:spAutoFit/>
          </a:bodyPr>
          <a:lstStyle/>
          <a:p>
            <a:pPr algn="l">
              <a:spcAft>
                <a:spcPts val="400"/>
              </a:spcAft>
            </a:pPr>
            <a:r>
              <a:rPr sz="1100" b="0">
                <a:solidFill>
                  <a:srgbClr val="5B6372"/>
                </a:solidFill>
                <a:latin typeface="Arial"/>
              </a:rPr>
              <a:t>Run npx paperclipai doctor, then npx paperclipai run, and query /api/health again BEFORE touching any firewall setting.</a:t>
            </a:r>
          </a:p>
        </p:txBody>
      </p:sp>
      <p:sp>
        <p:nvSpPr>
          <p:cNvPr id="20" name="Rectangle 19"/>
          <p:cNvSpPr/>
          <p:nvPr/>
        </p:nvSpPr>
        <p:spPr>
          <a:xfrm>
            <a:off x="8019288" y="4297680"/>
            <a:ext cx="3392424" cy="157276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ectangle 20"/>
          <p:cNvSpPr/>
          <p:nvPr/>
        </p:nvSpPr>
        <p:spPr>
          <a:xfrm>
            <a:off x="8019288" y="4297680"/>
            <a:ext cx="3392424" cy="82296"/>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8238744" y="4453128"/>
            <a:ext cx="2980944" cy="329184"/>
          </a:xfrm>
          <a:prstGeom prst="rect">
            <a:avLst/>
          </a:prstGeom>
          <a:noFill/>
        </p:spPr>
        <p:txBody>
          <a:bodyPr wrap="square" anchor="t">
            <a:spAutoFit/>
          </a:bodyPr>
          <a:lstStyle/>
          <a:p>
            <a:pPr algn="l">
              <a:spcAft>
                <a:spcPts val="400"/>
              </a:spcAft>
            </a:pPr>
            <a:r>
              <a:rPr sz="1250" b="1">
                <a:solidFill>
                  <a:srgbClr val="161B26"/>
                </a:solidFill>
                <a:latin typeface="Arial"/>
              </a:rPr>
              <a:t>npx resolves against a private registry</a:t>
            </a:r>
          </a:p>
        </p:txBody>
      </p:sp>
      <p:sp>
        <p:nvSpPr>
          <p:cNvPr id="23" name="TextBox 22"/>
          <p:cNvSpPr txBox="1"/>
          <p:nvPr/>
        </p:nvSpPr>
        <p:spPr>
          <a:xfrm>
            <a:off x="8238744" y="4809744"/>
            <a:ext cx="2980944" cy="960120"/>
          </a:xfrm>
          <a:prstGeom prst="rect">
            <a:avLst/>
          </a:prstGeom>
          <a:noFill/>
        </p:spPr>
        <p:txBody>
          <a:bodyPr wrap="square" anchor="t">
            <a:spAutoFit/>
          </a:bodyPr>
          <a:lstStyle/>
          <a:p>
            <a:pPr algn="l">
              <a:spcAft>
                <a:spcPts val="400"/>
              </a:spcAft>
            </a:pPr>
            <a:r>
              <a:rPr sz="1100" b="0">
                <a:solidFill>
                  <a:srgbClr val="5B6372"/>
                </a:solidFill>
                <a:latin typeface="Arial"/>
              </a:rPr>
              <a:t>Retry with npx --registry https://registry.npmjs.org paperclipai onboard --yes and review the global npm registry configuration afterwards.</a:t>
            </a:r>
          </a:p>
        </p:txBody>
      </p:sp>
      <p:sp>
        <p:nvSpPr>
          <p:cNvPr id="24" name="TextBox 23"/>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Manage AI Agents with Paperclip (TGS-2023036646)  ·  TGS-2023036646</a:t>
            </a:r>
          </a:p>
        </p:txBody>
      </p:sp>
      <p:sp>
        <p:nvSpPr>
          <p:cNvPr id="25" name="TextBox 24"/>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26" name="TextBox 25"/>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40</a:t>
            </a:r>
          </a:p>
        </p:txBody>
      </p:sp>
    </p:spTree>
  </p:cSld>
  <p:clrMapOvr>
    <a:masterClrMapping/>
  </p:clrMapOvr>
  <p:transition spd="fast" advClick="1">
    <p:fade/>
  </p:transition>
</p:sld>
</file>

<file path=ppt/slides/slide4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F59E0B"/>
                </a:solidFill>
                <a:latin typeface="Arial"/>
              </a:rPr>
              <a:t>LAB 1  ·  TROUBLESHOOTING</a:t>
            </a:r>
          </a:p>
        </p:txBody>
      </p:sp>
      <p:sp>
        <p:nvSpPr>
          <p:cNvPr id="5" name="TextBox 4"/>
          <p:cNvSpPr txBox="1"/>
          <p:nvPr/>
        </p:nvSpPr>
        <p:spPr>
          <a:xfrm>
            <a:off x="777240" y="804672"/>
            <a:ext cx="10881360" cy="713232"/>
          </a:xfrm>
          <a:prstGeom prst="rect">
            <a:avLst/>
          </a:prstGeom>
          <a:noFill/>
        </p:spPr>
        <p:txBody>
          <a:bodyPr wrap="square" anchor="ctr">
            <a:spAutoFit/>
          </a:bodyPr>
          <a:lstStyle/>
          <a:p>
            <a:pPr algn="l">
              <a:spcAft>
                <a:spcPts val="400"/>
              </a:spcAft>
            </a:pPr>
            <a:r>
              <a:rPr sz="2500" b="1">
                <a:solidFill>
                  <a:srgbClr val="161B26"/>
                </a:solidFill>
                <a:latin typeface="Arial"/>
              </a:rPr>
              <a:t>Install Paperclip and Prove the Control Plane (ClipReel Studio)</a:t>
            </a:r>
          </a:p>
        </p:txBody>
      </p:sp>
      <p:sp>
        <p:nvSpPr>
          <p:cNvPr id="6" name="Rectangle 5"/>
          <p:cNvSpPr/>
          <p:nvPr/>
        </p:nvSpPr>
        <p:spPr>
          <a:xfrm>
            <a:off x="777240" y="155448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77240" y="1810512"/>
            <a:ext cx="10607040" cy="94488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777240" y="1810512"/>
            <a:ext cx="91440" cy="944880"/>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1051560" y="1938528"/>
            <a:ext cx="10149840" cy="329184"/>
          </a:xfrm>
          <a:prstGeom prst="rect">
            <a:avLst/>
          </a:prstGeom>
          <a:noFill/>
        </p:spPr>
        <p:txBody>
          <a:bodyPr wrap="square" anchor="t">
            <a:spAutoFit/>
          </a:bodyPr>
          <a:lstStyle/>
          <a:p>
            <a:pPr algn="l">
              <a:spcAft>
                <a:spcPts val="400"/>
              </a:spcAft>
            </a:pPr>
            <a:r>
              <a:rPr sz="1300" b="1">
                <a:solidFill>
                  <a:srgbClr val="161B26"/>
                </a:solidFill>
                <a:latin typeface="Arial"/>
              </a:rPr>
              <a:t>⚠  Embedded PostgreSQL refuses to start</a:t>
            </a:r>
          </a:p>
        </p:txBody>
      </p:sp>
      <p:sp>
        <p:nvSpPr>
          <p:cNvPr id="10" name="TextBox 9"/>
          <p:cNvSpPr txBox="1"/>
          <p:nvPr/>
        </p:nvSpPr>
        <p:spPr>
          <a:xfrm>
            <a:off x="1051560" y="2304288"/>
            <a:ext cx="10149840" cy="341376"/>
          </a:xfrm>
          <a:prstGeom prst="rect">
            <a:avLst/>
          </a:prstGeom>
          <a:noFill/>
        </p:spPr>
        <p:txBody>
          <a:bodyPr wrap="square" anchor="t">
            <a:spAutoFit/>
          </a:bodyPr>
          <a:lstStyle/>
          <a:p>
            <a:pPr algn="l">
              <a:spcAft>
                <a:spcPts val="400"/>
              </a:spcAft>
            </a:pPr>
            <a:r>
              <a:rPr sz="1150" b="0">
                <a:solidFill>
                  <a:srgbClr val="5B6372"/>
                </a:solidFill>
                <a:latin typeface="Arial"/>
              </a:rPr>
              <a:t>Confirm the shell is NOT elevated. Stop the process and re-run onboarding as the normal user who owns the practice folder.</a:t>
            </a:r>
          </a:p>
        </p:txBody>
      </p:sp>
      <p:sp>
        <p:nvSpPr>
          <p:cNvPr id="11" name="Rectangle 10"/>
          <p:cNvSpPr/>
          <p:nvPr/>
        </p:nvSpPr>
        <p:spPr>
          <a:xfrm>
            <a:off x="777240" y="2938272"/>
            <a:ext cx="10607040" cy="94488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ectangle 11"/>
          <p:cNvSpPr/>
          <p:nvPr/>
        </p:nvSpPr>
        <p:spPr>
          <a:xfrm>
            <a:off x="777240" y="2938272"/>
            <a:ext cx="91440" cy="944880"/>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1051560" y="3066288"/>
            <a:ext cx="10149840" cy="329184"/>
          </a:xfrm>
          <a:prstGeom prst="rect">
            <a:avLst/>
          </a:prstGeom>
          <a:noFill/>
        </p:spPr>
        <p:txBody>
          <a:bodyPr wrap="square" anchor="t">
            <a:spAutoFit/>
          </a:bodyPr>
          <a:lstStyle/>
          <a:p>
            <a:pPr algn="l">
              <a:spcAft>
                <a:spcPts val="400"/>
              </a:spcAft>
            </a:pPr>
            <a:r>
              <a:rPr sz="1300" b="1">
                <a:solidFill>
                  <a:srgbClr val="161B26"/>
                </a:solidFill>
                <a:latin typeface="Arial"/>
              </a:rPr>
              <a:t>⚠  The browser cannot reach port 3100</a:t>
            </a:r>
          </a:p>
        </p:txBody>
      </p:sp>
      <p:sp>
        <p:nvSpPr>
          <p:cNvPr id="14" name="TextBox 13"/>
          <p:cNvSpPr txBox="1"/>
          <p:nvPr/>
        </p:nvSpPr>
        <p:spPr>
          <a:xfrm>
            <a:off x="1051560" y="3432048"/>
            <a:ext cx="10149840" cy="341376"/>
          </a:xfrm>
          <a:prstGeom prst="rect">
            <a:avLst/>
          </a:prstGeom>
          <a:noFill/>
        </p:spPr>
        <p:txBody>
          <a:bodyPr wrap="square" anchor="t">
            <a:spAutoFit/>
          </a:bodyPr>
          <a:lstStyle/>
          <a:p>
            <a:pPr algn="l">
              <a:spcAft>
                <a:spcPts val="400"/>
              </a:spcAft>
            </a:pPr>
            <a:r>
              <a:rPr sz="1150" b="0">
                <a:solidFill>
                  <a:srgbClr val="5B6372"/>
                </a:solidFill>
                <a:latin typeface="Arial"/>
              </a:rPr>
              <a:t>Run npx paperclipai doctor, then npx paperclipai run, and query /api/health again BEFORE touching any firewall setting.</a:t>
            </a:r>
          </a:p>
        </p:txBody>
      </p:sp>
      <p:sp>
        <p:nvSpPr>
          <p:cNvPr id="15" name="Rectangle 14"/>
          <p:cNvSpPr/>
          <p:nvPr/>
        </p:nvSpPr>
        <p:spPr>
          <a:xfrm>
            <a:off x="777240" y="4066032"/>
            <a:ext cx="10607040" cy="94488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ectangle 15"/>
          <p:cNvSpPr/>
          <p:nvPr/>
        </p:nvSpPr>
        <p:spPr>
          <a:xfrm>
            <a:off x="777240" y="4066032"/>
            <a:ext cx="91440" cy="944880"/>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1051560" y="4194048"/>
            <a:ext cx="10149840" cy="329184"/>
          </a:xfrm>
          <a:prstGeom prst="rect">
            <a:avLst/>
          </a:prstGeom>
          <a:noFill/>
        </p:spPr>
        <p:txBody>
          <a:bodyPr wrap="square" anchor="t">
            <a:spAutoFit/>
          </a:bodyPr>
          <a:lstStyle/>
          <a:p>
            <a:pPr algn="l">
              <a:spcAft>
                <a:spcPts val="400"/>
              </a:spcAft>
            </a:pPr>
            <a:r>
              <a:rPr sz="1300" b="1">
                <a:solidFill>
                  <a:srgbClr val="161B26"/>
                </a:solidFill>
                <a:latin typeface="Arial"/>
              </a:rPr>
              <a:t>⚠  npx resolves against a private registry</a:t>
            </a:r>
          </a:p>
        </p:txBody>
      </p:sp>
      <p:sp>
        <p:nvSpPr>
          <p:cNvPr id="18" name="TextBox 17"/>
          <p:cNvSpPr txBox="1"/>
          <p:nvPr/>
        </p:nvSpPr>
        <p:spPr>
          <a:xfrm>
            <a:off x="1051560" y="4559808"/>
            <a:ext cx="10149840" cy="341376"/>
          </a:xfrm>
          <a:prstGeom prst="rect">
            <a:avLst/>
          </a:prstGeom>
          <a:noFill/>
        </p:spPr>
        <p:txBody>
          <a:bodyPr wrap="square" anchor="t">
            <a:spAutoFit/>
          </a:bodyPr>
          <a:lstStyle/>
          <a:p>
            <a:pPr algn="l">
              <a:spcAft>
                <a:spcPts val="400"/>
              </a:spcAft>
            </a:pPr>
            <a:r>
              <a:rPr sz="1150" b="0">
                <a:solidFill>
                  <a:srgbClr val="5B6372"/>
                </a:solidFill>
                <a:latin typeface="Arial"/>
              </a:rPr>
              <a:t>Retry with npx --registry https://registry.npmjs.org paperclipai onboard --yes and review the global npm registry configuration afterwards.</a:t>
            </a:r>
          </a:p>
        </p:txBody>
      </p:sp>
      <p:sp>
        <p:nvSpPr>
          <p:cNvPr id="19" name="Rectangle 18"/>
          <p:cNvSpPr/>
          <p:nvPr/>
        </p:nvSpPr>
        <p:spPr>
          <a:xfrm>
            <a:off x="777240" y="5230368"/>
            <a:ext cx="5212080" cy="100584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ectangle 19"/>
          <p:cNvSpPr/>
          <p:nvPr/>
        </p:nvSpPr>
        <p:spPr>
          <a:xfrm>
            <a:off x="777240" y="5230368"/>
            <a:ext cx="91440" cy="1005840"/>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1051560" y="5321808"/>
            <a:ext cx="4846320" cy="292608"/>
          </a:xfrm>
          <a:prstGeom prst="rect">
            <a:avLst/>
          </a:prstGeom>
          <a:noFill/>
        </p:spPr>
        <p:txBody>
          <a:bodyPr wrap="square" anchor="t">
            <a:spAutoFit/>
          </a:bodyPr>
          <a:lstStyle/>
          <a:p>
            <a:pPr algn="l">
              <a:spcAft>
                <a:spcPts val="400"/>
              </a:spcAft>
            </a:pPr>
            <a:r>
              <a:rPr sz="1150" b="1">
                <a:solidFill>
                  <a:srgbClr val="7C3AED"/>
                </a:solidFill>
                <a:latin typeface="Arial"/>
              </a:rPr>
              <a:t>CHALLENGE</a:t>
            </a:r>
          </a:p>
        </p:txBody>
      </p:sp>
      <p:sp>
        <p:nvSpPr>
          <p:cNvPr id="22" name="TextBox 21"/>
          <p:cNvSpPr txBox="1"/>
          <p:nvPr/>
        </p:nvSpPr>
        <p:spPr>
          <a:xfrm>
            <a:off x="1051560" y="5632704"/>
            <a:ext cx="4846320" cy="548640"/>
          </a:xfrm>
          <a:prstGeom prst="rect">
            <a:avLst/>
          </a:prstGeom>
          <a:noFill/>
        </p:spPr>
        <p:txBody>
          <a:bodyPr wrap="square" anchor="t">
            <a:spAutoFit/>
          </a:bodyPr>
          <a:lstStyle/>
          <a:p>
            <a:pPr algn="l">
              <a:spcAft>
                <a:spcPts val="400"/>
              </a:spcAft>
            </a:pPr>
            <a:r>
              <a:rPr sz="1050" b="0">
                <a:solidFill>
                  <a:srgbClr val="161B26"/>
                </a:solidFill>
                <a:latin typeface="Arial"/>
              </a:rPr>
              <a:t>Run npx paperclipai env and record ONLY the non-sensitive instance name, bind mode and port in your evidence note. Do not paste the full output.</a:t>
            </a:r>
          </a:p>
        </p:txBody>
      </p:sp>
      <p:sp>
        <p:nvSpPr>
          <p:cNvPr id="23" name="Rectangle 22"/>
          <p:cNvSpPr/>
          <p:nvPr/>
        </p:nvSpPr>
        <p:spPr>
          <a:xfrm>
            <a:off x="6172200" y="5230368"/>
            <a:ext cx="5212080" cy="100584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Rectangle 23"/>
          <p:cNvSpPr/>
          <p:nvPr/>
        </p:nvSpPr>
        <p:spPr>
          <a:xfrm>
            <a:off x="6172200" y="5230368"/>
            <a:ext cx="91440" cy="100584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6446520" y="5321808"/>
            <a:ext cx="4846320" cy="292608"/>
          </a:xfrm>
          <a:prstGeom prst="rect">
            <a:avLst/>
          </a:prstGeom>
          <a:noFill/>
        </p:spPr>
        <p:txBody>
          <a:bodyPr wrap="square" anchor="t">
            <a:spAutoFit/>
          </a:bodyPr>
          <a:lstStyle/>
          <a:p>
            <a:pPr algn="l">
              <a:spcAft>
                <a:spcPts val="400"/>
              </a:spcAft>
            </a:pPr>
            <a:r>
              <a:rPr sz="1150" b="1">
                <a:solidFill>
                  <a:srgbClr val="1F6FEB"/>
                </a:solidFill>
                <a:latin typeface="Arial"/>
              </a:rPr>
              <a:t>REFLECTION</a:t>
            </a:r>
          </a:p>
        </p:txBody>
      </p:sp>
      <p:sp>
        <p:nvSpPr>
          <p:cNvPr id="26" name="TextBox 25"/>
          <p:cNvSpPr txBox="1"/>
          <p:nvPr/>
        </p:nvSpPr>
        <p:spPr>
          <a:xfrm>
            <a:off x="6446520" y="5632704"/>
            <a:ext cx="4846320" cy="548640"/>
          </a:xfrm>
          <a:prstGeom prst="rect">
            <a:avLst/>
          </a:prstGeom>
          <a:noFill/>
        </p:spPr>
        <p:txBody>
          <a:bodyPr wrap="square" anchor="t">
            <a:spAutoFit/>
          </a:bodyPr>
          <a:lstStyle/>
          <a:p>
            <a:pPr algn="l">
              <a:spcAft>
                <a:spcPts val="400"/>
              </a:spcAft>
            </a:pPr>
            <a:r>
              <a:rPr sz="1050" b="0">
                <a:solidFill>
                  <a:srgbClr val="161B26"/>
                </a:solidFill>
                <a:latin typeface="Arial"/>
              </a:rPr>
              <a:t>Why does a healthy Paperclip API prove the control plane but say nothing about whether a Claude Code, Codex, Gemini or Cursor runtime is ready?</a:t>
            </a:r>
          </a:p>
        </p:txBody>
      </p:sp>
      <p:sp>
        <p:nvSpPr>
          <p:cNvPr id="27" name="TextBox 26"/>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Manage AI Agents with Paperclip (TGS-2023036646)  ·  TGS-2023036646</a:t>
            </a:r>
          </a:p>
        </p:txBody>
      </p:sp>
      <p:sp>
        <p:nvSpPr>
          <p:cNvPr id="28" name="TextBox 27"/>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29" name="TextBox 28"/>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41</a:t>
            </a:r>
          </a:p>
        </p:txBody>
      </p:sp>
    </p:spTree>
  </p:cSld>
  <p:clrMapOvr>
    <a:masterClrMapping/>
  </p:clrMapOvr>
  <p:transition spd="fast" advClick="1">
    <p:fade/>
  </p:transition>
</p:sld>
</file>

<file path=ppt/slides/slide4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1F6FEB"/>
                </a:solidFill>
                <a:latin typeface="Arial"/>
              </a:rPr>
              <a:t>TOPIC RECAP</a:t>
            </a:r>
          </a:p>
        </p:txBody>
      </p:sp>
      <p:sp>
        <p:nvSpPr>
          <p:cNvPr id="5" name="TextBox 4"/>
          <p:cNvSpPr txBox="1"/>
          <p:nvPr/>
        </p:nvSpPr>
        <p:spPr>
          <a:xfrm>
            <a:off x="777240" y="804672"/>
            <a:ext cx="10881360" cy="713232"/>
          </a:xfrm>
          <a:prstGeom prst="rect">
            <a:avLst/>
          </a:prstGeom>
          <a:noFill/>
        </p:spPr>
        <p:txBody>
          <a:bodyPr wrap="square" anchor="ctr">
            <a:spAutoFit/>
          </a:bodyPr>
          <a:lstStyle/>
          <a:p>
            <a:pPr algn="l">
              <a:spcAft>
                <a:spcPts val="400"/>
              </a:spcAft>
            </a:pPr>
            <a:r>
              <a:rPr sz="2900" b="1">
                <a:solidFill>
                  <a:srgbClr val="161B26"/>
                </a:solidFill>
                <a:latin typeface="Arial"/>
              </a:rPr>
              <a:t>Recap — Fundamentals of Agentic AI and Paperclip</a:t>
            </a:r>
          </a:p>
        </p:txBody>
      </p:sp>
      <p:sp>
        <p:nvSpPr>
          <p:cNvPr id="6" name="Rectangle 5"/>
          <p:cNvSpPr/>
          <p:nvPr/>
        </p:nvSpPr>
        <p:spPr>
          <a:xfrm>
            <a:off x="777240" y="155448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77240" y="1783080"/>
            <a:ext cx="10607040" cy="4480560"/>
          </a:xfrm>
          <a:prstGeom prst="rect">
            <a:avLst/>
          </a:prstGeom>
          <a:noFill/>
        </p:spPr>
        <p:txBody>
          <a:bodyPr wrap="square">
            <a:spAutoFit/>
          </a:bodyPr>
          <a:lstStyle/>
          <a:p>
            <a:pPr>
              <a:spcAft>
                <a:spcPts val="1000"/>
              </a:spcAft>
            </a:pPr>
            <a:r>
              <a:rPr sz="1500" b="0">
                <a:solidFill>
                  <a:srgbClr val="161B26"/>
                </a:solidFill>
                <a:latin typeface="Arial"/>
              </a:rPr>
              <a:t>•  You can now: LO1: Explain the control-plane / runtime boundary and verify a healthy local Paperclip installation with observable evidence.</a:t>
            </a:r>
          </a:p>
          <a:p>
            <a:pPr>
              <a:spcAft>
                <a:spcPts val="1000"/>
              </a:spcAft>
            </a:pPr>
            <a:r>
              <a:rPr sz="1500" b="0">
                <a:solidFill>
                  <a:srgbClr val="161B26"/>
                </a:solidFill>
                <a:latin typeface="Arial"/>
              </a:rPr>
              <a:t>•  Agentic AI adds reasoning, tool use, memory and autonomy on top of a language model, so the system completes work rather than only producing text.</a:t>
            </a:r>
          </a:p>
          <a:p>
            <a:pPr>
              <a:spcAft>
                <a:spcPts val="1000"/>
              </a:spcAft>
            </a:pPr>
            <a:r>
              <a:rPr sz="1500" b="0">
                <a:solidFill>
                  <a:srgbClr val="161B26"/>
                </a:solidFill>
                <a:latin typeface="Arial"/>
              </a:rPr>
              <a:t>•  Paperclip is an organisational control plane — a Node.js server with a React UI that coordinates agents, goals, work, cost and governance. It is not an agent framework and it does not perform the reasoning itself.</a:t>
            </a:r>
          </a:p>
          <a:p>
            <a:pPr>
              <a:spcAft>
                <a:spcPts val="1000"/>
              </a:spcAft>
            </a:pPr>
            <a:r>
              <a:rPr sz="1500" b="0">
                <a:solidFill>
                  <a:srgbClr val="161B26"/>
                </a:solidFill>
                <a:latin typeface="Arial"/>
              </a:rPr>
              <a:t>•  The defining separation: Paperclip manages the company; adapters run the agents. Organisational authority, runtime capability and verification evidence stay apart.</a:t>
            </a:r>
          </a:p>
        </p:txBody>
      </p:sp>
      <p:sp>
        <p:nvSpPr>
          <p:cNvPr id="8" name="TextBox 7"/>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Manage AI Agents with Paperclip (TGS-2023036646)  ·  TGS-2023036646</a:t>
            </a:r>
          </a:p>
        </p:txBody>
      </p:sp>
      <p:sp>
        <p:nvSpPr>
          <p:cNvPr id="9" name="TextBox 8"/>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10" name="TextBox 9"/>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42</a:t>
            </a:r>
          </a:p>
        </p:txBody>
      </p:sp>
    </p:spTree>
  </p:cSld>
  <p:clrMapOvr>
    <a:masterClrMapping/>
  </p:clrMapOvr>
  <p:transition spd="fast" advClick="1">
    <p:fade/>
  </p:transition>
</p:sld>
</file>

<file path=ppt/slides/slide4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685800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777240" y="2286000"/>
            <a:ext cx="128016" cy="182880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1143000" y="2331720"/>
            <a:ext cx="10058400" cy="548640"/>
          </a:xfrm>
          <a:prstGeom prst="rect">
            <a:avLst/>
          </a:prstGeom>
          <a:noFill/>
        </p:spPr>
        <p:txBody>
          <a:bodyPr wrap="square" anchor="t">
            <a:spAutoFit/>
          </a:bodyPr>
          <a:lstStyle/>
          <a:p>
            <a:pPr algn="l">
              <a:spcAft>
                <a:spcPts val="400"/>
              </a:spcAft>
            </a:pPr>
            <a:r>
              <a:rPr sz="1800" b="1">
                <a:solidFill>
                  <a:srgbClr val="1F6FEB"/>
                </a:solidFill>
                <a:latin typeface="Arial"/>
              </a:rPr>
              <a:t>TOPIC 02</a:t>
            </a:r>
          </a:p>
        </p:txBody>
      </p:sp>
      <p:sp>
        <p:nvSpPr>
          <p:cNvPr id="6" name="TextBox 5"/>
          <p:cNvSpPr txBox="1"/>
          <p:nvPr/>
        </p:nvSpPr>
        <p:spPr>
          <a:xfrm>
            <a:off x="1143000" y="2743200"/>
            <a:ext cx="10424160" cy="1463040"/>
          </a:xfrm>
          <a:prstGeom prst="rect">
            <a:avLst/>
          </a:prstGeom>
          <a:noFill/>
        </p:spPr>
        <p:txBody>
          <a:bodyPr wrap="square" anchor="t">
            <a:spAutoFit/>
          </a:bodyPr>
          <a:lstStyle/>
          <a:p>
            <a:pPr algn="l">
              <a:spcAft>
                <a:spcPts val="400"/>
              </a:spcAft>
            </a:pPr>
            <a:r>
              <a:rPr sz="4000" b="1">
                <a:solidFill>
                  <a:srgbClr val="161B26"/>
                </a:solidFill>
                <a:latin typeface="Arial"/>
              </a:rPr>
              <a:t>Building AI Agents with Paperclip</a:t>
            </a:r>
          </a:p>
        </p:txBody>
      </p:sp>
      <p:sp>
        <p:nvSpPr>
          <p:cNvPr id="7" name="TextBox 6"/>
          <p:cNvSpPr txBox="1"/>
          <p:nvPr/>
        </p:nvSpPr>
        <p:spPr>
          <a:xfrm>
            <a:off x="1161288" y="4160520"/>
            <a:ext cx="10058400" cy="731520"/>
          </a:xfrm>
          <a:prstGeom prst="rect">
            <a:avLst/>
          </a:prstGeom>
          <a:noFill/>
        </p:spPr>
        <p:txBody>
          <a:bodyPr wrap="square" anchor="t">
            <a:spAutoFit/>
          </a:bodyPr>
          <a:lstStyle/>
          <a:p>
            <a:pPr algn="l">
              <a:spcAft>
                <a:spcPts val="400"/>
              </a:spcAft>
            </a:pPr>
            <a:r>
              <a:rPr sz="1600" b="0">
                <a:solidFill>
                  <a:srgbClr val="5B6372"/>
                </a:solidFill>
                <a:latin typeface="Arial"/>
              </a:rPr>
              <a:t>Install and verify · company and mission · the CEO · org chart · runtime adapters · workspaces, instructions and secrets</a:t>
            </a:r>
          </a:p>
        </p:txBody>
      </p:sp>
      <p:sp>
        <p:nvSpPr>
          <p:cNvPr id="8" name="TextBox 7"/>
          <p:cNvSpPr txBox="1"/>
          <p:nvPr/>
        </p:nvSpPr>
        <p:spPr>
          <a:xfrm>
            <a:off x="9144000" y="640080"/>
            <a:ext cx="2560320" cy="1463040"/>
          </a:xfrm>
          <a:prstGeom prst="rect">
            <a:avLst/>
          </a:prstGeom>
          <a:noFill/>
        </p:spPr>
        <p:txBody>
          <a:bodyPr wrap="square" anchor="t">
            <a:spAutoFit/>
          </a:bodyPr>
          <a:lstStyle/>
          <a:p>
            <a:pPr algn="r">
              <a:spcAft>
                <a:spcPts val="400"/>
              </a:spcAft>
            </a:pPr>
            <a:r>
              <a:rPr sz="7200" b="1">
                <a:solidFill>
                  <a:srgbClr val="E2E8F0"/>
                </a:solidFill>
                <a:latin typeface="Arial"/>
              </a:rPr>
              <a:t>02</a:t>
            </a:r>
          </a:p>
        </p:txBody>
      </p:sp>
      <p:sp>
        <p:nvSpPr>
          <p:cNvPr id="9" name="TextBox 8"/>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Manage AI Agents with Paperclip (TGS-2023036646)  ·  TGS-2023036646</a:t>
            </a:r>
          </a:p>
        </p:txBody>
      </p:sp>
      <p:sp>
        <p:nvSpPr>
          <p:cNvPr id="10" name="TextBox 9"/>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11" name="TextBox 10"/>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43</a:t>
            </a:r>
          </a:p>
        </p:txBody>
      </p:sp>
    </p:spTree>
  </p:cSld>
  <p:clrMapOvr>
    <a:masterClrMapping/>
  </p:clrMapOvr>
  <p:transition spd="med" advClick="1">
    <p:push dir="l"/>
  </p:transition>
</p:sld>
</file>

<file path=ppt/slides/slide4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1F6FEB"/>
                </a:solidFill>
                <a:latin typeface="Arial"/>
              </a:rPr>
              <a:t>TOPIC WEIGHTING 25%</a:t>
            </a:r>
          </a:p>
        </p:txBody>
      </p:sp>
      <p:sp>
        <p:nvSpPr>
          <p:cNvPr id="5" name="TextBox 4"/>
          <p:cNvSpPr txBox="1"/>
          <p:nvPr/>
        </p:nvSpPr>
        <p:spPr>
          <a:xfrm>
            <a:off x="777240" y="804672"/>
            <a:ext cx="10881360" cy="713232"/>
          </a:xfrm>
          <a:prstGeom prst="rect">
            <a:avLst/>
          </a:prstGeom>
          <a:noFill/>
        </p:spPr>
        <p:txBody>
          <a:bodyPr wrap="square" anchor="ctr">
            <a:spAutoFit/>
          </a:bodyPr>
          <a:lstStyle/>
          <a:p>
            <a:pPr algn="l">
              <a:spcAft>
                <a:spcPts val="400"/>
              </a:spcAft>
            </a:pPr>
            <a:r>
              <a:rPr sz="2900" b="1">
                <a:solidFill>
                  <a:srgbClr val="161B26"/>
                </a:solidFill>
                <a:latin typeface="Arial"/>
              </a:rPr>
              <a:t>Key Concepts — Building AI Agents with Paperclip</a:t>
            </a:r>
          </a:p>
        </p:txBody>
      </p:sp>
      <p:sp>
        <p:nvSpPr>
          <p:cNvPr id="6" name="Rectangle 5"/>
          <p:cNvSpPr/>
          <p:nvPr/>
        </p:nvSpPr>
        <p:spPr>
          <a:xfrm>
            <a:off x="777240" y="155448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77240" y="1783080"/>
            <a:ext cx="5180076" cy="2066544"/>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777240" y="1783080"/>
            <a:ext cx="91440" cy="2066544"/>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Oval 8"/>
          <p:cNvSpPr/>
          <p:nvPr/>
        </p:nvSpPr>
        <p:spPr>
          <a:xfrm>
            <a:off x="1033272" y="2542032"/>
            <a:ext cx="548640" cy="548640"/>
          </a:xfrm>
          <a:prstGeom prst="ellipse">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1033272" y="2542032"/>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1</a:t>
            </a:r>
          </a:p>
        </p:txBody>
      </p:sp>
      <p:sp>
        <p:nvSpPr>
          <p:cNvPr id="11" name="TextBox 10"/>
          <p:cNvSpPr txBox="1"/>
          <p:nvPr/>
        </p:nvSpPr>
        <p:spPr>
          <a:xfrm>
            <a:off x="1764792" y="1874520"/>
            <a:ext cx="3973068" cy="1920240"/>
          </a:xfrm>
          <a:prstGeom prst="rect">
            <a:avLst/>
          </a:prstGeom>
          <a:noFill/>
        </p:spPr>
        <p:txBody>
          <a:bodyPr wrap="square" anchor="ctr">
            <a:spAutoFit/>
          </a:bodyPr>
          <a:lstStyle/>
          <a:p>
            <a:pPr algn="l">
              <a:spcAft>
                <a:spcPts val="400"/>
              </a:spcAft>
            </a:pPr>
            <a:r>
              <a:rPr sz="1300" b="0">
                <a:solidFill>
                  <a:srgbClr val="161B26"/>
                </a:solidFill>
                <a:latin typeface="Arial"/>
              </a:rPr>
              <a:t>Onboarding with paperclipai onboard --yes downloads Paperclip, writes the configuration, initialises the embedded PostgreSQL and serves the UI on port 3100.</a:t>
            </a:r>
          </a:p>
        </p:txBody>
      </p:sp>
      <p:sp>
        <p:nvSpPr>
          <p:cNvPr id="12" name="Rectangle 11"/>
          <p:cNvSpPr/>
          <p:nvPr/>
        </p:nvSpPr>
        <p:spPr>
          <a:xfrm>
            <a:off x="6231636" y="1783080"/>
            <a:ext cx="5180076" cy="2066544"/>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6231636" y="1783080"/>
            <a:ext cx="91440" cy="2066544"/>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Oval 13"/>
          <p:cNvSpPr/>
          <p:nvPr/>
        </p:nvSpPr>
        <p:spPr>
          <a:xfrm>
            <a:off x="6487668" y="2542032"/>
            <a:ext cx="548640" cy="548640"/>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487668" y="2542032"/>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2</a:t>
            </a:r>
          </a:p>
        </p:txBody>
      </p:sp>
      <p:sp>
        <p:nvSpPr>
          <p:cNvPr id="16" name="TextBox 15"/>
          <p:cNvSpPr txBox="1"/>
          <p:nvPr/>
        </p:nvSpPr>
        <p:spPr>
          <a:xfrm>
            <a:off x="7219188" y="1874520"/>
            <a:ext cx="3973068" cy="1920240"/>
          </a:xfrm>
          <a:prstGeom prst="rect">
            <a:avLst/>
          </a:prstGeom>
          <a:noFill/>
        </p:spPr>
        <p:txBody>
          <a:bodyPr wrap="square" anchor="ctr">
            <a:spAutoFit/>
          </a:bodyPr>
          <a:lstStyle/>
          <a:p>
            <a:pPr algn="l">
              <a:spcAft>
                <a:spcPts val="400"/>
              </a:spcAft>
            </a:pPr>
            <a:r>
              <a:rPr sz="1300" b="0">
                <a:solidFill>
                  <a:srgbClr val="161B26"/>
                </a:solidFill>
                <a:latin typeface="Arial"/>
              </a:rPr>
              <a:t>Deployment mode is a security decision: local_trusted is the default and requires no login; authenticated+private and authenticated+public widen reach and require real authentication.</a:t>
            </a:r>
          </a:p>
        </p:txBody>
      </p:sp>
      <p:sp>
        <p:nvSpPr>
          <p:cNvPr id="17" name="Rectangle 16"/>
          <p:cNvSpPr/>
          <p:nvPr/>
        </p:nvSpPr>
        <p:spPr>
          <a:xfrm>
            <a:off x="777240" y="4087368"/>
            <a:ext cx="5180076" cy="2066544"/>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777240" y="4087368"/>
            <a:ext cx="91440" cy="2066544"/>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Oval 18"/>
          <p:cNvSpPr/>
          <p:nvPr/>
        </p:nvSpPr>
        <p:spPr>
          <a:xfrm>
            <a:off x="1033272" y="4846320"/>
            <a:ext cx="548640" cy="548640"/>
          </a:xfrm>
          <a:prstGeom prst="ellipse">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1033272" y="4846320"/>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3</a:t>
            </a:r>
          </a:p>
        </p:txBody>
      </p:sp>
      <p:sp>
        <p:nvSpPr>
          <p:cNvPr id="21" name="TextBox 20"/>
          <p:cNvSpPr txBox="1"/>
          <p:nvPr/>
        </p:nvSpPr>
        <p:spPr>
          <a:xfrm>
            <a:off x="1764792" y="4178808"/>
            <a:ext cx="3973068" cy="1920240"/>
          </a:xfrm>
          <a:prstGeom prst="rect">
            <a:avLst/>
          </a:prstGeom>
          <a:noFill/>
        </p:spPr>
        <p:txBody>
          <a:bodyPr wrap="square" anchor="ctr">
            <a:spAutoFit/>
          </a:bodyPr>
          <a:lstStyle/>
          <a:p>
            <a:pPr algn="l">
              <a:spcAft>
                <a:spcPts val="400"/>
              </a:spcAft>
            </a:pPr>
            <a:r>
              <a:rPr sz="1300" b="0">
                <a:solidFill>
                  <a:srgbClr val="161B26"/>
                </a:solidFill>
                <a:latin typeface="Arial"/>
              </a:rPr>
              <a:t>The onboarding wizard captures the company name, the mission statement and the team lead, then verifies connectivity to your chosen local agent runtime.</a:t>
            </a:r>
          </a:p>
        </p:txBody>
      </p:sp>
      <p:sp>
        <p:nvSpPr>
          <p:cNvPr id="22" name="Rectangle 21"/>
          <p:cNvSpPr/>
          <p:nvPr/>
        </p:nvSpPr>
        <p:spPr>
          <a:xfrm>
            <a:off x="6231636" y="4087368"/>
            <a:ext cx="5180076" cy="2066544"/>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ectangle 22"/>
          <p:cNvSpPr/>
          <p:nvPr/>
        </p:nvSpPr>
        <p:spPr>
          <a:xfrm>
            <a:off x="6231636" y="4087368"/>
            <a:ext cx="91440" cy="2066544"/>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Oval 23"/>
          <p:cNvSpPr/>
          <p:nvPr/>
        </p:nvSpPr>
        <p:spPr>
          <a:xfrm>
            <a:off x="6487668" y="4846320"/>
            <a:ext cx="548640" cy="548640"/>
          </a:xfrm>
          <a:prstGeom prst="ellipse">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6487668" y="4846320"/>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4</a:t>
            </a:r>
          </a:p>
        </p:txBody>
      </p:sp>
      <p:sp>
        <p:nvSpPr>
          <p:cNvPr id="26" name="TextBox 25"/>
          <p:cNvSpPr txBox="1"/>
          <p:nvPr/>
        </p:nvSpPr>
        <p:spPr>
          <a:xfrm>
            <a:off x="7219188" y="4178808"/>
            <a:ext cx="3973068" cy="1920240"/>
          </a:xfrm>
          <a:prstGeom prst="rect">
            <a:avLst/>
          </a:prstGeom>
          <a:noFill/>
        </p:spPr>
        <p:txBody>
          <a:bodyPr wrap="square" anchor="ctr">
            <a:spAutoFit/>
          </a:bodyPr>
          <a:lstStyle/>
          <a:p>
            <a:pPr algn="l">
              <a:spcAft>
                <a:spcPts val="400"/>
              </a:spcAft>
            </a:pPr>
            <a:r>
              <a:rPr sz="1300" b="0">
                <a:solidFill>
                  <a:srgbClr val="161B26"/>
                </a:solidFill>
                <a:latin typeface="Arial"/>
              </a:rPr>
              <a:t>A mission must be measurable. 'Grow the channel' cannot be verified; 'publish 8 short videos per month at ≥5% average watch-through' can.</a:t>
            </a:r>
          </a:p>
        </p:txBody>
      </p:sp>
      <p:sp>
        <p:nvSpPr>
          <p:cNvPr id="27" name="TextBox 26"/>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Manage AI Agents with Paperclip (TGS-2023036646)  ·  TGS-2023036646</a:t>
            </a:r>
          </a:p>
        </p:txBody>
      </p:sp>
      <p:sp>
        <p:nvSpPr>
          <p:cNvPr id="28" name="TextBox 27"/>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29" name="TextBox 28"/>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44</a:t>
            </a:r>
          </a:p>
        </p:txBody>
      </p:sp>
    </p:spTree>
  </p:cSld>
  <p:clrMapOvr>
    <a:masterClrMapping/>
  </p:clrMapOvr>
  <p:transition spd="fast" advClick="1">
    <p:fade/>
  </p:transition>
</p:sld>
</file>

<file path=ppt/slides/slide4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1F6FEB"/>
                </a:solidFill>
                <a:latin typeface="Arial"/>
              </a:rPr>
              <a:t>TOPIC WEIGHTING 25%</a:t>
            </a:r>
          </a:p>
        </p:txBody>
      </p:sp>
      <p:sp>
        <p:nvSpPr>
          <p:cNvPr id="5" name="TextBox 4"/>
          <p:cNvSpPr txBox="1"/>
          <p:nvPr/>
        </p:nvSpPr>
        <p:spPr>
          <a:xfrm>
            <a:off x="777240" y="804672"/>
            <a:ext cx="10881360" cy="713232"/>
          </a:xfrm>
          <a:prstGeom prst="rect">
            <a:avLst/>
          </a:prstGeom>
          <a:noFill/>
        </p:spPr>
        <p:txBody>
          <a:bodyPr wrap="square" anchor="ctr">
            <a:spAutoFit/>
          </a:bodyPr>
          <a:lstStyle/>
          <a:p>
            <a:pPr algn="l">
              <a:spcAft>
                <a:spcPts val="400"/>
              </a:spcAft>
            </a:pPr>
            <a:r>
              <a:rPr sz="2500" b="1">
                <a:solidFill>
                  <a:srgbClr val="161B26"/>
                </a:solidFill>
                <a:latin typeface="Arial"/>
              </a:rPr>
              <a:t>Key Concepts — Building AI Agents with Paperclip (continued)</a:t>
            </a:r>
          </a:p>
        </p:txBody>
      </p:sp>
      <p:sp>
        <p:nvSpPr>
          <p:cNvPr id="6" name="Rectangle 5"/>
          <p:cNvSpPr/>
          <p:nvPr/>
        </p:nvSpPr>
        <p:spPr>
          <a:xfrm>
            <a:off x="777240" y="155448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77240" y="1783080"/>
            <a:ext cx="5180076" cy="2066544"/>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777240" y="1783080"/>
            <a:ext cx="91440" cy="2066544"/>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Oval 8"/>
          <p:cNvSpPr/>
          <p:nvPr/>
        </p:nvSpPr>
        <p:spPr>
          <a:xfrm>
            <a:off x="1033272" y="2542032"/>
            <a:ext cx="548640" cy="548640"/>
          </a:xfrm>
          <a:prstGeom prst="ellipse">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1033272" y="2542032"/>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1</a:t>
            </a:r>
          </a:p>
        </p:txBody>
      </p:sp>
      <p:sp>
        <p:nvSpPr>
          <p:cNvPr id="11" name="TextBox 10"/>
          <p:cNvSpPr txBox="1"/>
          <p:nvPr/>
        </p:nvSpPr>
        <p:spPr>
          <a:xfrm>
            <a:off x="1764792" y="1874520"/>
            <a:ext cx="3973068" cy="1920240"/>
          </a:xfrm>
          <a:prstGeom prst="rect">
            <a:avLst/>
          </a:prstGeom>
          <a:noFill/>
        </p:spPr>
        <p:txBody>
          <a:bodyPr wrap="square" anchor="ctr">
            <a:spAutoFit/>
          </a:bodyPr>
          <a:lstStyle/>
          <a:p>
            <a:pPr algn="l">
              <a:spcAft>
                <a:spcPts val="400"/>
              </a:spcAft>
            </a:pPr>
            <a:r>
              <a:rPr sz="1300" b="0">
                <a:solidFill>
                  <a:srgbClr val="161B26"/>
                </a:solidFill>
                <a:latin typeface="Arial"/>
              </a:rPr>
              <a:t>Paperclip enforces a strict hierarchy: every agent reports to exactly ONE manager, and the CEO is the only agent with no manager. The CEO owns goal alignment, decomposition and final synthesis, and may propose further hires under approval.</a:t>
            </a:r>
          </a:p>
        </p:txBody>
      </p:sp>
      <p:sp>
        <p:nvSpPr>
          <p:cNvPr id="12" name="Rectangle 11"/>
          <p:cNvSpPr/>
          <p:nvPr/>
        </p:nvSpPr>
        <p:spPr>
          <a:xfrm>
            <a:off x="6231636" y="1783080"/>
            <a:ext cx="5180076" cy="2066544"/>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6231636" y="1783080"/>
            <a:ext cx="91440" cy="2066544"/>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Oval 13"/>
          <p:cNvSpPr/>
          <p:nvPr/>
        </p:nvSpPr>
        <p:spPr>
          <a:xfrm>
            <a:off x="6487668" y="2542032"/>
            <a:ext cx="548640" cy="548640"/>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487668" y="2542032"/>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2</a:t>
            </a:r>
          </a:p>
        </p:txBody>
      </p:sp>
      <p:sp>
        <p:nvSpPr>
          <p:cNvPr id="16" name="TextBox 15"/>
          <p:cNvSpPr txBox="1"/>
          <p:nvPr/>
        </p:nvSpPr>
        <p:spPr>
          <a:xfrm>
            <a:off x="7219188" y="1874520"/>
            <a:ext cx="3973068" cy="1920240"/>
          </a:xfrm>
          <a:prstGeom prst="rect">
            <a:avLst/>
          </a:prstGeom>
          <a:noFill/>
        </p:spPr>
        <p:txBody>
          <a:bodyPr wrap="square" anchor="ctr">
            <a:spAutoFit/>
          </a:bodyPr>
          <a:lstStyle/>
          <a:p>
            <a:pPr algn="l">
              <a:spcAft>
                <a:spcPts val="400"/>
              </a:spcAft>
            </a:pPr>
            <a:r>
              <a:rPr sz="1300" b="0">
                <a:solidFill>
                  <a:srgbClr val="161B26"/>
                </a:solidFill>
                <a:latin typeface="Arial"/>
              </a:rPr>
              <a:t>Every agent carries a role, a manager, an adapter, an instruction file, a heartbeat and an individual budget. Those six fields are the agent's whole contract.</a:t>
            </a:r>
          </a:p>
        </p:txBody>
      </p:sp>
      <p:sp>
        <p:nvSpPr>
          <p:cNvPr id="17" name="Rectangle 16"/>
          <p:cNvSpPr/>
          <p:nvPr/>
        </p:nvSpPr>
        <p:spPr>
          <a:xfrm>
            <a:off x="777240" y="4087368"/>
            <a:ext cx="5180076" cy="2066544"/>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777240" y="4087368"/>
            <a:ext cx="91440" cy="2066544"/>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Oval 18"/>
          <p:cNvSpPr/>
          <p:nvPr/>
        </p:nvSpPr>
        <p:spPr>
          <a:xfrm>
            <a:off x="1033272" y="4846320"/>
            <a:ext cx="548640" cy="548640"/>
          </a:xfrm>
          <a:prstGeom prst="ellipse">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1033272" y="4846320"/>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3</a:t>
            </a:r>
          </a:p>
        </p:txBody>
      </p:sp>
      <p:sp>
        <p:nvSpPr>
          <p:cNvPr id="21" name="TextBox 20"/>
          <p:cNvSpPr txBox="1"/>
          <p:nvPr/>
        </p:nvSpPr>
        <p:spPr>
          <a:xfrm>
            <a:off x="1764792" y="4178808"/>
            <a:ext cx="3973068" cy="1920240"/>
          </a:xfrm>
          <a:prstGeom prst="rect">
            <a:avLst/>
          </a:prstGeom>
          <a:noFill/>
        </p:spPr>
        <p:txBody>
          <a:bodyPr wrap="square" anchor="ctr">
            <a:spAutoFit/>
          </a:bodyPr>
          <a:lstStyle/>
          <a:p>
            <a:pPr algn="l">
              <a:spcAft>
                <a:spcPts val="400"/>
              </a:spcAft>
            </a:pPr>
            <a:r>
              <a:rPr sz="1300" b="0">
                <a:solidFill>
                  <a:srgbClr val="161B26"/>
                </a:solidFill>
                <a:latin typeface="Arial"/>
              </a:rPr>
              <a:t>A role instruction states purpose, allowed inputs, the output schema, explicit exclusions and the escalation path — not a personality.</a:t>
            </a:r>
          </a:p>
        </p:txBody>
      </p:sp>
      <p:sp>
        <p:nvSpPr>
          <p:cNvPr id="22" name="Rectangle 21"/>
          <p:cNvSpPr/>
          <p:nvPr/>
        </p:nvSpPr>
        <p:spPr>
          <a:xfrm>
            <a:off x="6231636" y="4087368"/>
            <a:ext cx="5180076" cy="2066544"/>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ectangle 22"/>
          <p:cNvSpPr/>
          <p:nvPr/>
        </p:nvSpPr>
        <p:spPr>
          <a:xfrm>
            <a:off x="6231636" y="4087368"/>
            <a:ext cx="91440" cy="2066544"/>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Oval 23"/>
          <p:cNvSpPr/>
          <p:nvPr/>
        </p:nvSpPr>
        <p:spPr>
          <a:xfrm>
            <a:off x="6487668" y="4846320"/>
            <a:ext cx="548640" cy="548640"/>
          </a:xfrm>
          <a:prstGeom prst="ellipse">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6487668" y="4846320"/>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4</a:t>
            </a:r>
          </a:p>
        </p:txBody>
      </p:sp>
      <p:sp>
        <p:nvSpPr>
          <p:cNvPr id="26" name="TextBox 25"/>
          <p:cNvSpPr txBox="1"/>
          <p:nvPr/>
        </p:nvSpPr>
        <p:spPr>
          <a:xfrm>
            <a:off x="7219188" y="4178808"/>
            <a:ext cx="3973068" cy="1920240"/>
          </a:xfrm>
          <a:prstGeom prst="rect">
            <a:avLst/>
          </a:prstGeom>
          <a:noFill/>
        </p:spPr>
        <p:txBody>
          <a:bodyPr wrap="square" anchor="ctr">
            <a:spAutoFit/>
          </a:bodyPr>
          <a:lstStyle/>
          <a:p>
            <a:pPr algn="l">
              <a:spcAft>
                <a:spcPts val="400"/>
              </a:spcAft>
            </a:pPr>
            <a:r>
              <a:rPr sz="1300" b="0">
                <a:solidFill>
                  <a:srgbClr val="161B26"/>
                </a:solidFill>
                <a:latin typeface="Arial"/>
              </a:rPr>
              <a:t>Each agent gets a dedicated workspace: a separate local root for one role's files and evidence, isolated with git worktrees so changes are attributable.</a:t>
            </a:r>
          </a:p>
        </p:txBody>
      </p:sp>
      <p:sp>
        <p:nvSpPr>
          <p:cNvPr id="27" name="TextBox 26"/>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Manage AI Agents with Paperclip (TGS-2023036646)  ·  TGS-2023036646</a:t>
            </a:r>
          </a:p>
        </p:txBody>
      </p:sp>
      <p:sp>
        <p:nvSpPr>
          <p:cNvPr id="28" name="TextBox 27"/>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29" name="TextBox 28"/>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45</a:t>
            </a:r>
          </a:p>
        </p:txBody>
      </p:sp>
    </p:spTree>
  </p:cSld>
  <p:clrMapOvr>
    <a:masterClrMapping/>
  </p:clrMapOvr>
  <p:transition spd="fast" advClick="1">
    <p:fade/>
  </p:transition>
</p:sld>
</file>

<file path=ppt/slides/slide4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1F6FEB"/>
                </a:solidFill>
                <a:latin typeface="Arial"/>
              </a:rPr>
              <a:t>TOPIC WEIGHTING 25%</a:t>
            </a:r>
          </a:p>
        </p:txBody>
      </p:sp>
      <p:sp>
        <p:nvSpPr>
          <p:cNvPr id="5" name="TextBox 4"/>
          <p:cNvSpPr txBox="1"/>
          <p:nvPr/>
        </p:nvSpPr>
        <p:spPr>
          <a:xfrm>
            <a:off x="777240" y="804672"/>
            <a:ext cx="10881360" cy="713232"/>
          </a:xfrm>
          <a:prstGeom prst="rect">
            <a:avLst/>
          </a:prstGeom>
          <a:noFill/>
        </p:spPr>
        <p:txBody>
          <a:bodyPr wrap="square" anchor="ctr">
            <a:spAutoFit/>
          </a:bodyPr>
          <a:lstStyle/>
          <a:p>
            <a:pPr algn="l">
              <a:spcAft>
                <a:spcPts val="400"/>
              </a:spcAft>
            </a:pPr>
            <a:r>
              <a:rPr sz="2500" b="1">
                <a:solidFill>
                  <a:srgbClr val="161B26"/>
                </a:solidFill>
                <a:latin typeface="Arial"/>
              </a:rPr>
              <a:t>Key Concepts — Building AI Agents with Paperclip (continued)</a:t>
            </a:r>
          </a:p>
        </p:txBody>
      </p:sp>
      <p:sp>
        <p:nvSpPr>
          <p:cNvPr id="6" name="Rectangle 5"/>
          <p:cNvSpPr/>
          <p:nvPr/>
        </p:nvSpPr>
        <p:spPr>
          <a:xfrm>
            <a:off x="777240" y="155448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77240" y="1783080"/>
            <a:ext cx="5180076" cy="2066544"/>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777240" y="1783080"/>
            <a:ext cx="91440" cy="2066544"/>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Oval 8"/>
          <p:cNvSpPr/>
          <p:nvPr/>
        </p:nvSpPr>
        <p:spPr>
          <a:xfrm>
            <a:off x="1033272" y="2542032"/>
            <a:ext cx="548640" cy="548640"/>
          </a:xfrm>
          <a:prstGeom prst="ellipse">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1033272" y="2542032"/>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1</a:t>
            </a:r>
          </a:p>
        </p:txBody>
      </p:sp>
      <p:sp>
        <p:nvSpPr>
          <p:cNvPr id="11" name="TextBox 10"/>
          <p:cNvSpPr txBox="1"/>
          <p:nvPr/>
        </p:nvSpPr>
        <p:spPr>
          <a:xfrm>
            <a:off x="1764792" y="1874520"/>
            <a:ext cx="3973068" cy="1920240"/>
          </a:xfrm>
          <a:prstGeom prst="rect">
            <a:avLst/>
          </a:prstGeom>
          <a:noFill/>
        </p:spPr>
        <p:txBody>
          <a:bodyPr wrap="square" anchor="ctr">
            <a:spAutoFit/>
          </a:bodyPr>
          <a:lstStyle/>
          <a:p>
            <a:pPr algn="l">
              <a:spcAft>
                <a:spcPts val="400"/>
              </a:spcAft>
            </a:pPr>
            <a:r>
              <a:rPr sz="1300" b="0">
                <a:solidFill>
                  <a:srgbClr val="161B26"/>
                </a:solidFill>
                <a:latin typeface="Arial"/>
              </a:rPr>
              <a:t>Secrets live in the runtime or in Paperclip's secret store with scoped injection at heartbeat time. They never appear in prompts, lab notes or Git.</a:t>
            </a:r>
          </a:p>
        </p:txBody>
      </p:sp>
      <p:sp>
        <p:nvSpPr>
          <p:cNvPr id="12" name="Rectangle 11"/>
          <p:cNvSpPr/>
          <p:nvPr/>
        </p:nvSpPr>
        <p:spPr>
          <a:xfrm>
            <a:off x="6231636" y="1783080"/>
            <a:ext cx="5180076" cy="2066544"/>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6231636" y="1783080"/>
            <a:ext cx="91440" cy="2066544"/>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Oval 13"/>
          <p:cNvSpPr/>
          <p:nvPr/>
        </p:nvSpPr>
        <p:spPr>
          <a:xfrm>
            <a:off x="6487668" y="2542032"/>
            <a:ext cx="548640" cy="548640"/>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487668" y="2542032"/>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2</a:t>
            </a:r>
          </a:p>
        </p:txBody>
      </p:sp>
      <p:sp>
        <p:nvSpPr>
          <p:cNvPr id="16" name="TextBox 15"/>
          <p:cNvSpPr txBox="1"/>
          <p:nvPr/>
        </p:nvSpPr>
        <p:spPr>
          <a:xfrm>
            <a:off x="7219188" y="1874520"/>
            <a:ext cx="3973068" cy="1920240"/>
          </a:xfrm>
          <a:prstGeom prst="rect">
            <a:avLst/>
          </a:prstGeom>
          <a:noFill/>
        </p:spPr>
        <p:txBody>
          <a:bodyPr wrap="square" anchor="ctr">
            <a:spAutoFit/>
          </a:bodyPr>
          <a:lstStyle/>
          <a:p>
            <a:pPr algn="l">
              <a:spcAft>
                <a:spcPts val="400"/>
              </a:spcAft>
            </a:pPr>
            <a:r>
              <a:rPr sz="1300" b="0">
                <a:solidFill>
                  <a:srgbClr val="161B26"/>
                </a:solidFill>
                <a:latin typeface="Arial"/>
              </a:rPr>
              <a:t>Skills are reusable agent capabilities imported from a path or URL into an org-wide library, then attached to specific agents — capability without retraining.</a:t>
            </a:r>
          </a:p>
        </p:txBody>
      </p:sp>
      <p:sp>
        <p:nvSpPr>
          <p:cNvPr id="17" name="Rectangle 16"/>
          <p:cNvSpPr/>
          <p:nvPr/>
        </p:nvSpPr>
        <p:spPr>
          <a:xfrm>
            <a:off x="777240" y="4087368"/>
            <a:ext cx="5180076" cy="2066544"/>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777240" y="4087368"/>
            <a:ext cx="91440" cy="2066544"/>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Oval 18"/>
          <p:cNvSpPr/>
          <p:nvPr/>
        </p:nvSpPr>
        <p:spPr>
          <a:xfrm>
            <a:off x="1033272" y="4846320"/>
            <a:ext cx="548640" cy="548640"/>
          </a:xfrm>
          <a:prstGeom prst="ellipse">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1033272" y="4846320"/>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3</a:t>
            </a:r>
          </a:p>
        </p:txBody>
      </p:sp>
      <p:sp>
        <p:nvSpPr>
          <p:cNvPr id="21" name="TextBox 20"/>
          <p:cNvSpPr txBox="1"/>
          <p:nvPr/>
        </p:nvSpPr>
        <p:spPr>
          <a:xfrm>
            <a:off x="1764792" y="4178808"/>
            <a:ext cx="3973068" cy="1920240"/>
          </a:xfrm>
          <a:prstGeom prst="rect">
            <a:avLst/>
          </a:prstGeom>
          <a:noFill/>
        </p:spPr>
        <p:txBody>
          <a:bodyPr wrap="square" anchor="ctr">
            <a:spAutoFit/>
          </a:bodyPr>
          <a:lstStyle/>
          <a:p>
            <a:pPr algn="l">
              <a:spcAft>
                <a:spcPts val="400"/>
              </a:spcAft>
            </a:pPr>
            <a:r>
              <a:rPr sz="1300" b="0">
                <a:solidFill>
                  <a:srgbClr val="161B26"/>
                </a:solidFill>
                <a:latin typeface="Arial"/>
              </a:rPr>
              <a:t>Adapter readiness is proved by a marker run, not by the presence of configuration: an agent that cannot produce an observable artifact is not connected.</a:t>
            </a:r>
          </a:p>
        </p:txBody>
      </p:sp>
      <p:sp>
        <p:nvSpPr>
          <p:cNvPr id="22" name="Rectangle 21"/>
          <p:cNvSpPr/>
          <p:nvPr/>
        </p:nvSpPr>
        <p:spPr>
          <a:xfrm>
            <a:off x="6231636" y="4087368"/>
            <a:ext cx="5180076" cy="2066544"/>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ectangle 22"/>
          <p:cNvSpPr/>
          <p:nvPr/>
        </p:nvSpPr>
        <p:spPr>
          <a:xfrm>
            <a:off x="6231636" y="4087368"/>
            <a:ext cx="91440" cy="2066544"/>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Oval 23"/>
          <p:cNvSpPr/>
          <p:nvPr/>
        </p:nvSpPr>
        <p:spPr>
          <a:xfrm>
            <a:off x="6487668" y="4846320"/>
            <a:ext cx="548640" cy="548640"/>
          </a:xfrm>
          <a:prstGeom prst="ellipse">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6487668" y="4846320"/>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4</a:t>
            </a:r>
          </a:p>
        </p:txBody>
      </p:sp>
      <p:sp>
        <p:nvSpPr>
          <p:cNvPr id="26" name="TextBox 25"/>
          <p:cNvSpPr txBox="1"/>
          <p:nvPr/>
        </p:nvSpPr>
        <p:spPr>
          <a:xfrm>
            <a:off x="7219188" y="4178808"/>
            <a:ext cx="3973068" cy="1920240"/>
          </a:xfrm>
          <a:prstGeom prst="rect">
            <a:avLst/>
          </a:prstGeom>
          <a:noFill/>
        </p:spPr>
        <p:txBody>
          <a:bodyPr wrap="square" anchor="ctr">
            <a:spAutoFit/>
          </a:bodyPr>
          <a:lstStyle/>
          <a:p>
            <a:pPr algn="l">
              <a:spcAft>
                <a:spcPts val="400"/>
              </a:spcAft>
            </a:pPr>
            <a:r>
              <a:rPr sz="1300" b="0">
                <a:solidFill>
                  <a:srgbClr val="161B26"/>
                </a:solidFill>
                <a:latin typeface="Arial"/>
              </a:rPr>
              <a:t>Diagnose along a ladder — host, control plane, adapter, agent — and fix the earliest broken link before changing anything downstream.</a:t>
            </a:r>
          </a:p>
        </p:txBody>
      </p:sp>
      <p:sp>
        <p:nvSpPr>
          <p:cNvPr id="27" name="TextBox 26"/>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Manage AI Agents with Paperclip (TGS-2023036646)  ·  TGS-2023036646</a:t>
            </a:r>
          </a:p>
        </p:txBody>
      </p:sp>
      <p:sp>
        <p:nvSpPr>
          <p:cNvPr id="28" name="TextBox 27"/>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29" name="TextBox 28"/>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46</a:t>
            </a:r>
          </a:p>
        </p:txBody>
      </p:sp>
    </p:spTree>
  </p:cSld>
  <p:clrMapOvr>
    <a:masterClrMapping/>
  </p:clrMapOvr>
  <p:transition spd="fast" advClick="1">
    <p:fade/>
  </p:transition>
</p:sld>
</file>

<file path=ppt/slides/slide4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1F6FEB"/>
                </a:solidFill>
                <a:latin typeface="Arial"/>
              </a:rPr>
              <a:t>LO2 · ACCOUNTABILITY HAS A SHAPE</a:t>
            </a:r>
          </a:p>
        </p:txBody>
      </p:sp>
      <p:sp>
        <p:nvSpPr>
          <p:cNvPr id="5" name="TextBox 4"/>
          <p:cNvSpPr txBox="1"/>
          <p:nvPr/>
        </p:nvSpPr>
        <p:spPr>
          <a:xfrm>
            <a:off x="777240" y="804672"/>
            <a:ext cx="10881360" cy="713232"/>
          </a:xfrm>
          <a:prstGeom prst="rect">
            <a:avLst/>
          </a:prstGeom>
          <a:noFill/>
        </p:spPr>
        <p:txBody>
          <a:bodyPr wrap="square" anchor="ctr">
            <a:spAutoFit/>
          </a:bodyPr>
          <a:lstStyle/>
          <a:p>
            <a:pPr algn="l">
              <a:spcAft>
                <a:spcPts val="400"/>
              </a:spcAft>
            </a:pPr>
            <a:r>
              <a:rPr sz="2900" b="1">
                <a:solidFill>
                  <a:srgbClr val="161B26"/>
                </a:solidFill>
                <a:latin typeface="Arial"/>
              </a:rPr>
              <a:t>The Agent Org Chart</a:t>
            </a:r>
          </a:p>
        </p:txBody>
      </p:sp>
      <p:sp>
        <p:nvSpPr>
          <p:cNvPr id="6" name="Rectangle 5"/>
          <p:cNvSpPr/>
          <p:nvPr/>
        </p:nvSpPr>
        <p:spPr>
          <a:xfrm>
            <a:off x="777240" y="155448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7" name="Picture 6" descr="diagram-org-chart.png"/>
          <p:cNvPicPr>
            <a:picLocks noChangeAspect="1"/>
          </p:cNvPicPr>
          <p:nvPr/>
        </p:nvPicPr>
        <p:blipFill>
          <a:blip r:embed="rId2"/>
          <a:stretch>
            <a:fillRect/>
          </a:stretch>
        </p:blipFill>
        <p:spPr>
          <a:xfrm>
            <a:off x="777240" y="2306951"/>
            <a:ext cx="6812280" cy="3231650"/>
          </a:xfrm>
          <a:prstGeom prst="rect">
            <a:avLst/>
          </a:prstGeom>
        </p:spPr>
      </p:pic>
      <p:sp>
        <p:nvSpPr>
          <p:cNvPr id="8" name="Rectangle 7"/>
          <p:cNvSpPr/>
          <p:nvPr/>
        </p:nvSpPr>
        <p:spPr>
          <a:xfrm>
            <a:off x="7882127" y="1810512"/>
            <a:ext cx="3529584" cy="987552"/>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7882127" y="1810512"/>
            <a:ext cx="3529584" cy="82296"/>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8083295" y="1975104"/>
            <a:ext cx="3127248" cy="310896"/>
          </a:xfrm>
          <a:prstGeom prst="rect">
            <a:avLst/>
          </a:prstGeom>
          <a:noFill/>
        </p:spPr>
        <p:txBody>
          <a:bodyPr wrap="square" anchor="t">
            <a:spAutoFit/>
          </a:bodyPr>
          <a:lstStyle/>
          <a:p>
            <a:pPr algn="l">
              <a:spcAft>
                <a:spcPts val="400"/>
              </a:spcAft>
            </a:pPr>
            <a:r>
              <a:rPr sz="1350" b="1">
                <a:solidFill>
                  <a:srgbClr val="1F6FEB"/>
                </a:solidFill>
                <a:latin typeface="Arial"/>
              </a:rPr>
              <a:t>Board approves</a:t>
            </a:r>
          </a:p>
        </p:txBody>
      </p:sp>
      <p:sp>
        <p:nvSpPr>
          <p:cNvPr id="11" name="TextBox 10"/>
          <p:cNvSpPr txBox="1"/>
          <p:nvPr/>
        </p:nvSpPr>
        <p:spPr>
          <a:xfrm>
            <a:off x="8083295" y="2322576"/>
            <a:ext cx="3127248" cy="384048"/>
          </a:xfrm>
          <a:prstGeom prst="rect">
            <a:avLst/>
          </a:prstGeom>
          <a:noFill/>
        </p:spPr>
        <p:txBody>
          <a:bodyPr wrap="square" anchor="t">
            <a:spAutoFit/>
          </a:bodyPr>
          <a:lstStyle/>
          <a:p>
            <a:pPr algn="l">
              <a:spcAft>
                <a:spcPts val="400"/>
              </a:spcAft>
            </a:pPr>
            <a:r>
              <a:rPr sz="900" b="0">
                <a:solidFill>
                  <a:srgbClr val="161B26"/>
                </a:solidFill>
                <a:latin typeface="Arial"/>
              </a:rPr>
              <a:t>Hires, strategy and material exceptions stay with the human.</a:t>
            </a:r>
          </a:p>
        </p:txBody>
      </p:sp>
      <p:sp>
        <p:nvSpPr>
          <p:cNvPr id="12" name="Rectangle 11"/>
          <p:cNvSpPr/>
          <p:nvPr/>
        </p:nvSpPr>
        <p:spPr>
          <a:xfrm>
            <a:off x="7882127" y="2944368"/>
            <a:ext cx="3529584" cy="84124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7882127" y="2944368"/>
            <a:ext cx="3529584" cy="82296"/>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8083295" y="3108960"/>
            <a:ext cx="3127248" cy="310896"/>
          </a:xfrm>
          <a:prstGeom prst="rect">
            <a:avLst/>
          </a:prstGeom>
          <a:noFill/>
        </p:spPr>
        <p:txBody>
          <a:bodyPr wrap="square" anchor="t">
            <a:spAutoFit/>
          </a:bodyPr>
          <a:lstStyle/>
          <a:p>
            <a:pPr algn="l">
              <a:spcAft>
                <a:spcPts val="400"/>
              </a:spcAft>
            </a:pPr>
            <a:r>
              <a:rPr sz="1350" b="1">
                <a:solidFill>
                  <a:srgbClr val="10B981"/>
                </a:solidFill>
                <a:latin typeface="Arial"/>
              </a:rPr>
              <a:t>The CEO owns alignment</a:t>
            </a:r>
          </a:p>
        </p:txBody>
      </p:sp>
      <p:sp>
        <p:nvSpPr>
          <p:cNvPr id="15" name="TextBox 14"/>
          <p:cNvSpPr txBox="1"/>
          <p:nvPr/>
        </p:nvSpPr>
        <p:spPr>
          <a:xfrm>
            <a:off x="8083295" y="3456432"/>
            <a:ext cx="3127248" cy="237744"/>
          </a:xfrm>
          <a:prstGeom prst="rect">
            <a:avLst/>
          </a:prstGeom>
          <a:noFill/>
        </p:spPr>
        <p:txBody>
          <a:bodyPr wrap="square" anchor="t">
            <a:spAutoFit/>
          </a:bodyPr>
          <a:lstStyle/>
          <a:p>
            <a:pPr algn="l">
              <a:spcAft>
                <a:spcPts val="400"/>
              </a:spcAft>
            </a:pPr>
            <a:r>
              <a:rPr sz="900" b="0">
                <a:solidFill>
                  <a:srgbClr val="161B26"/>
                </a:solidFill>
                <a:latin typeface="Arial"/>
              </a:rPr>
              <a:t>Goal alignment, decomposition and final synthesis.</a:t>
            </a:r>
          </a:p>
        </p:txBody>
      </p:sp>
      <p:sp>
        <p:nvSpPr>
          <p:cNvPr id="16" name="Rectangle 15"/>
          <p:cNvSpPr/>
          <p:nvPr/>
        </p:nvSpPr>
        <p:spPr>
          <a:xfrm>
            <a:off x="7882127" y="3931920"/>
            <a:ext cx="3529584" cy="987552"/>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7882127" y="3931920"/>
            <a:ext cx="3529584" cy="82296"/>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8083295" y="4096512"/>
            <a:ext cx="3127248" cy="310896"/>
          </a:xfrm>
          <a:prstGeom prst="rect">
            <a:avLst/>
          </a:prstGeom>
          <a:noFill/>
        </p:spPr>
        <p:txBody>
          <a:bodyPr wrap="square" anchor="t">
            <a:spAutoFit/>
          </a:bodyPr>
          <a:lstStyle/>
          <a:p>
            <a:pPr algn="l">
              <a:spcAft>
                <a:spcPts val="400"/>
              </a:spcAft>
            </a:pPr>
            <a:r>
              <a:rPr sz="1350" b="1">
                <a:solidFill>
                  <a:srgbClr val="7C3AED"/>
                </a:solidFill>
                <a:latin typeface="Arial"/>
              </a:rPr>
              <a:t>Specialists own transformations</a:t>
            </a:r>
          </a:p>
        </p:txBody>
      </p:sp>
      <p:sp>
        <p:nvSpPr>
          <p:cNvPr id="19" name="TextBox 18"/>
          <p:cNvSpPr txBox="1"/>
          <p:nvPr/>
        </p:nvSpPr>
        <p:spPr>
          <a:xfrm>
            <a:off x="8083295" y="4443984"/>
            <a:ext cx="3127248" cy="384048"/>
          </a:xfrm>
          <a:prstGeom prst="rect">
            <a:avLst/>
          </a:prstGeom>
          <a:noFill/>
        </p:spPr>
        <p:txBody>
          <a:bodyPr wrap="square" anchor="t">
            <a:spAutoFit/>
          </a:bodyPr>
          <a:lstStyle/>
          <a:p>
            <a:pPr algn="l">
              <a:spcAft>
                <a:spcPts val="400"/>
              </a:spcAft>
            </a:pPr>
            <a:r>
              <a:rPr sz="900" b="0">
                <a:solidFill>
                  <a:srgbClr val="161B26"/>
                </a:solidFill>
                <a:latin typeface="Arial"/>
              </a:rPr>
              <a:t>One distinct job, one authority boundary, one deliverable.</a:t>
            </a:r>
          </a:p>
        </p:txBody>
      </p:sp>
      <p:sp>
        <p:nvSpPr>
          <p:cNvPr id="20" name="Rectangle 19"/>
          <p:cNvSpPr/>
          <p:nvPr/>
        </p:nvSpPr>
        <p:spPr>
          <a:xfrm>
            <a:off x="7882127" y="5065776"/>
            <a:ext cx="3529584" cy="987552"/>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ectangle 20"/>
          <p:cNvSpPr/>
          <p:nvPr/>
        </p:nvSpPr>
        <p:spPr>
          <a:xfrm>
            <a:off x="7882127" y="5065776"/>
            <a:ext cx="3529584" cy="82296"/>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8083295" y="5230368"/>
            <a:ext cx="3127248" cy="310896"/>
          </a:xfrm>
          <a:prstGeom prst="rect">
            <a:avLst/>
          </a:prstGeom>
          <a:noFill/>
        </p:spPr>
        <p:txBody>
          <a:bodyPr wrap="square" anchor="t">
            <a:spAutoFit/>
          </a:bodyPr>
          <a:lstStyle/>
          <a:p>
            <a:pPr algn="l">
              <a:spcAft>
                <a:spcPts val="400"/>
              </a:spcAft>
            </a:pPr>
            <a:r>
              <a:rPr sz="1350" b="1">
                <a:solidFill>
                  <a:srgbClr val="F59E0B"/>
                </a:solidFill>
                <a:latin typeface="Arial"/>
              </a:rPr>
              <a:t>Six fields per agent</a:t>
            </a:r>
          </a:p>
        </p:txBody>
      </p:sp>
      <p:sp>
        <p:nvSpPr>
          <p:cNvPr id="23" name="TextBox 22"/>
          <p:cNvSpPr txBox="1"/>
          <p:nvPr/>
        </p:nvSpPr>
        <p:spPr>
          <a:xfrm>
            <a:off x="8083295" y="5577840"/>
            <a:ext cx="3127248" cy="384048"/>
          </a:xfrm>
          <a:prstGeom prst="rect">
            <a:avLst/>
          </a:prstGeom>
          <a:noFill/>
        </p:spPr>
        <p:txBody>
          <a:bodyPr wrap="square" anchor="t">
            <a:spAutoFit/>
          </a:bodyPr>
          <a:lstStyle/>
          <a:p>
            <a:pPr algn="l">
              <a:spcAft>
                <a:spcPts val="400"/>
              </a:spcAft>
            </a:pPr>
            <a:r>
              <a:rPr sz="900" b="0">
                <a:solidFill>
                  <a:srgbClr val="161B26"/>
                </a:solidFill>
                <a:latin typeface="Arial"/>
              </a:rPr>
              <a:t>Role · manager · adapter · instructions · heartbeat · budget.</a:t>
            </a:r>
          </a:p>
        </p:txBody>
      </p:sp>
      <p:sp>
        <p:nvSpPr>
          <p:cNvPr id="24" name="TextBox 23"/>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Manage AI Agents with Paperclip (TGS-2023036646)  ·  TGS-2023036646</a:t>
            </a:r>
          </a:p>
        </p:txBody>
      </p:sp>
      <p:sp>
        <p:nvSpPr>
          <p:cNvPr id="25" name="TextBox 24"/>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26" name="TextBox 25"/>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47</a:t>
            </a:r>
          </a:p>
        </p:txBody>
      </p:sp>
    </p:spTree>
  </p:cSld>
  <p:clrMapOvr>
    <a:masterClrMapping/>
  </p:clrMapOvr>
  <p:transition spd="fast" advClick="1">
    <p:fade/>
  </p:transition>
</p:sld>
</file>

<file path=ppt/slides/slide4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10B981"/>
                </a:solidFill>
                <a:latin typeface="Arial"/>
              </a:rPr>
              <a:t>LO2 · WRITING THE ROLE</a:t>
            </a:r>
          </a:p>
        </p:txBody>
      </p:sp>
      <p:sp>
        <p:nvSpPr>
          <p:cNvPr id="5" name="TextBox 4"/>
          <p:cNvSpPr txBox="1"/>
          <p:nvPr/>
        </p:nvSpPr>
        <p:spPr>
          <a:xfrm>
            <a:off x="777240" y="804672"/>
            <a:ext cx="10881360" cy="713232"/>
          </a:xfrm>
          <a:prstGeom prst="rect">
            <a:avLst/>
          </a:prstGeom>
          <a:noFill/>
        </p:spPr>
        <p:txBody>
          <a:bodyPr wrap="square" anchor="ctr">
            <a:spAutoFit/>
          </a:bodyPr>
          <a:lstStyle/>
          <a:p>
            <a:pPr algn="l">
              <a:spcAft>
                <a:spcPts val="400"/>
              </a:spcAft>
            </a:pPr>
            <a:r>
              <a:rPr sz="2900" b="1">
                <a:solidFill>
                  <a:srgbClr val="161B26"/>
                </a:solidFill>
                <a:latin typeface="Arial"/>
              </a:rPr>
              <a:t>A Role Instruction Is a Contract, Not a Personality</a:t>
            </a:r>
          </a:p>
        </p:txBody>
      </p:sp>
      <p:sp>
        <p:nvSpPr>
          <p:cNvPr id="6" name="Rectangle 5"/>
          <p:cNvSpPr/>
          <p:nvPr/>
        </p:nvSpPr>
        <p:spPr>
          <a:xfrm>
            <a:off x="777240" y="155448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77240" y="1783080"/>
            <a:ext cx="2764962" cy="475488"/>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905256" y="1783080"/>
            <a:ext cx="2508930" cy="475488"/>
          </a:xfrm>
          <a:prstGeom prst="rect">
            <a:avLst/>
          </a:prstGeom>
          <a:noFill/>
        </p:spPr>
        <p:txBody>
          <a:bodyPr wrap="square" anchor="ctr">
            <a:spAutoFit/>
          </a:bodyPr>
          <a:lstStyle/>
          <a:p>
            <a:pPr algn="l">
              <a:spcAft>
                <a:spcPts val="400"/>
              </a:spcAft>
            </a:pPr>
            <a:r>
              <a:rPr sz="1300" b="1">
                <a:solidFill>
                  <a:srgbClr val="FFFFFF"/>
                </a:solidFill>
                <a:latin typeface="Arial"/>
              </a:rPr>
              <a:t>Section</a:t>
            </a:r>
          </a:p>
        </p:txBody>
      </p:sp>
      <p:sp>
        <p:nvSpPr>
          <p:cNvPr id="9" name="Rectangle 8"/>
          <p:cNvSpPr/>
          <p:nvPr/>
        </p:nvSpPr>
        <p:spPr>
          <a:xfrm>
            <a:off x="3542202" y="1783080"/>
            <a:ext cx="3934755" cy="475488"/>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3670218" y="1783080"/>
            <a:ext cx="3678723" cy="475488"/>
          </a:xfrm>
          <a:prstGeom prst="rect">
            <a:avLst/>
          </a:prstGeom>
          <a:noFill/>
        </p:spPr>
        <p:txBody>
          <a:bodyPr wrap="square" anchor="ctr">
            <a:spAutoFit/>
          </a:bodyPr>
          <a:lstStyle/>
          <a:p>
            <a:pPr algn="l">
              <a:spcAft>
                <a:spcPts val="400"/>
              </a:spcAft>
            </a:pPr>
            <a:r>
              <a:rPr sz="1300" b="1">
                <a:solidFill>
                  <a:srgbClr val="FFFFFF"/>
                </a:solidFill>
                <a:latin typeface="Arial"/>
              </a:rPr>
              <a:t>What it states</a:t>
            </a:r>
          </a:p>
        </p:txBody>
      </p:sp>
      <p:sp>
        <p:nvSpPr>
          <p:cNvPr id="11" name="Rectangle 10"/>
          <p:cNvSpPr/>
          <p:nvPr/>
        </p:nvSpPr>
        <p:spPr>
          <a:xfrm>
            <a:off x="7476957" y="1783080"/>
            <a:ext cx="3934755" cy="475488"/>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7604973" y="1783080"/>
            <a:ext cx="3678723" cy="475488"/>
          </a:xfrm>
          <a:prstGeom prst="rect">
            <a:avLst/>
          </a:prstGeom>
          <a:noFill/>
        </p:spPr>
        <p:txBody>
          <a:bodyPr wrap="square" anchor="ctr">
            <a:spAutoFit/>
          </a:bodyPr>
          <a:lstStyle/>
          <a:p>
            <a:pPr algn="l">
              <a:spcAft>
                <a:spcPts val="400"/>
              </a:spcAft>
            </a:pPr>
            <a:r>
              <a:rPr sz="1300" b="1">
                <a:solidFill>
                  <a:srgbClr val="FFFFFF"/>
                </a:solidFill>
                <a:latin typeface="Arial"/>
              </a:rPr>
              <a:t>Why it matters</a:t>
            </a:r>
          </a:p>
        </p:txBody>
      </p:sp>
      <p:sp>
        <p:nvSpPr>
          <p:cNvPr id="13" name="Rectangle 12"/>
          <p:cNvSpPr/>
          <p:nvPr/>
        </p:nvSpPr>
        <p:spPr>
          <a:xfrm>
            <a:off x="777240" y="2258568"/>
            <a:ext cx="2764962" cy="579729"/>
          </a:xfrm>
          <a:prstGeom prst="rect">
            <a:avLst/>
          </a:prstGeom>
          <a:solidFill>
            <a:srgbClr val="F5F8FC"/>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905256" y="2258568"/>
            <a:ext cx="2508930" cy="579729"/>
          </a:xfrm>
          <a:prstGeom prst="rect">
            <a:avLst/>
          </a:prstGeom>
          <a:noFill/>
        </p:spPr>
        <p:txBody>
          <a:bodyPr wrap="square" anchor="ctr">
            <a:spAutoFit/>
          </a:bodyPr>
          <a:lstStyle/>
          <a:p>
            <a:pPr algn="l">
              <a:spcAft>
                <a:spcPts val="400"/>
              </a:spcAft>
            </a:pPr>
            <a:r>
              <a:rPr sz="1150" b="1">
                <a:solidFill>
                  <a:srgbClr val="161B26"/>
                </a:solidFill>
                <a:latin typeface="Arial"/>
              </a:rPr>
              <a:t>Purpose</a:t>
            </a:r>
          </a:p>
        </p:txBody>
      </p:sp>
      <p:sp>
        <p:nvSpPr>
          <p:cNvPr id="15" name="Rectangle 14"/>
          <p:cNvSpPr/>
          <p:nvPr/>
        </p:nvSpPr>
        <p:spPr>
          <a:xfrm>
            <a:off x="3542202" y="2258568"/>
            <a:ext cx="3934755" cy="579729"/>
          </a:xfrm>
          <a:prstGeom prst="rect">
            <a:avLst/>
          </a:prstGeom>
          <a:solidFill>
            <a:srgbClr val="F5F8FC"/>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3670218" y="2258568"/>
            <a:ext cx="3678723" cy="579729"/>
          </a:xfrm>
          <a:prstGeom prst="rect">
            <a:avLst/>
          </a:prstGeom>
          <a:noFill/>
        </p:spPr>
        <p:txBody>
          <a:bodyPr wrap="square" anchor="ctr">
            <a:spAutoFit/>
          </a:bodyPr>
          <a:lstStyle/>
          <a:p>
            <a:pPr algn="l">
              <a:spcAft>
                <a:spcPts val="400"/>
              </a:spcAft>
            </a:pPr>
            <a:r>
              <a:rPr sz="1150" b="0">
                <a:solidFill>
                  <a:srgbClr val="5B6372"/>
                </a:solidFill>
                <a:latin typeface="Arial"/>
              </a:rPr>
              <a:t>The single transformation this role owns</a:t>
            </a:r>
          </a:p>
        </p:txBody>
      </p:sp>
      <p:sp>
        <p:nvSpPr>
          <p:cNvPr id="17" name="Rectangle 16"/>
          <p:cNvSpPr/>
          <p:nvPr/>
        </p:nvSpPr>
        <p:spPr>
          <a:xfrm>
            <a:off x="7476957" y="2258568"/>
            <a:ext cx="3934755" cy="579729"/>
          </a:xfrm>
          <a:prstGeom prst="rect">
            <a:avLst/>
          </a:prstGeom>
          <a:solidFill>
            <a:srgbClr val="F5F8FC"/>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7604973" y="2258568"/>
            <a:ext cx="3678723" cy="579729"/>
          </a:xfrm>
          <a:prstGeom prst="rect">
            <a:avLst/>
          </a:prstGeom>
          <a:noFill/>
        </p:spPr>
        <p:txBody>
          <a:bodyPr wrap="square" anchor="ctr">
            <a:spAutoFit/>
          </a:bodyPr>
          <a:lstStyle/>
          <a:p>
            <a:pPr algn="l">
              <a:spcAft>
                <a:spcPts val="400"/>
              </a:spcAft>
            </a:pPr>
            <a:r>
              <a:rPr sz="1150" b="0">
                <a:solidFill>
                  <a:srgbClr val="5B6372"/>
                </a:solidFill>
                <a:latin typeface="Arial"/>
              </a:rPr>
              <a:t>Prevents scope drift</a:t>
            </a:r>
          </a:p>
        </p:txBody>
      </p:sp>
      <p:sp>
        <p:nvSpPr>
          <p:cNvPr id="19" name="Rectangle 18"/>
          <p:cNvSpPr/>
          <p:nvPr/>
        </p:nvSpPr>
        <p:spPr>
          <a:xfrm>
            <a:off x="777240" y="2838297"/>
            <a:ext cx="2764962" cy="579729"/>
          </a:xfrm>
          <a:prstGeom prst="rect">
            <a:avLst/>
          </a:prstGeom>
          <a:solidFill>
            <a:srgbClr val="FFFFFF"/>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905256" y="2838297"/>
            <a:ext cx="2508930" cy="579729"/>
          </a:xfrm>
          <a:prstGeom prst="rect">
            <a:avLst/>
          </a:prstGeom>
          <a:noFill/>
        </p:spPr>
        <p:txBody>
          <a:bodyPr wrap="square" anchor="ctr">
            <a:spAutoFit/>
          </a:bodyPr>
          <a:lstStyle/>
          <a:p>
            <a:pPr algn="l">
              <a:spcAft>
                <a:spcPts val="400"/>
              </a:spcAft>
            </a:pPr>
            <a:r>
              <a:rPr sz="1150" b="1">
                <a:solidFill>
                  <a:srgbClr val="161B26"/>
                </a:solidFill>
                <a:latin typeface="Arial"/>
              </a:rPr>
              <a:t>Allowed inputs</a:t>
            </a:r>
          </a:p>
        </p:txBody>
      </p:sp>
      <p:sp>
        <p:nvSpPr>
          <p:cNvPr id="21" name="Rectangle 20"/>
          <p:cNvSpPr/>
          <p:nvPr/>
        </p:nvSpPr>
        <p:spPr>
          <a:xfrm>
            <a:off x="3542202" y="2838297"/>
            <a:ext cx="3934755" cy="579729"/>
          </a:xfrm>
          <a:prstGeom prst="rect">
            <a:avLst/>
          </a:prstGeom>
          <a:solidFill>
            <a:srgbClr val="FFFFFF"/>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3670218" y="2838297"/>
            <a:ext cx="3678723" cy="579729"/>
          </a:xfrm>
          <a:prstGeom prst="rect">
            <a:avLst/>
          </a:prstGeom>
          <a:noFill/>
        </p:spPr>
        <p:txBody>
          <a:bodyPr wrap="square" anchor="ctr">
            <a:spAutoFit/>
          </a:bodyPr>
          <a:lstStyle/>
          <a:p>
            <a:pPr algn="l">
              <a:spcAft>
                <a:spcPts val="400"/>
              </a:spcAft>
            </a:pPr>
            <a:r>
              <a:rPr sz="1150" b="0">
                <a:solidFill>
                  <a:srgbClr val="5B6372"/>
                </a:solidFill>
                <a:latin typeface="Arial"/>
              </a:rPr>
              <a:t>Which files, data and sources may be read</a:t>
            </a:r>
          </a:p>
        </p:txBody>
      </p:sp>
      <p:sp>
        <p:nvSpPr>
          <p:cNvPr id="23" name="Rectangle 22"/>
          <p:cNvSpPr/>
          <p:nvPr/>
        </p:nvSpPr>
        <p:spPr>
          <a:xfrm>
            <a:off x="7476957" y="2838297"/>
            <a:ext cx="3934755" cy="579729"/>
          </a:xfrm>
          <a:prstGeom prst="rect">
            <a:avLst/>
          </a:prstGeom>
          <a:solidFill>
            <a:srgbClr val="FFFFFF"/>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7604973" y="2838297"/>
            <a:ext cx="3678723" cy="579729"/>
          </a:xfrm>
          <a:prstGeom prst="rect">
            <a:avLst/>
          </a:prstGeom>
          <a:noFill/>
        </p:spPr>
        <p:txBody>
          <a:bodyPr wrap="square" anchor="ctr">
            <a:spAutoFit/>
          </a:bodyPr>
          <a:lstStyle/>
          <a:p>
            <a:pPr algn="l">
              <a:spcAft>
                <a:spcPts val="400"/>
              </a:spcAft>
            </a:pPr>
            <a:r>
              <a:rPr sz="1150" b="0">
                <a:solidFill>
                  <a:srgbClr val="5B6372"/>
                </a:solidFill>
                <a:latin typeface="Arial"/>
              </a:rPr>
              <a:t>Confines the blast radius</a:t>
            </a:r>
          </a:p>
        </p:txBody>
      </p:sp>
      <p:sp>
        <p:nvSpPr>
          <p:cNvPr id="25" name="Rectangle 24"/>
          <p:cNvSpPr/>
          <p:nvPr/>
        </p:nvSpPr>
        <p:spPr>
          <a:xfrm>
            <a:off x="777240" y="3418026"/>
            <a:ext cx="2764962" cy="579729"/>
          </a:xfrm>
          <a:prstGeom prst="rect">
            <a:avLst/>
          </a:prstGeom>
          <a:solidFill>
            <a:srgbClr val="F5F8FC"/>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905256" y="3418026"/>
            <a:ext cx="2508930" cy="579729"/>
          </a:xfrm>
          <a:prstGeom prst="rect">
            <a:avLst/>
          </a:prstGeom>
          <a:noFill/>
        </p:spPr>
        <p:txBody>
          <a:bodyPr wrap="square" anchor="ctr">
            <a:spAutoFit/>
          </a:bodyPr>
          <a:lstStyle/>
          <a:p>
            <a:pPr algn="l">
              <a:spcAft>
                <a:spcPts val="400"/>
              </a:spcAft>
            </a:pPr>
            <a:r>
              <a:rPr sz="1150" b="1">
                <a:solidFill>
                  <a:srgbClr val="161B26"/>
                </a:solidFill>
                <a:latin typeface="Arial"/>
              </a:rPr>
              <a:t>Output schema</a:t>
            </a:r>
          </a:p>
        </p:txBody>
      </p:sp>
      <p:sp>
        <p:nvSpPr>
          <p:cNvPr id="27" name="Rectangle 26"/>
          <p:cNvSpPr/>
          <p:nvPr/>
        </p:nvSpPr>
        <p:spPr>
          <a:xfrm>
            <a:off x="3542202" y="3418026"/>
            <a:ext cx="3934755" cy="579729"/>
          </a:xfrm>
          <a:prstGeom prst="rect">
            <a:avLst/>
          </a:prstGeom>
          <a:solidFill>
            <a:srgbClr val="F5F8FC"/>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3670218" y="3418026"/>
            <a:ext cx="3678723" cy="579729"/>
          </a:xfrm>
          <a:prstGeom prst="rect">
            <a:avLst/>
          </a:prstGeom>
          <a:noFill/>
        </p:spPr>
        <p:txBody>
          <a:bodyPr wrap="square" anchor="ctr">
            <a:spAutoFit/>
          </a:bodyPr>
          <a:lstStyle/>
          <a:p>
            <a:pPr algn="l">
              <a:spcAft>
                <a:spcPts val="400"/>
              </a:spcAft>
            </a:pPr>
            <a:r>
              <a:rPr sz="1150" b="0">
                <a:solidFill>
                  <a:srgbClr val="5B6372"/>
                </a:solidFill>
                <a:latin typeface="Arial"/>
              </a:rPr>
              <a:t>The artifact, its path and its required fields</a:t>
            </a:r>
          </a:p>
        </p:txBody>
      </p:sp>
      <p:sp>
        <p:nvSpPr>
          <p:cNvPr id="29" name="Rectangle 28"/>
          <p:cNvSpPr/>
          <p:nvPr/>
        </p:nvSpPr>
        <p:spPr>
          <a:xfrm>
            <a:off x="7476957" y="3418026"/>
            <a:ext cx="3934755" cy="579729"/>
          </a:xfrm>
          <a:prstGeom prst="rect">
            <a:avLst/>
          </a:prstGeom>
          <a:solidFill>
            <a:srgbClr val="F5F8FC"/>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TextBox 29"/>
          <p:cNvSpPr txBox="1"/>
          <p:nvPr/>
        </p:nvSpPr>
        <p:spPr>
          <a:xfrm>
            <a:off x="7604973" y="3418026"/>
            <a:ext cx="3678723" cy="579729"/>
          </a:xfrm>
          <a:prstGeom prst="rect">
            <a:avLst/>
          </a:prstGeom>
          <a:noFill/>
        </p:spPr>
        <p:txBody>
          <a:bodyPr wrap="square" anchor="ctr">
            <a:spAutoFit/>
          </a:bodyPr>
          <a:lstStyle/>
          <a:p>
            <a:pPr algn="l">
              <a:spcAft>
                <a:spcPts val="400"/>
              </a:spcAft>
            </a:pPr>
            <a:r>
              <a:rPr sz="1150" b="0">
                <a:solidFill>
                  <a:srgbClr val="5B6372"/>
                </a:solidFill>
                <a:latin typeface="Arial"/>
              </a:rPr>
              <a:t>Makes acceptance objective</a:t>
            </a:r>
          </a:p>
        </p:txBody>
      </p:sp>
      <p:sp>
        <p:nvSpPr>
          <p:cNvPr id="31" name="Rectangle 30"/>
          <p:cNvSpPr/>
          <p:nvPr/>
        </p:nvSpPr>
        <p:spPr>
          <a:xfrm>
            <a:off x="777240" y="3997755"/>
            <a:ext cx="2764962" cy="579729"/>
          </a:xfrm>
          <a:prstGeom prst="rect">
            <a:avLst/>
          </a:prstGeom>
          <a:solidFill>
            <a:srgbClr val="FFFFFF"/>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TextBox 31"/>
          <p:cNvSpPr txBox="1"/>
          <p:nvPr/>
        </p:nvSpPr>
        <p:spPr>
          <a:xfrm>
            <a:off x="905256" y="3997755"/>
            <a:ext cx="2508930" cy="579729"/>
          </a:xfrm>
          <a:prstGeom prst="rect">
            <a:avLst/>
          </a:prstGeom>
          <a:noFill/>
        </p:spPr>
        <p:txBody>
          <a:bodyPr wrap="square" anchor="ctr">
            <a:spAutoFit/>
          </a:bodyPr>
          <a:lstStyle/>
          <a:p>
            <a:pPr algn="l">
              <a:spcAft>
                <a:spcPts val="400"/>
              </a:spcAft>
            </a:pPr>
            <a:r>
              <a:rPr sz="1150" b="1">
                <a:solidFill>
                  <a:srgbClr val="161B26"/>
                </a:solidFill>
                <a:latin typeface="Arial"/>
              </a:rPr>
              <a:t>Exclusions</a:t>
            </a:r>
          </a:p>
        </p:txBody>
      </p:sp>
      <p:sp>
        <p:nvSpPr>
          <p:cNvPr id="33" name="Rectangle 32"/>
          <p:cNvSpPr/>
          <p:nvPr/>
        </p:nvSpPr>
        <p:spPr>
          <a:xfrm>
            <a:off x="3542202" y="3997755"/>
            <a:ext cx="3934755" cy="579729"/>
          </a:xfrm>
          <a:prstGeom prst="rect">
            <a:avLst/>
          </a:prstGeom>
          <a:solidFill>
            <a:srgbClr val="FFFFFF"/>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TextBox 33"/>
          <p:cNvSpPr txBox="1"/>
          <p:nvPr/>
        </p:nvSpPr>
        <p:spPr>
          <a:xfrm>
            <a:off x="3670218" y="3997755"/>
            <a:ext cx="3678723" cy="579729"/>
          </a:xfrm>
          <a:prstGeom prst="rect">
            <a:avLst/>
          </a:prstGeom>
          <a:noFill/>
        </p:spPr>
        <p:txBody>
          <a:bodyPr wrap="square" anchor="ctr">
            <a:spAutoFit/>
          </a:bodyPr>
          <a:lstStyle/>
          <a:p>
            <a:pPr algn="l">
              <a:spcAft>
                <a:spcPts val="400"/>
              </a:spcAft>
            </a:pPr>
            <a:r>
              <a:rPr sz="1150" b="0">
                <a:solidFill>
                  <a:srgbClr val="5B6372"/>
                </a:solidFill>
                <a:latin typeface="Arial"/>
              </a:rPr>
              <a:t>What this role must never do</a:t>
            </a:r>
          </a:p>
        </p:txBody>
      </p:sp>
      <p:sp>
        <p:nvSpPr>
          <p:cNvPr id="35" name="Rectangle 34"/>
          <p:cNvSpPr/>
          <p:nvPr/>
        </p:nvSpPr>
        <p:spPr>
          <a:xfrm>
            <a:off x="7476957" y="3997755"/>
            <a:ext cx="3934755" cy="579729"/>
          </a:xfrm>
          <a:prstGeom prst="rect">
            <a:avLst/>
          </a:prstGeom>
          <a:solidFill>
            <a:srgbClr val="FFFFFF"/>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 name="TextBox 35"/>
          <p:cNvSpPr txBox="1"/>
          <p:nvPr/>
        </p:nvSpPr>
        <p:spPr>
          <a:xfrm>
            <a:off x="7604973" y="3997755"/>
            <a:ext cx="3678723" cy="579729"/>
          </a:xfrm>
          <a:prstGeom prst="rect">
            <a:avLst/>
          </a:prstGeom>
          <a:noFill/>
        </p:spPr>
        <p:txBody>
          <a:bodyPr wrap="square" anchor="ctr">
            <a:spAutoFit/>
          </a:bodyPr>
          <a:lstStyle/>
          <a:p>
            <a:pPr algn="l">
              <a:spcAft>
                <a:spcPts val="400"/>
              </a:spcAft>
            </a:pPr>
            <a:r>
              <a:rPr sz="1150" b="0">
                <a:solidFill>
                  <a:srgbClr val="5B6372"/>
                </a:solidFill>
                <a:latin typeface="Arial"/>
              </a:rPr>
              <a:t>The most valuable section</a:t>
            </a:r>
          </a:p>
        </p:txBody>
      </p:sp>
      <p:sp>
        <p:nvSpPr>
          <p:cNvPr id="37" name="Rectangle 36"/>
          <p:cNvSpPr/>
          <p:nvPr/>
        </p:nvSpPr>
        <p:spPr>
          <a:xfrm>
            <a:off x="777240" y="4577484"/>
            <a:ext cx="2764962" cy="579729"/>
          </a:xfrm>
          <a:prstGeom prst="rect">
            <a:avLst/>
          </a:prstGeom>
          <a:solidFill>
            <a:srgbClr val="F5F8FC"/>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 name="TextBox 37"/>
          <p:cNvSpPr txBox="1"/>
          <p:nvPr/>
        </p:nvSpPr>
        <p:spPr>
          <a:xfrm>
            <a:off x="905256" y="4577484"/>
            <a:ext cx="2508930" cy="579729"/>
          </a:xfrm>
          <a:prstGeom prst="rect">
            <a:avLst/>
          </a:prstGeom>
          <a:noFill/>
        </p:spPr>
        <p:txBody>
          <a:bodyPr wrap="square" anchor="ctr">
            <a:spAutoFit/>
          </a:bodyPr>
          <a:lstStyle/>
          <a:p>
            <a:pPr algn="l">
              <a:spcAft>
                <a:spcPts val="400"/>
              </a:spcAft>
            </a:pPr>
            <a:r>
              <a:rPr sz="1150" b="1">
                <a:solidFill>
                  <a:srgbClr val="161B26"/>
                </a:solidFill>
                <a:latin typeface="Arial"/>
              </a:rPr>
              <a:t>Escalation</a:t>
            </a:r>
          </a:p>
        </p:txBody>
      </p:sp>
      <p:sp>
        <p:nvSpPr>
          <p:cNvPr id="39" name="Rectangle 38"/>
          <p:cNvSpPr/>
          <p:nvPr/>
        </p:nvSpPr>
        <p:spPr>
          <a:xfrm>
            <a:off x="3542202" y="4577484"/>
            <a:ext cx="3934755" cy="579729"/>
          </a:xfrm>
          <a:prstGeom prst="rect">
            <a:avLst/>
          </a:prstGeom>
          <a:solidFill>
            <a:srgbClr val="F5F8FC"/>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0" name="TextBox 39"/>
          <p:cNvSpPr txBox="1"/>
          <p:nvPr/>
        </p:nvSpPr>
        <p:spPr>
          <a:xfrm>
            <a:off x="3670218" y="4577484"/>
            <a:ext cx="3678723" cy="579729"/>
          </a:xfrm>
          <a:prstGeom prst="rect">
            <a:avLst/>
          </a:prstGeom>
          <a:noFill/>
        </p:spPr>
        <p:txBody>
          <a:bodyPr wrap="square" anchor="ctr">
            <a:spAutoFit/>
          </a:bodyPr>
          <a:lstStyle/>
          <a:p>
            <a:pPr algn="l">
              <a:spcAft>
                <a:spcPts val="400"/>
              </a:spcAft>
            </a:pPr>
            <a:r>
              <a:rPr sz="1150" b="0">
                <a:solidFill>
                  <a:srgbClr val="5B6372"/>
                </a:solidFill>
                <a:latin typeface="Arial"/>
              </a:rPr>
              <a:t>When to stop and ask the board</a:t>
            </a:r>
          </a:p>
        </p:txBody>
      </p:sp>
      <p:sp>
        <p:nvSpPr>
          <p:cNvPr id="41" name="Rectangle 40"/>
          <p:cNvSpPr/>
          <p:nvPr/>
        </p:nvSpPr>
        <p:spPr>
          <a:xfrm>
            <a:off x="7476957" y="4577484"/>
            <a:ext cx="3934755" cy="579729"/>
          </a:xfrm>
          <a:prstGeom prst="rect">
            <a:avLst/>
          </a:prstGeom>
          <a:solidFill>
            <a:srgbClr val="F5F8FC"/>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2" name="TextBox 41"/>
          <p:cNvSpPr txBox="1"/>
          <p:nvPr/>
        </p:nvSpPr>
        <p:spPr>
          <a:xfrm>
            <a:off x="7604973" y="4577484"/>
            <a:ext cx="3678723" cy="579729"/>
          </a:xfrm>
          <a:prstGeom prst="rect">
            <a:avLst/>
          </a:prstGeom>
          <a:noFill/>
        </p:spPr>
        <p:txBody>
          <a:bodyPr wrap="square" anchor="ctr">
            <a:spAutoFit/>
          </a:bodyPr>
          <a:lstStyle/>
          <a:p>
            <a:pPr algn="l">
              <a:spcAft>
                <a:spcPts val="400"/>
              </a:spcAft>
            </a:pPr>
            <a:r>
              <a:rPr sz="1150" b="0">
                <a:solidFill>
                  <a:srgbClr val="5B6372"/>
                </a:solidFill>
                <a:latin typeface="Arial"/>
              </a:rPr>
              <a:t>Keeps authority explicit</a:t>
            </a:r>
          </a:p>
        </p:txBody>
      </p:sp>
      <p:sp>
        <p:nvSpPr>
          <p:cNvPr id="43" name="Rectangle 42"/>
          <p:cNvSpPr/>
          <p:nvPr/>
        </p:nvSpPr>
        <p:spPr>
          <a:xfrm>
            <a:off x="777240" y="5358381"/>
            <a:ext cx="10634472" cy="84124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4" name="Rectangle 43"/>
          <p:cNvSpPr/>
          <p:nvPr/>
        </p:nvSpPr>
        <p:spPr>
          <a:xfrm>
            <a:off x="777240" y="5358381"/>
            <a:ext cx="100584" cy="841248"/>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5" name="TextBox 44"/>
          <p:cNvSpPr txBox="1"/>
          <p:nvPr/>
        </p:nvSpPr>
        <p:spPr>
          <a:xfrm>
            <a:off x="1051560" y="5468109"/>
            <a:ext cx="10085832" cy="603504"/>
          </a:xfrm>
          <a:prstGeom prst="rect">
            <a:avLst/>
          </a:prstGeom>
          <a:noFill/>
        </p:spPr>
        <p:txBody>
          <a:bodyPr wrap="square" anchor="t">
            <a:spAutoFit/>
          </a:bodyPr>
          <a:lstStyle/>
          <a:p>
            <a:pPr algn="l">
              <a:spcAft>
                <a:spcPts val="400"/>
              </a:spcAft>
            </a:pPr>
            <a:r>
              <a:rPr sz="1100" b="1">
                <a:solidFill>
                  <a:srgbClr val="10B981"/>
                </a:solidFill>
                <a:latin typeface="Arial"/>
              </a:rPr>
              <a:t>WHEN IT MATTERS  </a:t>
            </a:r>
            <a:r>
              <a:rPr sz="1200" b="0">
                <a:solidFill>
                  <a:srgbClr val="161B26"/>
                </a:solidFill>
                <a:latin typeface="Arial"/>
              </a:rPr>
              <a:t>If two roles could both plausibly do the task, your instructions are not finished.</a:t>
            </a:r>
          </a:p>
        </p:txBody>
      </p:sp>
      <p:sp>
        <p:nvSpPr>
          <p:cNvPr id="46" name="TextBox 45"/>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Manage AI Agents with Paperclip (TGS-2023036646)  ·  TGS-2023036646</a:t>
            </a:r>
          </a:p>
        </p:txBody>
      </p:sp>
      <p:sp>
        <p:nvSpPr>
          <p:cNvPr id="47" name="TextBox 46"/>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48" name="TextBox 47"/>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48</a:t>
            </a:r>
          </a:p>
        </p:txBody>
      </p:sp>
    </p:spTree>
  </p:cSld>
  <p:clrMapOvr>
    <a:masterClrMapping/>
  </p:clrMapOvr>
  <p:transition spd="fast" advClick="1">
    <p:fade/>
  </p:transition>
</p:sld>
</file>

<file path=ppt/slides/slide4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7C3AED"/>
                </a:solidFill>
                <a:latin typeface="Arial"/>
              </a:rPr>
              <a:t>LO2 · SEPARATE CONTEXT FROM AUTHORITY</a:t>
            </a:r>
          </a:p>
        </p:txBody>
      </p:sp>
      <p:sp>
        <p:nvSpPr>
          <p:cNvPr id="5" name="TextBox 4"/>
          <p:cNvSpPr txBox="1"/>
          <p:nvPr/>
        </p:nvSpPr>
        <p:spPr>
          <a:xfrm>
            <a:off x="777240" y="804672"/>
            <a:ext cx="10881360" cy="713232"/>
          </a:xfrm>
          <a:prstGeom prst="rect">
            <a:avLst/>
          </a:prstGeom>
          <a:noFill/>
        </p:spPr>
        <p:txBody>
          <a:bodyPr wrap="square" anchor="ctr">
            <a:spAutoFit/>
          </a:bodyPr>
          <a:lstStyle/>
          <a:p>
            <a:pPr algn="l">
              <a:spcAft>
                <a:spcPts val="400"/>
              </a:spcAft>
            </a:pPr>
            <a:r>
              <a:rPr sz="2900" b="1">
                <a:solidFill>
                  <a:srgbClr val="161B26"/>
                </a:solidFill>
                <a:latin typeface="Arial"/>
              </a:rPr>
              <a:t>Workspaces, Secrets and Skills</a:t>
            </a:r>
          </a:p>
        </p:txBody>
      </p:sp>
      <p:sp>
        <p:nvSpPr>
          <p:cNvPr id="6" name="Rectangle 5"/>
          <p:cNvSpPr/>
          <p:nvPr/>
        </p:nvSpPr>
        <p:spPr>
          <a:xfrm>
            <a:off x="777240" y="155448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77240" y="1783080"/>
            <a:ext cx="5180076" cy="129844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777240" y="1783080"/>
            <a:ext cx="91440" cy="1298448"/>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Oval 8"/>
          <p:cNvSpPr/>
          <p:nvPr/>
        </p:nvSpPr>
        <p:spPr>
          <a:xfrm>
            <a:off x="1033272" y="2157984"/>
            <a:ext cx="548640" cy="548640"/>
          </a:xfrm>
          <a:prstGeom prst="ellipse">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1033272" y="2157984"/>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1</a:t>
            </a:r>
          </a:p>
        </p:txBody>
      </p:sp>
      <p:sp>
        <p:nvSpPr>
          <p:cNvPr id="11" name="TextBox 10"/>
          <p:cNvSpPr txBox="1"/>
          <p:nvPr/>
        </p:nvSpPr>
        <p:spPr>
          <a:xfrm>
            <a:off x="1764792" y="1911096"/>
            <a:ext cx="3973068" cy="1115568"/>
          </a:xfrm>
          <a:prstGeom prst="rect">
            <a:avLst/>
          </a:prstGeom>
          <a:noFill/>
        </p:spPr>
        <p:txBody>
          <a:bodyPr wrap="square" anchor="ctr">
            <a:spAutoFit/>
          </a:bodyPr>
          <a:lstStyle/>
          <a:p>
            <a:pPr algn="l">
              <a:spcAft>
                <a:spcPts val="300"/>
              </a:spcAft>
            </a:pPr>
            <a:r>
              <a:rPr sz="1600" b="1">
                <a:solidFill>
                  <a:srgbClr val="161B26"/>
                </a:solidFill>
                <a:latin typeface="Arial"/>
              </a:rPr>
              <a:t>Dedicated workspace</a:t>
            </a:r>
          </a:p>
          <a:p>
            <a:pPr algn="l">
              <a:spcAft>
                <a:spcPts val="300"/>
              </a:spcAft>
            </a:pPr>
            <a:r>
              <a:rPr sz="1200" b="0">
                <a:solidFill>
                  <a:srgbClr val="5B6372"/>
                </a:solidFill>
                <a:latin typeface="Arial"/>
              </a:rPr>
              <a:t>One local root per role, isolated with git worktrees so every change is attributable to exactly one agent.</a:t>
            </a:r>
          </a:p>
        </p:txBody>
      </p:sp>
      <p:sp>
        <p:nvSpPr>
          <p:cNvPr id="12" name="Rectangle 11"/>
          <p:cNvSpPr/>
          <p:nvPr/>
        </p:nvSpPr>
        <p:spPr>
          <a:xfrm>
            <a:off x="6231636" y="1783080"/>
            <a:ext cx="5180076" cy="129844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6231636" y="1783080"/>
            <a:ext cx="91440" cy="1298448"/>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Oval 13"/>
          <p:cNvSpPr/>
          <p:nvPr/>
        </p:nvSpPr>
        <p:spPr>
          <a:xfrm>
            <a:off x="6487668" y="2157984"/>
            <a:ext cx="548640" cy="548640"/>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487668" y="2157984"/>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2</a:t>
            </a:r>
          </a:p>
        </p:txBody>
      </p:sp>
      <p:sp>
        <p:nvSpPr>
          <p:cNvPr id="16" name="TextBox 15"/>
          <p:cNvSpPr txBox="1"/>
          <p:nvPr/>
        </p:nvSpPr>
        <p:spPr>
          <a:xfrm>
            <a:off x="7219188" y="1911096"/>
            <a:ext cx="3973068" cy="1115568"/>
          </a:xfrm>
          <a:prstGeom prst="rect">
            <a:avLst/>
          </a:prstGeom>
          <a:noFill/>
        </p:spPr>
        <p:txBody>
          <a:bodyPr wrap="square" anchor="ctr">
            <a:spAutoFit/>
          </a:bodyPr>
          <a:lstStyle/>
          <a:p>
            <a:pPr algn="l">
              <a:spcAft>
                <a:spcPts val="300"/>
              </a:spcAft>
            </a:pPr>
            <a:r>
              <a:rPr sz="1600" b="1">
                <a:solidFill>
                  <a:srgbClr val="161B26"/>
                </a:solidFill>
                <a:latin typeface="Arial"/>
              </a:rPr>
              <a:t>Git baseline</a:t>
            </a:r>
          </a:p>
          <a:p>
            <a:pPr algn="l">
              <a:spcAft>
                <a:spcPts val="300"/>
              </a:spcAft>
            </a:pPr>
            <a:r>
              <a:rPr sz="1200" b="0">
                <a:solidFill>
                  <a:srgbClr val="5B6372"/>
                </a:solidFill>
                <a:latin typeface="Arial"/>
              </a:rPr>
              <a:t>Commit an empty baseline so the later diff means what you think it means.</a:t>
            </a:r>
          </a:p>
        </p:txBody>
      </p:sp>
      <p:sp>
        <p:nvSpPr>
          <p:cNvPr id="17" name="Rectangle 16"/>
          <p:cNvSpPr/>
          <p:nvPr/>
        </p:nvSpPr>
        <p:spPr>
          <a:xfrm>
            <a:off x="777240" y="3319272"/>
            <a:ext cx="5180076" cy="129844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777240" y="3319272"/>
            <a:ext cx="91440" cy="1298448"/>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Oval 18"/>
          <p:cNvSpPr/>
          <p:nvPr/>
        </p:nvSpPr>
        <p:spPr>
          <a:xfrm>
            <a:off x="1033272" y="3694176"/>
            <a:ext cx="548640" cy="548640"/>
          </a:xfrm>
          <a:prstGeom prst="ellipse">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1033272" y="3694176"/>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3</a:t>
            </a:r>
          </a:p>
        </p:txBody>
      </p:sp>
      <p:sp>
        <p:nvSpPr>
          <p:cNvPr id="21" name="TextBox 20"/>
          <p:cNvSpPr txBox="1"/>
          <p:nvPr/>
        </p:nvSpPr>
        <p:spPr>
          <a:xfrm>
            <a:off x="1764792" y="3447288"/>
            <a:ext cx="3973068" cy="1115568"/>
          </a:xfrm>
          <a:prstGeom prst="rect">
            <a:avLst/>
          </a:prstGeom>
          <a:noFill/>
        </p:spPr>
        <p:txBody>
          <a:bodyPr wrap="square" anchor="ctr">
            <a:spAutoFit/>
          </a:bodyPr>
          <a:lstStyle/>
          <a:p>
            <a:pPr algn="l">
              <a:spcAft>
                <a:spcPts val="300"/>
              </a:spcAft>
            </a:pPr>
            <a:r>
              <a:rPr sz="1600" b="1">
                <a:solidFill>
                  <a:srgbClr val="161B26"/>
                </a:solidFill>
                <a:latin typeface="Arial"/>
              </a:rPr>
              <a:t>Secrets stay out</a:t>
            </a:r>
          </a:p>
          <a:p>
            <a:pPr algn="l">
              <a:spcAft>
                <a:spcPts val="300"/>
              </a:spcAft>
            </a:pPr>
            <a:r>
              <a:rPr sz="1200" b="0">
                <a:solidFill>
                  <a:srgbClr val="5B6372"/>
                </a:solidFill>
                <a:latin typeface="Arial"/>
              </a:rPr>
              <a:t>Credentials live in the runtime or the Paperclip secret store, injected at heartbeat time — never in prompts, notes or Git.</a:t>
            </a:r>
          </a:p>
        </p:txBody>
      </p:sp>
      <p:sp>
        <p:nvSpPr>
          <p:cNvPr id="22" name="Rectangle 21"/>
          <p:cNvSpPr/>
          <p:nvPr/>
        </p:nvSpPr>
        <p:spPr>
          <a:xfrm>
            <a:off x="6231636" y="3319272"/>
            <a:ext cx="5180076" cy="129844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ectangle 22"/>
          <p:cNvSpPr/>
          <p:nvPr/>
        </p:nvSpPr>
        <p:spPr>
          <a:xfrm>
            <a:off x="6231636" y="3319272"/>
            <a:ext cx="91440" cy="1298448"/>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Oval 23"/>
          <p:cNvSpPr/>
          <p:nvPr/>
        </p:nvSpPr>
        <p:spPr>
          <a:xfrm>
            <a:off x="6487668" y="3694176"/>
            <a:ext cx="548640" cy="548640"/>
          </a:xfrm>
          <a:prstGeom prst="ellipse">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6487668" y="3694176"/>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4</a:t>
            </a:r>
          </a:p>
        </p:txBody>
      </p:sp>
      <p:sp>
        <p:nvSpPr>
          <p:cNvPr id="26" name="TextBox 25"/>
          <p:cNvSpPr txBox="1"/>
          <p:nvPr/>
        </p:nvSpPr>
        <p:spPr>
          <a:xfrm>
            <a:off x="7219188" y="3447288"/>
            <a:ext cx="3973068" cy="1115568"/>
          </a:xfrm>
          <a:prstGeom prst="rect">
            <a:avLst/>
          </a:prstGeom>
          <a:noFill/>
        </p:spPr>
        <p:txBody>
          <a:bodyPr wrap="square" anchor="ctr">
            <a:spAutoFit/>
          </a:bodyPr>
          <a:lstStyle/>
          <a:p>
            <a:pPr algn="l">
              <a:spcAft>
                <a:spcPts val="300"/>
              </a:spcAft>
            </a:pPr>
            <a:r>
              <a:rPr sz="1600" b="1">
                <a:solidFill>
                  <a:srgbClr val="161B26"/>
                </a:solidFill>
                <a:latin typeface="Arial"/>
              </a:rPr>
              <a:t>Skills are capability</a:t>
            </a:r>
          </a:p>
          <a:p>
            <a:pPr algn="l">
              <a:spcAft>
                <a:spcPts val="300"/>
              </a:spcAft>
            </a:pPr>
            <a:r>
              <a:rPr sz="1200" b="0">
                <a:solidFill>
                  <a:srgbClr val="5B6372"/>
                </a:solidFill>
                <a:latin typeface="Arial"/>
              </a:rPr>
              <a:t>Import a skill from a path or URL into the org-wide library, then attach it to a specific agent.</a:t>
            </a:r>
          </a:p>
        </p:txBody>
      </p:sp>
      <p:sp>
        <p:nvSpPr>
          <p:cNvPr id="27" name="Rectangle 26"/>
          <p:cNvSpPr/>
          <p:nvPr/>
        </p:nvSpPr>
        <p:spPr>
          <a:xfrm>
            <a:off x="777240" y="4855464"/>
            <a:ext cx="5180076" cy="129844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Rectangle 27"/>
          <p:cNvSpPr/>
          <p:nvPr/>
        </p:nvSpPr>
        <p:spPr>
          <a:xfrm>
            <a:off x="777240" y="4855464"/>
            <a:ext cx="91440" cy="1298448"/>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Oval 28"/>
          <p:cNvSpPr/>
          <p:nvPr/>
        </p:nvSpPr>
        <p:spPr>
          <a:xfrm>
            <a:off x="1033272" y="5230368"/>
            <a:ext cx="548640" cy="548640"/>
          </a:xfrm>
          <a:prstGeom prst="ellipse">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TextBox 29"/>
          <p:cNvSpPr txBox="1"/>
          <p:nvPr/>
        </p:nvSpPr>
        <p:spPr>
          <a:xfrm>
            <a:off x="1033272" y="5230368"/>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5</a:t>
            </a:r>
          </a:p>
        </p:txBody>
      </p:sp>
      <p:sp>
        <p:nvSpPr>
          <p:cNvPr id="31" name="TextBox 30"/>
          <p:cNvSpPr txBox="1"/>
          <p:nvPr/>
        </p:nvSpPr>
        <p:spPr>
          <a:xfrm>
            <a:off x="1764792" y="4983480"/>
            <a:ext cx="3973068" cy="1115568"/>
          </a:xfrm>
          <a:prstGeom prst="rect">
            <a:avLst/>
          </a:prstGeom>
          <a:noFill/>
        </p:spPr>
        <p:txBody>
          <a:bodyPr wrap="square" anchor="ctr">
            <a:spAutoFit/>
          </a:bodyPr>
          <a:lstStyle/>
          <a:p>
            <a:pPr algn="l">
              <a:spcAft>
                <a:spcPts val="300"/>
              </a:spcAft>
            </a:pPr>
            <a:r>
              <a:rPr sz="1600" b="1">
                <a:solidFill>
                  <a:srgbClr val="161B26"/>
                </a:solidFill>
                <a:latin typeface="Arial"/>
              </a:rPr>
              <a:t>Adapters bridge capability</a:t>
            </a:r>
          </a:p>
          <a:p>
            <a:pPr algn="l">
              <a:spcAft>
                <a:spcPts val="300"/>
              </a:spcAft>
            </a:pPr>
            <a:r>
              <a:rPr sz="1200" b="0">
                <a:solidFill>
                  <a:srgbClr val="5B6372"/>
                </a:solidFill>
                <a:latin typeface="Arial"/>
              </a:rPr>
              <a:t>Match role complexity, session needs and tool access to the adapter you choose.</a:t>
            </a:r>
          </a:p>
        </p:txBody>
      </p:sp>
      <p:sp>
        <p:nvSpPr>
          <p:cNvPr id="32" name="Rectangle 31"/>
          <p:cNvSpPr/>
          <p:nvPr/>
        </p:nvSpPr>
        <p:spPr>
          <a:xfrm>
            <a:off x="6231636" y="4855464"/>
            <a:ext cx="5180076" cy="129844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Rectangle 32"/>
          <p:cNvSpPr/>
          <p:nvPr/>
        </p:nvSpPr>
        <p:spPr>
          <a:xfrm>
            <a:off x="6231636" y="4855464"/>
            <a:ext cx="91440" cy="1298448"/>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Oval 33"/>
          <p:cNvSpPr/>
          <p:nvPr/>
        </p:nvSpPr>
        <p:spPr>
          <a:xfrm>
            <a:off x="6487668" y="5230368"/>
            <a:ext cx="548640" cy="548640"/>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TextBox 34"/>
          <p:cNvSpPr txBox="1"/>
          <p:nvPr/>
        </p:nvSpPr>
        <p:spPr>
          <a:xfrm>
            <a:off x="6487668" y="5230368"/>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6</a:t>
            </a:r>
          </a:p>
        </p:txBody>
      </p:sp>
      <p:sp>
        <p:nvSpPr>
          <p:cNvPr id="36" name="TextBox 35"/>
          <p:cNvSpPr txBox="1"/>
          <p:nvPr/>
        </p:nvSpPr>
        <p:spPr>
          <a:xfrm>
            <a:off x="7219188" y="4983480"/>
            <a:ext cx="3973068" cy="1115568"/>
          </a:xfrm>
          <a:prstGeom prst="rect">
            <a:avLst/>
          </a:prstGeom>
          <a:noFill/>
        </p:spPr>
        <p:txBody>
          <a:bodyPr wrap="square" anchor="ctr">
            <a:spAutoFit/>
          </a:bodyPr>
          <a:lstStyle/>
          <a:p>
            <a:pPr algn="l">
              <a:spcAft>
                <a:spcPts val="300"/>
              </a:spcAft>
            </a:pPr>
            <a:r>
              <a:rPr sz="1600" b="1">
                <a:solidFill>
                  <a:srgbClr val="161B26"/>
                </a:solidFill>
                <a:latin typeface="Arial"/>
              </a:rPr>
              <a:t>Prove it with a marker run</a:t>
            </a:r>
          </a:p>
          <a:p>
            <a:pPr algn="l">
              <a:spcAft>
                <a:spcPts val="300"/>
              </a:spcAft>
            </a:pPr>
            <a:r>
              <a:rPr sz="1200" b="0">
                <a:solidFill>
                  <a:srgbClr val="5B6372"/>
                </a:solidFill>
                <a:latin typeface="Arial"/>
              </a:rPr>
              <a:t>Configuration that has never produced an artifact is not a connection.</a:t>
            </a:r>
          </a:p>
        </p:txBody>
      </p:sp>
      <p:sp>
        <p:nvSpPr>
          <p:cNvPr id="37" name="TextBox 36"/>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Manage AI Agents with Paperclip (TGS-2023036646)  ·  TGS-2023036646</a:t>
            </a:r>
          </a:p>
        </p:txBody>
      </p:sp>
      <p:sp>
        <p:nvSpPr>
          <p:cNvPr id="38" name="TextBox 37"/>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39" name="TextBox 38"/>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49</a:t>
            </a:r>
          </a:p>
        </p:txBody>
      </p:sp>
    </p:spTree>
  </p:cSld>
  <p:clrMapOvr>
    <a:masterClrMapping/>
  </p:clrMapOvr>
  <p:transition spd="fast" advClick="1">
    <p:fade/>
  </p:transition>
</p:sld>
</file>

<file path=ppt/slides/slide5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1F6FEB"/>
                </a:solidFill>
                <a:latin typeface="Arial"/>
              </a:rPr>
              <a:t>WHAT YOU'LL DO</a:t>
            </a:r>
          </a:p>
        </p:txBody>
      </p:sp>
      <p:sp>
        <p:nvSpPr>
          <p:cNvPr id="5" name="TextBox 4"/>
          <p:cNvSpPr txBox="1"/>
          <p:nvPr/>
        </p:nvSpPr>
        <p:spPr>
          <a:xfrm>
            <a:off x="777240" y="804672"/>
            <a:ext cx="10881360" cy="713232"/>
          </a:xfrm>
          <a:prstGeom prst="rect">
            <a:avLst/>
          </a:prstGeom>
          <a:noFill/>
        </p:spPr>
        <p:txBody>
          <a:bodyPr wrap="square" anchor="ctr">
            <a:spAutoFit/>
          </a:bodyPr>
          <a:lstStyle/>
          <a:p>
            <a:pPr algn="l">
              <a:spcAft>
                <a:spcPts val="400"/>
              </a:spcAft>
            </a:pPr>
            <a:r>
              <a:rPr sz="2900" b="1">
                <a:solidFill>
                  <a:srgbClr val="161B26"/>
                </a:solidFill>
                <a:latin typeface="Arial"/>
              </a:rPr>
              <a:t>Hands-On Labs — Building AI Agents with Paperclip</a:t>
            </a:r>
          </a:p>
        </p:txBody>
      </p:sp>
      <p:sp>
        <p:nvSpPr>
          <p:cNvPr id="6" name="Rectangle 5"/>
          <p:cNvSpPr/>
          <p:nvPr/>
        </p:nvSpPr>
        <p:spPr>
          <a:xfrm>
            <a:off x="777240" y="155448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77240" y="1783080"/>
            <a:ext cx="3337560" cy="429768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777240" y="1783080"/>
            <a:ext cx="3337560" cy="109728"/>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1005840" y="2011680"/>
            <a:ext cx="2926080" cy="548640"/>
          </a:xfrm>
          <a:prstGeom prst="rect">
            <a:avLst/>
          </a:prstGeom>
          <a:noFill/>
        </p:spPr>
        <p:txBody>
          <a:bodyPr wrap="square" anchor="t">
            <a:spAutoFit/>
          </a:bodyPr>
          <a:lstStyle/>
          <a:p>
            <a:pPr algn="l">
              <a:spcAft>
                <a:spcPts val="400"/>
              </a:spcAft>
            </a:pPr>
            <a:r>
              <a:rPr sz="1900" b="1">
                <a:solidFill>
                  <a:srgbClr val="1F6FEB"/>
                </a:solidFill>
                <a:latin typeface="Arial"/>
              </a:rPr>
              <a:t>Lab 2</a:t>
            </a:r>
          </a:p>
        </p:txBody>
      </p:sp>
      <p:sp>
        <p:nvSpPr>
          <p:cNvPr id="10" name="TextBox 9"/>
          <p:cNvSpPr txBox="1"/>
          <p:nvPr/>
        </p:nvSpPr>
        <p:spPr>
          <a:xfrm>
            <a:off x="1005840" y="2697480"/>
            <a:ext cx="2926080" cy="3108960"/>
          </a:xfrm>
          <a:prstGeom prst="rect">
            <a:avLst/>
          </a:prstGeom>
          <a:noFill/>
        </p:spPr>
        <p:txBody>
          <a:bodyPr wrap="square">
            <a:spAutoFit/>
          </a:bodyPr>
          <a:lstStyle/>
          <a:p>
            <a:pPr>
              <a:spcAft>
                <a:spcPts val="900"/>
              </a:spcAft>
            </a:pPr>
            <a:r>
              <a:rPr sz="1400" b="0">
                <a:solidFill>
                  <a:srgbClr val="161B26"/>
                </a:solidFill>
                <a:latin typeface="Arial"/>
              </a:rPr>
              <a:t>•  Create the BrightFunnel Company, Mission and CEO (Digital Marketing)</a:t>
            </a:r>
          </a:p>
          <a:p>
            <a:pPr>
              <a:spcAft>
                <a:spcPts val="900"/>
              </a:spcAft>
            </a:pPr>
            <a:r>
              <a:rPr sz="1400" b="0">
                <a:solidFill>
                  <a:srgbClr val="161B26"/>
                </a:solidFill>
                <a:latin typeface="Arial"/>
              </a:rPr>
              <a:t>•  BrightFunnel Marketing (Digital Marketing)</a:t>
            </a:r>
          </a:p>
        </p:txBody>
      </p:sp>
      <p:sp>
        <p:nvSpPr>
          <p:cNvPr id="11" name="Rectangle 10"/>
          <p:cNvSpPr/>
          <p:nvPr/>
        </p:nvSpPr>
        <p:spPr>
          <a:xfrm>
            <a:off x="4572000" y="1783080"/>
            <a:ext cx="3337560" cy="429768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ectangle 11"/>
          <p:cNvSpPr/>
          <p:nvPr/>
        </p:nvSpPr>
        <p:spPr>
          <a:xfrm>
            <a:off x="4572000" y="1783080"/>
            <a:ext cx="3337560" cy="109728"/>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4800600" y="2011680"/>
            <a:ext cx="2926080" cy="548640"/>
          </a:xfrm>
          <a:prstGeom prst="rect">
            <a:avLst/>
          </a:prstGeom>
          <a:noFill/>
        </p:spPr>
        <p:txBody>
          <a:bodyPr wrap="square" anchor="t">
            <a:spAutoFit/>
          </a:bodyPr>
          <a:lstStyle/>
          <a:p>
            <a:pPr algn="l">
              <a:spcAft>
                <a:spcPts val="400"/>
              </a:spcAft>
            </a:pPr>
            <a:r>
              <a:rPr sz="1900" b="1">
                <a:solidFill>
                  <a:srgbClr val="10B981"/>
                </a:solidFill>
                <a:latin typeface="Arial"/>
              </a:rPr>
              <a:t>Lab 3</a:t>
            </a:r>
          </a:p>
        </p:txBody>
      </p:sp>
      <p:sp>
        <p:nvSpPr>
          <p:cNvPr id="14" name="TextBox 13"/>
          <p:cNvSpPr txBox="1"/>
          <p:nvPr/>
        </p:nvSpPr>
        <p:spPr>
          <a:xfrm>
            <a:off x="4800600" y="2697480"/>
            <a:ext cx="2926080" cy="3108960"/>
          </a:xfrm>
          <a:prstGeom prst="rect">
            <a:avLst/>
          </a:prstGeom>
          <a:noFill/>
        </p:spPr>
        <p:txBody>
          <a:bodyPr wrap="square">
            <a:spAutoFit/>
          </a:bodyPr>
          <a:lstStyle/>
          <a:p>
            <a:pPr>
              <a:spcAft>
                <a:spcPts val="900"/>
              </a:spcAft>
            </a:pPr>
            <a:r>
              <a:rPr sz="1400" b="0">
                <a:solidFill>
                  <a:srgbClr val="161B26"/>
                </a:solidFill>
                <a:latin typeface="Arial"/>
              </a:rPr>
              <a:t>•  Build the Meridian Reporting Tree and Validate Runtime Boundaries (Finance)</a:t>
            </a:r>
          </a:p>
          <a:p>
            <a:pPr>
              <a:spcAft>
                <a:spcPts val="900"/>
              </a:spcAft>
            </a:pPr>
            <a:r>
              <a:rPr sz="1400" b="0">
                <a:solidFill>
                  <a:srgbClr val="161B26"/>
                </a:solidFill>
                <a:latin typeface="Arial"/>
              </a:rPr>
              <a:t>•  Meridian Finance Desk (Finance)</a:t>
            </a:r>
          </a:p>
        </p:txBody>
      </p:sp>
      <p:sp>
        <p:nvSpPr>
          <p:cNvPr id="15" name="Rectangle 14"/>
          <p:cNvSpPr/>
          <p:nvPr/>
        </p:nvSpPr>
        <p:spPr>
          <a:xfrm>
            <a:off x="8366760" y="1783080"/>
            <a:ext cx="3337560" cy="429768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ectangle 15"/>
          <p:cNvSpPr/>
          <p:nvPr/>
        </p:nvSpPr>
        <p:spPr>
          <a:xfrm>
            <a:off x="8366760" y="1783080"/>
            <a:ext cx="3337560" cy="109728"/>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8595360" y="2011680"/>
            <a:ext cx="2926080" cy="548640"/>
          </a:xfrm>
          <a:prstGeom prst="rect">
            <a:avLst/>
          </a:prstGeom>
          <a:noFill/>
        </p:spPr>
        <p:txBody>
          <a:bodyPr wrap="square" anchor="t">
            <a:spAutoFit/>
          </a:bodyPr>
          <a:lstStyle/>
          <a:p>
            <a:pPr algn="l">
              <a:spcAft>
                <a:spcPts val="400"/>
              </a:spcAft>
            </a:pPr>
            <a:r>
              <a:rPr sz="1900" b="1">
                <a:solidFill>
                  <a:srgbClr val="F59E0B"/>
                </a:solidFill>
                <a:latin typeface="Arial"/>
              </a:rPr>
              <a:t>—</a:t>
            </a:r>
          </a:p>
        </p:txBody>
      </p:sp>
      <p:sp>
        <p:nvSpPr>
          <p:cNvPr id="18" name="TextBox 17"/>
          <p:cNvSpPr txBox="1"/>
          <p:nvPr/>
        </p:nvSpPr>
        <p:spPr>
          <a:xfrm>
            <a:off x="8595360" y="2697480"/>
            <a:ext cx="2926080" cy="3108960"/>
          </a:xfrm>
          <a:prstGeom prst="rect">
            <a:avLst/>
          </a:prstGeom>
          <a:noFill/>
        </p:spPr>
        <p:txBody>
          <a:bodyPr wrap="square">
            <a:spAutoFit/>
          </a:bodyPr>
          <a:lstStyle/>
          <a:p>
            <a:pPr>
              <a:spcAft>
                <a:spcPts val="900"/>
              </a:spcAft>
            </a:pPr>
            <a:r>
              <a:rPr sz="1400" b="0">
                <a:solidFill>
                  <a:srgbClr val="161B26"/>
                </a:solidFill>
                <a:latin typeface="Arial"/>
              </a:rPr>
              <a:t>•  —</a:t>
            </a:r>
          </a:p>
        </p:txBody>
      </p:sp>
      <p:sp>
        <p:nvSpPr>
          <p:cNvPr id="19" name="TextBox 18"/>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Manage AI Agents with Paperclip (TGS-2023036646)  ·  TGS-2023036646</a:t>
            </a:r>
          </a:p>
        </p:txBody>
      </p:sp>
      <p:sp>
        <p:nvSpPr>
          <p:cNvPr id="20" name="TextBox 19"/>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21" name="TextBox 20"/>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50</a:t>
            </a:r>
          </a:p>
        </p:txBody>
      </p:sp>
    </p:spTree>
  </p:cSld>
  <p:clrMapOvr>
    <a:masterClrMapping/>
  </p:clrMapOvr>
  <p:transition spd="fast" advClick="1">
    <p:fade/>
  </p:transition>
</p:sld>
</file>

<file path=ppt/slides/slide5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10B981"/>
                </a:solidFill>
                <a:latin typeface="Arial"/>
              </a:rPr>
              <a:t>LAB 2  ·  HANDS-ON</a:t>
            </a:r>
          </a:p>
        </p:txBody>
      </p:sp>
      <p:sp>
        <p:nvSpPr>
          <p:cNvPr id="5" name="TextBox 4"/>
          <p:cNvSpPr txBox="1"/>
          <p:nvPr/>
        </p:nvSpPr>
        <p:spPr>
          <a:xfrm>
            <a:off x="777240" y="804672"/>
            <a:ext cx="10881360" cy="713232"/>
          </a:xfrm>
          <a:prstGeom prst="rect">
            <a:avLst/>
          </a:prstGeom>
          <a:noFill/>
        </p:spPr>
        <p:txBody>
          <a:bodyPr wrap="square" anchor="ctr">
            <a:spAutoFit/>
          </a:bodyPr>
          <a:lstStyle/>
          <a:p>
            <a:pPr algn="l">
              <a:spcAft>
                <a:spcPts val="400"/>
              </a:spcAft>
            </a:pPr>
            <a:r>
              <a:rPr sz="2200" b="1">
                <a:solidFill>
                  <a:srgbClr val="161B26"/>
                </a:solidFill>
                <a:latin typeface="Arial"/>
              </a:rPr>
              <a:t>Create the BrightFunnel Company, Mission and CEO (Digital Marketing)</a:t>
            </a:r>
          </a:p>
        </p:txBody>
      </p:sp>
      <p:sp>
        <p:nvSpPr>
          <p:cNvPr id="6" name="Rectangle 5"/>
          <p:cNvSpPr/>
          <p:nvPr/>
        </p:nvSpPr>
        <p:spPr>
          <a:xfrm>
            <a:off x="777240" y="155448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77240" y="1783080"/>
            <a:ext cx="10607040" cy="56692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777240" y="1783080"/>
            <a:ext cx="91440" cy="566928"/>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1051560" y="1783080"/>
            <a:ext cx="10241280" cy="566928"/>
          </a:xfrm>
          <a:prstGeom prst="rect">
            <a:avLst/>
          </a:prstGeom>
          <a:noFill/>
        </p:spPr>
        <p:txBody>
          <a:bodyPr wrap="square" anchor="ctr">
            <a:spAutoFit/>
          </a:bodyPr>
          <a:lstStyle/>
          <a:p>
            <a:pPr algn="l">
              <a:spcAft>
                <a:spcPts val="400"/>
              </a:spcAft>
            </a:pPr>
            <a:r>
              <a:rPr sz="1300" b="1">
                <a:solidFill>
                  <a:srgbClr val="7C3AED"/>
                </a:solidFill>
                <a:latin typeface="Arial"/>
              </a:rPr>
              <a:t>SIMULATED COMPANY  ·  BrightFunnel Marketing (Digital Marketing)</a:t>
            </a:r>
          </a:p>
        </p:txBody>
      </p:sp>
      <p:sp>
        <p:nvSpPr>
          <p:cNvPr id="10" name="TextBox 9"/>
          <p:cNvSpPr txBox="1"/>
          <p:nvPr/>
        </p:nvSpPr>
        <p:spPr>
          <a:xfrm>
            <a:off x="777240" y="2514600"/>
            <a:ext cx="10607040" cy="1298448"/>
          </a:xfrm>
          <a:prstGeom prst="rect">
            <a:avLst/>
          </a:prstGeom>
          <a:noFill/>
        </p:spPr>
        <p:txBody>
          <a:bodyPr wrap="square" anchor="t">
            <a:spAutoFit/>
          </a:bodyPr>
          <a:lstStyle/>
          <a:p>
            <a:pPr algn="l">
              <a:spcAft>
                <a:spcPts val="400"/>
              </a:spcAft>
            </a:pPr>
            <a:r>
              <a:rPr sz="1350" b="0">
                <a:solidFill>
                  <a:srgbClr val="161B26"/>
                </a:solidFill>
                <a:latin typeface="Arial"/>
              </a:rPr>
              <a:t>You stand up BrightFunnel Marketing — a one-person digital marketing company — as a Paperclip company. You write a MEASURABLE mission (a target, a metric and a boundary), hire the Marketing Director as CEO, connect one trainer-approved agent runtime, and set the company budget cap BEFORE any agent is allowed to run. The order matters: a company that gains a runtime before it gains a cap can spend without a ceiling.</a:t>
            </a:r>
          </a:p>
        </p:txBody>
      </p:sp>
      <p:sp>
        <p:nvSpPr>
          <p:cNvPr id="11" name="Rectangle 10"/>
          <p:cNvSpPr/>
          <p:nvPr/>
        </p:nvSpPr>
        <p:spPr>
          <a:xfrm>
            <a:off x="777240" y="3931920"/>
            <a:ext cx="6766560" cy="157276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ectangle 11"/>
          <p:cNvSpPr/>
          <p:nvPr/>
        </p:nvSpPr>
        <p:spPr>
          <a:xfrm>
            <a:off x="777240" y="3931920"/>
            <a:ext cx="6766560" cy="82296"/>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1005840" y="4069080"/>
            <a:ext cx="6309360" cy="329184"/>
          </a:xfrm>
          <a:prstGeom prst="rect">
            <a:avLst/>
          </a:prstGeom>
          <a:noFill/>
        </p:spPr>
        <p:txBody>
          <a:bodyPr wrap="square" anchor="t">
            <a:spAutoFit/>
          </a:bodyPr>
          <a:lstStyle/>
          <a:p>
            <a:pPr algn="l">
              <a:spcAft>
                <a:spcPts val="400"/>
              </a:spcAft>
            </a:pPr>
            <a:r>
              <a:rPr sz="1200" b="1">
                <a:solidFill>
                  <a:srgbClr val="10B981"/>
                </a:solidFill>
                <a:latin typeface="Arial"/>
              </a:rPr>
              <a:t>YOU'LL BUILD</a:t>
            </a:r>
          </a:p>
        </p:txBody>
      </p:sp>
      <p:sp>
        <p:nvSpPr>
          <p:cNvPr id="14" name="TextBox 13"/>
          <p:cNvSpPr txBox="1"/>
          <p:nvPr/>
        </p:nvSpPr>
        <p:spPr>
          <a:xfrm>
            <a:off x="1005840" y="4416552"/>
            <a:ext cx="6309360" cy="1005840"/>
          </a:xfrm>
          <a:prstGeom prst="rect">
            <a:avLst/>
          </a:prstGeom>
          <a:noFill/>
        </p:spPr>
        <p:txBody>
          <a:bodyPr wrap="square" anchor="t">
            <a:spAutoFit/>
          </a:bodyPr>
          <a:lstStyle/>
          <a:p>
            <a:pPr algn="l">
              <a:spcAft>
                <a:spcPts val="400"/>
              </a:spcAft>
            </a:pPr>
            <a:r>
              <a:rPr sz="1150" b="0">
                <a:solidFill>
                  <a:srgbClr val="161B26"/>
                </a:solidFill>
                <a:latin typeface="Arial"/>
              </a:rPr>
              <a:t>A BrightFunnel company in Paperclip with the exact synthetic mission, a hardened Marketing Director CEO on a verified adapter, a saved company budget cap, a dedicated workspace and a redacted configuration baseline in evidence/.</a:t>
            </a:r>
          </a:p>
        </p:txBody>
      </p:sp>
      <p:sp>
        <p:nvSpPr>
          <p:cNvPr id="15" name="Rectangle 14"/>
          <p:cNvSpPr/>
          <p:nvPr/>
        </p:nvSpPr>
        <p:spPr>
          <a:xfrm>
            <a:off x="7818120" y="3931920"/>
            <a:ext cx="3566160" cy="157276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ectangle 15"/>
          <p:cNvSpPr/>
          <p:nvPr/>
        </p:nvSpPr>
        <p:spPr>
          <a:xfrm>
            <a:off x="7818120" y="3931920"/>
            <a:ext cx="3566160" cy="82296"/>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8046720" y="4069080"/>
            <a:ext cx="3108960" cy="329184"/>
          </a:xfrm>
          <a:prstGeom prst="rect">
            <a:avLst/>
          </a:prstGeom>
          <a:noFill/>
        </p:spPr>
        <p:txBody>
          <a:bodyPr wrap="square" anchor="t">
            <a:spAutoFit/>
          </a:bodyPr>
          <a:lstStyle/>
          <a:p>
            <a:pPr algn="l">
              <a:spcAft>
                <a:spcPts val="400"/>
              </a:spcAft>
            </a:pPr>
            <a:r>
              <a:rPr sz="1200" b="1">
                <a:solidFill>
                  <a:srgbClr val="1F6FEB"/>
                </a:solidFill>
                <a:latin typeface="Arial"/>
              </a:rPr>
              <a:t>MAPS TO</a:t>
            </a:r>
          </a:p>
        </p:txBody>
      </p:sp>
      <p:sp>
        <p:nvSpPr>
          <p:cNvPr id="18" name="TextBox 17"/>
          <p:cNvSpPr txBox="1"/>
          <p:nvPr/>
        </p:nvSpPr>
        <p:spPr>
          <a:xfrm>
            <a:off x="8046720" y="4416552"/>
            <a:ext cx="3108960" cy="1005840"/>
          </a:xfrm>
          <a:prstGeom prst="rect">
            <a:avLst/>
          </a:prstGeom>
          <a:noFill/>
        </p:spPr>
        <p:txBody>
          <a:bodyPr wrap="square" anchor="t">
            <a:spAutoFit/>
          </a:bodyPr>
          <a:lstStyle/>
          <a:p>
            <a:pPr algn="l">
              <a:spcAft>
                <a:spcPts val="400"/>
              </a:spcAft>
            </a:pPr>
            <a:r>
              <a:rPr sz="1050" b="0">
                <a:solidFill>
                  <a:srgbClr val="161B26"/>
                </a:solidFill>
                <a:latin typeface="Arial"/>
              </a:rPr>
              <a:t>LO2: Create a goal-aligned Paperclip company with a measurable mission, a hardened CEO agent and enforced company-level caps.</a:t>
            </a:r>
          </a:p>
        </p:txBody>
      </p:sp>
      <p:sp>
        <p:nvSpPr>
          <p:cNvPr id="19" name="TextBox 18"/>
          <p:cNvSpPr txBox="1"/>
          <p:nvPr/>
        </p:nvSpPr>
        <p:spPr>
          <a:xfrm>
            <a:off x="777240" y="5669280"/>
            <a:ext cx="10607040" cy="640080"/>
          </a:xfrm>
          <a:prstGeom prst="rect">
            <a:avLst/>
          </a:prstGeom>
          <a:noFill/>
        </p:spPr>
        <p:txBody>
          <a:bodyPr wrap="square" anchor="t">
            <a:spAutoFit/>
          </a:bodyPr>
          <a:lstStyle/>
          <a:p>
            <a:pPr algn="l">
              <a:spcAft>
                <a:spcPts val="300"/>
              </a:spcAft>
            </a:pPr>
            <a:r>
              <a:rPr sz="1100" b="0">
                <a:solidFill>
                  <a:srgbClr val="5B6372"/>
                </a:solidFill>
                <a:latin typeface="Arial"/>
              </a:rPr>
              <a:t>Tools:  Paperclip onboarding wizard, Agent Configuration, one approved adapter runtime, text editor</a:t>
            </a:r>
          </a:p>
          <a:p>
            <a:pPr algn="l">
              <a:spcAft>
                <a:spcPts val="300"/>
              </a:spcAft>
            </a:pPr>
            <a:r>
              <a:rPr sz="1100" b="0">
                <a:solidFill>
                  <a:srgbClr val="5B6372"/>
                </a:solidFill>
                <a:latin typeface="Arial"/>
              </a:rPr>
              <a:t>Full step-by-step procedure: Learner Guide, Lab 2  ·  labs/ folder</a:t>
            </a:r>
          </a:p>
        </p:txBody>
      </p:sp>
      <p:sp>
        <p:nvSpPr>
          <p:cNvPr id="20" name="TextBox 19"/>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Manage AI Agents with Paperclip (TGS-2023036646)  ·  TGS-2023036646</a:t>
            </a:r>
          </a:p>
        </p:txBody>
      </p:sp>
      <p:sp>
        <p:nvSpPr>
          <p:cNvPr id="21" name="TextBox 20"/>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22" name="TextBox 21"/>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51</a:t>
            </a:r>
          </a:p>
        </p:txBody>
      </p:sp>
    </p:spTree>
  </p:cSld>
  <p:clrMapOvr>
    <a:masterClrMapping/>
  </p:clrMapOvr>
  <p:transition spd="fast" advClick="1">
    <p:fade/>
  </p:transition>
</p:sld>
</file>

<file path=ppt/slides/slide5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10B981"/>
                </a:solidFill>
                <a:latin typeface="Arial"/>
              </a:rPr>
              <a:t>LAB 2 · PROCESS MAP</a:t>
            </a:r>
          </a:p>
        </p:txBody>
      </p:sp>
      <p:sp>
        <p:nvSpPr>
          <p:cNvPr id="5" name="TextBox 4"/>
          <p:cNvSpPr txBox="1"/>
          <p:nvPr/>
        </p:nvSpPr>
        <p:spPr>
          <a:xfrm>
            <a:off x="777240" y="804672"/>
            <a:ext cx="10881360" cy="713232"/>
          </a:xfrm>
          <a:prstGeom prst="rect">
            <a:avLst/>
          </a:prstGeom>
          <a:noFill/>
        </p:spPr>
        <p:txBody>
          <a:bodyPr wrap="square" anchor="ctr">
            <a:spAutoFit/>
          </a:bodyPr>
          <a:lstStyle/>
          <a:p>
            <a:pPr algn="l">
              <a:spcAft>
                <a:spcPts val="400"/>
              </a:spcAft>
            </a:pPr>
            <a:r>
              <a:rPr sz="2900" b="1">
                <a:solidFill>
                  <a:srgbClr val="161B26"/>
                </a:solidFill>
                <a:latin typeface="Arial"/>
              </a:rPr>
              <a:t>How Lab 2 Runs</a:t>
            </a:r>
          </a:p>
        </p:txBody>
      </p:sp>
      <p:sp>
        <p:nvSpPr>
          <p:cNvPr id="6" name="Rectangle 5"/>
          <p:cNvSpPr/>
          <p:nvPr/>
        </p:nvSpPr>
        <p:spPr>
          <a:xfrm>
            <a:off x="777240" y="155448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ounded Rectangle 6"/>
          <p:cNvSpPr/>
          <p:nvPr/>
        </p:nvSpPr>
        <p:spPr>
          <a:xfrm>
            <a:off x="777240" y="2148840"/>
            <a:ext cx="1819656" cy="2148840"/>
          </a:xfrm>
          <a:prstGeom prst="roundRect">
            <a:avLst>
              <a:gd name="adj" fmla="val 10000"/>
            </a:avLst>
          </a:prstGeom>
          <a:solidFill>
            <a:srgbClr val="F5F8FC"/>
          </a:solidFill>
          <a:ln w="1587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777240" y="2148840"/>
            <a:ext cx="1819656" cy="100584"/>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Oval 8"/>
          <p:cNvSpPr/>
          <p:nvPr/>
        </p:nvSpPr>
        <p:spPr>
          <a:xfrm>
            <a:off x="1403604" y="2459736"/>
            <a:ext cx="566928" cy="566928"/>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1403604" y="2459736"/>
            <a:ext cx="566928" cy="566928"/>
          </a:xfrm>
          <a:prstGeom prst="rect">
            <a:avLst/>
          </a:prstGeom>
          <a:noFill/>
        </p:spPr>
        <p:txBody>
          <a:bodyPr wrap="square" anchor="ctr">
            <a:spAutoFit/>
          </a:bodyPr>
          <a:lstStyle/>
          <a:p>
            <a:pPr algn="ctr">
              <a:spcAft>
                <a:spcPts val="400"/>
              </a:spcAft>
            </a:pPr>
            <a:r>
              <a:rPr sz="2400" b="1">
                <a:solidFill>
                  <a:srgbClr val="FFFFFF"/>
                </a:solidFill>
                <a:latin typeface="Arial"/>
              </a:rPr>
              <a:t>1</a:t>
            </a:r>
          </a:p>
        </p:txBody>
      </p:sp>
      <p:sp>
        <p:nvSpPr>
          <p:cNvPr id="11" name="TextBox 10"/>
          <p:cNvSpPr txBox="1"/>
          <p:nvPr/>
        </p:nvSpPr>
        <p:spPr>
          <a:xfrm>
            <a:off x="905256" y="3081528"/>
            <a:ext cx="1563624" cy="786384"/>
          </a:xfrm>
          <a:prstGeom prst="rect">
            <a:avLst/>
          </a:prstGeom>
          <a:noFill/>
        </p:spPr>
        <p:txBody>
          <a:bodyPr wrap="square" anchor="ctr">
            <a:spAutoFit/>
          </a:bodyPr>
          <a:lstStyle/>
          <a:p>
            <a:pPr algn="ctr">
              <a:spcAft>
                <a:spcPts val="0"/>
              </a:spcAft>
            </a:pPr>
            <a:r>
              <a:rPr sz="1300" b="1">
                <a:solidFill>
                  <a:srgbClr val="161B26"/>
                </a:solidFill>
                <a:latin typeface="Arial"/>
              </a:rPr>
              <a:t>Create the company</a:t>
            </a:r>
          </a:p>
        </p:txBody>
      </p:sp>
      <p:sp>
        <p:nvSpPr>
          <p:cNvPr id="12" name="TextBox 11"/>
          <p:cNvSpPr txBox="1"/>
          <p:nvPr/>
        </p:nvSpPr>
        <p:spPr>
          <a:xfrm>
            <a:off x="850392" y="3584448"/>
            <a:ext cx="1673352" cy="603504"/>
          </a:xfrm>
          <a:prstGeom prst="rect">
            <a:avLst/>
          </a:prstGeom>
          <a:noFill/>
        </p:spPr>
        <p:txBody>
          <a:bodyPr wrap="square" anchor="ctr">
            <a:spAutoFit/>
          </a:bodyPr>
          <a:lstStyle/>
          <a:p>
            <a:pPr algn="ctr">
              <a:spcAft>
                <a:spcPts val="0"/>
              </a:spcAft>
            </a:pPr>
            <a:r>
              <a:rPr sz="900" b="0">
                <a:solidFill>
                  <a:srgbClr val="5B6372"/>
                </a:solidFill>
                <a:latin typeface="Arial"/>
              </a:rPr>
              <a:t>the exact measurable mission</a:t>
            </a:r>
          </a:p>
        </p:txBody>
      </p:sp>
      <p:cxnSp>
        <p:nvCxnSpPr>
          <p:cNvPr id="13" name="Connector 12"/>
          <p:cNvCxnSpPr/>
          <p:nvPr/>
        </p:nvCxnSpPr>
        <p:spPr>
          <a:xfrm>
            <a:off x="2651760" y="3223260"/>
            <a:ext cx="274320" cy="0"/>
          </a:xfrm>
          <a:prstGeom prst="line">
            <a:avLst/>
          </a:prstGeom>
          <a:ln w="25400">
            <a:solidFill>
              <a:srgbClr val="10B981"/>
            </a:solidFill>
            <a:tailEnd type="triangle" w="med" len="med"/>
          </a:ln>
        </p:spPr>
        <p:style>
          <a:lnRef idx="2">
            <a:schemeClr val="accent1"/>
          </a:lnRef>
          <a:fillRef idx="0">
            <a:schemeClr val="accent1"/>
          </a:fillRef>
          <a:effectRef idx="1">
            <a:schemeClr val="accent1"/>
          </a:effectRef>
          <a:fontRef idx="minor">
            <a:schemeClr val="tx1"/>
          </a:fontRef>
        </p:style>
      </p:cxnSp>
      <p:sp>
        <p:nvSpPr>
          <p:cNvPr id="14" name="Rounded Rectangle 13"/>
          <p:cNvSpPr/>
          <p:nvPr/>
        </p:nvSpPr>
        <p:spPr>
          <a:xfrm>
            <a:off x="2980944" y="2148840"/>
            <a:ext cx="1819656" cy="2148840"/>
          </a:xfrm>
          <a:prstGeom prst="roundRect">
            <a:avLst>
              <a:gd name="adj" fmla="val 10000"/>
            </a:avLst>
          </a:prstGeom>
          <a:solidFill>
            <a:srgbClr val="F5F8FC"/>
          </a:solidFill>
          <a:ln w="1587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2980944" y="2148840"/>
            <a:ext cx="1819656" cy="100584"/>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Oval 15"/>
          <p:cNvSpPr/>
          <p:nvPr/>
        </p:nvSpPr>
        <p:spPr>
          <a:xfrm>
            <a:off x="3607308" y="2459736"/>
            <a:ext cx="566928" cy="566928"/>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3607308" y="2459736"/>
            <a:ext cx="566928" cy="566928"/>
          </a:xfrm>
          <a:prstGeom prst="rect">
            <a:avLst/>
          </a:prstGeom>
          <a:noFill/>
        </p:spPr>
        <p:txBody>
          <a:bodyPr wrap="square" anchor="ctr">
            <a:spAutoFit/>
          </a:bodyPr>
          <a:lstStyle/>
          <a:p>
            <a:pPr algn="ctr">
              <a:spcAft>
                <a:spcPts val="400"/>
              </a:spcAft>
            </a:pPr>
            <a:r>
              <a:rPr sz="2400" b="1">
                <a:solidFill>
                  <a:srgbClr val="FFFFFF"/>
                </a:solidFill>
                <a:latin typeface="Arial"/>
              </a:rPr>
              <a:t>2</a:t>
            </a:r>
          </a:p>
        </p:txBody>
      </p:sp>
      <p:sp>
        <p:nvSpPr>
          <p:cNvPr id="18" name="TextBox 17"/>
          <p:cNvSpPr txBox="1"/>
          <p:nvPr/>
        </p:nvSpPr>
        <p:spPr>
          <a:xfrm>
            <a:off x="3108960" y="3081528"/>
            <a:ext cx="1563624" cy="786384"/>
          </a:xfrm>
          <a:prstGeom prst="rect">
            <a:avLst/>
          </a:prstGeom>
          <a:noFill/>
        </p:spPr>
        <p:txBody>
          <a:bodyPr wrap="square" anchor="ctr">
            <a:spAutoFit/>
          </a:bodyPr>
          <a:lstStyle/>
          <a:p>
            <a:pPr algn="ctr">
              <a:spcAft>
                <a:spcPts val="0"/>
              </a:spcAft>
            </a:pPr>
            <a:r>
              <a:rPr sz="1300" b="1">
                <a:solidFill>
                  <a:srgbClr val="161B26"/>
                </a:solidFill>
                <a:latin typeface="Arial"/>
              </a:rPr>
              <a:t>Set the company cap</a:t>
            </a:r>
          </a:p>
        </p:txBody>
      </p:sp>
      <p:sp>
        <p:nvSpPr>
          <p:cNvPr id="19" name="TextBox 18"/>
          <p:cNvSpPr txBox="1"/>
          <p:nvPr/>
        </p:nvSpPr>
        <p:spPr>
          <a:xfrm>
            <a:off x="3054096" y="3584448"/>
            <a:ext cx="1673352" cy="603504"/>
          </a:xfrm>
          <a:prstGeom prst="rect">
            <a:avLst/>
          </a:prstGeom>
          <a:noFill/>
        </p:spPr>
        <p:txBody>
          <a:bodyPr wrap="square" anchor="ctr">
            <a:spAutoFit/>
          </a:bodyPr>
          <a:lstStyle/>
          <a:p>
            <a:pPr algn="ctr">
              <a:spcAft>
                <a:spcPts val="0"/>
              </a:spcAft>
            </a:pPr>
            <a:r>
              <a:rPr sz="900" b="0">
                <a:solidFill>
                  <a:srgbClr val="5B6372"/>
                </a:solidFill>
                <a:latin typeface="Arial"/>
              </a:rPr>
              <a:t>the outermost ring, before hiring</a:t>
            </a:r>
          </a:p>
        </p:txBody>
      </p:sp>
      <p:cxnSp>
        <p:nvCxnSpPr>
          <p:cNvPr id="20" name="Connector 19"/>
          <p:cNvCxnSpPr/>
          <p:nvPr/>
        </p:nvCxnSpPr>
        <p:spPr>
          <a:xfrm>
            <a:off x="4855464" y="3223260"/>
            <a:ext cx="274320" cy="0"/>
          </a:xfrm>
          <a:prstGeom prst="line">
            <a:avLst/>
          </a:prstGeom>
          <a:ln w="25400">
            <a:solidFill>
              <a:srgbClr val="10B981"/>
            </a:solidFill>
            <a:tailEnd type="triangle" w="med" len="med"/>
          </a:ln>
        </p:spPr>
        <p:style>
          <a:lnRef idx="2">
            <a:schemeClr val="accent1"/>
          </a:lnRef>
          <a:fillRef idx="0">
            <a:schemeClr val="accent1"/>
          </a:fillRef>
          <a:effectRef idx="1">
            <a:schemeClr val="accent1"/>
          </a:effectRef>
          <a:fontRef idx="minor">
            <a:schemeClr val="tx1"/>
          </a:fontRef>
        </p:style>
      </p:cxnSp>
      <p:sp>
        <p:nvSpPr>
          <p:cNvPr id="21" name="Rounded Rectangle 20"/>
          <p:cNvSpPr/>
          <p:nvPr/>
        </p:nvSpPr>
        <p:spPr>
          <a:xfrm>
            <a:off x="5184648" y="2148840"/>
            <a:ext cx="1819656" cy="2148840"/>
          </a:xfrm>
          <a:prstGeom prst="roundRect">
            <a:avLst>
              <a:gd name="adj" fmla="val 10000"/>
            </a:avLst>
          </a:prstGeom>
          <a:solidFill>
            <a:srgbClr val="F5F8FC"/>
          </a:solidFill>
          <a:ln w="1587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Rectangle 21"/>
          <p:cNvSpPr/>
          <p:nvPr/>
        </p:nvSpPr>
        <p:spPr>
          <a:xfrm>
            <a:off x="5184648" y="2148840"/>
            <a:ext cx="1819656" cy="100584"/>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Oval 22"/>
          <p:cNvSpPr/>
          <p:nvPr/>
        </p:nvSpPr>
        <p:spPr>
          <a:xfrm>
            <a:off x="5811012" y="2459736"/>
            <a:ext cx="566928" cy="566928"/>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5811012" y="2459736"/>
            <a:ext cx="566928" cy="566928"/>
          </a:xfrm>
          <a:prstGeom prst="rect">
            <a:avLst/>
          </a:prstGeom>
          <a:noFill/>
        </p:spPr>
        <p:txBody>
          <a:bodyPr wrap="square" anchor="ctr">
            <a:spAutoFit/>
          </a:bodyPr>
          <a:lstStyle/>
          <a:p>
            <a:pPr algn="ctr">
              <a:spcAft>
                <a:spcPts val="400"/>
              </a:spcAft>
            </a:pPr>
            <a:r>
              <a:rPr sz="2400" b="1">
                <a:solidFill>
                  <a:srgbClr val="FFFFFF"/>
                </a:solidFill>
                <a:latin typeface="Arial"/>
              </a:rPr>
              <a:t>3</a:t>
            </a:r>
          </a:p>
        </p:txBody>
      </p:sp>
      <p:sp>
        <p:nvSpPr>
          <p:cNvPr id="25" name="TextBox 24"/>
          <p:cNvSpPr txBox="1"/>
          <p:nvPr/>
        </p:nvSpPr>
        <p:spPr>
          <a:xfrm>
            <a:off x="5312664" y="3081528"/>
            <a:ext cx="1563624" cy="786384"/>
          </a:xfrm>
          <a:prstGeom prst="rect">
            <a:avLst/>
          </a:prstGeom>
          <a:noFill/>
        </p:spPr>
        <p:txBody>
          <a:bodyPr wrap="square" anchor="ctr">
            <a:spAutoFit/>
          </a:bodyPr>
          <a:lstStyle/>
          <a:p>
            <a:pPr algn="ctr">
              <a:spcAft>
                <a:spcPts val="0"/>
              </a:spcAft>
            </a:pPr>
            <a:r>
              <a:rPr sz="1300" b="1">
                <a:solidFill>
                  <a:srgbClr val="161B26"/>
                </a:solidFill>
                <a:latin typeface="Arial"/>
              </a:rPr>
              <a:t>Hire the CEO</a:t>
            </a:r>
          </a:p>
        </p:txBody>
      </p:sp>
      <p:sp>
        <p:nvSpPr>
          <p:cNvPr id="26" name="TextBox 25"/>
          <p:cNvSpPr txBox="1"/>
          <p:nvPr/>
        </p:nvSpPr>
        <p:spPr>
          <a:xfrm>
            <a:off x="5257800" y="3584448"/>
            <a:ext cx="1673352" cy="603504"/>
          </a:xfrm>
          <a:prstGeom prst="rect">
            <a:avLst/>
          </a:prstGeom>
          <a:noFill/>
        </p:spPr>
        <p:txBody>
          <a:bodyPr wrap="square" anchor="ctr">
            <a:spAutoFit/>
          </a:bodyPr>
          <a:lstStyle/>
          <a:p>
            <a:pPr algn="ctr">
              <a:spcAft>
                <a:spcPts val="0"/>
              </a:spcAft>
            </a:pPr>
            <a:r>
              <a:rPr sz="900" b="0">
                <a:solidFill>
                  <a:srgbClr val="5B6372"/>
                </a:solidFill>
                <a:latin typeface="Arial"/>
              </a:rPr>
              <a:t>Marketing Director owns alignment</a:t>
            </a:r>
          </a:p>
        </p:txBody>
      </p:sp>
      <p:cxnSp>
        <p:nvCxnSpPr>
          <p:cNvPr id="27" name="Connector 26"/>
          <p:cNvCxnSpPr/>
          <p:nvPr/>
        </p:nvCxnSpPr>
        <p:spPr>
          <a:xfrm>
            <a:off x="7059168" y="3223260"/>
            <a:ext cx="274320" cy="0"/>
          </a:xfrm>
          <a:prstGeom prst="line">
            <a:avLst/>
          </a:prstGeom>
          <a:ln w="25400">
            <a:solidFill>
              <a:srgbClr val="10B981"/>
            </a:solidFill>
            <a:tailEnd type="triangle" w="med" len="med"/>
          </a:ln>
        </p:spPr>
        <p:style>
          <a:lnRef idx="2">
            <a:schemeClr val="accent1"/>
          </a:lnRef>
          <a:fillRef idx="0">
            <a:schemeClr val="accent1"/>
          </a:fillRef>
          <a:effectRef idx="1">
            <a:schemeClr val="accent1"/>
          </a:effectRef>
          <a:fontRef idx="minor">
            <a:schemeClr val="tx1"/>
          </a:fontRef>
        </p:style>
      </p:cxnSp>
      <p:sp>
        <p:nvSpPr>
          <p:cNvPr id="28" name="Rounded Rectangle 27"/>
          <p:cNvSpPr/>
          <p:nvPr/>
        </p:nvSpPr>
        <p:spPr>
          <a:xfrm>
            <a:off x="7388352" y="2148840"/>
            <a:ext cx="1819656" cy="2148840"/>
          </a:xfrm>
          <a:prstGeom prst="roundRect">
            <a:avLst>
              <a:gd name="adj" fmla="val 10000"/>
            </a:avLst>
          </a:prstGeom>
          <a:solidFill>
            <a:srgbClr val="F5F8FC"/>
          </a:solidFill>
          <a:ln w="1587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Rectangle 28"/>
          <p:cNvSpPr/>
          <p:nvPr/>
        </p:nvSpPr>
        <p:spPr>
          <a:xfrm>
            <a:off x="7388352" y="2148840"/>
            <a:ext cx="1819656" cy="100584"/>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Oval 29"/>
          <p:cNvSpPr/>
          <p:nvPr/>
        </p:nvSpPr>
        <p:spPr>
          <a:xfrm>
            <a:off x="8014716" y="2459736"/>
            <a:ext cx="566928" cy="566928"/>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TextBox 30"/>
          <p:cNvSpPr txBox="1"/>
          <p:nvPr/>
        </p:nvSpPr>
        <p:spPr>
          <a:xfrm>
            <a:off x="8014716" y="2459736"/>
            <a:ext cx="566928" cy="566928"/>
          </a:xfrm>
          <a:prstGeom prst="rect">
            <a:avLst/>
          </a:prstGeom>
          <a:noFill/>
        </p:spPr>
        <p:txBody>
          <a:bodyPr wrap="square" anchor="ctr">
            <a:spAutoFit/>
          </a:bodyPr>
          <a:lstStyle/>
          <a:p>
            <a:pPr algn="ctr">
              <a:spcAft>
                <a:spcPts val="400"/>
              </a:spcAft>
            </a:pPr>
            <a:r>
              <a:rPr sz="2400" b="1">
                <a:solidFill>
                  <a:srgbClr val="FFFFFF"/>
                </a:solidFill>
                <a:latin typeface="Arial"/>
              </a:rPr>
              <a:t>4</a:t>
            </a:r>
          </a:p>
        </p:txBody>
      </p:sp>
      <p:sp>
        <p:nvSpPr>
          <p:cNvPr id="32" name="TextBox 31"/>
          <p:cNvSpPr txBox="1"/>
          <p:nvPr/>
        </p:nvSpPr>
        <p:spPr>
          <a:xfrm>
            <a:off x="7516368" y="3081528"/>
            <a:ext cx="1563624" cy="786384"/>
          </a:xfrm>
          <a:prstGeom prst="rect">
            <a:avLst/>
          </a:prstGeom>
          <a:noFill/>
        </p:spPr>
        <p:txBody>
          <a:bodyPr wrap="square" anchor="ctr">
            <a:spAutoFit/>
          </a:bodyPr>
          <a:lstStyle/>
          <a:p>
            <a:pPr algn="ctr">
              <a:spcAft>
                <a:spcPts val="0"/>
              </a:spcAft>
            </a:pPr>
            <a:r>
              <a:rPr sz="1300" b="1">
                <a:solidFill>
                  <a:srgbClr val="161B26"/>
                </a:solidFill>
                <a:latin typeface="Arial"/>
              </a:rPr>
              <a:t>Write the role contract</a:t>
            </a:r>
          </a:p>
        </p:txBody>
      </p:sp>
      <p:sp>
        <p:nvSpPr>
          <p:cNvPr id="33" name="TextBox 32"/>
          <p:cNvSpPr txBox="1"/>
          <p:nvPr/>
        </p:nvSpPr>
        <p:spPr>
          <a:xfrm>
            <a:off x="7461504" y="3584448"/>
            <a:ext cx="1673352" cy="603504"/>
          </a:xfrm>
          <a:prstGeom prst="rect">
            <a:avLst/>
          </a:prstGeom>
          <a:noFill/>
        </p:spPr>
        <p:txBody>
          <a:bodyPr wrap="square" anchor="ctr">
            <a:spAutoFit/>
          </a:bodyPr>
          <a:lstStyle/>
          <a:p>
            <a:pPr algn="ctr">
              <a:spcAft>
                <a:spcPts val="0"/>
              </a:spcAft>
            </a:pPr>
            <a:r>
              <a:rPr sz="900" b="0">
                <a:solidFill>
                  <a:srgbClr val="5B6372"/>
                </a:solidFill>
                <a:latin typeface="Arial"/>
              </a:rPr>
              <a:t>purpose, inputs, schema, exclusions</a:t>
            </a:r>
          </a:p>
        </p:txBody>
      </p:sp>
      <p:cxnSp>
        <p:nvCxnSpPr>
          <p:cNvPr id="34" name="Connector 33"/>
          <p:cNvCxnSpPr/>
          <p:nvPr/>
        </p:nvCxnSpPr>
        <p:spPr>
          <a:xfrm>
            <a:off x="9262872" y="3223260"/>
            <a:ext cx="274320" cy="0"/>
          </a:xfrm>
          <a:prstGeom prst="line">
            <a:avLst/>
          </a:prstGeom>
          <a:ln w="25400">
            <a:solidFill>
              <a:srgbClr val="10B981"/>
            </a:solidFill>
            <a:tailEnd type="triangle" w="med" len="med"/>
          </a:ln>
        </p:spPr>
        <p:style>
          <a:lnRef idx="2">
            <a:schemeClr val="accent1"/>
          </a:lnRef>
          <a:fillRef idx="0">
            <a:schemeClr val="accent1"/>
          </a:fillRef>
          <a:effectRef idx="1">
            <a:schemeClr val="accent1"/>
          </a:effectRef>
          <a:fontRef idx="minor">
            <a:schemeClr val="tx1"/>
          </a:fontRef>
        </p:style>
      </p:cxnSp>
      <p:sp>
        <p:nvSpPr>
          <p:cNvPr id="35" name="Rounded Rectangle 34"/>
          <p:cNvSpPr/>
          <p:nvPr/>
        </p:nvSpPr>
        <p:spPr>
          <a:xfrm>
            <a:off x="9592056" y="2148840"/>
            <a:ext cx="1819656" cy="2148840"/>
          </a:xfrm>
          <a:prstGeom prst="roundRect">
            <a:avLst>
              <a:gd name="adj" fmla="val 10000"/>
            </a:avLst>
          </a:prstGeom>
          <a:solidFill>
            <a:srgbClr val="F5F8FC"/>
          </a:solidFill>
          <a:ln w="1587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 name="Rectangle 35"/>
          <p:cNvSpPr/>
          <p:nvPr/>
        </p:nvSpPr>
        <p:spPr>
          <a:xfrm>
            <a:off x="9592056" y="2148840"/>
            <a:ext cx="1819656" cy="100584"/>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 name="Oval 36"/>
          <p:cNvSpPr/>
          <p:nvPr/>
        </p:nvSpPr>
        <p:spPr>
          <a:xfrm>
            <a:off x="10218420" y="2459736"/>
            <a:ext cx="566928" cy="566928"/>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 name="TextBox 37"/>
          <p:cNvSpPr txBox="1"/>
          <p:nvPr/>
        </p:nvSpPr>
        <p:spPr>
          <a:xfrm>
            <a:off x="10218420" y="2459736"/>
            <a:ext cx="566928" cy="566928"/>
          </a:xfrm>
          <a:prstGeom prst="rect">
            <a:avLst/>
          </a:prstGeom>
          <a:noFill/>
        </p:spPr>
        <p:txBody>
          <a:bodyPr wrap="square" anchor="ctr">
            <a:spAutoFit/>
          </a:bodyPr>
          <a:lstStyle/>
          <a:p>
            <a:pPr algn="ctr">
              <a:spcAft>
                <a:spcPts val="400"/>
              </a:spcAft>
            </a:pPr>
            <a:r>
              <a:rPr sz="2400" b="1">
                <a:solidFill>
                  <a:srgbClr val="FFFFFF"/>
                </a:solidFill>
                <a:latin typeface="Arial"/>
              </a:rPr>
              <a:t>5</a:t>
            </a:r>
          </a:p>
        </p:txBody>
      </p:sp>
      <p:sp>
        <p:nvSpPr>
          <p:cNvPr id="39" name="TextBox 38"/>
          <p:cNvSpPr txBox="1"/>
          <p:nvPr/>
        </p:nvSpPr>
        <p:spPr>
          <a:xfrm>
            <a:off x="9720072" y="3081528"/>
            <a:ext cx="1563624" cy="786384"/>
          </a:xfrm>
          <a:prstGeom prst="rect">
            <a:avLst/>
          </a:prstGeom>
          <a:noFill/>
        </p:spPr>
        <p:txBody>
          <a:bodyPr wrap="square" anchor="ctr">
            <a:spAutoFit/>
          </a:bodyPr>
          <a:lstStyle/>
          <a:p>
            <a:pPr algn="ctr">
              <a:spcAft>
                <a:spcPts val="0"/>
              </a:spcAft>
            </a:pPr>
            <a:r>
              <a:rPr sz="1300" b="1">
                <a:solidFill>
                  <a:srgbClr val="161B26"/>
                </a:solidFill>
                <a:latin typeface="Arial"/>
              </a:rPr>
              <a:t>Confine + verify runtime</a:t>
            </a:r>
          </a:p>
        </p:txBody>
      </p:sp>
      <p:sp>
        <p:nvSpPr>
          <p:cNvPr id="40" name="TextBox 39"/>
          <p:cNvSpPr txBox="1"/>
          <p:nvPr/>
        </p:nvSpPr>
        <p:spPr>
          <a:xfrm>
            <a:off x="9665208" y="3584448"/>
            <a:ext cx="1673352" cy="603504"/>
          </a:xfrm>
          <a:prstGeom prst="rect">
            <a:avLst/>
          </a:prstGeom>
          <a:noFill/>
        </p:spPr>
        <p:txBody>
          <a:bodyPr wrap="square" anchor="ctr">
            <a:spAutoFit/>
          </a:bodyPr>
          <a:lstStyle/>
          <a:p>
            <a:pPr algn="ctr">
              <a:spcAft>
                <a:spcPts val="0"/>
              </a:spcAft>
            </a:pPr>
            <a:r>
              <a:rPr sz="900" b="0">
                <a:solidFill>
                  <a:srgbClr val="5B6372"/>
                </a:solidFill>
                <a:latin typeface="Arial"/>
              </a:rPr>
              <a:t>own workspace, then agent cap</a:t>
            </a:r>
          </a:p>
        </p:txBody>
      </p:sp>
      <p:sp>
        <p:nvSpPr>
          <p:cNvPr id="41" name="Rectangle 40"/>
          <p:cNvSpPr/>
          <p:nvPr/>
        </p:nvSpPr>
        <p:spPr>
          <a:xfrm>
            <a:off x="777240" y="4608576"/>
            <a:ext cx="10634472" cy="105156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2" name="Rectangle 41"/>
          <p:cNvSpPr/>
          <p:nvPr/>
        </p:nvSpPr>
        <p:spPr>
          <a:xfrm>
            <a:off x="777240" y="4608576"/>
            <a:ext cx="100584" cy="105156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3" name="TextBox 42"/>
          <p:cNvSpPr txBox="1"/>
          <p:nvPr/>
        </p:nvSpPr>
        <p:spPr>
          <a:xfrm>
            <a:off x="1051560" y="4718304"/>
            <a:ext cx="10149840" cy="292608"/>
          </a:xfrm>
          <a:prstGeom prst="rect">
            <a:avLst/>
          </a:prstGeom>
          <a:noFill/>
        </p:spPr>
        <p:txBody>
          <a:bodyPr wrap="square" anchor="t">
            <a:spAutoFit/>
          </a:bodyPr>
          <a:lstStyle/>
          <a:p>
            <a:pPr algn="l">
              <a:spcAft>
                <a:spcPts val="400"/>
              </a:spcAft>
            </a:pPr>
            <a:r>
              <a:rPr sz="1100" b="1">
                <a:solidFill>
                  <a:srgbClr val="10B981"/>
                </a:solidFill>
                <a:latin typeface="Arial"/>
              </a:rPr>
              <a:t>THE POINT</a:t>
            </a:r>
          </a:p>
        </p:txBody>
      </p:sp>
      <p:sp>
        <p:nvSpPr>
          <p:cNvPr id="44" name="TextBox 43"/>
          <p:cNvSpPr txBox="1"/>
          <p:nvPr/>
        </p:nvSpPr>
        <p:spPr>
          <a:xfrm>
            <a:off x="1051560" y="5029200"/>
            <a:ext cx="10149840" cy="566928"/>
          </a:xfrm>
          <a:prstGeom prst="rect">
            <a:avLst/>
          </a:prstGeom>
          <a:noFill/>
        </p:spPr>
        <p:txBody>
          <a:bodyPr wrap="square" anchor="t">
            <a:spAutoFit/>
          </a:bodyPr>
          <a:lstStyle/>
          <a:p>
            <a:pPr algn="l">
              <a:spcAft>
                <a:spcPts val="400"/>
              </a:spcAft>
            </a:pPr>
            <a:r>
              <a:rPr sz="1300" b="0">
                <a:solidFill>
                  <a:srgbClr val="161B26"/>
                </a:solidFill>
                <a:latin typeface="Arial"/>
              </a:rPr>
              <a:t>LO2: Create a goal-aligned Paperclip company with a measurable mission, a hardened CEO agent and enforced company-level caps.</a:t>
            </a:r>
          </a:p>
        </p:txBody>
      </p:sp>
      <p:sp>
        <p:nvSpPr>
          <p:cNvPr id="95" name="TextBox 94"/>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Manage AI Agents with Paperclip (TGS-2023036646)  ·  TGS-2023036646</a:t>
            </a:r>
          </a:p>
        </p:txBody>
      </p:sp>
      <p:sp>
        <p:nvSpPr>
          <p:cNvPr id="96" name="TextBox 95"/>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97" name="TextBox 96"/>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52</a:t>
            </a:r>
          </a:p>
        </p:txBody>
      </p:sp>
    </p:spTree>
  </p:cSld>
  <p:clrMapOvr>
    <a:masterClrMapping/>
  </p:clrMapOvr>
  <p:timing>
    <p:tnLst>
      <p:par>
        <p:cTn id="1" dur="indefinite" restart="never" nodeType="tmRoot">
          <p:childTnLst>
            <p:seq concurrent="1" nextAc="seek">
              <p:cTn id="2" dur="indefinite" nodeType="mainSeq">
                <p:childTnLst>
                  <p:par>
                    <p:cTn id="10" fill="hold">
                      <p:stCondLst>
                        <p:cond delay="indefinite"/>
                      </p:stCondLst>
                      <p:childTnLst>
                        <p:par>
                          <p:cTn id="11" fill="hold">
                            <p:stCondLst>
                              <p:cond delay="0"/>
                            </p:stCondLst>
                            <p:childTnLst>
                              <p:par>
                                <p:cTn id="12" presetID="1" presetClass="entr" presetSubtype="0" fill="hold" nodeType="clickEffect">
                                  <p:stCondLst>
                                    <p:cond delay="0"/>
                                  </p:stCondLst>
                                  <p:childTnLst>
                                    <p:set>
                                      <p:cBhvr>
                                        <p:cTn id="13" dur="1" fill="hold">
                                          <p:stCondLst>
                                            <p:cond delay="0"/>
                                          </p:stCondLst>
                                        </p:cTn>
                                        <p:tgtEl>
                                          <p:spTgt spid="7"/>
                                        </p:tgtEl>
                                        <p:attrNameLst>
                                          <p:attrName>style.visibility</p:attrName>
                                        </p:attrNameLst>
                                      </p:cBhvr>
                                      <p:to>
                                        <p:strVal val="visible"/>
                                      </p:to>
                                    </p:set>
                                    <p:animEffect transition="in" filter="fade">
                                      <p:cBhvr>
                                        <p:cTn id="14" dur="400"/>
                                        <p:tgtEl>
                                          <p:spTgt spid="7"/>
                                        </p:tgtEl>
                                      </p:cBhvr>
                                    </p:animEffect>
                                  </p:childTnLst>
                                </p:cTn>
                              </p:par>
                            </p:childTnLst>
                          </p:cTn>
                        </p:par>
                      </p:childTnLst>
                    </p:cTn>
                  </p:par>
                  <p:par>
                    <p:cTn id="20" fill="hold">
                      <p:stCondLst>
                        <p:cond delay="indefinite"/>
                      </p:stCondLst>
                      <p:childTnLst>
                        <p:par>
                          <p:cTn id="21" fill="hold">
                            <p:stCondLst>
                              <p:cond delay="0"/>
                            </p:stCondLst>
                            <p:childTnLst>
                              <p:par>
                                <p:cTn id="22" presetID="1" presetClass="entr" presetSubtype="0" fill="hold" nodeType="afterEffect">
                                  <p:stCondLst>
                                    <p:cond delay="0"/>
                                  </p:stCondLst>
                                  <p:childTnLst>
                                    <p:set>
                                      <p:cBhvr>
                                        <p:cTn id="23" dur="1" fill="hold">
                                          <p:stCondLst>
                                            <p:cond delay="0"/>
                                          </p:stCondLst>
                                        </p:cTn>
                                        <p:tgtEl>
                                          <p:spTgt spid="13"/>
                                        </p:tgtEl>
                                        <p:attrNameLst>
                                          <p:attrName>style.visibility</p:attrName>
                                        </p:attrNameLst>
                                      </p:cBhvr>
                                      <p:to>
                                        <p:strVal val="visible"/>
                                      </p:to>
                                    </p:set>
                                    <p:animEffect transition="in" filter="fade">
                                      <p:cBhvr>
                                        <p:cTn id="24" dur="400"/>
                                        <p:tgtEl>
                                          <p:spTgt spid="13"/>
                                        </p:tgtEl>
                                      </p:cBhvr>
                                    </p:animEffect>
                                  </p:childTnLst>
                                </p:cTn>
                              </p:par>
                            </p:childTnLst>
                          </p:cTn>
                        </p:par>
                      </p:childTnLst>
                    </p:cTn>
                  </p:par>
                  <p:par>
                    <p:cTn id="30" fill="hold">
                      <p:stCondLst>
                        <p:cond delay="indefinite"/>
                      </p:stCondLst>
                      <p:childTnLst>
                        <p:par>
                          <p:cTn id="31" fill="hold">
                            <p:stCondLst>
                              <p:cond delay="0"/>
                            </p:stCondLst>
                            <p:childTnLst>
                              <p:par>
                                <p:cTn id="32" presetID="1" presetClass="entr" presetSubtype="0" fill="hold" nodeType="afterEffect">
                                  <p:stCondLst>
                                    <p:cond delay="0"/>
                                  </p:stCondLst>
                                  <p:childTnLst>
                                    <p:set>
                                      <p:cBhvr>
                                        <p:cTn id="33" dur="1" fill="hold">
                                          <p:stCondLst>
                                            <p:cond delay="0"/>
                                          </p:stCondLst>
                                        </p:cTn>
                                        <p:tgtEl>
                                          <p:spTgt spid="14"/>
                                        </p:tgtEl>
                                        <p:attrNameLst>
                                          <p:attrName>style.visibility</p:attrName>
                                        </p:attrNameLst>
                                      </p:cBhvr>
                                      <p:to>
                                        <p:strVal val="visible"/>
                                      </p:to>
                                    </p:set>
                                    <p:animEffect transition="in" filter="fade">
                                      <p:cBhvr>
                                        <p:cTn id="34" dur="400"/>
                                        <p:tgtEl>
                                          <p:spTgt spid="14"/>
                                        </p:tgtEl>
                                      </p:cBhvr>
                                    </p:animEffect>
                                  </p:childTnLst>
                                </p:cTn>
                              </p:par>
                            </p:childTnLst>
                          </p:cTn>
                        </p:par>
                      </p:childTnLst>
                    </p:cTn>
                  </p:par>
                  <p:par>
                    <p:cTn id="40" fill="hold">
                      <p:stCondLst>
                        <p:cond delay="indefinite"/>
                      </p:stCondLst>
                      <p:childTnLst>
                        <p:par>
                          <p:cTn id="41" fill="hold">
                            <p:stCondLst>
                              <p:cond delay="0"/>
                            </p:stCondLst>
                            <p:childTnLst>
                              <p:par>
                                <p:cTn id="42" presetID="1" presetClass="entr" presetSubtype="0" fill="hold" nodeType="afterEffect">
                                  <p:stCondLst>
                                    <p:cond delay="0"/>
                                  </p:stCondLst>
                                  <p:childTnLst>
                                    <p:set>
                                      <p:cBhvr>
                                        <p:cTn id="43" dur="1" fill="hold">
                                          <p:stCondLst>
                                            <p:cond delay="0"/>
                                          </p:stCondLst>
                                        </p:cTn>
                                        <p:tgtEl>
                                          <p:spTgt spid="20"/>
                                        </p:tgtEl>
                                        <p:attrNameLst>
                                          <p:attrName>style.visibility</p:attrName>
                                        </p:attrNameLst>
                                      </p:cBhvr>
                                      <p:to>
                                        <p:strVal val="visible"/>
                                      </p:to>
                                    </p:set>
                                    <p:animEffect transition="in" filter="fade">
                                      <p:cBhvr>
                                        <p:cTn id="44" dur="400"/>
                                        <p:tgtEl>
                                          <p:spTgt spid="20"/>
                                        </p:tgtEl>
                                      </p:cBhvr>
                                    </p:animEffect>
                                  </p:childTnLst>
                                </p:cTn>
                              </p:par>
                            </p:childTnLst>
                          </p:cTn>
                        </p:par>
                      </p:childTnLst>
                    </p:cTn>
                  </p:par>
                  <p:par>
                    <p:cTn id="50" fill="hold">
                      <p:stCondLst>
                        <p:cond delay="indefinite"/>
                      </p:stCondLst>
                      <p:childTnLst>
                        <p:par>
                          <p:cTn id="51" fill="hold">
                            <p:stCondLst>
                              <p:cond delay="0"/>
                            </p:stCondLst>
                            <p:childTnLst>
                              <p:par>
                                <p:cTn id="52" presetID="1" presetClass="entr" presetSubtype="0" fill="hold" nodeType="afterEffect">
                                  <p:stCondLst>
                                    <p:cond delay="0"/>
                                  </p:stCondLst>
                                  <p:childTnLst>
                                    <p:set>
                                      <p:cBhvr>
                                        <p:cTn id="53" dur="1" fill="hold">
                                          <p:stCondLst>
                                            <p:cond delay="0"/>
                                          </p:stCondLst>
                                        </p:cTn>
                                        <p:tgtEl>
                                          <p:spTgt spid="21"/>
                                        </p:tgtEl>
                                        <p:attrNameLst>
                                          <p:attrName>style.visibility</p:attrName>
                                        </p:attrNameLst>
                                      </p:cBhvr>
                                      <p:to>
                                        <p:strVal val="visible"/>
                                      </p:to>
                                    </p:set>
                                    <p:animEffect transition="in" filter="fade">
                                      <p:cBhvr>
                                        <p:cTn id="54" dur="400"/>
                                        <p:tgtEl>
                                          <p:spTgt spid="21"/>
                                        </p:tgtEl>
                                      </p:cBhvr>
                                    </p:animEffect>
                                  </p:childTnLst>
                                </p:cTn>
                              </p:par>
                            </p:childTnLst>
                          </p:cTn>
                        </p:par>
                      </p:childTnLst>
                    </p:cTn>
                  </p:par>
                  <p:par>
                    <p:cTn id="60" fill="hold">
                      <p:stCondLst>
                        <p:cond delay="indefinite"/>
                      </p:stCondLst>
                      <p:childTnLst>
                        <p:par>
                          <p:cTn id="61" fill="hold">
                            <p:stCondLst>
                              <p:cond delay="0"/>
                            </p:stCondLst>
                            <p:childTnLst>
                              <p:par>
                                <p:cTn id="62" presetID="1" presetClass="entr" presetSubtype="0" fill="hold" nodeType="afterEffect">
                                  <p:stCondLst>
                                    <p:cond delay="0"/>
                                  </p:stCondLst>
                                  <p:childTnLst>
                                    <p:set>
                                      <p:cBhvr>
                                        <p:cTn id="63" dur="1" fill="hold">
                                          <p:stCondLst>
                                            <p:cond delay="0"/>
                                          </p:stCondLst>
                                        </p:cTn>
                                        <p:tgtEl>
                                          <p:spTgt spid="27"/>
                                        </p:tgtEl>
                                        <p:attrNameLst>
                                          <p:attrName>style.visibility</p:attrName>
                                        </p:attrNameLst>
                                      </p:cBhvr>
                                      <p:to>
                                        <p:strVal val="visible"/>
                                      </p:to>
                                    </p:set>
                                    <p:animEffect transition="in" filter="fade">
                                      <p:cBhvr>
                                        <p:cTn id="64" dur="400"/>
                                        <p:tgtEl>
                                          <p:spTgt spid="27"/>
                                        </p:tgtEl>
                                      </p:cBhvr>
                                    </p:animEffect>
                                  </p:childTnLst>
                                </p:cTn>
                              </p:par>
                            </p:childTnLst>
                          </p:cTn>
                        </p:par>
                      </p:childTnLst>
                    </p:cTn>
                  </p:par>
                  <p:par>
                    <p:cTn id="70" fill="hold">
                      <p:stCondLst>
                        <p:cond delay="indefinite"/>
                      </p:stCondLst>
                      <p:childTnLst>
                        <p:par>
                          <p:cTn id="71" fill="hold">
                            <p:stCondLst>
                              <p:cond delay="0"/>
                            </p:stCondLst>
                            <p:childTnLst>
                              <p:par>
                                <p:cTn id="72" presetID="1" presetClass="entr" presetSubtype="0" fill="hold" nodeType="afterEffect">
                                  <p:stCondLst>
                                    <p:cond delay="0"/>
                                  </p:stCondLst>
                                  <p:childTnLst>
                                    <p:set>
                                      <p:cBhvr>
                                        <p:cTn id="73" dur="1" fill="hold">
                                          <p:stCondLst>
                                            <p:cond delay="0"/>
                                          </p:stCondLst>
                                        </p:cTn>
                                        <p:tgtEl>
                                          <p:spTgt spid="28"/>
                                        </p:tgtEl>
                                        <p:attrNameLst>
                                          <p:attrName>style.visibility</p:attrName>
                                        </p:attrNameLst>
                                      </p:cBhvr>
                                      <p:to>
                                        <p:strVal val="visible"/>
                                      </p:to>
                                    </p:set>
                                    <p:animEffect transition="in" filter="fade">
                                      <p:cBhvr>
                                        <p:cTn id="74" dur="400"/>
                                        <p:tgtEl>
                                          <p:spTgt spid="28"/>
                                        </p:tgtEl>
                                      </p:cBhvr>
                                    </p:animEffect>
                                  </p:childTnLst>
                                </p:cTn>
                              </p:par>
                            </p:childTnLst>
                          </p:cTn>
                        </p:par>
                      </p:childTnLst>
                    </p:cTn>
                  </p:par>
                  <p:par>
                    <p:cTn id="80" fill="hold">
                      <p:stCondLst>
                        <p:cond delay="indefinite"/>
                      </p:stCondLst>
                      <p:childTnLst>
                        <p:par>
                          <p:cTn id="81" fill="hold">
                            <p:stCondLst>
                              <p:cond delay="0"/>
                            </p:stCondLst>
                            <p:childTnLst>
                              <p:par>
                                <p:cTn id="82" presetID="1" presetClass="entr" presetSubtype="0" fill="hold" nodeType="afterEffect">
                                  <p:stCondLst>
                                    <p:cond delay="0"/>
                                  </p:stCondLst>
                                  <p:childTnLst>
                                    <p:set>
                                      <p:cBhvr>
                                        <p:cTn id="83" dur="1" fill="hold">
                                          <p:stCondLst>
                                            <p:cond delay="0"/>
                                          </p:stCondLst>
                                        </p:cTn>
                                        <p:tgtEl>
                                          <p:spTgt spid="34"/>
                                        </p:tgtEl>
                                        <p:attrNameLst>
                                          <p:attrName>style.visibility</p:attrName>
                                        </p:attrNameLst>
                                      </p:cBhvr>
                                      <p:to>
                                        <p:strVal val="visible"/>
                                      </p:to>
                                    </p:set>
                                    <p:animEffect transition="in" filter="fade">
                                      <p:cBhvr>
                                        <p:cTn id="84" dur="400"/>
                                        <p:tgtEl>
                                          <p:spTgt spid="34"/>
                                        </p:tgtEl>
                                      </p:cBhvr>
                                    </p:animEffect>
                                  </p:childTnLst>
                                </p:cTn>
                              </p:par>
                            </p:childTnLst>
                          </p:cTn>
                        </p:par>
                      </p:childTnLst>
                    </p:cTn>
                  </p:par>
                  <p:par>
                    <p:cTn id="90" fill="hold">
                      <p:stCondLst>
                        <p:cond delay="indefinite"/>
                      </p:stCondLst>
                      <p:childTnLst>
                        <p:par>
                          <p:cTn id="91" fill="hold">
                            <p:stCondLst>
                              <p:cond delay="0"/>
                            </p:stCondLst>
                            <p:childTnLst>
                              <p:par>
                                <p:cTn id="92" presetID="1" presetClass="entr" presetSubtype="0" fill="hold" nodeType="afterEffect">
                                  <p:stCondLst>
                                    <p:cond delay="0"/>
                                  </p:stCondLst>
                                  <p:childTnLst>
                                    <p:set>
                                      <p:cBhvr>
                                        <p:cTn id="93" dur="1" fill="hold">
                                          <p:stCondLst>
                                            <p:cond delay="0"/>
                                          </p:stCondLst>
                                        </p:cTn>
                                        <p:tgtEl>
                                          <p:spTgt spid="35"/>
                                        </p:tgtEl>
                                        <p:attrNameLst>
                                          <p:attrName>style.visibility</p:attrName>
                                        </p:attrNameLst>
                                      </p:cBhvr>
                                      <p:to>
                                        <p:strVal val="visible"/>
                                      </p:to>
                                    </p:set>
                                    <p:animEffect transition="in" filter="fade">
                                      <p:cBhvr>
                                        <p:cTn id="94" dur="400"/>
                                        <p:tgtEl>
                                          <p:spTgt spid="35"/>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transition spd="fast" advClick="1">
    <p:fade/>
  </p:transition>
</p:sld>
</file>

<file path=ppt/slides/slide5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10B981"/>
                </a:solidFill>
                <a:latin typeface="Arial"/>
              </a:rPr>
              <a:t>LAB 2 · VERIFY</a:t>
            </a:r>
          </a:p>
        </p:txBody>
      </p:sp>
      <p:sp>
        <p:nvSpPr>
          <p:cNvPr id="5" name="TextBox 4"/>
          <p:cNvSpPr txBox="1"/>
          <p:nvPr/>
        </p:nvSpPr>
        <p:spPr>
          <a:xfrm>
            <a:off x="777240" y="804672"/>
            <a:ext cx="10881360" cy="713232"/>
          </a:xfrm>
          <a:prstGeom prst="rect">
            <a:avLst/>
          </a:prstGeom>
          <a:noFill/>
        </p:spPr>
        <p:txBody>
          <a:bodyPr wrap="square" anchor="ctr">
            <a:spAutoFit/>
          </a:bodyPr>
          <a:lstStyle/>
          <a:p>
            <a:pPr algn="l">
              <a:spcAft>
                <a:spcPts val="400"/>
              </a:spcAft>
            </a:pPr>
            <a:r>
              <a:rPr sz="2200" b="1">
                <a:solidFill>
                  <a:srgbClr val="161B26"/>
                </a:solidFill>
                <a:latin typeface="Arial"/>
              </a:rPr>
              <a:t>Create the BrightFunnel Company, Mission and CEO (Digital Marketing)</a:t>
            </a:r>
          </a:p>
        </p:txBody>
      </p:sp>
      <p:sp>
        <p:nvSpPr>
          <p:cNvPr id="6" name="Rectangle 5"/>
          <p:cNvSpPr/>
          <p:nvPr/>
        </p:nvSpPr>
        <p:spPr>
          <a:xfrm>
            <a:off x="777240" y="155448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77240" y="1783080"/>
            <a:ext cx="10634472" cy="1965960"/>
          </a:xfrm>
          <a:prstGeom prst="rect">
            <a:avLst/>
          </a:prstGeom>
          <a:solidFill>
            <a:srgbClr val="E8F7E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777240" y="1783080"/>
            <a:ext cx="100584" cy="1965960"/>
          </a:xfrm>
          <a:prstGeom prst="rect">
            <a:avLst/>
          </a:prstGeom>
          <a:solidFill>
            <a:srgbClr val="127A3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1097280" y="1938528"/>
            <a:ext cx="10058400" cy="402336"/>
          </a:xfrm>
          <a:prstGeom prst="rect">
            <a:avLst/>
          </a:prstGeom>
          <a:noFill/>
        </p:spPr>
        <p:txBody>
          <a:bodyPr wrap="square" anchor="t">
            <a:spAutoFit/>
          </a:bodyPr>
          <a:lstStyle/>
          <a:p>
            <a:pPr algn="l">
              <a:spcAft>
                <a:spcPts val="400"/>
              </a:spcAft>
            </a:pPr>
            <a:r>
              <a:rPr sz="1700" b="1">
                <a:solidFill>
                  <a:srgbClr val="127A3E"/>
                </a:solidFill>
                <a:latin typeface="Arial"/>
              </a:rPr>
              <a:t>✅  Expected result</a:t>
            </a:r>
          </a:p>
        </p:txBody>
      </p:sp>
      <p:sp>
        <p:nvSpPr>
          <p:cNvPr id="10" name="TextBox 9"/>
          <p:cNvSpPr txBox="1"/>
          <p:nvPr/>
        </p:nvSpPr>
        <p:spPr>
          <a:xfrm>
            <a:off x="1097280" y="2395728"/>
            <a:ext cx="10058400" cy="1234440"/>
          </a:xfrm>
          <a:prstGeom prst="rect">
            <a:avLst/>
          </a:prstGeom>
          <a:noFill/>
        </p:spPr>
        <p:txBody>
          <a:bodyPr wrap="square" anchor="t">
            <a:spAutoFit/>
          </a:bodyPr>
          <a:lstStyle/>
          <a:p>
            <a:pPr algn="l">
              <a:spcAft>
                <a:spcPts val="400"/>
              </a:spcAft>
            </a:pPr>
            <a:r>
              <a:rPr sz="1500" b="0">
                <a:solidFill>
                  <a:srgbClr val="161B26"/>
                </a:solidFill>
                <a:latin typeface="Arial"/>
              </a:rPr>
              <a:t>BrightFunnel exists with the exact mission text; the Marketing Director is the sole top-level agent with a verified adapter, a confined workspace and an instruction file; the agent cap (SGD 15) is below the company cap (SGD 40); and the baseline note contains no key, token or connection string.</a:t>
            </a:r>
          </a:p>
        </p:txBody>
      </p:sp>
      <p:sp>
        <p:nvSpPr>
          <p:cNvPr id="11" name="TextBox 10"/>
          <p:cNvSpPr txBox="1"/>
          <p:nvPr/>
        </p:nvSpPr>
        <p:spPr>
          <a:xfrm>
            <a:off x="777240" y="3950208"/>
            <a:ext cx="10634472" cy="310896"/>
          </a:xfrm>
          <a:prstGeom prst="rect">
            <a:avLst/>
          </a:prstGeom>
          <a:noFill/>
        </p:spPr>
        <p:txBody>
          <a:bodyPr wrap="square" anchor="t">
            <a:spAutoFit/>
          </a:bodyPr>
          <a:lstStyle/>
          <a:p>
            <a:pPr algn="l">
              <a:spcAft>
                <a:spcPts val="400"/>
              </a:spcAft>
            </a:pPr>
            <a:r>
              <a:rPr sz="1100" b="1">
                <a:solidFill>
                  <a:srgbClr val="F59E0B"/>
                </a:solidFill>
                <a:latin typeface="Arial"/>
              </a:rPr>
              <a:t>IF IT DOESN'T WORK</a:t>
            </a:r>
          </a:p>
        </p:txBody>
      </p:sp>
      <p:sp>
        <p:nvSpPr>
          <p:cNvPr id="12" name="Rectangle 11"/>
          <p:cNvSpPr/>
          <p:nvPr/>
        </p:nvSpPr>
        <p:spPr>
          <a:xfrm>
            <a:off x="777240" y="4297680"/>
            <a:ext cx="3392424" cy="157276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777240" y="4297680"/>
            <a:ext cx="3392424" cy="82296"/>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996696" y="4453128"/>
            <a:ext cx="2980944" cy="329184"/>
          </a:xfrm>
          <a:prstGeom prst="rect">
            <a:avLst/>
          </a:prstGeom>
          <a:noFill/>
        </p:spPr>
        <p:txBody>
          <a:bodyPr wrap="square" anchor="t">
            <a:spAutoFit/>
          </a:bodyPr>
          <a:lstStyle/>
          <a:p>
            <a:pPr algn="l">
              <a:spcAft>
                <a:spcPts val="400"/>
              </a:spcAft>
            </a:pPr>
            <a:r>
              <a:rPr sz="1250" b="1">
                <a:solidFill>
                  <a:srgbClr val="161B26"/>
                </a:solidFill>
                <a:latin typeface="Arial"/>
              </a:rPr>
              <a:t>The adapter verification fails</a:t>
            </a:r>
          </a:p>
        </p:txBody>
      </p:sp>
      <p:sp>
        <p:nvSpPr>
          <p:cNvPr id="15" name="TextBox 14"/>
          <p:cNvSpPr txBox="1"/>
          <p:nvPr/>
        </p:nvSpPr>
        <p:spPr>
          <a:xfrm>
            <a:off x="996696" y="4809744"/>
            <a:ext cx="2980944" cy="960120"/>
          </a:xfrm>
          <a:prstGeom prst="rect">
            <a:avLst/>
          </a:prstGeom>
          <a:noFill/>
        </p:spPr>
        <p:txBody>
          <a:bodyPr wrap="square" anchor="t">
            <a:spAutoFit/>
          </a:bodyPr>
          <a:lstStyle/>
          <a:p>
            <a:pPr algn="l">
              <a:spcAft>
                <a:spcPts val="400"/>
              </a:spcAft>
            </a:pPr>
            <a:r>
              <a:rPr sz="1100" b="0">
                <a:solidFill>
                  <a:srgbClr val="5B6372"/>
                </a:solidFill>
                <a:latin typeface="Arial"/>
              </a:rPr>
              <a:t>Confirm the underlying CLI runtime is installed and authenticated OUTSIDE Paperclip first, then re-verify. Paperclip cannot authenticate a runtime for you.</a:t>
            </a:r>
          </a:p>
        </p:txBody>
      </p:sp>
      <p:sp>
        <p:nvSpPr>
          <p:cNvPr id="16" name="Rectangle 15"/>
          <p:cNvSpPr/>
          <p:nvPr/>
        </p:nvSpPr>
        <p:spPr>
          <a:xfrm>
            <a:off x="4398264" y="4297680"/>
            <a:ext cx="3392424" cy="157276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4398264" y="4297680"/>
            <a:ext cx="3392424" cy="82296"/>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4617720" y="4453128"/>
            <a:ext cx="2980944" cy="329184"/>
          </a:xfrm>
          <a:prstGeom prst="rect">
            <a:avLst/>
          </a:prstGeom>
          <a:noFill/>
        </p:spPr>
        <p:txBody>
          <a:bodyPr wrap="square" anchor="t">
            <a:spAutoFit/>
          </a:bodyPr>
          <a:lstStyle/>
          <a:p>
            <a:pPr algn="l">
              <a:spcAft>
                <a:spcPts val="400"/>
              </a:spcAft>
            </a:pPr>
            <a:r>
              <a:rPr sz="1250" b="1">
                <a:solidFill>
                  <a:srgbClr val="161B26"/>
                </a:solidFill>
                <a:latin typeface="Arial"/>
              </a:rPr>
              <a:t>The mission field rejects the text</a:t>
            </a:r>
          </a:p>
        </p:txBody>
      </p:sp>
      <p:sp>
        <p:nvSpPr>
          <p:cNvPr id="19" name="TextBox 18"/>
          <p:cNvSpPr txBox="1"/>
          <p:nvPr/>
        </p:nvSpPr>
        <p:spPr>
          <a:xfrm>
            <a:off x="4617720" y="4809744"/>
            <a:ext cx="2980944" cy="960120"/>
          </a:xfrm>
          <a:prstGeom prst="rect">
            <a:avLst/>
          </a:prstGeom>
          <a:noFill/>
        </p:spPr>
        <p:txBody>
          <a:bodyPr wrap="square" anchor="t">
            <a:spAutoFit/>
          </a:bodyPr>
          <a:lstStyle/>
          <a:p>
            <a:pPr algn="l">
              <a:spcAft>
                <a:spcPts val="400"/>
              </a:spcAft>
            </a:pPr>
            <a:r>
              <a:rPr sz="1100" b="0">
                <a:solidFill>
                  <a:srgbClr val="5B6372"/>
                </a:solidFill>
                <a:latin typeface="Arial"/>
              </a:rPr>
              <a:t>Remove smart quotes and line breaks pasted from a word processor; enter the mission as plain text.</a:t>
            </a:r>
          </a:p>
        </p:txBody>
      </p:sp>
      <p:sp>
        <p:nvSpPr>
          <p:cNvPr id="20" name="Rectangle 19"/>
          <p:cNvSpPr/>
          <p:nvPr/>
        </p:nvSpPr>
        <p:spPr>
          <a:xfrm>
            <a:off x="8019288" y="4297680"/>
            <a:ext cx="3392424" cy="157276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ectangle 20"/>
          <p:cNvSpPr/>
          <p:nvPr/>
        </p:nvSpPr>
        <p:spPr>
          <a:xfrm>
            <a:off x="8019288" y="4297680"/>
            <a:ext cx="3392424" cy="82296"/>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8238744" y="4453128"/>
            <a:ext cx="2980944" cy="329184"/>
          </a:xfrm>
          <a:prstGeom prst="rect">
            <a:avLst/>
          </a:prstGeom>
          <a:noFill/>
        </p:spPr>
        <p:txBody>
          <a:bodyPr wrap="square" anchor="t">
            <a:spAutoFit/>
          </a:bodyPr>
          <a:lstStyle/>
          <a:p>
            <a:pPr algn="l">
              <a:spcAft>
                <a:spcPts val="400"/>
              </a:spcAft>
            </a:pPr>
            <a:r>
              <a:rPr sz="1250" b="1">
                <a:solidFill>
                  <a:srgbClr val="161B26"/>
                </a:solidFill>
                <a:latin typeface="Arial"/>
              </a:rPr>
              <a:t>The budget cap will not save</a:t>
            </a:r>
          </a:p>
        </p:txBody>
      </p:sp>
      <p:sp>
        <p:nvSpPr>
          <p:cNvPr id="23" name="TextBox 22"/>
          <p:cNvSpPr txBox="1"/>
          <p:nvPr/>
        </p:nvSpPr>
        <p:spPr>
          <a:xfrm>
            <a:off x="8238744" y="4809744"/>
            <a:ext cx="2980944" cy="960120"/>
          </a:xfrm>
          <a:prstGeom prst="rect">
            <a:avLst/>
          </a:prstGeom>
          <a:noFill/>
        </p:spPr>
        <p:txBody>
          <a:bodyPr wrap="square" anchor="t">
            <a:spAutoFit/>
          </a:bodyPr>
          <a:lstStyle/>
          <a:p>
            <a:pPr algn="l">
              <a:spcAft>
                <a:spcPts val="400"/>
              </a:spcAft>
            </a:pPr>
            <a:r>
              <a:rPr sz="1100" b="0">
                <a:solidFill>
                  <a:srgbClr val="5B6372"/>
                </a:solidFill>
                <a:latin typeface="Arial"/>
              </a:rPr>
              <a:t>Set the company cap before the agent cap — an agent cap above a missing or smaller company cap is rejected.</a:t>
            </a:r>
          </a:p>
        </p:txBody>
      </p:sp>
      <p:sp>
        <p:nvSpPr>
          <p:cNvPr id="24" name="TextBox 23"/>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Manage AI Agents with Paperclip (TGS-2023036646)  ·  TGS-2023036646</a:t>
            </a:r>
          </a:p>
        </p:txBody>
      </p:sp>
      <p:sp>
        <p:nvSpPr>
          <p:cNvPr id="25" name="TextBox 24"/>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26" name="TextBox 25"/>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53</a:t>
            </a:r>
          </a:p>
        </p:txBody>
      </p:sp>
    </p:spTree>
  </p:cSld>
  <p:clrMapOvr>
    <a:masterClrMapping/>
  </p:clrMapOvr>
  <p:transition spd="fast" advClick="1">
    <p:fade/>
  </p:transition>
</p:sld>
</file>

<file path=ppt/slides/slide5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F59E0B"/>
                </a:solidFill>
                <a:latin typeface="Arial"/>
              </a:rPr>
              <a:t>LAB 2  ·  TROUBLESHOOTING</a:t>
            </a:r>
          </a:p>
        </p:txBody>
      </p:sp>
      <p:sp>
        <p:nvSpPr>
          <p:cNvPr id="5" name="TextBox 4"/>
          <p:cNvSpPr txBox="1"/>
          <p:nvPr/>
        </p:nvSpPr>
        <p:spPr>
          <a:xfrm>
            <a:off x="777240" y="804672"/>
            <a:ext cx="10881360" cy="713232"/>
          </a:xfrm>
          <a:prstGeom prst="rect">
            <a:avLst/>
          </a:prstGeom>
          <a:noFill/>
        </p:spPr>
        <p:txBody>
          <a:bodyPr wrap="square" anchor="ctr">
            <a:spAutoFit/>
          </a:bodyPr>
          <a:lstStyle/>
          <a:p>
            <a:pPr algn="l">
              <a:spcAft>
                <a:spcPts val="400"/>
              </a:spcAft>
            </a:pPr>
            <a:r>
              <a:rPr sz="2200" b="1">
                <a:solidFill>
                  <a:srgbClr val="161B26"/>
                </a:solidFill>
                <a:latin typeface="Arial"/>
              </a:rPr>
              <a:t>Create the BrightFunnel Company, Mission and CEO (Digital Marketing)</a:t>
            </a:r>
          </a:p>
        </p:txBody>
      </p:sp>
      <p:sp>
        <p:nvSpPr>
          <p:cNvPr id="6" name="Rectangle 5"/>
          <p:cNvSpPr/>
          <p:nvPr/>
        </p:nvSpPr>
        <p:spPr>
          <a:xfrm>
            <a:off x="777240" y="155448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77240" y="1810512"/>
            <a:ext cx="10607040" cy="94488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777240" y="1810512"/>
            <a:ext cx="91440" cy="944880"/>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1051560" y="1938528"/>
            <a:ext cx="10149840" cy="329184"/>
          </a:xfrm>
          <a:prstGeom prst="rect">
            <a:avLst/>
          </a:prstGeom>
          <a:noFill/>
        </p:spPr>
        <p:txBody>
          <a:bodyPr wrap="square" anchor="t">
            <a:spAutoFit/>
          </a:bodyPr>
          <a:lstStyle/>
          <a:p>
            <a:pPr algn="l">
              <a:spcAft>
                <a:spcPts val="400"/>
              </a:spcAft>
            </a:pPr>
            <a:r>
              <a:rPr sz="1300" b="1">
                <a:solidFill>
                  <a:srgbClr val="161B26"/>
                </a:solidFill>
                <a:latin typeface="Arial"/>
              </a:rPr>
              <a:t>⚠  The adapter verification fails</a:t>
            </a:r>
          </a:p>
        </p:txBody>
      </p:sp>
      <p:sp>
        <p:nvSpPr>
          <p:cNvPr id="10" name="TextBox 9"/>
          <p:cNvSpPr txBox="1"/>
          <p:nvPr/>
        </p:nvSpPr>
        <p:spPr>
          <a:xfrm>
            <a:off x="1051560" y="2304288"/>
            <a:ext cx="10149840" cy="341376"/>
          </a:xfrm>
          <a:prstGeom prst="rect">
            <a:avLst/>
          </a:prstGeom>
          <a:noFill/>
        </p:spPr>
        <p:txBody>
          <a:bodyPr wrap="square" anchor="t">
            <a:spAutoFit/>
          </a:bodyPr>
          <a:lstStyle/>
          <a:p>
            <a:pPr algn="l">
              <a:spcAft>
                <a:spcPts val="400"/>
              </a:spcAft>
            </a:pPr>
            <a:r>
              <a:rPr sz="1150" b="0">
                <a:solidFill>
                  <a:srgbClr val="5B6372"/>
                </a:solidFill>
                <a:latin typeface="Arial"/>
              </a:rPr>
              <a:t>Confirm the underlying CLI runtime is installed and authenticated OUTSIDE Paperclip first, then re-verify. Paperclip cannot authenticate a runtime for you.</a:t>
            </a:r>
          </a:p>
        </p:txBody>
      </p:sp>
      <p:sp>
        <p:nvSpPr>
          <p:cNvPr id="11" name="Rectangle 10"/>
          <p:cNvSpPr/>
          <p:nvPr/>
        </p:nvSpPr>
        <p:spPr>
          <a:xfrm>
            <a:off x="777240" y="2938272"/>
            <a:ext cx="10607040" cy="94488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ectangle 11"/>
          <p:cNvSpPr/>
          <p:nvPr/>
        </p:nvSpPr>
        <p:spPr>
          <a:xfrm>
            <a:off x="777240" y="2938272"/>
            <a:ext cx="91440" cy="944880"/>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1051560" y="3066288"/>
            <a:ext cx="10149840" cy="329184"/>
          </a:xfrm>
          <a:prstGeom prst="rect">
            <a:avLst/>
          </a:prstGeom>
          <a:noFill/>
        </p:spPr>
        <p:txBody>
          <a:bodyPr wrap="square" anchor="t">
            <a:spAutoFit/>
          </a:bodyPr>
          <a:lstStyle/>
          <a:p>
            <a:pPr algn="l">
              <a:spcAft>
                <a:spcPts val="400"/>
              </a:spcAft>
            </a:pPr>
            <a:r>
              <a:rPr sz="1300" b="1">
                <a:solidFill>
                  <a:srgbClr val="161B26"/>
                </a:solidFill>
                <a:latin typeface="Arial"/>
              </a:rPr>
              <a:t>⚠  The mission field rejects the text</a:t>
            </a:r>
          </a:p>
        </p:txBody>
      </p:sp>
      <p:sp>
        <p:nvSpPr>
          <p:cNvPr id="14" name="TextBox 13"/>
          <p:cNvSpPr txBox="1"/>
          <p:nvPr/>
        </p:nvSpPr>
        <p:spPr>
          <a:xfrm>
            <a:off x="1051560" y="3432048"/>
            <a:ext cx="10149840" cy="341376"/>
          </a:xfrm>
          <a:prstGeom prst="rect">
            <a:avLst/>
          </a:prstGeom>
          <a:noFill/>
        </p:spPr>
        <p:txBody>
          <a:bodyPr wrap="square" anchor="t">
            <a:spAutoFit/>
          </a:bodyPr>
          <a:lstStyle/>
          <a:p>
            <a:pPr algn="l">
              <a:spcAft>
                <a:spcPts val="400"/>
              </a:spcAft>
            </a:pPr>
            <a:r>
              <a:rPr sz="1150" b="0">
                <a:solidFill>
                  <a:srgbClr val="5B6372"/>
                </a:solidFill>
                <a:latin typeface="Arial"/>
              </a:rPr>
              <a:t>Remove smart quotes and line breaks pasted from a word processor; enter the mission as plain text.</a:t>
            </a:r>
          </a:p>
        </p:txBody>
      </p:sp>
      <p:sp>
        <p:nvSpPr>
          <p:cNvPr id="15" name="Rectangle 14"/>
          <p:cNvSpPr/>
          <p:nvPr/>
        </p:nvSpPr>
        <p:spPr>
          <a:xfrm>
            <a:off x="777240" y="4066032"/>
            <a:ext cx="10607040" cy="94488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ectangle 15"/>
          <p:cNvSpPr/>
          <p:nvPr/>
        </p:nvSpPr>
        <p:spPr>
          <a:xfrm>
            <a:off x="777240" y="4066032"/>
            <a:ext cx="91440" cy="944880"/>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1051560" y="4194048"/>
            <a:ext cx="10149840" cy="329184"/>
          </a:xfrm>
          <a:prstGeom prst="rect">
            <a:avLst/>
          </a:prstGeom>
          <a:noFill/>
        </p:spPr>
        <p:txBody>
          <a:bodyPr wrap="square" anchor="t">
            <a:spAutoFit/>
          </a:bodyPr>
          <a:lstStyle/>
          <a:p>
            <a:pPr algn="l">
              <a:spcAft>
                <a:spcPts val="400"/>
              </a:spcAft>
            </a:pPr>
            <a:r>
              <a:rPr sz="1300" b="1">
                <a:solidFill>
                  <a:srgbClr val="161B26"/>
                </a:solidFill>
                <a:latin typeface="Arial"/>
              </a:rPr>
              <a:t>⚠  The budget cap will not save</a:t>
            </a:r>
          </a:p>
        </p:txBody>
      </p:sp>
      <p:sp>
        <p:nvSpPr>
          <p:cNvPr id="18" name="TextBox 17"/>
          <p:cNvSpPr txBox="1"/>
          <p:nvPr/>
        </p:nvSpPr>
        <p:spPr>
          <a:xfrm>
            <a:off x="1051560" y="4559808"/>
            <a:ext cx="10149840" cy="341376"/>
          </a:xfrm>
          <a:prstGeom prst="rect">
            <a:avLst/>
          </a:prstGeom>
          <a:noFill/>
        </p:spPr>
        <p:txBody>
          <a:bodyPr wrap="square" anchor="t">
            <a:spAutoFit/>
          </a:bodyPr>
          <a:lstStyle/>
          <a:p>
            <a:pPr algn="l">
              <a:spcAft>
                <a:spcPts val="400"/>
              </a:spcAft>
            </a:pPr>
            <a:r>
              <a:rPr sz="1150" b="0">
                <a:solidFill>
                  <a:srgbClr val="5B6372"/>
                </a:solidFill>
                <a:latin typeface="Arial"/>
              </a:rPr>
              <a:t>Set the company cap before the agent cap — an agent cap above a missing or smaller company cap is rejected.</a:t>
            </a:r>
          </a:p>
        </p:txBody>
      </p:sp>
      <p:sp>
        <p:nvSpPr>
          <p:cNvPr id="19" name="Rectangle 18"/>
          <p:cNvSpPr/>
          <p:nvPr/>
        </p:nvSpPr>
        <p:spPr>
          <a:xfrm>
            <a:off x="777240" y="5230368"/>
            <a:ext cx="5212080" cy="100584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ectangle 19"/>
          <p:cNvSpPr/>
          <p:nvPr/>
        </p:nvSpPr>
        <p:spPr>
          <a:xfrm>
            <a:off x="777240" y="5230368"/>
            <a:ext cx="91440" cy="1005840"/>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1051560" y="5321808"/>
            <a:ext cx="4846320" cy="292608"/>
          </a:xfrm>
          <a:prstGeom prst="rect">
            <a:avLst/>
          </a:prstGeom>
          <a:noFill/>
        </p:spPr>
        <p:txBody>
          <a:bodyPr wrap="square" anchor="t">
            <a:spAutoFit/>
          </a:bodyPr>
          <a:lstStyle/>
          <a:p>
            <a:pPr algn="l">
              <a:spcAft>
                <a:spcPts val="400"/>
              </a:spcAft>
            </a:pPr>
            <a:r>
              <a:rPr sz="1150" b="1">
                <a:solidFill>
                  <a:srgbClr val="7C3AED"/>
                </a:solidFill>
                <a:latin typeface="Arial"/>
              </a:rPr>
              <a:t>CHALLENGE</a:t>
            </a:r>
          </a:p>
        </p:txBody>
      </p:sp>
      <p:sp>
        <p:nvSpPr>
          <p:cNvPr id="22" name="TextBox 21"/>
          <p:cNvSpPr txBox="1"/>
          <p:nvPr/>
        </p:nvSpPr>
        <p:spPr>
          <a:xfrm>
            <a:off x="1051560" y="5632704"/>
            <a:ext cx="4846320" cy="548640"/>
          </a:xfrm>
          <a:prstGeom prst="rect">
            <a:avLst/>
          </a:prstGeom>
          <a:noFill/>
        </p:spPr>
        <p:txBody>
          <a:bodyPr wrap="square" anchor="t">
            <a:spAutoFit/>
          </a:bodyPr>
          <a:lstStyle/>
          <a:p>
            <a:pPr algn="l">
              <a:spcAft>
                <a:spcPts val="400"/>
              </a:spcAft>
            </a:pPr>
            <a:r>
              <a:rPr sz="1050" b="0">
                <a:solidFill>
                  <a:srgbClr val="161B26"/>
                </a:solidFill>
                <a:latin typeface="Arial"/>
              </a:rPr>
              <a:t>Rewrite the BrightFunnel mission so it would FAIL a feasibility scan, then state in one sentence exactly which property (target, metric or boundary) you removed.</a:t>
            </a:r>
          </a:p>
        </p:txBody>
      </p:sp>
      <p:sp>
        <p:nvSpPr>
          <p:cNvPr id="23" name="Rectangle 22"/>
          <p:cNvSpPr/>
          <p:nvPr/>
        </p:nvSpPr>
        <p:spPr>
          <a:xfrm>
            <a:off x="6172200" y="5230368"/>
            <a:ext cx="5212080" cy="100584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Rectangle 23"/>
          <p:cNvSpPr/>
          <p:nvPr/>
        </p:nvSpPr>
        <p:spPr>
          <a:xfrm>
            <a:off x="6172200" y="5230368"/>
            <a:ext cx="91440" cy="100584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6446520" y="5321808"/>
            <a:ext cx="4846320" cy="292608"/>
          </a:xfrm>
          <a:prstGeom prst="rect">
            <a:avLst/>
          </a:prstGeom>
          <a:noFill/>
        </p:spPr>
        <p:txBody>
          <a:bodyPr wrap="square" anchor="t">
            <a:spAutoFit/>
          </a:bodyPr>
          <a:lstStyle/>
          <a:p>
            <a:pPr algn="l">
              <a:spcAft>
                <a:spcPts val="400"/>
              </a:spcAft>
            </a:pPr>
            <a:r>
              <a:rPr sz="1150" b="1">
                <a:solidFill>
                  <a:srgbClr val="1F6FEB"/>
                </a:solidFill>
                <a:latin typeface="Arial"/>
              </a:rPr>
              <a:t>REFLECTION</a:t>
            </a:r>
          </a:p>
        </p:txBody>
      </p:sp>
      <p:sp>
        <p:nvSpPr>
          <p:cNvPr id="26" name="TextBox 25"/>
          <p:cNvSpPr txBox="1"/>
          <p:nvPr/>
        </p:nvSpPr>
        <p:spPr>
          <a:xfrm>
            <a:off x="6446520" y="5632704"/>
            <a:ext cx="4846320" cy="548640"/>
          </a:xfrm>
          <a:prstGeom prst="rect">
            <a:avLst/>
          </a:prstGeom>
          <a:noFill/>
        </p:spPr>
        <p:txBody>
          <a:bodyPr wrap="square" anchor="t">
            <a:spAutoFit/>
          </a:bodyPr>
          <a:lstStyle/>
          <a:p>
            <a:pPr algn="l">
              <a:spcAft>
                <a:spcPts val="400"/>
              </a:spcAft>
            </a:pPr>
            <a:r>
              <a:rPr sz="1050" b="0">
                <a:solidFill>
                  <a:srgbClr val="161B26"/>
                </a:solidFill>
                <a:latin typeface="Arial"/>
              </a:rPr>
              <a:t>Why is setting the company budget cap before hiring the CEO a control decision rather than an administrative one?</a:t>
            </a:r>
          </a:p>
        </p:txBody>
      </p:sp>
      <p:sp>
        <p:nvSpPr>
          <p:cNvPr id="27" name="TextBox 26"/>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Manage AI Agents with Paperclip (TGS-2023036646)  ·  TGS-2023036646</a:t>
            </a:r>
          </a:p>
        </p:txBody>
      </p:sp>
      <p:sp>
        <p:nvSpPr>
          <p:cNvPr id="28" name="TextBox 27"/>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29" name="TextBox 28"/>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54</a:t>
            </a:r>
          </a:p>
        </p:txBody>
      </p:sp>
    </p:spTree>
  </p:cSld>
  <p:clrMapOvr>
    <a:masterClrMapping/>
  </p:clrMapOvr>
  <p:transition spd="fast" advClick="1">
    <p:fade/>
  </p:transition>
</p:sld>
</file>

<file path=ppt/slides/slide5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10B981"/>
                </a:solidFill>
                <a:latin typeface="Arial"/>
              </a:rPr>
              <a:t>LAB 3  ·  HANDS-ON</a:t>
            </a:r>
          </a:p>
        </p:txBody>
      </p:sp>
      <p:sp>
        <p:nvSpPr>
          <p:cNvPr id="5" name="TextBox 4"/>
          <p:cNvSpPr txBox="1"/>
          <p:nvPr/>
        </p:nvSpPr>
        <p:spPr>
          <a:xfrm>
            <a:off x="777240" y="804672"/>
            <a:ext cx="10881360" cy="713232"/>
          </a:xfrm>
          <a:prstGeom prst="rect">
            <a:avLst/>
          </a:prstGeom>
          <a:noFill/>
        </p:spPr>
        <p:txBody>
          <a:bodyPr wrap="square" anchor="ctr">
            <a:spAutoFit/>
          </a:bodyPr>
          <a:lstStyle/>
          <a:p>
            <a:pPr algn="l">
              <a:spcAft>
                <a:spcPts val="400"/>
              </a:spcAft>
            </a:pPr>
            <a:r>
              <a:rPr sz="2200" b="1">
                <a:solidFill>
                  <a:srgbClr val="161B26"/>
                </a:solidFill>
                <a:latin typeface="Arial"/>
              </a:rPr>
              <a:t>Build the Meridian Reporting Tree and Validate Runtime Boundaries (Finance)</a:t>
            </a:r>
          </a:p>
        </p:txBody>
      </p:sp>
      <p:sp>
        <p:nvSpPr>
          <p:cNvPr id="6" name="Rectangle 5"/>
          <p:cNvSpPr/>
          <p:nvPr/>
        </p:nvSpPr>
        <p:spPr>
          <a:xfrm>
            <a:off x="777240" y="155448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77240" y="1783080"/>
            <a:ext cx="10607040" cy="56692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777240" y="1783080"/>
            <a:ext cx="91440" cy="566928"/>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1051560" y="1783080"/>
            <a:ext cx="10241280" cy="566928"/>
          </a:xfrm>
          <a:prstGeom prst="rect">
            <a:avLst/>
          </a:prstGeom>
          <a:noFill/>
        </p:spPr>
        <p:txBody>
          <a:bodyPr wrap="square" anchor="ctr">
            <a:spAutoFit/>
          </a:bodyPr>
          <a:lstStyle/>
          <a:p>
            <a:pPr algn="l">
              <a:spcAft>
                <a:spcPts val="400"/>
              </a:spcAft>
            </a:pPr>
            <a:r>
              <a:rPr sz="1300" b="1">
                <a:solidFill>
                  <a:srgbClr val="7C3AED"/>
                </a:solidFill>
                <a:latin typeface="Arial"/>
              </a:rPr>
              <a:t>SIMULATED COMPANY  ·  Meridian Finance Desk (Finance)</a:t>
            </a:r>
          </a:p>
        </p:txBody>
      </p:sp>
      <p:sp>
        <p:nvSpPr>
          <p:cNvPr id="10" name="TextBox 9"/>
          <p:cNvSpPr txBox="1"/>
          <p:nvPr/>
        </p:nvSpPr>
        <p:spPr>
          <a:xfrm>
            <a:off x="777240" y="2514600"/>
            <a:ext cx="10607040" cy="1298448"/>
          </a:xfrm>
          <a:prstGeom prst="rect">
            <a:avLst/>
          </a:prstGeom>
          <a:noFill/>
        </p:spPr>
        <p:txBody>
          <a:bodyPr wrap="square" anchor="t">
            <a:spAutoFit/>
          </a:bodyPr>
          <a:lstStyle/>
          <a:p>
            <a:pPr algn="l">
              <a:spcAft>
                <a:spcPts val="400"/>
              </a:spcAft>
            </a:pPr>
            <a:r>
              <a:rPr sz="1350" b="0">
                <a:solidFill>
                  <a:srgbClr val="161B26"/>
                </a:solidFill>
                <a:latin typeface="Arial"/>
              </a:rPr>
              <a:t>You extend the pattern into Meridian Finance Desk and build a real three-agent org chart: a Finance Lead with an FP&amp;A Analyst and a Treasury Analyst reporting to it. Each specialist receives its OWN workspace, its OWN instruction file and its OWN budget. You then prove every runtime boundary with a marker run — a deliberately trivial task whose only purpose is to produce an observable artifact in the correct workspace. Configuration that has never produced an artifact is not a connection.</a:t>
            </a:r>
          </a:p>
        </p:txBody>
      </p:sp>
      <p:sp>
        <p:nvSpPr>
          <p:cNvPr id="11" name="Rectangle 10"/>
          <p:cNvSpPr/>
          <p:nvPr/>
        </p:nvSpPr>
        <p:spPr>
          <a:xfrm>
            <a:off x="777240" y="3931920"/>
            <a:ext cx="6766560" cy="157276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ectangle 11"/>
          <p:cNvSpPr/>
          <p:nvPr/>
        </p:nvSpPr>
        <p:spPr>
          <a:xfrm>
            <a:off x="777240" y="3931920"/>
            <a:ext cx="6766560" cy="82296"/>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1005840" y="4069080"/>
            <a:ext cx="6309360" cy="329184"/>
          </a:xfrm>
          <a:prstGeom prst="rect">
            <a:avLst/>
          </a:prstGeom>
          <a:noFill/>
        </p:spPr>
        <p:txBody>
          <a:bodyPr wrap="square" anchor="t">
            <a:spAutoFit/>
          </a:bodyPr>
          <a:lstStyle/>
          <a:p>
            <a:pPr algn="l">
              <a:spcAft>
                <a:spcPts val="400"/>
              </a:spcAft>
            </a:pPr>
            <a:r>
              <a:rPr sz="1200" b="1">
                <a:solidFill>
                  <a:srgbClr val="10B981"/>
                </a:solidFill>
                <a:latin typeface="Arial"/>
              </a:rPr>
              <a:t>YOU'LL BUILD</a:t>
            </a:r>
          </a:p>
        </p:txBody>
      </p:sp>
      <p:sp>
        <p:nvSpPr>
          <p:cNvPr id="14" name="TextBox 13"/>
          <p:cNvSpPr txBox="1"/>
          <p:nvPr/>
        </p:nvSpPr>
        <p:spPr>
          <a:xfrm>
            <a:off x="1005840" y="4416552"/>
            <a:ext cx="6309360" cy="1005840"/>
          </a:xfrm>
          <a:prstGeom prst="rect">
            <a:avLst/>
          </a:prstGeom>
          <a:noFill/>
        </p:spPr>
        <p:txBody>
          <a:bodyPr wrap="square" anchor="t">
            <a:spAutoFit/>
          </a:bodyPr>
          <a:lstStyle/>
          <a:p>
            <a:pPr algn="l">
              <a:spcAft>
                <a:spcPts val="400"/>
              </a:spcAft>
            </a:pPr>
            <a:r>
              <a:rPr sz="1150" b="0">
                <a:solidFill>
                  <a:srgbClr val="161B26"/>
                </a:solidFill>
                <a:latin typeface="Arial"/>
              </a:rPr>
              <a:t>A three-agent Meridian org chart with separate budgeted workspaces, role instruction files, clean Git baselines and one marker-run artifact per agent proving its runtime boundary.</a:t>
            </a:r>
          </a:p>
        </p:txBody>
      </p:sp>
      <p:sp>
        <p:nvSpPr>
          <p:cNvPr id="15" name="Rectangle 14"/>
          <p:cNvSpPr/>
          <p:nvPr/>
        </p:nvSpPr>
        <p:spPr>
          <a:xfrm>
            <a:off x="7818120" y="3931920"/>
            <a:ext cx="3566160" cy="157276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ectangle 15"/>
          <p:cNvSpPr/>
          <p:nvPr/>
        </p:nvSpPr>
        <p:spPr>
          <a:xfrm>
            <a:off x="7818120" y="3931920"/>
            <a:ext cx="3566160" cy="82296"/>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8046720" y="4069080"/>
            <a:ext cx="3108960" cy="329184"/>
          </a:xfrm>
          <a:prstGeom prst="rect">
            <a:avLst/>
          </a:prstGeom>
          <a:noFill/>
        </p:spPr>
        <p:txBody>
          <a:bodyPr wrap="square" anchor="t">
            <a:spAutoFit/>
          </a:bodyPr>
          <a:lstStyle/>
          <a:p>
            <a:pPr algn="l">
              <a:spcAft>
                <a:spcPts val="400"/>
              </a:spcAft>
            </a:pPr>
            <a:r>
              <a:rPr sz="1200" b="1">
                <a:solidFill>
                  <a:srgbClr val="1F6FEB"/>
                </a:solidFill>
                <a:latin typeface="Arial"/>
              </a:rPr>
              <a:t>MAPS TO</a:t>
            </a:r>
          </a:p>
        </p:txBody>
      </p:sp>
      <p:sp>
        <p:nvSpPr>
          <p:cNvPr id="18" name="TextBox 17"/>
          <p:cNvSpPr txBox="1"/>
          <p:nvPr/>
        </p:nvSpPr>
        <p:spPr>
          <a:xfrm>
            <a:off x="8046720" y="4416552"/>
            <a:ext cx="3108960" cy="1005840"/>
          </a:xfrm>
          <a:prstGeom prst="rect">
            <a:avLst/>
          </a:prstGeom>
          <a:noFill/>
        </p:spPr>
        <p:txBody>
          <a:bodyPr wrap="square" anchor="t">
            <a:spAutoFit/>
          </a:bodyPr>
          <a:lstStyle/>
          <a:p>
            <a:pPr algn="l">
              <a:spcAft>
                <a:spcPts val="400"/>
              </a:spcAft>
            </a:pPr>
            <a:r>
              <a:rPr sz="1050" b="0">
                <a:solidFill>
                  <a:srgbClr val="161B26"/>
                </a:solidFill>
                <a:latin typeface="Arial"/>
              </a:rPr>
              <a:t>LO2: Build a multi-agent reporting hierarchy with distinct, budgeted and confined workspaces, and prove each runtime boundary with a marker run.</a:t>
            </a:r>
          </a:p>
        </p:txBody>
      </p:sp>
      <p:sp>
        <p:nvSpPr>
          <p:cNvPr id="19" name="TextBox 18"/>
          <p:cNvSpPr txBox="1"/>
          <p:nvPr/>
        </p:nvSpPr>
        <p:spPr>
          <a:xfrm>
            <a:off x="777240" y="5669280"/>
            <a:ext cx="10607040" cy="640080"/>
          </a:xfrm>
          <a:prstGeom prst="rect">
            <a:avLst/>
          </a:prstGeom>
          <a:noFill/>
        </p:spPr>
        <p:txBody>
          <a:bodyPr wrap="square" anchor="t">
            <a:spAutoFit/>
          </a:bodyPr>
          <a:lstStyle/>
          <a:p>
            <a:pPr algn="l">
              <a:spcAft>
                <a:spcPts val="300"/>
              </a:spcAft>
            </a:pPr>
            <a:r>
              <a:rPr sz="1100" b="0">
                <a:solidFill>
                  <a:srgbClr val="5B6372"/>
                </a:solidFill>
                <a:latin typeface="Arial"/>
              </a:rPr>
              <a:t>Tools:  Paperclip Agents, Org and Runs pages; approved adapter runtime; Git; Markdown editor</a:t>
            </a:r>
          </a:p>
          <a:p>
            <a:pPr algn="l">
              <a:spcAft>
                <a:spcPts val="300"/>
              </a:spcAft>
            </a:pPr>
            <a:r>
              <a:rPr sz="1100" b="0">
                <a:solidFill>
                  <a:srgbClr val="5B6372"/>
                </a:solidFill>
                <a:latin typeface="Arial"/>
              </a:rPr>
              <a:t>Full step-by-step procedure: Learner Guide, Lab 3  ·  labs/ folder</a:t>
            </a:r>
          </a:p>
        </p:txBody>
      </p:sp>
      <p:sp>
        <p:nvSpPr>
          <p:cNvPr id="20" name="TextBox 19"/>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Manage AI Agents with Paperclip (TGS-2023036646)  ·  TGS-2023036646</a:t>
            </a:r>
          </a:p>
        </p:txBody>
      </p:sp>
      <p:sp>
        <p:nvSpPr>
          <p:cNvPr id="21" name="TextBox 20"/>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22" name="TextBox 21"/>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55</a:t>
            </a:r>
          </a:p>
        </p:txBody>
      </p:sp>
    </p:spTree>
  </p:cSld>
  <p:clrMapOvr>
    <a:masterClrMapping/>
  </p:clrMapOvr>
  <p:transition spd="fast" advClick="1">
    <p:fade/>
  </p:transition>
</p:sld>
</file>

<file path=ppt/slides/slide5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10B981"/>
                </a:solidFill>
                <a:latin typeface="Arial"/>
              </a:rPr>
              <a:t>LAB 3 · PROCESS MAP</a:t>
            </a:r>
          </a:p>
        </p:txBody>
      </p:sp>
      <p:sp>
        <p:nvSpPr>
          <p:cNvPr id="5" name="TextBox 4"/>
          <p:cNvSpPr txBox="1"/>
          <p:nvPr/>
        </p:nvSpPr>
        <p:spPr>
          <a:xfrm>
            <a:off x="777240" y="804672"/>
            <a:ext cx="10881360" cy="713232"/>
          </a:xfrm>
          <a:prstGeom prst="rect">
            <a:avLst/>
          </a:prstGeom>
          <a:noFill/>
        </p:spPr>
        <p:txBody>
          <a:bodyPr wrap="square" anchor="ctr">
            <a:spAutoFit/>
          </a:bodyPr>
          <a:lstStyle/>
          <a:p>
            <a:pPr algn="l">
              <a:spcAft>
                <a:spcPts val="400"/>
              </a:spcAft>
            </a:pPr>
            <a:r>
              <a:rPr sz="2900" b="1">
                <a:solidFill>
                  <a:srgbClr val="161B26"/>
                </a:solidFill>
                <a:latin typeface="Arial"/>
              </a:rPr>
              <a:t>How Lab 3 Runs</a:t>
            </a:r>
          </a:p>
        </p:txBody>
      </p:sp>
      <p:sp>
        <p:nvSpPr>
          <p:cNvPr id="6" name="Rectangle 5"/>
          <p:cNvSpPr/>
          <p:nvPr/>
        </p:nvSpPr>
        <p:spPr>
          <a:xfrm>
            <a:off x="777240" y="155448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ounded Rectangle 6"/>
          <p:cNvSpPr/>
          <p:nvPr/>
        </p:nvSpPr>
        <p:spPr>
          <a:xfrm>
            <a:off x="777240" y="2148840"/>
            <a:ext cx="1819656" cy="2148840"/>
          </a:xfrm>
          <a:prstGeom prst="roundRect">
            <a:avLst>
              <a:gd name="adj" fmla="val 10000"/>
            </a:avLst>
          </a:prstGeom>
          <a:solidFill>
            <a:srgbClr val="F5F8FC"/>
          </a:solidFill>
          <a:ln w="1587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777240" y="2148840"/>
            <a:ext cx="1819656" cy="100584"/>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Oval 8"/>
          <p:cNvSpPr/>
          <p:nvPr/>
        </p:nvSpPr>
        <p:spPr>
          <a:xfrm>
            <a:off x="1403604" y="2459736"/>
            <a:ext cx="566928" cy="566928"/>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1403604" y="2459736"/>
            <a:ext cx="566928" cy="566928"/>
          </a:xfrm>
          <a:prstGeom prst="rect">
            <a:avLst/>
          </a:prstGeom>
          <a:noFill/>
        </p:spPr>
        <p:txBody>
          <a:bodyPr wrap="square" anchor="ctr">
            <a:spAutoFit/>
          </a:bodyPr>
          <a:lstStyle/>
          <a:p>
            <a:pPr algn="ctr">
              <a:spcAft>
                <a:spcPts val="400"/>
              </a:spcAft>
            </a:pPr>
            <a:r>
              <a:rPr sz="2400" b="1">
                <a:solidFill>
                  <a:srgbClr val="FFFFFF"/>
                </a:solidFill>
                <a:latin typeface="Arial"/>
              </a:rPr>
              <a:t>1</a:t>
            </a:r>
          </a:p>
        </p:txBody>
      </p:sp>
      <p:sp>
        <p:nvSpPr>
          <p:cNvPr id="11" name="TextBox 10"/>
          <p:cNvSpPr txBox="1"/>
          <p:nvPr/>
        </p:nvSpPr>
        <p:spPr>
          <a:xfrm>
            <a:off x="905256" y="3081528"/>
            <a:ext cx="1563624" cy="786384"/>
          </a:xfrm>
          <a:prstGeom prst="rect">
            <a:avLst/>
          </a:prstGeom>
          <a:noFill/>
        </p:spPr>
        <p:txBody>
          <a:bodyPr wrap="square" anchor="ctr">
            <a:spAutoFit/>
          </a:bodyPr>
          <a:lstStyle/>
          <a:p>
            <a:pPr algn="ctr">
              <a:spcAft>
                <a:spcPts val="0"/>
              </a:spcAft>
            </a:pPr>
            <a:r>
              <a:rPr sz="1300" b="1">
                <a:solidFill>
                  <a:srgbClr val="161B26"/>
                </a:solidFill>
                <a:latin typeface="Arial"/>
              </a:rPr>
              <a:t>Create Meridian</a:t>
            </a:r>
          </a:p>
        </p:txBody>
      </p:sp>
      <p:sp>
        <p:nvSpPr>
          <p:cNvPr id="12" name="TextBox 11"/>
          <p:cNvSpPr txBox="1"/>
          <p:nvPr/>
        </p:nvSpPr>
        <p:spPr>
          <a:xfrm>
            <a:off x="850392" y="3584448"/>
            <a:ext cx="1673352" cy="603504"/>
          </a:xfrm>
          <a:prstGeom prst="rect">
            <a:avLst/>
          </a:prstGeom>
          <a:noFill/>
        </p:spPr>
        <p:txBody>
          <a:bodyPr wrap="square" anchor="ctr">
            <a:spAutoFit/>
          </a:bodyPr>
          <a:lstStyle/>
          <a:p>
            <a:pPr algn="ctr">
              <a:spcAft>
                <a:spcPts val="0"/>
              </a:spcAft>
            </a:pPr>
            <a:r>
              <a:rPr sz="900" b="0">
                <a:solidFill>
                  <a:srgbClr val="5B6372"/>
                </a:solidFill>
                <a:latin typeface="Arial"/>
              </a:rPr>
              <a:t>company mission and cap</a:t>
            </a:r>
          </a:p>
        </p:txBody>
      </p:sp>
      <p:cxnSp>
        <p:nvCxnSpPr>
          <p:cNvPr id="13" name="Connector 12"/>
          <p:cNvCxnSpPr/>
          <p:nvPr/>
        </p:nvCxnSpPr>
        <p:spPr>
          <a:xfrm>
            <a:off x="2651760" y="3223260"/>
            <a:ext cx="274320" cy="0"/>
          </a:xfrm>
          <a:prstGeom prst="line">
            <a:avLst/>
          </a:prstGeom>
          <a:ln w="25400">
            <a:solidFill>
              <a:srgbClr val="10B981"/>
            </a:solidFill>
            <a:tailEnd type="triangle" w="med" len="med"/>
          </a:ln>
        </p:spPr>
        <p:style>
          <a:lnRef idx="2">
            <a:schemeClr val="accent1"/>
          </a:lnRef>
          <a:fillRef idx="0">
            <a:schemeClr val="accent1"/>
          </a:fillRef>
          <a:effectRef idx="1">
            <a:schemeClr val="accent1"/>
          </a:effectRef>
          <a:fontRef idx="minor">
            <a:schemeClr val="tx1"/>
          </a:fontRef>
        </p:style>
      </p:cxnSp>
      <p:sp>
        <p:nvSpPr>
          <p:cNvPr id="14" name="Rounded Rectangle 13"/>
          <p:cNvSpPr/>
          <p:nvPr/>
        </p:nvSpPr>
        <p:spPr>
          <a:xfrm>
            <a:off x="2980944" y="2148840"/>
            <a:ext cx="1819656" cy="2148840"/>
          </a:xfrm>
          <a:prstGeom prst="roundRect">
            <a:avLst>
              <a:gd name="adj" fmla="val 10000"/>
            </a:avLst>
          </a:prstGeom>
          <a:solidFill>
            <a:srgbClr val="F5F8FC"/>
          </a:solidFill>
          <a:ln w="1587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2980944" y="2148840"/>
            <a:ext cx="1819656" cy="100584"/>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Oval 15"/>
          <p:cNvSpPr/>
          <p:nvPr/>
        </p:nvSpPr>
        <p:spPr>
          <a:xfrm>
            <a:off x="3607308" y="2459736"/>
            <a:ext cx="566928" cy="566928"/>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3607308" y="2459736"/>
            <a:ext cx="566928" cy="566928"/>
          </a:xfrm>
          <a:prstGeom prst="rect">
            <a:avLst/>
          </a:prstGeom>
          <a:noFill/>
        </p:spPr>
        <p:txBody>
          <a:bodyPr wrap="square" anchor="ctr">
            <a:spAutoFit/>
          </a:bodyPr>
          <a:lstStyle/>
          <a:p>
            <a:pPr algn="ctr">
              <a:spcAft>
                <a:spcPts val="400"/>
              </a:spcAft>
            </a:pPr>
            <a:r>
              <a:rPr sz="2400" b="1">
                <a:solidFill>
                  <a:srgbClr val="FFFFFF"/>
                </a:solidFill>
                <a:latin typeface="Arial"/>
              </a:rPr>
              <a:t>2</a:t>
            </a:r>
          </a:p>
        </p:txBody>
      </p:sp>
      <p:sp>
        <p:nvSpPr>
          <p:cNvPr id="18" name="TextBox 17"/>
          <p:cNvSpPr txBox="1"/>
          <p:nvPr/>
        </p:nvSpPr>
        <p:spPr>
          <a:xfrm>
            <a:off x="3108960" y="3081528"/>
            <a:ext cx="1563624" cy="786384"/>
          </a:xfrm>
          <a:prstGeom prst="rect">
            <a:avLst/>
          </a:prstGeom>
          <a:noFill/>
        </p:spPr>
        <p:txBody>
          <a:bodyPr wrap="square" anchor="ctr">
            <a:spAutoFit/>
          </a:bodyPr>
          <a:lstStyle/>
          <a:p>
            <a:pPr algn="ctr">
              <a:spcAft>
                <a:spcPts val="0"/>
              </a:spcAft>
            </a:pPr>
            <a:r>
              <a:rPr sz="1300" b="1">
                <a:solidFill>
                  <a:srgbClr val="161B26"/>
                </a:solidFill>
                <a:latin typeface="Arial"/>
              </a:rPr>
              <a:t>Hire the tree</a:t>
            </a:r>
          </a:p>
        </p:txBody>
      </p:sp>
      <p:sp>
        <p:nvSpPr>
          <p:cNvPr id="19" name="TextBox 18"/>
          <p:cNvSpPr txBox="1"/>
          <p:nvPr/>
        </p:nvSpPr>
        <p:spPr>
          <a:xfrm>
            <a:off x="3054096" y="3584448"/>
            <a:ext cx="1673352" cy="603504"/>
          </a:xfrm>
          <a:prstGeom prst="rect">
            <a:avLst/>
          </a:prstGeom>
          <a:noFill/>
        </p:spPr>
        <p:txBody>
          <a:bodyPr wrap="square" anchor="ctr">
            <a:spAutoFit/>
          </a:bodyPr>
          <a:lstStyle/>
          <a:p>
            <a:pPr algn="ctr">
              <a:spcAft>
                <a:spcPts val="0"/>
              </a:spcAft>
            </a:pPr>
            <a:r>
              <a:rPr sz="900" b="0">
                <a:solidFill>
                  <a:srgbClr val="5B6372"/>
                </a:solidFill>
                <a:latin typeface="Arial"/>
              </a:rPr>
              <a:t>two analysts report to the lead</a:t>
            </a:r>
          </a:p>
        </p:txBody>
      </p:sp>
      <p:cxnSp>
        <p:nvCxnSpPr>
          <p:cNvPr id="20" name="Connector 19"/>
          <p:cNvCxnSpPr/>
          <p:nvPr/>
        </p:nvCxnSpPr>
        <p:spPr>
          <a:xfrm>
            <a:off x="4855464" y="3223260"/>
            <a:ext cx="274320" cy="0"/>
          </a:xfrm>
          <a:prstGeom prst="line">
            <a:avLst/>
          </a:prstGeom>
          <a:ln w="25400">
            <a:solidFill>
              <a:srgbClr val="10B981"/>
            </a:solidFill>
            <a:tailEnd type="triangle" w="med" len="med"/>
          </a:ln>
        </p:spPr>
        <p:style>
          <a:lnRef idx="2">
            <a:schemeClr val="accent1"/>
          </a:lnRef>
          <a:fillRef idx="0">
            <a:schemeClr val="accent1"/>
          </a:fillRef>
          <a:effectRef idx="1">
            <a:schemeClr val="accent1"/>
          </a:effectRef>
          <a:fontRef idx="minor">
            <a:schemeClr val="tx1"/>
          </a:fontRef>
        </p:style>
      </p:cxnSp>
      <p:sp>
        <p:nvSpPr>
          <p:cNvPr id="21" name="Rounded Rectangle 20"/>
          <p:cNvSpPr/>
          <p:nvPr/>
        </p:nvSpPr>
        <p:spPr>
          <a:xfrm>
            <a:off x="5184648" y="2148840"/>
            <a:ext cx="1819656" cy="2148840"/>
          </a:xfrm>
          <a:prstGeom prst="roundRect">
            <a:avLst>
              <a:gd name="adj" fmla="val 10000"/>
            </a:avLst>
          </a:prstGeom>
          <a:solidFill>
            <a:srgbClr val="F5F8FC"/>
          </a:solidFill>
          <a:ln w="1587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Rectangle 21"/>
          <p:cNvSpPr/>
          <p:nvPr/>
        </p:nvSpPr>
        <p:spPr>
          <a:xfrm>
            <a:off x="5184648" y="2148840"/>
            <a:ext cx="1819656" cy="100584"/>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Oval 22"/>
          <p:cNvSpPr/>
          <p:nvPr/>
        </p:nvSpPr>
        <p:spPr>
          <a:xfrm>
            <a:off x="5811012" y="2459736"/>
            <a:ext cx="566928" cy="566928"/>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5811012" y="2459736"/>
            <a:ext cx="566928" cy="566928"/>
          </a:xfrm>
          <a:prstGeom prst="rect">
            <a:avLst/>
          </a:prstGeom>
          <a:noFill/>
        </p:spPr>
        <p:txBody>
          <a:bodyPr wrap="square" anchor="ctr">
            <a:spAutoFit/>
          </a:bodyPr>
          <a:lstStyle/>
          <a:p>
            <a:pPr algn="ctr">
              <a:spcAft>
                <a:spcPts val="400"/>
              </a:spcAft>
            </a:pPr>
            <a:r>
              <a:rPr sz="2400" b="1">
                <a:solidFill>
                  <a:srgbClr val="FFFFFF"/>
                </a:solidFill>
                <a:latin typeface="Arial"/>
              </a:rPr>
              <a:t>3</a:t>
            </a:r>
          </a:p>
        </p:txBody>
      </p:sp>
      <p:sp>
        <p:nvSpPr>
          <p:cNvPr id="25" name="TextBox 24"/>
          <p:cNvSpPr txBox="1"/>
          <p:nvPr/>
        </p:nvSpPr>
        <p:spPr>
          <a:xfrm>
            <a:off x="5312664" y="3081528"/>
            <a:ext cx="1563624" cy="786384"/>
          </a:xfrm>
          <a:prstGeom prst="rect">
            <a:avLst/>
          </a:prstGeom>
          <a:noFill/>
        </p:spPr>
        <p:txBody>
          <a:bodyPr wrap="square" anchor="ctr">
            <a:spAutoFit/>
          </a:bodyPr>
          <a:lstStyle/>
          <a:p>
            <a:pPr algn="ctr">
              <a:spcAft>
                <a:spcPts val="0"/>
              </a:spcAft>
            </a:pPr>
            <a:r>
              <a:rPr sz="1300" b="1">
                <a:solidFill>
                  <a:srgbClr val="161B26"/>
                </a:solidFill>
                <a:latin typeface="Arial"/>
              </a:rPr>
              <a:t>Split the workspaces</a:t>
            </a:r>
          </a:p>
        </p:txBody>
      </p:sp>
      <p:sp>
        <p:nvSpPr>
          <p:cNvPr id="26" name="TextBox 25"/>
          <p:cNvSpPr txBox="1"/>
          <p:nvPr/>
        </p:nvSpPr>
        <p:spPr>
          <a:xfrm>
            <a:off x="5257800" y="3584448"/>
            <a:ext cx="1673352" cy="603504"/>
          </a:xfrm>
          <a:prstGeom prst="rect">
            <a:avLst/>
          </a:prstGeom>
          <a:noFill/>
        </p:spPr>
        <p:txBody>
          <a:bodyPr wrap="square" anchor="ctr">
            <a:spAutoFit/>
          </a:bodyPr>
          <a:lstStyle/>
          <a:p>
            <a:pPr algn="ctr">
              <a:spcAft>
                <a:spcPts val="0"/>
              </a:spcAft>
            </a:pPr>
            <a:r>
              <a:rPr sz="900" b="0">
                <a:solidFill>
                  <a:srgbClr val="5B6372"/>
                </a:solidFill>
                <a:latin typeface="Arial"/>
              </a:rPr>
              <a:t>one root per role</a:t>
            </a:r>
          </a:p>
        </p:txBody>
      </p:sp>
      <p:cxnSp>
        <p:nvCxnSpPr>
          <p:cNvPr id="27" name="Connector 26"/>
          <p:cNvCxnSpPr/>
          <p:nvPr/>
        </p:nvCxnSpPr>
        <p:spPr>
          <a:xfrm>
            <a:off x="7059168" y="3223260"/>
            <a:ext cx="274320" cy="0"/>
          </a:xfrm>
          <a:prstGeom prst="line">
            <a:avLst/>
          </a:prstGeom>
          <a:ln w="25400">
            <a:solidFill>
              <a:srgbClr val="10B981"/>
            </a:solidFill>
            <a:tailEnd type="triangle" w="med" len="med"/>
          </a:ln>
        </p:spPr>
        <p:style>
          <a:lnRef idx="2">
            <a:schemeClr val="accent1"/>
          </a:lnRef>
          <a:fillRef idx="0">
            <a:schemeClr val="accent1"/>
          </a:fillRef>
          <a:effectRef idx="1">
            <a:schemeClr val="accent1"/>
          </a:effectRef>
          <a:fontRef idx="minor">
            <a:schemeClr val="tx1"/>
          </a:fontRef>
        </p:style>
      </p:cxnSp>
      <p:sp>
        <p:nvSpPr>
          <p:cNvPr id="28" name="Rounded Rectangle 27"/>
          <p:cNvSpPr/>
          <p:nvPr/>
        </p:nvSpPr>
        <p:spPr>
          <a:xfrm>
            <a:off x="7388352" y="2148840"/>
            <a:ext cx="1819656" cy="2148840"/>
          </a:xfrm>
          <a:prstGeom prst="roundRect">
            <a:avLst>
              <a:gd name="adj" fmla="val 10000"/>
            </a:avLst>
          </a:prstGeom>
          <a:solidFill>
            <a:srgbClr val="F5F8FC"/>
          </a:solidFill>
          <a:ln w="1587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Rectangle 28"/>
          <p:cNvSpPr/>
          <p:nvPr/>
        </p:nvSpPr>
        <p:spPr>
          <a:xfrm>
            <a:off x="7388352" y="2148840"/>
            <a:ext cx="1819656" cy="100584"/>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Oval 29"/>
          <p:cNvSpPr/>
          <p:nvPr/>
        </p:nvSpPr>
        <p:spPr>
          <a:xfrm>
            <a:off x="8014716" y="2459736"/>
            <a:ext cx="566928" cy="566928"/>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TextBox 30"/>
          <p:cNvSpPr txBox="1"/>
          <p:nvPr/>
        </p:nvSpPr>
        <p:spPr>
          <a:xfrm>
            <a:off x="8014716" y="2459736"/>
            <a:ext cx="566928" cy="566928"/>
          </a:xfrm>
          <a:prstGeom prst="rect">
            <a:avLst/>
          </a:prstGeom>
          <a:noFill/>
        </p:spPr>
        <p:txBody>
          <a:bodyPr wrap="square" anchor="ctr">
            <a:spAutoFit/>
          </a:bodyPr>
          <a:lstStyle/>
          <a:p>
            <a:pPr algn="ctr">
              <a:spcAft>
                <a:spcPts val="400"/>
              </a:spcAft>
            </a:pPr>
            <a:r>
              <a:rPr sz="2400" b="1">
                <a:solidFill>
                  <a:srgbClr val="FFFFFF"/>
                </a:solidFill>
                <a:latin typeface="Arial"/>
              </a:rPr>
              <a:t>4</a:t>
            </a:r>
          </a:p>
        </p:txBody>
      </p:sp>
      <p:sp>
        <p:nvSpPr>
          <p:cNvPr id="32" name="TextBox 31"/>
          <p:cNvSpPr txBox="1"/>
          <p:nvPr/>
        </p:nvSpPr>
        <p:spPr>
          <a:xfrm>
            <a:off x="7516368" y="3081528"/>
            <a:ext cx="1563624" cy="786384"/>
          </a:xfrm>
          <a:prstGeom prst="rect">
            <a:avLst/>
          </a:prstGeom>
          <a:noFill/>
        </p:spPr>
        <p:txBody>
          <a:bodyPr wrap="square" anchor="ctr">
            <a:spAutoFit/>
          </a:bodyPr>
          <a:lstStyle/>
          <a:p>
            <a:pPr algn="ctr">
              <a:spcAft>
                <a:spcPts val="0"/>
              </a:spcAft>
            </a:pPr>
            <a:r>
              <a:rPr sz="1300" b="1">
                <a:solidFill>
                  <a:srgbClr val="161B26"/>
                </a:solidFill>
                <a:latin typeface="Arial"/>
              </a:rPr>
              <a:t>Git baseline each root</a:t>
            </a:r>
          </a:p>
        </p:txBody>
      </p:sp>
      <p:sp>
        <p:nvSpPr>
          <p:cNvPr id="33" name="TextBox 32"/>
          <p:cNvSpPr txBox="1"/>
          <p:nvPr/>
        </p:nvSpPr>
        <p:spPr>
          <a:xfrm>
            <a:off x="7461504" y="3584448"/>
            <a:ext cx="1673352" cy="603504"/>
          </a:xfrm>
          <a:prstGeom prst="rect">
            <a:avLst/>
          </a:prstGeom>
          <a:noFill/>
        </p:spPr>
        <p:txBody>
          <a:bodyPr wrap="square" anchor="ctr">
            <a:spAutoFit/>
          </a:bodyPr>
          <a:lstStyle/>
          <a:p>
            <a:pPr algn="ctr">
              <a:spcAft>
                <a:spcPts val="0"/>
              </a:spcAft>
            </a:pPr>
            <a:r>
              <a:rPr sz="900" b="0">
                <a:solidFill>
                  <a:srgbClr val="5B6372"/>
                </a:solidFill>
                <a:latin typeface="Arial"/>
              </a:rPr>
              <a:t>so the diff means something</a:t>
            </a:r>
          </a:p>
        </p:txBody>
      </p:sp>
      <p:cxnSp>
        <p:nvCxnSpPr>
          <p:cNvPr id="34" name="Connector 33"/>
          <p:cNvCxnSpPr/>
          <p:nvPr/>
        </p:nvCxnSpPr>
        <p:spPr>
          <a:xfrm>
            <a:off x="9262872" y="3223260"/>
            <a:ext cx="274320" cy="0"/>
          </a:xfrm>
          <a:prstGeom prst="line">
            <a:avLst/>
          </a:prstGeom>
          <a:ln w="25400">
            <a:solidFill>
              <a:srgbClr val="10B981"/>
            </a:solidFill>
            <a:tailEnd type="triangle" w="med" len="med"/>
          </a:ln>
        </p:spPr>
        <p:style>
          <a:lnRef idx="2">
            <a:schemeClr val="accent1"/>
          </a:lnRef>
          <a:fillRef idx="0">
            <a:schemeClr val="accent1"/>
          </a:fillRef>
          <a:effectRef idx="1">
            <a:schemeClr val="accent1"/>
          </a:effectRef>
          <a:fontRef idx="minor">
            <a:schemeClr val="tx1"/>
          </a:fontRef>
        </p:style>
      </p:cxnSp>
      <p:sp>
        <p:nvSpPr>
          <p:cNvPr id="35" name="Rounded Rectangle 34"/>
          <p:cNvSpPr/>
          <p:nvPr/>
        </p:nvSpPr>
        <p:spPr>
          <a:xfrm>
            <a:off x="9592056" y="2148840"/>
            <a:ext cx="1819656" cy="2148840"/>
          </a:xfrm>
          <a:prstGeom prst="roundRect">
            <a:avLst>
              <a:gd name="adj" fmla="val 10000"/>
            </a:avLst>
          </a:prstGeom>
          <a:solidFill>
            <a:srgbClr val="F5F8FC"/>
          </a:solidFill>
          <a:ln w="1587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 name="Rectangle 35"/>
          <p:cNvSpPr/>
          <p:nvPr/>
        </p:nvSpPr>
        <p:spPr>
          <a:xfrm>
            <a:off x="9592056" y="2148840"/>
            <a:ext cx="1819656" cy="100584"/>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 name="Oval 36"/>
          <p:cNvSpPr/>
          <p:nvPr/>
        </p:nvSpPr>
        <p:spPr>
          <a:xfrm>
            <a:off x="10218420" y="2459736"/>
            <a:ext cx="566928" cy="566928"/>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 name="TextBox 37"/>
          <p:cNvSpPr txBox="1"/>
          <p:nvPr/>
        </p:nvSpPr>
        <p:spPr>
          <a:xfrm>
            <a:off x="10218420" y="2459736"/>
            <a:ext cx="566928" cy="566928"/>
          </a:xfrm>
          <a:prstGeom prst="rect">
            <a:avLst/>
          </a:prstGeom>
          <a:noFill/>
        </p:spPr>
        <p:txBody>
          <a:bodyPr wrap="square" anchor="ctr">
            <a:spAutoFit/>
          </a:bodyPr>
          <a:lstStyle/>
          <a:p>
            <a:pPr algn="ctr">
              <a:spcAft>
                <a:spcPts val="400"/>
              </a:spcAft>
            </a:pPr>
            <a:r>
              <a:rPr sz="2400" b="1">
                <a:solidFill>
                  <a:srgbClr val="FFFFFF"/>
                </a:solidFill>
                <a:latin typeface="Arial"/>
              </a:rPr>
              <a:t>5</a:t>
            </a:r>
          </a:p>
        </p:txBody>
      </p:sp>
      <p:sp>
        <p:nvSpPr>
          <p:cNvPr id="39" name="TextBox 38"/>
          <p:cNvSpPr txBox="1"/>
          <p:nvPr/>
        </p:nvSpPr>
        <p:spPr>
          <a:xfrm>
            <a:off x="9720072" y="3081528"/>
            <a:ext cx="1563624" cy="786384"/>
          </a:xfrm>
          <a:prstGeom prst="rect">
            <a:avLst/>
          </a:prstGeom>
          <a:noFill/>
        </p:spPr>
        <p:txBody>
          <a:bodyPr wrap="square" anchor="ctr">
            <a:spAutoFit/>
          </a:bodyPr>
          <a:lstStyle/>
          <a:p>
            <a:pPr algn="ctr">
              <a:spcAft>
                <a:spcPts val="0"/>
              </a:spcAft>
            </a:pPr>
            <a:r>
              <a:rPr sz="1300" b="1">
                <a:solidFill>
                  <a:srgbClr val="161B26"/>
                </a:solidFill>
                <a:latin typeface="Arial"/>
              </a:rPr>
              <a:t>Marker run per agent</a:t>
            </a:r>
          </a:p>
        </p:txBody>
      </p:sp>
      <p:sp>
        <p:nvSpPr>
          <p:cNvPr id="40" name="TextBox 39"/>
          <p:cNvSpPr txBox="1"/>
          <p:nvPr/>
        </p:nvSpPr>
        <p:spPr>
          <a:xfrm>
            <a:off x="9665208" y="3584448"/>
            <a:ext cx="1673352" cy="603504"/>
          </a:xfrm>
          <a:prstGeom prst="rect">
            <a:avLst/>
          </a:prstGeom>
          <a:noFill/>
        </p:spPr>
        <p:txBody>
          <a:bodyPr wrap="square" anchor="ctr">
            <a:spAutoFit/>
          </a:bodyPr>
          <a:lstStyle/>
          <a:p>
            <a:pPr algn="ctr">
              <a:spcAft>
                <a:spcPts val="0"/>
              </a:spcAft>
            </a:pPr>
            <a:r>
              <a:rPr sz="900" b="0">
                <a:solidFill>
                  <a:srgbClr val="5B6372"/>
                </a:solidFill>
                <a:latin typeface="Arial"/>
              </a:rPr>
              <a:t>prove the runtime boundary</a:t>
            </a:r>
          </a:p>
        </p:txBody>
      </p:sp>
      <p:sp>
        <p:nvSpPr>
          <p:cNvPr id="41" name="Rectangle 40"/>
          <p:cNvSpPr/>
          <p:nvPr/>
        </p:nvSpPr>
        <p:spPr>
          <a:xfrm>
            <a:off x="777240" y="4608576"/>
            <a:ext cx="10634472" cy="105156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2" name="Rectangle 41"/>
          <p:cNvSpPr/>
          <p:nvPr/>
        </p:nvSpPr>
        <p:spPr>
          <a:xfrm>
            <a:off x="777240" y="4608576"/>
            <a:ext cx="100584" cy="105156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3" name="TextBox 42"/>
          <p:cNvSpPr txBox="1"/>
          <p:nvPr/>
        </p:nvSpPr>
        <p:spPr>
          <a:xfrm>
            <a:off x="1051560" y="4718304"/>
            <a:ext cx="10149840" cy="292608"/>
          </a:xfrm>
          <a:prstGeom prst="rect">
            <a:avLst/>
          </a:prstGeom>
          <a:noFill/>
        </p:spPr>
        <p:txBody>
          <a:bodyPr wrap="square" anchor="t">
            <a:spAutoFit/>
          </a:bodyPr>
          <a:lstStyle/>
          <a:p>
            <a:pPr algn="l">
              <a:spcAft>
                <a:spcPts val="400"/>
              </a:spcAft>
            </a:pPr>
            <a:r>
              <a:rPr sz="1100" b="1">
                <a:solidFill>
                  <a:srgbClr val="10B981"/>
                </a:solidFill>
                <a:latin typeface="Arial"/>
              </a:rPr>
              <a:t>THE POINT</a:t>
            </a:r>
          </a:p>
        </p:txBody>
      </p:sp>
      <p:sp>
        <p:nvSpPr>
          <p:cNvPr id="44" name="TextBox 43"/>
          <p:cNvSpPr txBox="1"/>
          <p:nvPr/>
        </p:nvSpPr>
        <p:spPr>
          <a:xfrm>
            <a:off x="1051560" y="5029200"/>
            <a:ext cx="10149840" cy="566928"/>
          </a:xfrm>
          <a:prstGeom prst="rect">
            <a:avLst/>
          </a:prstGeom>
          <a:noFill/>
        </p:spPr>
        <p:txBody>
          <a:bodyPr wrap="square" anchor="t">
            <a:spAutoFit/>
          </a:bodyPr>
          <a:lstStyle/>
          <a:p>
            <a:pPr algn="l">
              <a:spcAft>
                <a:spcPts val="400"/>
              </a:spcAft>
            </a:pPr>
            <a:r>
              <a:rPr sz="1300" b="0">
                <a:solidFill>
                  <a:srgbClr val="161B26"/>
                </a:solidFill>
                <a:latin typeface="Arial"/>
              </a:rPr>
              <a:t>LO2: Build a multi-agent reporting hierarchy with distinct, budgeted and confined workspaces, and prove each runtime boundary with a marker run.</a:t>
            </a:r>
          </a:p>
        </p:txBody>
      </p:sp>
      <p:sp>
        <p:nvSpPr>
          <p:cNvPr id="95" name="TextBox 94"/>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Manage AI Agents with Paperclip (TGS-2023036646)  ·  TGS-2023036646</a:t>
            </a:r>
          </a:p>
        </p:txBody>
      </p:sp>
      <p:sp>
        <p:nvSpPr>
          <p:cNvPr id="96" name="TextBox 95"/>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97" name="TextBox 96"/>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56</a:t>
            </a:r>
          </a:p>
        </p:txBody>
      </p:sp>
    </p:spTree>
  </p:cSld>
  <p:clrMapOvr>
    <a:masterClrMapping/>
  </p:clrMapOvr>
  <p:timing>
    <p:tnLst>
      <p:par>
        <p:cTn id="1" dur="indefinite" restart="never" nodeType="tmRoot">
          <p:childTnLst>
            <p:seq concurrent="1" nextAc="seek">
              <p:cTn id="2" dur="indefinite" nodeType="mainSeq">
                <p:childTnLst>
                  <p:par>
                    <p:cTn id="10" fill="hold">
                      <p:stCondLst>
                        <p:cond delay="indefinite"/>
                      </p:stCondLst>
                      <p:childTnLst>
                        <p:par>
                          <p:cTn id="11" fill="hold">
                            <p:stCondLst>
                              <p:cond delay="0"/>
                            </p:stCondLst>
                            <p:childTnLst>
                              <p:par>
                                <p:cTn id="12" presetID="1" presetClass="entr" presetSubtype="0" fill="hold" nodeType="clickEffect">
                                  <p:stCondLst>
                                    <p:cond delay="0"/>
                                  </p:stCondLst>
                                  <p:childTnLst>
                                    <p:set>
                                      <p:cBhvr>
                                        <p:cTn id="13" dur="1" fill="hold">
                                          <p:stCondLst>
                                            <p:cond delay="0"/>
                                          </p:stCondLst>
                                        </p:cTn>
                                        <p:tgtEl>
                                          <p:spTgt spid="7"/>
                                        </p:tgtEl>
                                        <p:attrNameLst>
                                          <p:attrName>style.visibility</p:attrName>
                                        </p:attrNameLst>
                                      </p:cBhvr>
                                      <p:to>
                                        <p:strVal val="visible"/>
                                      </p:to>
                                    </p:set>
                                    <p:animEffect transition="in" filter="fade">
                                      <p:cBhvr>
                                        <p:cTn id="14" dur="400"/>
                                        <p:tgtEl>
                                          <p:spTgt spid="7"/>
                                        </p:tgtEl>
                                      </p:cBhvr>
                                    </p:animEffect>
                                  </p:childTnLst>
                                </p:cTn>
                              </p:par>
                            </p:childTnLst>
                          </p:cTn>
                        </p:par>
                      </p:childTnLst>
                    </p:cTn>
                  </p:par>
                  <p:par>
                    <p:cTn id="20" fill="hold">
                      <p:stCondLst>
                        <p:cond delay="indefinite"/>
                      </p:stCondLst>
                      <p:childTnLst>
                        <p:par>
                          <p:cTn id="21" fill="hold">
                            <p:stCondLst>
                              <p:cond delay="0"/>
                            </p:stCondLst>
                            <p:childTnLst>
                              <p:par>
                                <p:cTn id="22" presetID="1" presetClass="entr" presetSubtype="0" fill="hold" nodeType="afterEffect">
                                  <p:stCondLst>
                                    <p:cond delay="0"/>
                                  </p:stCondLst>
                                  <p:childTnLst>
                                    <p:set>
                                      <p:cBhvr>
                                        <p:cTn id="23" dur="1" fill="hold">
                                          <p:stCondLst>
                                            <p:cond delay="0"/>
                                          </p:stCondLst>
                                        </p:cTn>
                                        <p:tgtEl>
                                          <p:spTgt spid="13"/>
                                        </p:tgtEl>
                                        <p:attrNameLst>
                                          <p:attrName>style.visibility</p:attrName>
                                        </p:attrNameLst>
                                      </p:cBhvr>
                                      <p:to>
                                        <p:strVal val="visible"/>
                                      </p:to>
                                    </p:set>
                                    <p:animEffect transition="in" filter="fade">
                                      <p:cBhvr>
                                        <p:cTn id="24" dur="400"/>
                                        <p:tgtEl>
                                          <p:spTgt spid="13"/>
                                        </p:tgtEl>
                                      </p:cBhvr>
                                    </p:animEffect>
                                  </p:childTnLst>
                                </p:cTn>
                              </p:par>
                            </p:childTnLst>
                          </p:cTn>
                        </p:par>
                      </p:childTnLst>
                    </p:cTn>
                  </p:par>
                  <p:par>
                    <p:cTn id="30" fill="hold">
                      <p:stCondLst>
                        <p:cond delay="indefinite"/>
                      </p:stCondLst>
                      <p:childTnLst>
                        <p:par>
                          <p:cTn id="31" fill="hold">
                            <p:stCondLst>
                              <p:cond delay="0"/>
                            </p:stCondLst>
                            <p:childTnLst>
                              <p:par>
                                <p:cTn id="32" presetID="1" presetClass="entr" presetSubtype="0" fill="hold" nodeType="afterEffect">
                                  <p:stCondLst>
                                    <p:cond delay="0"/>
                                  </p:stCondLst>
                                  <p:childTnLst>
                                    <p:set>
                                      <p:cBhvr>
                                        <p:cTn id="33" dur="1" fill="hold">
                                          <p:stCondLst>
                                            <p:cond delay="0"/>
                                          </p:stCondLst>
                                        </p:cTn>
                                        <p:tgtEl>
                                          <p:spTgt spid="14"/>
                                        </p:tgtEl>
                                        <p:attrNameLst>
                                          <p:attrName>style.visibility</p:attrName>
                                        </p:attrNameLst>
                                      </p:cBhvr>
                                      <p:to>
                                        <p:strVal val="visible"/>
                                      </p:to>
                                    </p:set>
                                    <p:animEffect transition="in" filter="fade">
                                      <p:cBhvr>
                                        <p:cTn id="34" dur="400"/>
                                        <p:tgtEl>
                                          <p:spTgt spid="14"/>
                                        </p:tgtEl>
                                      </p:cBhvr>
                                    </p:animEffect>
                                  </p:childTnLst>
                                </p:cTn>
                              </p:par>
                            </p:childTnLst>
                          </p:cTn>
                        </p:par>
                      </p:childTnLst>
                    </p:cTn>
                  </p:par>
                  <p:par>
                    <p:cTn id="40" fill="hold">
                      <p:stCondLst>
                        <p:cond delay="indefinite"/>
                      </p:stCondLst>
                      <p:childTnLst>
                        <p:par>
                          <p:cTn id="41" fill="hold">
                            <p:stCondLst>
                              <p:cond delay="0"/>
                            </p:stCondLst>
                            <p:childTnLst>
                              <p:par>
                                <p:cTn id="42" presetID="1" presetClass="entr" presetSubtype="0" fill="hold" nodeType="afterEffect">
                                  <p:stCondLst>
                                    <p:cond delay="0"/>
                                  </p:stCondLst>
                                  <p:childTnLst>
                                    <p:set>
                                      <p:cBhvr>
                                        <p:cTn id="43" dur="1" fill="hold">
                                          <p:stCondLst>
                                            <p:cond delay="0"/>
                                          </p:stCondLst>
                                        </p:cTn>
                                        <p:tgtEl>
                                          <p:spTgt spid="20"/>
                                        </p:tgtEl>
                                        <p:attrNameLst>
                                          <p:attrName>style.visibility</p:attrName>
                                        </p:attrNameLst>
                                      </p:cBhvr>
                                      <p:to>
                                        <p:strVal val="visible"/>
                                      </p:to>
                                    </p:set>
                                    <p:animEffect transition="in" filter="fade">
                                      <p:cBhvr>
                                        <p:cTn id="44" dur="400"/>
                                        <p:tgtEl>
                                          <p:spTgt spid="20"/>
                                        </p:tgtEl>
                                      </p:cBhvr>
                                    </p:animEffect>
                                  </p:childTnLst>
                                </p:cTn>
                              </p:par>
                            </p:childTnLst>
                          </p:cTn>
                        </p:par>
                      </p:childTnLst>
                    </p:cTn>
                  </p:par>
                  <p:par>
                    <p:cTn id="50" fill="hold">
                      <p:stCondLst>
                        <p:cond delay="indefinite"/>
                      </p:stCondLst>
                      <p:childTnLst>
                        <p:par>
                          <p:cTn id="51" fill="hold">
                            <p:stCondLst>
                              <p:cond delay="0"/>
                            </p:stCondLst>
                            <p:childTnLst>
                              <p:par>
                                <p:cTn id="52" presetID="1" presetClass="entr" presetSubtype="0" fill="hold" nodeType="afterEffect">
                                  <p:stCondLst>
                                    <p:cond delay="0"/>
                                  </p:stCondLst>
                                  <p:childTnLst>
                                    <p:set>
                                      <p:cBhvr>
                                        <p:cTn id="53" dur="1" fill="hold">
                                          <p:stCondLst>
                                            <p:cond delay="0"/>
                                          </p:stCondLst>
                                        </p:cTn>
                                        <p:tgtEl>
                                          <p:spTgt spid="21"/>
                                        </p:tgtEl>
                                        <p:attrNameLst>
                                          <p:attrName>style.visibility</p:attrName>
                                        </p:attrNameLst>
                                      </p:cBhvr>
                                      <p:to>
                                        <p:strVal val="visible"/>
                                      </p:to>
                                    </p:set>
                                    <p:animEffect transition="in" filter="fade">
                                      <p:cBhvr>
                                        <p:cTn id="54" dur="400"/>
                                        <p:tgtEl>
                                          <p:spTgt spid="21"/>
                                        </p:tgtEl>
                                      </p:cBhvr>
                                    </p:animEffect>
                                  </p:childTnLst>
                                </p:cTn>
                              </p:par>
                            </p:childTnLst>
                          </p:cTn>
                        </p:par>
                      </p:childTnLst>
                    </p:cTn>
                  </p:par>
                  <p:par>
                    <p:cTn id="60" fill="hold">
                      <p:stCondLst>
                        <p:cond delay="indefinite"/>
                      </p:stCondLst>
                      <p:childTnLst>
                        <p:par>
                          <p:cTn id="61" fill="hold">
                            <p:stCondLst>
                              <p:cond delay="0"/>
                            </p:stCondLst>
                            <p:childTnLst>
                              <p:par>
                                <p:cTn id="62" presetID="1" presetClass="entr" presetSubtype="0" fill="hold" nodeType="afterEffect">
                                  <p:stCondLst>
                                    <p:cond delay="0"/>
                                  </p:stCondLst>
                                  <p:childTnLst>
                                    <p:set>
                                      <p:cBhvr>
                                        <p:cTn id="63" dur="1" fill="hold">
                                          <p:stCondLst>
                                            <p:cond delay="0"/>
                                          </p:stCondLst>
                                        </p:cTn>
                                        <p:tgtEl>
                                          <p:spTgt spid="27"/>
                                        </p:tgtEl>
                                        <p:attrNameLst>
                                          <p:attrName>style.visibility</p:attrName>
                                        </p:attrNameLst>
                                      </p:cBhvr>
                                      <p:to>
                                        <p:strVal val="visible"/>
                                      </p:to>
                                    </p:set>
                                    <p:animEffect transition="in" filter="fade">
                                      <p:cBhvr>
                                        <p:cTn id="64" dur="400"/>
                                        <p:tgtEl>
                                          <p:spTgt spid="27"/>
                                        </p:tgtEl>
                                      </p:cBhvr>
                                    </p:animEffect>
                                  </p:childTnLst>
                                </p:cTn>
                              </p:par>
                            </p:childTnLst>
                          </p:cTn>
                        </p:par>
                      </p:childTnLst>
                    </p:cTn>
                  </p:par>
                  <p:par>
                    <p:cTn id="70" fill="hold">
                      <p:stCondLst>
                        <p:cond delay="indefinite"/>
                      </p:stCondLst>
                      <p:childTnLst>
                        <p:par>
                          <p:cTn id="71" fill="hold">
                            <p:stCondLst>
                              <p:cond delay="0"/>
                            </p:stCondLst>
                            <p:childTnLst>
                              <p:par>
                                <p:cTn id="72" presetID="1" presetClass="entr" presetSubtype="0" fill="hold" nodeType="afterEffect">
                                  <p:stCondLst>
                                    <p:cond delay="0"/>
                                  </p:stCondLst>
                                  <p:childTnLst>
                                    <p:set>
                                      <p:cBhvr>
                                        <p:cTn id="73" dur="1" fill="hold">
                                          <p:stCondLst>
                                            <p:cond delay="0"/>
                                          </p:stCondLst>
                                        </p:cTn>
                                        <p:tgtEl>
                                          <p:spTgt spid="28"/>
                                        </p:tgtEl>
                                        <p:attrNameLst>
                                          <p:attrName>style.visibility</p:attrName>
                                        </p:attrNameLst>
                                      </p:cBhvr>
                                      <p:to>
                                        <p:strVal val="visible"/>
                                      </p:to>
                                    </p:set>
                                    <p:animEffect transition="in" filter="fade">
                                      <p:cBhvr>
                                        <p:cTn id="74" dur="400"/>
                                        <p:tgtEl>
                                          <p:spTgt spid="28"/>
                                        </p:tgtEl>
                                      </p:cBhvr>
                                    </p:animEffect>
                                  </p:childTnLst>
                                </p:cTn>
                              </p:par>
                            </p:childTnLst>
                          </p:cTn>
                        </p:par>
                      </p:childTnLst>
                    </p:cTn>
                  </p:par>
                  <p:par>
                    <p:cTn id="80" fill="hold">
                      <p:stCondLst>
                        <p:cond delay="indefinite"/>
                      </p:stCondLst>
                      <p:childTnLst>
                        <p:par>
                          <p:cTn id="81" fill="hold">
                            <p:stCondLst>
                              <p:cond delay="0"/>
                            </p:stCondLst>
                            <p:childTnLst>
                              <p:par>
                                <p:cTn id="82" presetID="1" presetClass="entr" presetSubtype="0" fill="hold" nodeType="afterEffect">
                                  <p:stCondLst>
                                    <p:cond delay="0"/>
                                  </p:stCondLst>
                                  <p:childTnLst>
                                    <p:set>
                                      <p:cBhvr>
                                        <p:cTn id="83" dur="1" fill="hold">
                                          <p:stCondLst>
                                            <p:cond delay="0"/>
                                          </p:stCondLst>
                                        </p:cTn>
                                        <p:tgtEl>
                                          <p:spTgt spid="34"/>
                                        </p:tgtEl>
                                        <p:attrNameLst>
                                          <p:attrName>style.visibility</p:attrName>
                                        </p:attrNameLst>
                                      </p:cBhvr>
                                      <p:to>
                                        <p:strVal val="visible"/>
                                      </p:to>
                                    </p:set>
                                    <p:animEffect transition="in" filter="fade">
                                      <p:cBhvr>
                                        <p:cTn id="84" dur="400"/>
                                        <p:tgtEl>
                                          <p:spTgt spid="34"/>
                                        </p:tgtEl>
                                      </p:cBhvr>
                                    </p:animEffect>
                                  </p:childTnLst>
                                </p:cTn>
                              </p:par>
                            </p:childTnLst>
                          </p:cTn>
                        </p:par>
                      </p:childTnLst>
                    </p:cTn>
                  </p:par>
                  <p:par>
                    <p:cTn id="90" fill="hold">
                      <p:stCondLst>
                        <p:cond delay="indefinite"/>
                      </p:stCondLst>
                      <p:childTnLst>
                        <p:par>
                          <p:cTn id="91" fill="hold">
                            <p:stCondLst>
                              <p:cond delay="0"/>
                            </p:stCondLst>
                            <p:childTnLst>
                              <p:par>
                                <p:cTn id="92" presetID="1" presetClass="entr" presetSubtype="0" fill="hold" nodeType="afterEffect">
                                  <p:stCondLst>
                                    <p:cond delay="0"/>
                                  </p:stCondLst>
                                  <p:childTnLst>
                                    <p:set>
                                      <p:cBhvr>
                                        <p:cTn id="93" dur="1" fill="hold">
                                          <p:stCondLst>
                                            <p:cond delay="0"/>
                                          </p:stCondLst>
                                        </p:cTn>
                                        <p:tgtEl>
                                          <p:spTgt spid="35"/>
                                        </p:tgtEl>
                                        <p:attrNameLst>
                                          <p:attrName>style.visibility</p:attrName>
                                        </p:attrNameLst>
                                      </p:cBhvr>
                                      <p:to>
                                        <p:strVal val="visible"/>
                                      </p:to>
                                    </p:set>
                                    <p:animEffect transition="in" filter="fade">
                                      <p:cBhvr>
                                        <p:cTn id="94" dur="400"/>
                                        <p:tgtEl>
                                          <p:spTgt spid="35"/>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transition spd="fast" advClick="1">
    <p:fade/>
  </p:transition>
</p:sld>
</file>

<file path=ppt/slides/slide5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10B981"/>
                </a:solidFill>
                <a:latin typeface="Arial"/>
              </a:rPr>
              <a:t>LAB 3 · VERIFY</a:t>
            </a:r>
          </a:p>
        </p:txBody>
      </p:sp>
      <p:sp>
        <p:nvSpPr>
          <p:cNvPr id="5" name="TextBox 4"/>
          <p:cNvSpPr txBox="1"/>
          <p:nvPr/>
        </p:nvSpPr>
        <p:spPr>
          <a:xfrm>
            <a:off x="777240" y="804672"/>
            <a:ext cx="10881360" cy="713232"/>
          </a:xfrm>
          <a:prstGeom prst="rect">
            <a:avLst/>
          </a:prstGeom>
          <a:noFill/>
        </p:spPr>
        <p:txBody>
          <a:bodyPr wrap="square" anchor="ctr">
            <a:spAutoFit/>
          </a:bodyPr>
          <a:lstStyle/>
          <a:p>
            <a:pPr algn="l">
              <a:spcAft>
                <a:spcPts val="400"/>
              </a:spcAft>
            </a:pPr>
            <a:r>
              <a:rPr sz="2200" b="1">
                <a:solidFill>
                  <a:srgbClr val="161B26"/>
                </a:solidFill>
                <a:latin typeface="Arial"/>
              </a:rPr>
              <a:t>Build the Meridian Reporting Tree and Validate Runtime Boundaries (Finance)</a:t>
            </a:r>
          </a:p>
        </p:txBody>
      </p:sp>
      <p:sp>
        <p:nvSpPr>
          <p:cNvPr id="6" name="Rectangle 5"/>
          <p:cNvSpPr/>
          <p:nvPr/>
        </p:nvSpPr>
        <p:spPr>
          <a:xfrm>
            <a:off x="777240" y="155448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77240" y="1783080"/>
            <a:ext cx="10634472" cy="1965960"/>
          </a:xfrm>
          <a:prstGeom prst="rect">
            <a:avLst/>
          </a:prstGeom>
          <a:solidFill>
            <a:srgbClr val="E8F7E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777240" y="1783080"/>
            <a:ext cx="100584" cy="1965960"/>
          </a:xfrm>
          <a:prstGeom prst="rect">
            <a:avLst/>
          </a:prstGeom>
          <a:solidFill>
            <a:srgbClr val="127A3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1097280" y="1938528"/>
            <a:ext cx="10058400" cy="402336"/>
          </a:xfrm>
          <a:prstGeom prst="rect">
            <a:avLst/>
          </a:prstGeom>
          <a:noFill/>
        </p:spPr>
        <p:txBody>
          <a:bodyPr wrap="square" anchor="t">
            <a:spAutoFit/>
          </a:bodyPr>
          <a:lstStyle/>
          <a:p>
            <a:pPr algn="l">
              <a:spcAft>
                <a:spcPts val="400"/>
              </a:spcAft>
            </a:pPr>
            <a:r>
              <a:rPr sz="1700" b="1">
                <a:solidFill>
                  <a:srgbClr val="127A3E"/>
                </a:solidFill>
                <a:latin typeface="Arial"/>
              </a:rPr>
              <a:t>✅  Expected result</a:t>
            </a:r>
          </a:p>
        </p:txBody>
      </p:sp>
      <p:sp>
        <p:nvSpPr>
          <p:cNvPr id="10" name="TextBox 9"/>
          <p:cNvSpPr txBox="1"/>
          <p:nvPr/>
        </p:nvSpPr>
        <p:spPr>
          <a:xfrm>
            <a:off x="1097280" y="2395728"/>
            <a:ext cx="10058400" cy="1234440"/>
          </a:xfrm>
          <a:prstGeom prst="rect">
            <a:avLst/>
          </a:prstGeom>
          <a:noFill/>
        </p:spPr>
        <p:txBody>
          <a:bodyPr wrap="square" anchor="t">
            <a:spAutoFit/>
          </a:bodyPr>
          <a:lstStyle/>
          <a:p>
            <a:pPr algn="l">
              <a:spcAft>
                <a:spcPts val="400"/>
              </a:spcAft>
            </a:pPr>
            <a:r>
              <a:rPr sz="1500" b="0">
                <a:solidFill>
                  <a:srgbClr val="161B26"/>
                </a:solidFill>
                <a:latin typeface="Arial"/>
              </a:rPr>
              <a:t>paperclip → Org shows a three-agent tree with both analysts reporting to the Finance Lead; each workspace contains exactly ONE marker.md attributable to its own agent; every agent has an individual cap and the sum of agent caps does not exceed the company cap; and each marker run has a recorded run ID.</a:t>
            </a:r>
          </a:p>
        </p:txBody>
      </p:sp>
      <p:sp>
        <p:nvSpPr>
          <p:cNvPr id="11" name="TextBox 10"/>
          <p:cNvSpPr txBox="1"/>
          <p:nvPr/>
        </p:nvSpPr>
        <p:spPr>
          <a:xfrm>
            <a:off x="777240" y="3950208"/>
            <a:ext cx="10634472" cy="310896"/>
          </a:xfrm>
          <a:prstGeom prst="rect">
            <a:avLst/>
          </a:prstGeom>
          <a:noFill/>
        </p:spPr>
        <p:txBody>
          <a:bodyPr wrap="square" anchor="t">
            <a:spAutoFit/>
          </a:bodyPr>
          <a:lstStyle/>
          <a:p>
            <a:pPr algn="l">
              <a:spcAft>
                <a:spcPts val="400"/>
              </a:spcAft>
            </a:pPr>
            <a:r>
              <a:rPr sz="1100" b="1">
                <a:solidFill>
                  <a:srgbClr val="F59E0B"/>
                </a:solidFill>
                <a:latin typeface="Arial"/>
              </a:rPr>
              <a:t>IF IT DOESN'T WORK</a:t>
            </a:r>
          </a:p>
        </p:txBody>
      </p:sp>
      <p:sp>
        <p:nvSpPr>
          <p:cNvPr id="12" name="Rectangle 11"/>
          <p:cNvSpPr/>
          <p:nvPr/>
        </p:nvSpPr>
        <p:spPr>
          <a:xfrm>
            <a:off x="777240" y="4297680"/>
            <a:ext cx="3392424" cy="157276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777240" y="4297680"/>
            <a:ext cx="3392424" cy="82296"/>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996696" y="4453128"/>
            <a:ext cx="2980944" cy="329184"/>
          </a:xfrm>
          <a:prstGeom prst="rect">
            <a:avLst/>
          </a:prstGeom>
          <a:noFill/>
        </p:spPr>
        <p:txBody>
          <a:bodyPr wrap="square" anchor="t">
            <a:spAutoFit/>
          </a:bodyPr>
          <a:lstStyle/>
          <a:p>
            <a:pPr algn="l">
              <a:spcAft>
                <a:spcPts val="400"/>
              </a:spcAft>
            </a:pPr>
            <a:r>
              <a:rPr sz="1250" b="1">
                <a:solidFill>
                  <a:srgbClr val="161B26"/>
                </a:solidFill>
                <a:latin typeface="Arial"/>
              </a:rPr>
              <a:t>A marker file appears in the wrong workspace</a:t>
            </a:r>
          </a:p>
        </p:txBody>
      </p:sp>
      <p:sp>
        <p:nvSpPr>
          <p:cNvPr id="15" name="TextBox 14"/>
          <p:cNvSpPr txBox="1"/>
          <p:nvPr/>
        </p:nvSpPr>
        <p:spPr>
          <a:xfrm>
            <a:off x="996696" y="4809744"/>
            <a:ext cx="2980944" cy="960120"/>
          </a:xfrm>
          <a:prstGeom prst="rect">
            <a:avLst/>
          </a:prstGeom>
          <a:noFill/>
        </p:spPr>
        <p:txBody>
          <a:bodyPr wrap="square" anchor="t">
            <a:spAutoFit/>
          </a:bodyPr>
          <a:lstStyle/>
          <a:p>
            <a:pPr algn="l">
              <a:spcAft>
                <a:spcPts val="400"/>
              </a:spcAft>
            </a:pPr>
            <a:r>
              <a:rPr sz="1100" b="0">
                <a:solidFill>
                  <a:srgbClr val="5B6372"/>
                </a:solidFill>
                <a:latin typeface="Arial"/>
              </a:rPr>
              <a:t>The agent's workspace path is misbound. Correct the path on the AGENT (not the company), delete the stray file, and re-run the marker.</a:t>
            </a:r>
          </a:p>
        </p:txBody>
      </p:sp>
      <p:sp>
        <p:nvSpPr>
          <p:cNvPr id="16" name="Rectangle 15"/>
          <p:cNvSpPr/>
          <p:nvPr/>
        </p:nvSpPr>
        <p:spPr>
          <a:xfrm>
            <a:off x="4398264" y="4297680"/>
            <a:ext cx="3392424" cy="157276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4398264" y="4297680"/>
            <a:ext cx="3392424" cy="82296"/>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4617720" y="4453128"/>
            <a:ext cx="2980944" cy="329184"/>
          </a:xfrm>
          <a:prstGeom prst="rect">
            <a:avLst/>
          </a:prstGeom>
          <a:noFill/>
        </p:spPr>
        <p:txBody>
          <a:bodyPr wrap="square" anchor="t">
            <a:spAutoFit/>
          </a:bodyPr>
          <a:lstStyle/>
          <a:p>
            <a:pPr algn="l">
              <a:spcAft>
                <a:spcPts val="400"/>
              </a:spcAft>
            </a:pPr>
            <a:r>
              <a:rPr sz="1250" b="1">
                <a:solidFill>
                  <a:srgbClr val="161B26"/>
                </a:solidFill>
                <a:latin typeface="Arial"/>
              </a:rPr>
              <a:t>A specialist never wakes</a:t>
            </a:r>
          </a:p>
        </p:txBody>
      </p:sp>
      <p:sp>
        <p:nvSpPr>
          <p:cNvPr id="19" name="TextBox 18"/>
          <p:cNvSpPr txBox="1"/>
          <p:nvPr/>
        </p:nvSpPr>
        <p:spPr>
          <a:xfrm>
            <a:off x="4617720" y="4809744"/>
            <a:ext cx="2980944" cy="960120"/>
          </a:xfrm>
          <a:prstGeom prst="rect">
            <a:avLst/>
          </a:prstGeom>
          <a:noFill/>
        </p:spPr>
        <p:txBody>
          <a:bodyPr wrap="square" anchor="t">
            <a:spAutoFit/>
          </a:bodyPr>
          <a:lstStyle/>
          <a:p>
            <a:pPr algn="l">
              <a:spcAft>
                <a:spcPts val="400"/>
              </a:spcAft>
            </a:pPr>
            <a:r>
              <a:rPr sz="1100" b="0">
                <a:solidFill>
                  <a:srgbClr val="5B6372"/>
                </a:solidFill>
                <a:latin typeface="Arial"/>
              </a:rPr>
              <a:t>Confirm the issue is ASSIGNED to that agent — creating an issue does not wake anyone. Then check the agent's adapter verification and its budget headroom.</a:t>
            </a:r>
          </a:p>
        </p:txBody>
      </p:sp>
      <p:sp>
        <p:nvSpPr>
          <p:cNvPr id="20" name="Rectangle 19"/>
          <p:cNvSpPr/>
          <p:nvPr/>
        </p:nvSpPr>
        <p:spPr>
          <a:xfrm>
            <a:off x="8019288" y="4297680"/>
            <a:ext cx="3392424" cy="157276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ectangle 20"/>
          <p:cNvSpPr/>
          <p:nvPr/>
        </p:nvSpPr>
        <p:spPr>
          <a:xfrm>
            <a:off x="8019288" y="4297680"/>
            <a:ext cx="3392424" cy="82296"/>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8238744" y="4453128"/>
            <a:ext cx="2980944" cy="329184"/>
          </a:xfrm>
          <a:prstGeom prst="rect">
            <a:avLst/>
          </a:prstGeom>
          <a:noFill/>
        </p:spPr>
        <p:txBody>
          <a:bodyPr wrap="square" anchor="t">
            <a:spAutoFit/>
          </a:bodyPr>
          <a:lstStyle/>
          <a:p>
            <a:pPr algn="l">
              <a:spcAft>
                <a:spcPts val="400"/>
              </a:spcAft>
            </a:pPr>
            <a:r>
              <a:rPr sz="1250" b="1">
                <a:solidFill>
                  <a:srgbClr val="161B26"/>
                </a:solidFill>
                <a:latin typeface="Arial"/>
              </a:rPr>
              <a:t>Git reports the workspace is dirty before the marker run</a:t>
            </a:r>
          </a:p>
        </p:txBody>
      </p:sp>
      <p:sp>
        <p:nvSpPr>
          <p:cNvPr id="23" name="TextBox 22"/>
          <p:cNvSpPr txBox="1"/>
          <p:nvPr/>
        </p:nvSpPr>
        <p:spPr>
          <a:xfrm>
            <a:off x="8238744" y="4809744"/>
            <a:ext cx="2980944" cy="960120"/>
          </a:xfrm>
          <a:prstGeom prst="rect">
            <a:avLst/>
          </a:prstGeom>
          <a:noFill/>
        </p:spPr>
        <p:txBody>
          <a:bodyPr wrap="square" anchor="t">
            <a:spAutoFit/>
          </a:bodyPr>
          <a:lstStyle/>
          <a:p>
            <a:pPr algn="l">
              <a:spcAft>
                <a:spcPts val="400"/>
              </a:spcAft>
            </a:pPr>
            <a:r>
              <a:rPr sz="1100" b="0">
                <a:solidFill>
                  <a:srgbClr val="5B6372"/>
                </a:solidFill>
                <a:latin typeface="Arial"/>
              </a:rPr>
              <a:t>Something was written outside a run. Reset to the baseline commit and re-run so the diff means what you think it means.</a:t>
            </a:r>
          </a:p>
        </p:txBody>
      </p:sp>
      <p:sp>
        <p:nvSpPr>
          <p:cNvPr id="24" name="TextBox 23"/>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Manage AI Agents with Paperclip (TGS-2023036646)  ·  TGS-2023036646</a:t>
            </a:r>
          </a:p>
        </p:txBody>
      </p:sp>
      <p:sp>
        <p:nvSpPr>
          <p:cNvPr id="25" name="TextBox 24"/>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26" name="TextBox 25"/>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57</a:t>
            </a:r>
          </a:p>
        </p:txBody>
      </p:sp>
    </p:spTree>
  </p:cSld>
  <p:clrMapOvr>
    <a:masterClrMapping/>
  </p:clrMapOvr>
  <p:transition spd="fast" advClick="1">
    <p:fade/>
  </p:transition>
</p:sld>
</file>

<file path=ppt/slides/slide5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F59E0B"/>
                </a:solidFill>
                <a:latin typeface="Arial"/>
              </a:rPr>
              <a:t>LAB 3  ·  TROUBLESHOOTING</a:t>
            </a:r>
          </a:p>
        </p:txBody>
      </p:sp>
      <p:sp>
        <p:nvSpPr>
          <p:cNvPr id="5" name="TextBox 4"/>
          <p:cNvSpPr txBox="1"/>
          <p:nvPr/>
        </p:nvSpPr>
        <p:spPr>
          <a:xfrm>
            <a:off x="777240" y="804672"/>
            <a:ext cx="10881360" cy="713232"/>
          </a:xfrm>
          <a:prstGeom prst="rect">
            <a:avLst/>
          </a:prstGeom>
          <a:noFill/>
        </p:spPr>
        <p:txBody>
          <a:bodyPr wrap="square" anchor="ctr">
            <a:spAutoFit/>
          </a:bodyPr>
          <a:lstStyle/>
          <a:p>
            <a:pPr algn="l">
              <a:spcAft>
                <a:spcPts val="400"/>
              </a:spcAft>
            </a:pPr>
            <a:r>
              <a:rPr sz="2200" b="1">
                <a:solidFill>
                  <a:srgbClr val="161B26"/>
                </a:solidFill>
                <a:latin typeface="Arial"/>
              </a:rPr>
              <a:t>Build the Meridian Reporting Tree and Validate Runtime Boundaries (Finance)</a:t>
            </a:r>
          </a:p>
        </p:txBody>
      </p:sp>
      <p:sp>
        <p:nvSpPr>
          <p:cNvPr id="6" name="Rectangle 5"/>
          <p:cNvSpPr/>
          <p:nvPr/>
        </p:nvSpPr>
        <p:spPr>
          <a:xfrm>
            <a:off x="777240" y="155448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77240" y="1810512"/>
            <a:ext cx="10607040" cy="94488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777240" y="1810512"/>
            <a:ext cx="91440" cy="944880"/>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1051560" y="1938528"/>
            <a:ext cx="10149840" cy="329184"/>
          </a:xfrm>
          <a:prstGeom prst="rect">
            <a:avLst/>
          </a:prstGeom>
          <a:noFill/>
        </p:spPr>
        <p:txBody>
          <a:bodyPr wrap="square" anchor="t">
            <a:spAutoFit/>
          </a:bodyPr>
          <a:lstStyle/>
          <a:p>
            <a:pPr algn="l">
              <a:spcAft>
                <a:spcPts val="400"/>
              </a:spcAft>
            </a:pPr>
            <a:r>
              <a:rPr sz="1300" b="1">
                <a:solidFill>
                  <a:srgbClr val="161B26"/>
                </a:solidFill>
                <a:latin typeface="Arial"/>
              </a:rPr>
              <a:t>⚠  A marker file appears in the wrong workspace</a:t>
            </a:r>
          </a:p>
        </p:txBody>
      </p:sp>
      <p:sp>
        <p:nvSpPr>
          <p:cNvPr id="10" name="TextBox 9"/>
          <p:cNvSpPr txBox="1"/>
          <p:nvPr/>
        </p:nvSpPr>
        <p:spPr>
          <a:xfrm>
            <a:off x="1051560" y="2304288"/>
            <a:ext cx="10149840" cy="341376"/>
          </a:xfrm>
          <a:prstGeom prst="rect">
            <a:avLst/>
          </a:prstGeom>
          <a:noFill/>
        </p:spPr>
        <p:txBody>
          <a:bodyPr wrap="square" anchor="t">
            <a:spAutoFit/>
          </a:bodyPr>
          <a:lstStyle/>
          <a:p>
            <a:pPr algn="l">
              <a:spcAft>
                <a:spcPts val="400"/>
              </a:spcAft>
            </a:pPr>
            <a:r>
              <a:rPr sz="1150" b="0">
                <a:solidFill>
                  <a:srgbClr val="5B6372"/>
                </a:solidFill>
                <a:latin typeface="Arial"/>
              </a:rPr>
              <a:t>The agent's workspace path is misbound. Correct the path on the AGENT (not the company), delete the stray file, and re-run the marker.</a:t>
            </a:r>
          </a:p>
        </p:txBody>
      </p:sp>
      <p:sp>
        <p:nvSpPr>
          <p:cNvPr id="11" name="Rectangle 10"/>
          <p:cNvSpPr/>
          <p:nvPr/>
        </p:nvSpPr>
        <p:spPr>
          <a:xfrm>
            <a:off x="777240" y="2938272"/>
            <a:ext cx="10607040" cy="94488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ectangle 11"/>
          <p:cNvSpPr/>
          <p:nvPr/>
        </p:nvSpPr>
        <p:spPr>
          <a:xfrm>
            <a:off x="777240" y="2938272"/>
            <a:ext cx="91440" cy="944880"/>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1051560" y="3066288"/>
            <a:ext cx="10149840" cy="329184"/>
          </a:xfrm>
          <a:prstGeom prst="rect">
            <a:avLst/>
          </a:prstGeom>
          <a:noFill/>
        </p:spPr>
        <p:txBody>
          <a:bodyPr wrap="square" anchor="t">
            <a:spAutoFit/>
          </a:bodyPr>
          <a:lstStyle/>
          <a:p>
            <a:pPr algn="l">
              <a:spcAft>
                <a:spcPts val="400"/>
              </a:spcAft>
            </a:pPr>
            <a:r>
              <a:rPr sz="1300" b="1">
                <a:solidFill>
                  <a:srgbClr val="161B26"/>
                </a:solidFill>
                <a:latin typeface="Arial"/>
              </a:rPr>
              <a:t>⚠  A specialist never wakes</a:t>
            </a:r>
          </a:p>
        </p:txBody>
      </p:sp>
      <p:sp>
        <p:nvSpPr>
          <p:cNvPr id="14" name="TextBox 13"/>
          <p:cNvSpPr txBox="1"/>
          <p:nvPr/>
        </p:nvSpPr>
        <p:spPr>
          <a:xfrm>
            <a:off x="1051560" y="3432048"/>
            <a:ext cx="10149840" cy="341376"/>
          </a:xfrm>
          <a:prstGeom prst="rect">
            <a:avLst/>
          </a:prstGeom>
          <a:noFill/>
        </p:spPr>
        <p:txBody>
          <a:bodyPr wrap="square" anchor="t">
            <a:spAutoFit/>
          </a:bodyPr>
          <a:lstStyle/>
          <a:p>
            <a:pPr algn="l">
              <a:spcAft>
                <a:spcPts val="400"/>
              </a:spcAft>
            </a:pPr>
            <a:r>
              <a:rPr sz="1150" b="0">
                <a:solidFill>
                  <a:srgbClr val="5B6372"/>
                </a:solidFill>
                <a:latin typeface="Arial"/>
              </a:rPr>
              <a:t>Confirm the issue is ASSIGNED to that agent — creating an issue does not wake anyone. Then check the agent's adapter verification and its budget headroom.</a:t>
            </a:r>
          </a:p>
        </p:txBody>
      </p:sp>
      <p:sp>
        <p:nvSpPr>
          <p:cNvPr id="15" name="Rectangle 14"/>
          <p:cNvSpPr/>
          <p:nvPr/>
        </p:nvSpPr>
        <p:spPr>
          <a:xfrm>
            <a:off x="777240" y="4066032"/>
            <a:ext cx="10607040" cy="94488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ectangle 15"/>
          <p:cNvSpPr/>
          <p:nvPr/>
        </p:nvSpPr>
        <p:spPr>
          <a:xfrm>
            <a:off x="777240" y="4066032"/>
            <a:ext cx="91440" cy="944880"/>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1051560" y="4194048"/>
            <a:ext cx="10149840" cy="329184"/>
          </a:xfrm>
          <a:prstGeom prst="rect">
            <a:avLst/>
          </a:prstGeom>
          <a:noFill/>
        </p:spPr>
        <p:txBody>
          <a:bodyPr wrap="square" anchor="t">
            <a:spAutoFit/>
          </a:bodyPr>
          <a:lstStyle/>
          <a:p>
            <a:pPr algn="l">
              <a:spcAft>
                <a:spcPts val="400"/>
              </a:spcAft>
            </a:pPr>
            <a:r>
              <a:rPr sz="1300" b="1">
                <a:solidFill>
                  <a:srgbClr val="161B26"/>
                </a:solidFill>
                <a:latin typeface="Arial"/>
              </a:rPr>
              <a:t>⚠  Git reports the workspace is dirty before the marker run</a:t>
            </a:r>
          </a:p>
        </p:txBody>
      </p:sp>
      <p:sp>
        <p:nvSpPr>
          <p:cNvPr id="18" name="TextBox 17"/>
          <p:cNvSpPr txBox="1"/>
          <p:nvPr/>
        </p:nvSpPr>
        <p:spPr>
          <a:xfrm>
            <a:off x="1051560" y="4559808"/>
            <a:ext cx="10149840" cy="341376"/>
          </a:xfrm>
          <a:prstGeom prst="rect">
            <a:avLst/>
          </a:prstGeom>
          <a:noFill/>
        </p:spPr>
        <p:txBody>
          <a:bodyPr wrap="square" anchor="t">
            <a:spAutoFit/>
          </a:bodyPr>
          <a:lstStyle/>
          <a:p>
            <a:pPr algn="l">
              <a:spcAft>
                <a:spcPts val="400"/>
              </a:spcAft>
            </a:pPr>
            <a:r>
              <a:rPr sz="1150" b="0">
                <a:solidFill>
                  <a:srgbClr val="5B6372"/>
                </a:solidFill>
                <a:latin typeface="Arial"/>
              </a:rPr>
              <a:t>Something was written outside a run. Reset to the baseline commit and re-run so the diff means what you think it means.</a:t>
            </a:r>
          </a:p>
        </p:txBody>
      </p:sp>
      <p:sp>
        <p:nvSpPr>
          <p:cNvPr id="19" name="Rectangle 18"/>
          <p:cNvSpPr/>
          <p:nvPr/>
        </p:nvSpPr>
        <p:spPr>
          <a:xfrm>
            <a:off x="777240" y="5230368"/>
            <a:ext cx="5212080" cy="100584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ectangle 19"/>
          <p:cNvSpPr/>
          <p:nvPr/>
        </p:nvSpPr>
        <p:spPr>
          <a:xfrm>
            <a:off x="777240" y="5230368"/>
            <a:ext cx="91440" cy="1005840"/>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1051560" y="5321808"/>
            <a:ext cx="4846320" cy="292608"/>
          </a:xfrm>
          <a:prstGeom prst="rect">
            <a:avLst/>
          </a:prstGeom>
          <a:noFill/>
        </p:spPr>
        <p:txBody>
          <a:bodyPr wrap="square" anchor="t">
            <a:spAutoFit/>
          </a:bodyPr>
          <a:lstStyle/>
          <a:p>
            <a:pPr algn="l">
              <a:spcAft>
                <a:spcPts val="400"/>
              </a:spcAft>
            </a:pPr>
            <a:r>
              <a:rPr sz="1150" b="1">
                <a:solidFill>
                  <a:srgbClr val="7C3AED"/>
                </a:solidFill>
                <a:latin typeface="Arial"/>
              </a:rPr>
              <a:t>CHALLENGE</a:t>
            </a:r>
          </a:p>
        </p:txBody>
      </p:sp>
      <p:sp>
        <p:nvSpPr>
          <p:cNvPr id="22" name="TextBox 21"/>
          <p:cNvSpPr txBox="1"/>
          <p:nvPr/>
        </p:nvSpPr>
        <p:spPr>
          <a:xfrm>
            <a:off x="1051560" y="5632704"/>
            <a:ext cx="4846320" cy="548640"/>
          </a:xfrm>
          <a:prstGeom prst="rect">
            <a:avLst/>
          </a:prstGeom>
          <a:noFill/>
        </p:spPr>
        <p:txBody>
          <a:bodyPr wrap="square" anchor="t">
            <a:spAutoFit/>
          </a:bodyPr>
          <a:lstStyle/>
          <a:p>
            <a:pPr algn="l">
              <a:spcAft>
                <a:spcPts val="400"/>
              </a:spcAft>
            </a:pPr>
            <a:r>
              <a:rPr sz="1050" b="0">
                <a:solidFill>
                  <a:srgbClr val="161B26"/>
                </a:solidFill>
                <a:latin typeface="Arial"/>
              </a:rPr>
              <a:t>Set the Treasury Analyst's cap to SGD 0.01, re-run its marker task, and record exactly where and how Paperclip reports the budget stop.</a:t>
            </a:r>
          </a:p>
        </p:txBody>
      </p:sp>
      <p:sp>
        <p:nvSpPr>
          <p:cNvPr id="23" name="Rectangle 22"/>
          <p:cNvSpPr/>
          <p:nvPr/>
        </p:nvSpPr>
        <p:spPr>
          <a:xfrm>
            <a:off x="6172200" y="5230368"/>
            <a:ext cx="5212080" cy="100584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Rectangle 23"/>
          <p:cNvSpPr/>
          <p:nvPr/>
        </p:nvSpPr>
        <p:spPr>
          <a:xfrm>
            <a:off x="6172200" y="5230368"/>
            <a:ext cx="91440" cy="100584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6446520" y="5321808"/>
            <a:ext cx="4846320" cy="292608"/>
          </a:xfrm>
          <a:prstGeom prst="rect">
            <a:avLst/>
          </a:prstGeom>
          <a:noFill/>
        </p:spPr>
        <p:txBody>
          <a:bodyPr wrap="square" anchor="t">
            <a:spAutoFit/>
          </a:bodyPr>
          <a:lstStyle/>
          <a:p>
            <a:pPr algn="l">
              <a:spcAft>
                <a:spcPts val="400"/>
              </a:spcAft>
            </a:pPr>
            <a:r>
              <a:rPr sz="1150" b="1">
                <a:solidFill>
                  <a:srgbClr val="1F6FEB"/>
                </a:solidFill>
                <a:latin typeface="Arial"/>
              </a:rPr>
              <a:t>REFLECTION</a:t>
            </a:r>
          </a:p>
        </p:txBody>
      </p:sp>
      <p:sp>
        <p:nvSpPr>
          <p:cNvPr id="26" name="TextBox 25"/>
          <p:cNvSpPr txBox="1"/>
          <p:nvPr/>
        </p:nvSpPr>
        <p:spPr>
          <a:xfrm>
            <a:off x="6446520" y="5632704"/>
            <a:ext cx="4846320" cy="548640"/>
          </a:xfrm>
          <a:prstGeom prst="rect">
            <a:avLst/>
          </a:prstGeom>
          <a:noFill/>
        </p:spPr>
        <p:txBody>
          <a:bodyPr wrap="square" anchor="t">
            <a:spAutoFit/>
          </a:bodyPr>
          <a:lstStyle/>
          <a:p>
            <a:pPr algn="l">
              <a:spcAft>
                <a:spcPts val="400"/>
              </a:spcAft>
            </a:pPr>
            <a:r>
              <a:rPr sz="1050" b="0">
                <a:solidFill>
                  <a:srgbClr val="161B26"/>
                </a:solidFill>
                <a:latin typeface="Arial"/>
              </a:rPr>
              <a:t>Why is a marker run stronger evidence of a working runtime than a green 'connection verified' badge in the configuration screen?</a:t>
            </a:r>
          </a:p>
        </p:txBody>
      </p:sp>
      <p:sp>
        <p:nvSpPr>
          <p:cNvPr id="27" name="TextBox 26"/>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Manage AI Agents with Paperclip (TGS-2023036646)  ·  TGS-2023036646</a:t>
            </a:r>
          </a:p>
        </p:txBody>
      </p:sp>
      <p:sp>
        <p:nvSpPr>
          <p:cNvPr id="28" name="TextBox 27"/>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29" name="TextBox 28"/>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58</a:t>
            </a:r>
          </a:p>
        </p:txBody>
      </p:sp>
    </p:spTree>
  </p:cSld>
  <p:clrMapOvr>
    <a:masterClrMapping/>
  </p:clrMapOvr>
  <p:transition spd="fast" advClick="1">
    <p:fade/>
  </p:transition>
</p:sld>
</file>

<file path=ppt/slides/slide5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1F6FEB"/>
                </a:solidFill>
                <a:latin typeface="Arial"/>
              </a:rPr>
              <a:t>TOPIC RECAP</a:t>
            </a:r>
          </a:p>
        </p:txBody>
      </p:sp>
      <p:sp>
        <p:nvSpPr>
          <p:cNvPr id="5" name="TextBox 4"/>
          <p:cNvSpPr txBox="1"/>
          <p:nvPr/>
        </p:nvSpPr>
        <p:spPr>
          <a:xfrm>
            <a:off x="777240" y="804672"/>
            <a:ext cx="10881360" cy="713232"/>
          </a:xfrm>
          <a:prstGeom prst="rect">
            <a:avLst/>
          </a:prstGeom>
          <a:noFill/>
        </p:spPr>
        <p:txBody>
          <a:bodyPr wrap="square" anchor="ctr">
            <a:spAutoFit/>
          </a:bodyPr>
          <a:lstStyle/>
          <a:p>
            <a:pPr algn="l">
              <a:spcAft>
                <a:spcPts val="400"/>
              </a:spcAft>
            </a:pPr>
            <a:r>
              <a:rPr sz="2900" b="1">
                <a:solidFill>
                  <a:srgbClr val="161B26"/>
                </a:solidFill>
                <a:latin typeface="Arial"/>
              </a:rPr>
              <a:t>Recap — Building AI Agents with Paperclip</a:t>
            </a:r>
          </a:p>
        </p:txBody>
      </p:sp>
      <p:sp>
        <p:nvSpPr>
          <p:cNvPr id="6" name="Rectangle 5"/>
          <p:cNvSpPr/>
          <p:nvPr/>
        </p:nvSpPr>
        <p:spPr>
          <a:xfrm>
            <a:off x="777240" y="155448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77240" y="1783080"/>
            <a:ext cx="10607040" cy="4480560"/>
          </a:xfrm>
          <a:prstGeom prst="rect">
            <a:avLst/>
          </a:prstGeom>
          <a:noFill/>
        </p:spPr>
        <p:txBody>
          <a:bodyPr wrap="square">
            <a:spAutoFit/>
          </a:bodyPr>
          <a:lstStyle/>
          <a:p>
            <a:pPr>
              <a:spcAft>
                <a:spcPts val="1000"/>
              </a:spcAft>
            </a:pPr>
            <a:r>
              <a:rPr sz="1500" b="0">
                <a:solidFill>
                  <a:srgbClr val="161B26"/>
                </a:solidFill>
                <a:latin typeface="Arial"/>
              </a:rPr>
              <a:t>•  You can now: LO2: Create a goal-aligned Paperclip company with a measurable mission, a hardened CEO agent and enforced company-level caps.</a:t>
            </a:r>
          </a:p>
          <a:p>
            <a:pPr>
              <a:spcAft>
                <a:spcPts val="1000"/>
              </a:spcAft>
            </a:pPr>
            <a:r>
              <a:rPr sz="1500" b="0">
                <a:solidFill>
                  <a:srgbClr val="161B26"/>
                </a:solidFill>
                <a:latin typeface="Arial"/>
              </a:rPr>
              <a:t>•  You can now: LO2: Build a multi-agent reporting hierarchy with distinct, budgeted and confined workspaces, and prove each runtime boundary with a marker run.</a:t>
            </a:r>
          </a:p>
          <a:p>
            <a:pPr>
              <a:spcAft>
                <a:spcPts val="1000"/>
              </a:spcAft>
            </a:pPr>
            <a:r>
              <a:rPr sz="1500" b="0">
                <a:solidFill>
                  <a:srgbClr val="161B26"/>
                </a:solidFill>
                <a:latin typeface="Arial"/>
              </a:rPr>
              <a:t>•  Onboarding with paperclipai onboard --yes downloads Paperclip, writes the configuration, initialises the embedded PostgreSQL and serves the UI on port 3100.</a:t>
            </a:r>
          </a:p>
          <a:p>
            <a:pPr>
              <a:spcAft>
                <a:spcPts val="1000"/>
              </a:spcAft>
            </a:pPr>
            <a:r>
              <a:rPr sz="1500" b="0">
                <a:solidFill>
                  <a:srgbClr val="161B26"/>
                </a:solidFill>
                <a:latin typeface="Arial"/>
              </a:rPr>
              <a:t>•  Deployment mode is a security decision: local_trusted is the default and requires no login; authenticated+private and authenticated+public widen reach and require real authentication.</a:t>
            </a:r>
          </a:p>
          <a:p>
            <a:pPr>
              <a:spcAft>
                <a:spcPts val="1000"/>
              </a:spcAft>
            </a:pPr>
            <a:r>
              <a:rPr sz="1500" b="0">
                <a:solidFill>
                  <a:srgbClr val="161B26"/>
                </a:solidFill>
                <a:latin typeface="Arial"/>
              </a:rPr>
              <a:t>•  The onboarding wizard captures the company name, the mission statement and the team lead, then verifies connectivity to your chosen local agent runtime.</a:t>
            </a:r>
          </a:p>
        </p:txBody>
      </p:sp>
      <p:sp>
        <p:nvSpPr>
          <p:cNvPr id="8" name="TextBox 7"/>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Manage AI Agents with Paperclip (TGS-2023036646)  ·  TGS-2023036646</a:t>
            </a:r>
          </a:p>
        </p:txBody>
      </p:sp>
      <p:sp>
        <p:nvSpPr>
          <p:cNvPr id="9" name="TextBox 8"/>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10" name="TextBox 9"/>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59</a:t>
            </a:r>
          </a:p>
        </p:txBody>
      </p:sp>
    </p:spTree>
  </p:cSld>
  <p:clrMapOvr>
    <a:masterClrMapping/>
  </p:clrMapOvr>
  <p:transition spd="fast" advClick="1">
    <p:fade/>
  </p:transition>
</p:sld>
</file>

<file path=ppt/slides/slide6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685800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777240" y="2286000"/>
            <a:ext cx="128016" cy="182880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1143000" y="2331720"/>
            <a:ext cx="10058400" cy="548640"/>
          </a:xfrm>
          <a:prstGeom prst="rect">
            <a:avLst/>
          </a:prstGeom>
          <a:noFill/>
        </p:spPr>
        <p:txBody>
          <a:bodyPr wrap="square" anchor="t">
            <a:spAutoFit/>
          </a:bodyPr>
          <a:lstStyle/>
          <a:p>
            <a:pPr algn="l">
              <a:spcAft>
                <a:spcPts val="400"/>
              </a:spcAft>
            </a:pPr>
            <a:r>
              <a:rPr sz="1800" b="1">
                <a:solidFill>
                  <a:srgbClr val="1F6FEB"/>
                </a:solidFill>
                <a:latin typeface="Arial"/>
              </a:rPr>
              <a:t>TOPIC 03</a:t>
            </a:r>
          </a:p>
        </p:txBody>
      </p:sp>
      <p:sp>
        <p:nvSpPr>
          <p:cNvPr id="6" name="TextBox 5"/>
          <p:cNvSpPr txBox="1"/>
          <p:nvPr/>
        </p:nvSpPr>
        <p:spPr>
          <a:xfrm>
            <a:off x="1143000" y="2743200"/>
            <a:ext cx="10424160" cy="1463040"/>
          </a:xfrm>
          <a:prstGeom prst="rect">
            <a:avLst/>
          </a:prstGeom>
          <a:noFill/>
        </p:spPr>
        <p:txBody>
          <a:bodyPr wrap="square" anchor="t">
            <a:spAutoFit/>
          </a:bodyPr>
          <a:lstStyle/>
          <a:p>
            <a:pPr algn="l">
              <a:spcAft>
                <a:spcPts val="400"/>
              </a:spcAft>
            </a:pPr>
            <a:r>
              <a:rPr sz="4000" b="1">
                <a:solidFill>
                  <a:srgbClr val="161B26"/>
                </a:solidFill>
                <a:latin typeface="Arial"/>
              </a:rPr>
              <a:t>Developing Intelligent Multi-Agent Systems</a:t>
            </a:r>
          </a:p>
        </p:txBody>
      </p:sp>
      <p:sp>
        <p:nvSpPr>
          <p:cNvPr id="7" name="TextBox 6"/>
          <p:cNvSpPr txBox="1"/>
          <p:nvPr/>
        </p:nvSpPr>
        <p:spPr>
          <a:xfrm>
            <a:off x="1161288" y="4160520"/>
            <a:ext cx="10058400" cy="731520"/>
          </a:xfrm>
          <a:prstGeom prst="rect">
            <a:avLst/>
          </a:prstGeom>
          <a:noFill/>
        </p:spPr>
        <p:txBody>
          <a:bodyPr wrap="square" anchor="t">
            <a:spAutoFit/>
          </a:bodyPr>
          <a:lstStyle/>
          <a:p>
            <a:pPr algn="l">
              <a:spcAft>
                <a:spcPts val="400"/>
              </a:spcAft>
            </a:pPr>
            <a:r>
              <a:rPr sz="1600" b="0">
                <a:solidFill>
                  <a:srgbClr val="5B6372"/>
                </a:solidFill>
                <a:latin typeface="Arial"/>
              </a:rPr>
              <a:t>Projects, goals and lineage · issue decomposition · assignment and hand-off · sequential specialists · verifying between disparate components</a:t>
            </a:r>
          </a:p>
        </p:txBody>
      </p:sp>
      <p:sp>
        <p:nvSpPr>
          <p:cNvPr id="8" name="TextBox 7"/>
          <p:cNvSpPr txBox="1"/>
          <p:nvPr/>
        </p:nvSpPr>
        <p:spPr>
          <a:xfrm>
            <a:off x="9144000" y="640080"/>
            <a:ext cx="2560320" cy="1463040"/>
          </a:xfrm>
          <a:prstGeom prst="rect">
            <a:avLst/>
          </a:prstGeom>
          <a:noFill/>
        </p:spPr>
        <p:txBody>
          <a:bodyPr wrap="square" anchor="t">
            <a:spAutoFit/>
          </a:bodyPr>
          <a:lstStyle/>
          <a:p>
            <a:pPr algn="r">
              <a:spcAft>
                <a:spcPts val="400"/>
              </a:spcAft>
            </a:pPr>
            <a:r>
              <a:rPr sz="7200" b="1">
                <a:solidFill>
                  <a:srgbClr val="E2E8F0"/>
                </a:solidFill>
                <a:latin typeface="Arial"/>
              </a:rPr>
              <a:t>03</a:t>
            </a:r>
          </a:p>
        </p:txBody>
      </p:sp>
      <p:sp>
        <p:nvSpPr>
          <p:cNvPr id="9" name="TextBox 8"/>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Manage AI Agents with Paperclip (TGS-2023036646)  ·  TGS-2023036646</a:t>
            </a:r>
          </a:p>
        </p:txBody>
      </p:sp>
      <p:sp>
        <p:nvSpPr>
          <p:cNvPr id="10" name="TextBox 9"/>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11" name="TextBox 10"/>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60</a:t>
            </a:r>
          </a:p>
        </p:txBody>
      </p:sp>
    </p:spTree>
  </p:cSld>
  <p:clrMapOvr>
    <a:masterClrMapping/>
  </p:clrMapOvr>
  <p:transition spd="med" advClick="1">
    <p:push dir="l"/>
  </p:transition>
</p:sld>
</file>

<file path=ppt/slides/slide6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1F6FEB"/>
                </a:solidFill>
                <a:latin typeface="Arial"/>
              </a:rPr>
              <a:t>TOPIC WEIGHTING 25%</a:t>
            </a:r>
          </a:p>
        </p:txBody>
      </p:sp>
      <p:sp>
        <p:nvSpPr>
          <p:cNvPr id="5" name="TextBox 4"/>
          <p:cNvSpPr txBox="1"/>
          <p:nvPr/>
        </p:nvSpPr>
        <p:spPr>
          <a:xfrm>
            <a:off x="777240" y="804672"/>
            <a:ext cx="10881360" cy="713232"/>
          </a:xfrm>
          <a:prstGeom prst="rect">
            <a:avLst/>
          </a:prstGeom>
          <a:noFill/>
        </p:spPr>
        <p:txBody>
          <a:bodyPr wrap="square" anchor="ctr">
            <a:spAutoFit/>
          </a:bodyPr>
          <a:lstStyle/>
          <a:p>
            <a:pPr algn="l">
              <a:spcAft>
                <a:spcPts val="400"/>
              </a:spcAft>
            </a:pPr>
            <a:r>
              <a:rPr sz="2500" b="1">
                <a:solidFill>
                  <a:srgbClr val="161B26"/>
                </a:solidFill>
                <a:latin typeface="Arial"/>
              </a:rPr>
              <a:t>Key Concepts — Developing Intelligent Multi-Agent Systems</a:t>
            </a:r>
          </a:p>
        </p:txBody>
      </p:sp>
      <p:sp>
        <p:nvSpPr>
          <p:cNvPr id="6" name="Rectangle 5"/>
          <p:cNvSpPr/>
          <p:nvPr/>
        </p:nvSpPr>
        <p:spPr>
          <a:xfrm>
            <a:off x="777240" y="155448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77240" y="1783080"/>
            <a:ext cx="5180076" cy="129844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777240" y="1783080"/>
            <a:ext cx="91440" cy="1298448"/>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Oval 8"/>
          <p:cNvSpPr/>
          <p:nvPr/>
        </p:nvSpPr>
        <p:spPr>
          <a:xfrm>
            <a:off x="1033272" y="2157984"/>
            <a:ext cx="548640" cy="548640"/>
          </a:xfrm>
          <a:prstGeom prst="ellipse">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1033272" y="2157984"/>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1</a:t>
            </a:r>
          </a:p>
        </p:txBody>
      </p:sp>
      <p:sp>
        <p:nvSpPr>
          <p:cNvPr id="11" name="TextBox 10"/>
          <p:cNvSpPr txBox="1"/>
          <p:nvPr/>
        </p:nvSpPr>
        <p:spPr>
          <a:xfrm>
            <a:off x="1764792" y="1874520"/>
            <a:ext cx="3973068" cy="1152144"/>
          </a:xfrm>
          <a:prstGeom prst="rect">
            <a:avLst/>
          </a:prstGeom>
          <a:noFill/>
        </p:spPr>
        <p:txBody>
          <a:bodyPr wrap="square" anchor="ctr">
            <a:spAutoFit/>
          </a:bodyPr>
          <a:lstStyle/>
          <a:p>
            <a:pPr algn="l">
              <a:spcAft>
                <a:spcPts val="400"/>
              </a:spcAft>
            </a:pPr>
            <a:r>
              <a:rPr sz="1300" b="0">
                <a:solidFill>
                  <a:srgbClr val="161B26"/>
                </a:solidFill>
                <a:latin typeface="Arial"/>
              </a:rPr>
              <a:t>Projects hold goals and issues and supply the context an agent reads at runtime, so tasks carry full goal ancestry — the agent sees why, not only what.</a:t>
            </a:r>
          </a:p>
        </p:txBody>
      </p:sp>
      <p:sp>
        <p:nvSpPr>
          <p:cNvPr id="12" name="Rectangle 11"/>
          <p:cNvSpPr/>
          <p:nvPr/>
        </p:nvSpPr>
        <p:spPr>
          <a:xfrm>
            <a:off x="6231636" y="1783080"/>
            <a:ext cx="5180076" cy="129844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6231636" y="1783080"/>
            <a:ext cx="91440" cy="1298448"/>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Oval 13"/>
          <p:cNvSpPr/>
          <p:nvPr/>
        </p:nvSpPr>
        <p:spPr>
          <a:xfrm>
            <a:off x="6487668" y="2157984"/>
            <a:ext cx="548640" cy="548640"/>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487668" y="2157984"/>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2</a:t>
            </a:r>
          </a:p>
        </p:txBody>
      </p:sp>
      <p:sp>
        <p:nvSpPr>
          <p:cNvPr id="16" name="TextBox 15"/>
          <p:cNvSpPr txBox="1"/>
          <p:nvPr/>
        </p:nvSpPr>
        <p:spPr>
          <a:xfrm>
            <a:off x="7219188" y="1874520"/>
            <a:ext cx="3973068" cy="1152144"/>
          </a:xfrm>
          <a:prstGeom prst="rect">
            <a:avLst/>
          </a:prstGeom>
          <a:noFill/>
        </p:spPr>
        <p:txBody>
          <a:bodyPr wrap="square" anchor="ctr">
            <a:spAutoFit/>
          </a:bodyPr>
          <a:lstStyle/>
          <a:p>
            <a:pPr algn="l">
              <a:spcAft>
                <a:spcPts val="400"/>
              </a:spcAft>
            </a:pPr>
            <a:r>
              <a:rPr sz="1300" b="0">
                <a:solidFill>
                  <a:srgbClr val="161B26"/>
                </a:solidFill>
                <a:latin typeface="Arial"/>
              </a:rPr>
              <a:t>Goal lineage flows downward: company mission → project goal → parent issue → child issue. An agent that cannot trace its lineage is working without direction.</a:t>
            </a:r>
          </a:p>
        </p:txBody>
      </p:sp>
      <p:sp>
        <p:nvSpPr>
          <p:cNvPr id="17" name="Rectangle 16"/>
          <p:cNvSpPr/>
          <p:nvPr/>
        </p:nvSpPr>
        <p:spPr>
          <a:xfrm>
            <a:off x="777240" y="3319272"/>
            <a:ext cx="5180076" cy="129844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777240" y="3319272"/>
            <a:ext cx="91440" cy="1298448"/>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Oval 18"/>
          <p:cNvSpPr/>
          <p:nvPr/>
        </p:nvSpPr>
        <p:spPr>
          <a:xfrm>
            <a:off x="1033272" y="3694176"/>
            <a:ext cx="548640" cy="548640"/>
          </a:xfrm>
          <a:prstGeom prst="ellipse">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1033272" y="3694176"/>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3</a:t>
            </a:r>
          </a:p>
        </p:txBody>
      </p:sp>
      <p:sp>
        <p:nvSpPr>
          <p:cNvPr id="21" name="TextBox 20"/>
          <p:cNvSpPr txBox="1"/>
          <p:nvPr/>
        </p:nvSpPr>
        <p:spPr>
          <a:xfrm>
            <a:off x="1764792" y="3410712"/>
            <a:ext cx="3973068" cy="1152144"/>
          </a:xfrm>
          <a:prstGeom prst="rect">
            <a:avLst/>
          </a:prstGeom>
          <a:noFill/>
        </p:spPr>
        <p:txBody>
          <a:bodyPr wrap="square" anchor="ctr">
            <a:spAutoFit/>
          </a:bodyPr>
          <a:lstStyle/>
          <a:p>
            <a:pPr algn="l">
              <a:spcAft>
                <a:spcPts val="400"/>
              </a:spcAft>
            </a:pPr>
            <a:r>
              <a:rPr sz="1300" b="0">
                <a:solidFill>
                  <a:srgbClr val="161B26"/>
                </a:solidFill>
                <a:latin typeface="Arial"/>
              </a:rPr>
              <a:t>Issues move through seven states — backlog, todo, in_progress, in_review, done, plus blocked and cancelled. done and cancelled are TERMINAL: issues do not move backwards.</a:t>
            </a:r>
          </a:p>
        </p:txBody>
      </p:sp>
      <p:sp>
        <p:nvSpPr>
          <p:cNvPr id="22" name="Rectangle 21"/>
          <p:cNvSpPr/>
          <p:nvPr/>
        </p:nvSpPr>
        <p:spPr>
          <a:xfrm>
            <a:off x="6231636" y="3319272"/>
            <a:ext cx="5180076" cy="129844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ectangle 22"/>
          <p:cNvSpPr/>
          <p:nvPr/>
        </p:nvSpPr>
        <p:spPr>
          <a:xfrm>
            <a:off x="6231636" y="3319272"/>
            <a:ext cx="91440" cy="1298448"/>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Oval 23"/>
          <p:cNvSpPr/>
          <p:nvPr/>
        </p:nvSpPr>
        <p:spPr>
          <a:xfrm>
            <a:off x="6487668" y="3694176"/>
            <a:ext cx="548640" cy="548640"/>
          </a:xfrm>
          <a:prstGeom prst="ellipse">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6487668" y="3694176"/>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4</a:t>
            </a:r>
          </a:p>
        </p:txBody>
      </p:sp>
      <p:sp>
        <p:nvSpPr>
          <p:cNvPr id="26" name="TextBox 25"/>
          <p:cNvSpPr txBox="1"/>
          <p:nvPr/>
        </p:nvSpPr>
        <p:spPr>
          <a:xfrm>
            <a:off x="7219188" y="3410712"/>
            <a:ext cx="3973068" cy="1152144"/>
          </a:xfrm>
          <a:prstGeom prst="rect">
            <a:avLst/>
          </a:prstGeom>
          <a:noFill/>
        </p:spPr>
        <p:txBody>
          <a:bodyPr wrap="square" anchor="ctr">
            <a:spAutoFit/>
          </a:bodyPr>
          <a:lstStyle/>
          <a:p>
            <a:pPr algn="l">
              <a:spcAft>
                <a:spcPts val="400"/>
              </a:spcAft>
            </a:pPr>
            <a:r>
              <a:rPr sz="1300" b="0">
                <a:solidFill>
                  <a:srgbClr val="161B26"/>
                </a:solidFill>
                <a:latin typeface="Arial"/>
              </a:rPr>
              <a:t>Decompose into a parent synthesis issue plus specialist child issues. Create every issue unassigned first — assignment is a heartbeat trigger, so an assigned issue wakes an agent immediately.</a:t>
            </a:r>
          </a:p>
        </p:txBody>
      </p:sp>
      <p:sp>
        <p:nvSpPr>
          <p:cNvPr id="27" name="Rectangle 26"/>
          <p:cNvSpPr/>
          <p:nvPr/>
        </p:nvSpPr>
        <p:spPr>
          <a:xfrm>
            <a:off x="777240" y="4855464"/>
            <a:ext cx="5180076" cy="129844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Rectangle 27"/>
          <p:cNvSpPr/>
          <p:nvPr/>
        </p:nvSpPr>
        <p:spPr>
          <a:xfrm>
            <a:off x="777240" y="4855464"/>
            <a:ext cx="91440" cy="1298448"/>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Oval 28"/>
          <p:cNvSpPr/>
          <p:nvPr/>
        </p:nvSpPr>
        <p:spPr>
          <a:xfrm>
            <a:off x="1033272" y="5230368"/>
            <a:ext cx="548640" cy="548640"/>
          </a:xfrm>
          <a:prstGeom prst="ellipse">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TextBox 29"/>
          <p:cNvSpPr txBox="1"/>
          <p:nvPr/>
        </p:nvSpPr>
        <p:spPr>
          <a:xfrm>
            <a:off x="1033272" y="5230368"/>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5</a:t>
            </a:r>
          </a:p>
        </p:txBody>
      </p:sp>
      <p:sp>
        <p:nvSpPr>
          <p:cNvPr id="31" name="TextBox 30"/>
          <p:cNvSpPr txBox="1"/>
          <p:nvPr/>
        </p:nvSpPr>
        <p:spPr>
          <a:xfrm>
            <a:off x="1764792" y="4946904"/>
            <a:ext cx="3973068" cy="1152144"/>
          </a:xfrm>
          <a:prstGeom prst="rect">
            <a:avLst/>
          </a:prstGeom>
          <a:noFill/>
        </p:spPr>
        <p:txBody>
          <a:bodyPr wrap="square" anchor="ctr">
            <a:spAutoFit/>
          </a:bodyPr>
          <a:lstStyle/>
          <a:p>
            <a:pPr algn="l">
              <a:spcAft>
                <a:spcPts val="400"/>
              </a:spcAft>
            </a:pPr>
            <a:r>
              <a:rPr sz="1300" b="0">
                <a:solidFill>
                  <a:srgbClr val="161B26"/>
                </a:solidFill>
                <a:latin typeface="Arial"/>
              </a:rPr>
              <a:t>Assignment is the trigger. Assign one child at a time to keep runs sequential, observable and individually attributable.</a:t>
            </a:r>
          </a:p>
        </p:txBody>
      </p:sp>
      <p:sp>
        <p:nvSpPr>
          <p:cNvPr id="32" name="TextBox 31"/>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Manage AI Agents with Paperclip (TGS-2023036646)  ·  TGS-2023036646</a:t>
            </a:r>
          </a:p>
        </p:txBody>
      </p:sp>
      <p:sp>
        <p:nvSpPr>
          <p:cNvPr id="33" name="TextBox 32"/>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34" name="TextBox 33"/>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61</a:t>
            </a:r>
          </a:p>
        </p:txBody>
      </p:sp>
    </p:spTree>
  </p:cSld>
  <p:clrMapOvr>
    <a:masterClrMapping/>
  </p:clrMapOvr>
  <p:transition spd="fast" advClick="1">
    <p:fade/>
  </p:transition>
</p:sld>
</file>

<file path=ppt/slides/slide6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1F6FEB"/>
                </a:solidFill>
                <a:latin typeface="Arial"/>
              </a:rPr>
              <a:t>TOPIC WEIGHTING 25%</a:t>
            </a:r>
          </a:p>
        </p:txBody>
      </p:sp>
      <p:sp>
        <p:nvSpPr>
          <p:cNvPr id="5" name="TextBox 4"/>
          <p:cNvSpPr txBox="1"/>
          <p:nvPr/>
        </p:nvSpPr>
        <p:spPr>
          <a:xfrm>
            <a:off x="777240" y="804672"/>
            <a:ext cx="10881360" cy="713232"/>
          </a:xfrm>
          <a:prstGeom prst="rect">
            <a:avLst/>
          </a:prstGeom>
          <a:noFill/>
        </p:spPr>
        <p:txBody>
          <a:bodyPr wrap="square" anchor="ctr">
            <a:spAutoFit/>
          </a:bodyPr>
          <a:lstStyle/>
          <a:p>
            <a:pPr algn="l">
              <a:spcAft>
                <a:spcPts val="400"/>
              </a:spcAft>
            </a:pPr>
            <a:r>
              <a:rPr sz="2200" b="1">
                <a:solidFill>
                  <a:srgbClr val="161B26"/>
                </a:solidFill>
                <a:latin typeface="Arial"/>
              </a:rPr>
              <a:t>Key Concepts — Developing Intelligent Multi-Agent Systems (continued)</a:t>
            </a:r>
          </a:p>
        </p:txBody>
      </p:sp>
      <p:sp>
        <p:nvSpPr>
          <p:cNvPr id="6" name="Rectangle 5"/>
          <p:cNvSpPr/>
          <p:nvPr/>
        </p:nvSpPr>
        <p:spPr>
          <a:xfrm>
            <a:off x="777240" y="155448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77240" y="1783080"/>
            <a:ext cx="5180076" cy="129844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777240" y="1783080"/>
            <a:ext cx="91440" cy="1298448"/>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Oval 8"/>
          <p:cNvSpPr/>
          <p:nvPr/>
        </p:nvSpPr>
        <p:spPr>
          <a:xfrm>
            <a:off x="1033272" y="2157984"/>
            <a:ext cx="548640" cy="548640"/>
          </a:xfrm>
          <a:prstGeom prst="ellipse">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1033272" y="2157984"/>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1</a:t>
            </a:r>
          </a:p>
        </p:txBody>
      </p:sp>
      <p:sp>
        <p:nvSpPr>
          <p:cNvPr id="11" name="TextBox 10"/>
          <p:cNvSpPr txBox="1"/>
          <p:nvPr/>
        </p:nvSpPr>
        <p:spPr>
          <a:xfrm>
            <a:off x="1764792" y="1874520"/>
            <a:ext cx="3973068" cy="1152144"/>
          </a:xfrm>
          <a:prstGeom prst="rect">
            <a:avLst/>
          </a:prstGeom>
          <a:noFill/>
        </p:spPr>
        <p:txBody>
          <a:bodyPr wrap="square" anchor="ctr">
            <a:spAutoFit/>
          </a:bodyPr>
          <a:lstStyle/>
          <a:p>
            <a:pPr algn="l">
              <a:spcAft>
                <a:spcPts val="400"/>
              </a:spcAft>
            </a:pPr>
            <a:r>
              <a:rPr sz="1300" b="0">
                <a:solidFill>
                  <a:srgbClr val="161B26"/>
                </a:solidFill>
                <a:latin typeface="Arial"/>
              </a:rPr>
              <a:t>An acceptance criterion must name the evidence: which artifact, at which path, containing which fields — never 'the research is done'.</a:t>
            </a:r>
          </a:p>
        </p:txBody>
      </p:sp>
      <p:sp>
        <p:nvSpPr>
          <p:cNvPr id="12" name="Rectangle 11"/>
          <p:cNvSpPr/>
          <p:nvPr/>
        </p:nvSpPr>
        <p:spPr>
          <a:xfrm>
            <a:off x="6231636" y="1783080"/>
            <a:ext cx="5180076" cy="129844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6231636" y="1783080"/>
            <a:ext cx="91440" cy="1298448"/>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Oval 13"/>
          <p:cNvSpPr/>
          <p:nvPr/>
        </p:nvSpPr>
        <p:spPr>
          <a:xfrm>
            <a:off x="6487668" y="2157984"/>
            <a:ext cx="548640" cy="548640"/>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487668" y="2157984"/>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2</a:t>
            </a:r>
          </a:p>
        </p:txBody>
      </p:sp>
      <p:sp>
        <p:nvSpPr>
          <p:cNvPr id="16" name="TextBox 15"/>
          <p:cNvSpPr txBox="1"/>
          <p:nvPr/>
        </p:nvSpPr>
        <p:spPr>
          <a:xfrm>
            <a:off x="7219188" y="1874520"/>
            <a:ext cx="3973068" cy="1152144"/>
          </a:xfrm>
          <a:prstGeom prst="rect">
            <a:avLst/>
          </a:prstGeom>
          <a:noFill/>
        </p:spPr>
        <p:txBody>
          <a:bodyPr wrap="square" anchor="ctr">
            <a:spAutoFit/>
          </a:bodyPr>
          <a:lstStyle/>
          <a:p>
            <a:pPr algn="l">
              <a:spcAft>
                <a:spcPts val="400"/>
              </a:spcAft>
            </a:pPr>
            <a:r>
              <a:rPr sz="1300" b="0">
                <a:solidFill>
                  <a:srgbClr val="161B26"/>
                </a:solidFill>
                <a:latin typeface="Arial"/>
              </a:rPr>
              <a:t>A hand-off is accepted only when the receiving agent can consume the artifact without asking the producer a question.</a:t>
            </a:r>
          </a:p>
        </p:txBody>
      </p:sp>
      <p:sp>
        <p:nvSpPr>
          <p:cNvPr id="17" name="Rectangle 16"/>
          <p:cNvSpPr/>
          <p:nvPr/>
        </p:nvSpPr>
        <p:spPr>
          <a:xfrm>
            <a:off x="777240" y="3319272"/>
            <a:ext cx="5180076" cy="129844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777240" y="3319272"/>
            <a:ext cx="91440" cy="1298448"/>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Oval 18"/>
          <p:cNvSpPr/>
          <p:nvPr/>
        </p:nvSpPr>
        <p:spPr>
          <a:xfrm>
            <a:off x="1033272" y="3694176"/>
            <a:ext cx="548640" cy="548640"/>
          </a:xfrm>
          <a:prstGeom prst="ellipse">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1033272" y="3694176"/>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3</a:t>
            </a:r>
          </a:p>
        </p:txBody>
      </p:sp>
      <p:sp>
        <p:nvSpPr>
          <p:cNvPr id="21" name="TextBox 20"/>
          <p:cNvSpPr txBox="1"/>
          <p:nvPr/>
        </p:nvSpPr>
        <p:spPr>
          <a:xfrm>
            <a:off x="1764792" y="3410712"/>
            <a:ext cx="3973068" cy="1152144"/>
          </a:xfrm>
          <a:prstGeom prst="rect">
            <a:avLst/>
          </a:prstGeom>
          <a:noFill/>
        </p:spPr>
        <p:txBody>
          <a:bodyPr wrap="square" anchor="ctr">
            <a:spAutoFit/>
          </a:bodyPr>
          <a:lstStyle/>
          <a:p>
            <a:pPr algn="l">
              <a:spcAft>
                <a:spcPts val="400"/>
              </a:spcAft>
            </a:pPr>
            <a:r>
              <a:rPr sz="1300" b="0">
                <a:solidFill>
                  <a:srgbClr val="161B26"/>
                </a:solidFill>
                <a:latin typeface="Arial"/>
              </a:rPr>
              <a:t>Verification between disparate components means tracing one thread across issue ID, run log, comment, workspace diff and cost entry, and finding them consistent.</a:t>
            </a:r>
          </a:p>
        </p:txBody>
      </p:sp>
      <p:sp>
        <p:nvSpPr>
          <p:cNvPr id="22" name="Rectangle 21"/>
          <p:cNvSpPr/>
          <p:nvPr/>
        </p:nvSpPr>
        <p:spPr>
          <a:xfrm>
            <a:off x="6231636" y="3319272"/>
            <a:ext cx="5180076" cy="129844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ectangle 22"/>
          <p:cNvSpPr/>
          <p:nvPr/>
        </p:nvSpPr>
        <p:spPr>
          <a:xfrm>
            <a:off x="6231636" y="3319272"/>
            <a:ext cx="91440" cy="1298448"/>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Oval 23"/>
          <p:cNvSpPr/>
          <p:nvPr/>
        </p:nvSpPr>
        <p:spPr>
          <a:xfrm>
            <a:off x="6487668" y="3694176"/>
            <a:ext cx="548640" cy="548640"/>
          </a:xfrm>
          <a:prstGeom prst="ellipse">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6487668" y="3694176"/>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4</a:t>
            </a:r>
          </a:p>
        </p:txBody>
      </p:sp>
      <p:sp>
        <p:nvSpPr>
          <p:cNvPr id="26" name="TextBox 25"/>
          <p:cNvSpPr txBox="1"/>
          <p:nvPr/>
        </p:nvSpPr>
        <p:spPr>
          <a:xfrm>
            <a:off x="7219188" y="3410712"/>
            <a:ext cx="3973068" cy="1152144"/>
          </a:xfrm>
          <a:prstGeom prst="rect">
            <a:avLst/>
          </a:prstGeom>
          <a:noFill/>
        </p:spPr>
        <p:txBody>
          <a:bodyPr wrap="square" anchor="ctr">
            <a:spAutoFit/>
          </a:bodyPr>
          <a:lstStyle/>
          <a:p>
            <a:pPr algn="l">
              <a:spcAft>
                <a:spcPts val="400"/>
              </a:spcAft>
            </a:pPr>
            <a:r>
              <a:rPr sz="1300" b="0">
                <a:solidFill>
                  <a:srgbClr val="161B26"/>
                </a:solidFill>
                <a:latin typeface="Arial"/>
              </a:rPr>
              <a:t>Status is not evidence. An issue marked Done with no linked artifact and no diff is an unverified claim.</a:t>
            </a:r>
          </a:p>
        </p:txBody>
      </p:sp>
      <p:sp>
        <p:nvSpPr>
          <p:cNvPr id="27" name="Rectangle 26"/>
          <p:cNvSpPr/>
          <p:nvPr/>
        </p:nvSpPr>
        <p:spPr>
          <a:xfrm>
            <a:off x="777240" y="4855464"/>
            <a:ext cx="5180076" cy="129844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Rectangle 27"/>
          <p:cNvSpPr/>
          <p:nvPr/>
        </p:nvSpPr>
        <p:spPr>
          <a:xfrm>
            <a:off x="777240" y="4855464"/>
            <a:ext cx="91440" cy="1298448"/>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Oval 28"/>
          <p:cNvSpPr/>
          <p:nvPr/>
        </p:nvSpPr>
        <p:spPr>
          <a:xfrm>
            <a:off x="1033272" y="5230368"/>
            <a:ext cx="548640" cy="548640"/>
          </a:xfrm>
          <a:prstGeom prst="ellipse">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TextBox 29"/>
          <p:cNvSpPr txBox="1"/>
          <p:nvPr/>
        </p:nvSpPr>
        <p:spPr>
          <a:xfrm>
            <a:off x="1033272" y="5230368"/>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5</a:t>
            </a:r>
          </a:p>
        </p:txBody>
      </p:sp>
      <p:sp>
        <p:nvSpPr>
          <p:cNvPr id="31" name="TextBox 30"/>
          <p:cNvSpPr txBox="1"/>
          <p:nvPr/>
        </p:nvSpPr>
        <p:spPr>
          <a:xfrm>
            <a:off x="1764792" y="4946904"/>
            <a:ext cx="3973068" cy="1152144"/>
          </a:xfrm>
          <a:prstGeom prst="rect">
            <a:avLst/>
          </a:prstGeom>
          <a:noFill/>
        </p:spPr>
        <p:txBody>
          <a:bodyPr wrap="square" anchor="ctr">
            <a:spAutoFit/>
          </a:bodyPr>
          <a:lstStyle/>
          <a:p>
            <a:pPr algn="l">
              <a:spcAft>
                <a:spcPts val="400"/>
              </a:spcAft>
            </a:pPr>
            <a:r>
              <a:rPr sz="1300" b="0">
                <a:solidFill>
                  <a:srgbClr val="161B26"/>
                </a:solidFill>
                <a:latin typeface="Arial"/>
              </a:rPr>
              <a:t>Explicit limitations are part of a good deliverable — an agent that reports what it could not establish is more useful than one that quietly guesses.</a:t>
            </a:r>
          </a:p>
        </p:txBody>
      </p:sp>
      <p:sp>
        <p:nvSpPr>
          <p:cNvPr id="32" name="TextBox 31"/>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Manage AI Agents with Paperclip (TGS-2023036646)  ·  TGS-2023036646</a:t>
            </a:r>
          </a:p>
        </p:txBody>
      </p:sp>
      <p:sp>
        <p:nvSpPr>
          <p:cNvPr id="33" name="TextBox 32"/>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34" name="TextBox 33"/>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62</a:t>
            </a:r>
          </a:p>
        </p:txBody>
      </p:sp>
    </p:spTree>
  </p:cSld>
  <p:clrMapOvr>
    <a:masterClrMapping/>
  </p:clrMapOvr>
  <p:transition spd="fast" advClick="1">
    <p:fade/>
  </p:transition>
</p:sld>
</file>

<file path=ppt/slides/slide6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1F6FEB"/>
                </a:solidFill>
                <a:latin typeface="Arial"/>
              </a:rPr>
              <a:t>TOPIC WEIGHTING 25%</a:t>
            </a:r>
          </a:p>
        </p:txBody>
      </p:sp>
      <p:sp>
        <p:nvSpPr>
          <p:cNvPr id="5" name="TextBox 4"/>
          <p:cNvSpPr txBox="1"/>
          <p:nvPr/>
        </p:nvSpPr>
        <p:spPr>
          <a:xfrm>
            <a:off x="777240" y="804672"/>
            <a:ext cx="10881360" cy="713232"/>
          </a:xfrm>
          <a:prstGeom prst="rect">
            <a:avLst/>
          </a:prstGeom>
          <a:noFill/>
        </p:spPr>
        <p:txBody>
          <a:bodyPr wrap="square" anchor="ctr">
            <a:spAutoFit/>
          </a:bodyPr>
          <a:lstStyle/>
          <a:p>
            <a:pPr algn="l">
              <a:spcAft>
                <a:spcPts val="400"/>
              </a:spcAft>
            </a:pPr>
            <a:r>
              <a:rPr sz="2200" b="1">
                <a:solidFill>
                  <a:srgbClr val="161B26"/>
                </a:solidFill>
                <a:latin typeface="Arial"/>
              </a:rPr>
              <a:t>Key Concepts — Developing Intelligent Multi-Agent Systems (continued)</a:t>
            </a:r>
          </a:p>
        </p:txBody>
      </p:sp>
      <p:sp>
        <p:nvSpPr>
          <p:cNvPr id="6" name="Rectangle 5"/>
          <p:cNvSpPr/>
          <p:nvPr/>
        </p:nvSpPr>
        <p:spPr>
          <a:xfrm>
            <a:off x="777240" y="155448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77240" y="1783080"/>
            <a:ext cx="5180076" cy="2066544"/>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777240" y="1783080"/>
            <a:ext cx="91440" cy="2066544"/>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Oval 8"/>
          <p:cNvSpPr/>
          <p:nvPr/>
        </p:nvSpPr>
        <p:spPr>
          <a:xfrm>
            <a:off x="1033272" y="2542032"/>
            <a:ext cx="548640" cy="548640"/>
          </a:xfrm>
          <a:prstGeom prst="ellipse">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1033272" y="2542032"/>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1</a:t>
            </a:r>
          </a:p>
        </p:txBody>
      </p:sp>
      <p:sp>
        <p:nvSpPr>
          <p:cNvPr id="11" name="TextBox 10"/>
          <p:cNvSpPr txBox="1"/>
          <p:nvPr/>
        </p:nvSpPr>
        <p:spPr>
          <a:xfrm>
            <a:off x="1764792" y="1874520"/>
            <a:ext cx="3973068" cy="1920240"/>
          </a:xfrm>
          <a:prstGeom prst="rect">
            <a:avLst/>
          </a:prstGeom>
          <a:noFill/>
        </p:spPr>
        <p:txBody>
          <a:bodyPr wrap="square" anchor="ctr">
            <a:spAutoFit/>
          </a:bodyPr>
          <a:lstStyle/>
          <a:p>
            <a:pPr algn="l">
              <a:spcAft>
                <a:spcPts val="400"/>
              </a:spcAft>
            </a:pPr>
            <a:r>
              <a:rPr sz="1300" b="0">
                <a:solidFill>
                  <a:srgbClr val="161B26"/>
                </a:solidFill>
                <a:latin typeface="Arial"/>
              </a:rPr>
              <a:t>One event should not create many outcomes: choose a single trigger for the first controlled run and keep the work idempotent.</a:t>
            </a:r>
          </a:p>
        </p:txBody>
      </p:sp>
      <p:sp>
        <p:nvSpPr>
          <p:cNvPr id="12" name="Rectangle 11"/>
          <p:cNvSpPr/>
          <p:nvPr/>
        </p:nvSpPr>
        <p:spPr>
          <a:xfrm>
            <a:off x="6231636" y="1783080"/>
            <a:ext cx="5180076" cy="2066544"/>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6231636" y="1783080"/>
            <a:ext cx="91440" cy="2066544"/>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Oval 13"/>
          <p:cNvSpPr/>
          <p:nvPr/>
        </p:nvSpPr>
        <p:spPr>
          <a:xfrm>
            <a:off x="6487668" y="2542032"/>
            <a:ext cx="548640" cy="548640"/>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487668" y="2542032"/>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2</a:t>
            </a:r>
          </a:p>
        </p:txBody>
      </p:sp>
      <p:sp>
        <p:nvSpPr>
          <p:cNvPr id="16" name="TextBox 15"/>
          <p:cNvSpPr txBox="1"/>
          <p:nvPr/>
        </p:nvSpPr>
        <p:spPr>
          <a:xfrm>
            <a:off x="7219188" y="1874520"/>
            <a:ext cx="3973068" cy="1920240"/>
          </a:xfrm>
          <a:prstGeom prst="rect">
            <a:avLst/>
          </a:prstGeom>
          <a:noFill/>
        </p:spPr>
        <p:txBody>
          <a:bodyPr wrap="square" anchor="ctr">
            <a:spAutoFit/>
          </a:bodyPr>
          <a:lstStyle/>
          <a:p>
            <a:pPr algn="l">
              <a:spcAft>
                <a:spcPts val="400"/>
              </a:spcAft>
            </a:pPr>
            <a:r>
              <a:rPr sz="1300" b="0">
                <a:solidFill>
                  <a:srgbClr val="161B26"/>
                </a:solidFill>
                <a:latin typeface="Arial"/>
              </a:rPr>
              <a:t>Bound every wait. An unbounded wait for a heartbeat hides a failed adapter behind what looks like patience.</a:t>
            </a:r>
          </a:p>
        </p:txBody>
      </p:sp>
      <p:sp>
        <p:nvSpPr>
          <p:cNvPr id="17" name="Rectangle 16"/>
          <p:cNvSpPr/>
          <p:nvPr/>
        </p:nvSpPr>
        <p:spPr>
          <a:xfrm>
            <a:off x="777240" y="4087368"/>
            <a:ext cx="5180076" cy="2066544"/>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777240" y="4087368"/>
            <a:ext cx="91440" cy="2066544"/>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Oval 18"/>
          <p:cNvSpPr/>
          <p:nvPr/>
        </p:nvSpPr>
        <p:spPr>
          <a:xfrm>
            <a:off x="1033272" y="4846320"/>
            <a:ext cx="548640" cy="548640"/>
          </a:xfrm>
          <a:prstGeom prst="ellipse">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1033272" y="4846320"/>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3</a:t>
            </a:r>
          </a:p>
        </p:txBody>
      </p:sp>
      <p:sp>
        <p:nvSpPr>
          <p:cNvPr id="21" name="TextBox 20"/>
          <p:cNvSpPr txBox="1"/>
          <p:nvPr/>
        </p:nvSpPr>
        <p:spPr>
          <a:xfrm>
            <a:off x="1764792" y="4178808"/>
            <a:ext cx="3973068" cy="1920240"/>
          </a:xfrm>
          <a:prstGeom prst="rect">
            <a:avLst/>
          </a:prstGeom>
          <a:noFill/>
        </p:spPr>
        <p:txBody>
          <a:bodyPr wrap="square" anchor="ctr">
            <a:spAutoFit/>
          </a:bodyPr>
          <a:lstStyle/>
          <a:p>
            <a:pPr algn="l">
              <a:spcAft>
                <a:spcPts val="400"/>
              </a:spcAft>
            </a:pPr>
            <a:r>
              <a:rPr sz="1300" b="0">
                <a:solidFill>
                  <a:srgbClr val="161B26"/>
                </a:solidFill>
                <a:latin typeface="Arial"/>
              </a:rPr>
              <a:t>The workspace diff is the strongest evidence you have — read what actually changed on disk before accepting any agent's summary of it.</a:t>
            </a:r>
          </a:p>
        </p:txBody>
      </p:sp>
      <p:sp>
        <p:nvSpPr>
          <p:cNvPr id="22" name="TextBox 21"/>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Manage AI Agents with Paperclip (TGS-2023036646)  ·  TGS-2023036646</a:t>
            </a:r>
          </a:p>
        </p:txBody>
      </p:sp>
      <p:sp>
        <p:nvSpPr>
          <p:cNvPr id="23" name="TextBox 22"/>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24" name="TextBox 23"/>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63</a:t>
            </a:r>
          </a:p>
        </p:txBody>
      </p:sp>
    </p:spTree>
  </p:cSld>
  <p:clrMapOvr>
    <a:masterClrMapping/>
  </p:clrMapOvr>
  <p:transition spd="fast" advClick="1">
    <p:fade/>
  </p:transition>
</p:sld>
</file>

<file path=ppt/slides/slide6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7C3AED"/>
                </a:solidFill>
                <a:latin typeface="Arial"/>
              </a:rPr>
              <a:t>LO3 · THE AGENT SEES WHY, NOT ONLY WHAT</a:t>
            </a:r>
          </a:p>
        </p:txBody>
      </p:sp>
      <p:sp>
        <p:nvSpPr>
          <p:cNvPr id="5" name="TextBox 4"/>
          <p:cNvSpPr txBox="1"/>
          <p:nvPr/>
        </p:nvSpPr>
        <p:spPr>
          <a:xfrm>
            <a:off x="777240" y="804672"/>
            <a:ext cx="10881360" cy="713232"/>
          </a:xfrm>
          <a:prstGeom prst="rect">
            <a:avLst/>
          </a:prstGeom>
          <a:noFill/>
        </p:spPr>
        <p:txBody>
          <a:bodyPr wrap="square" anchor="ctr">
            <a:spAutoFit/>
          </a:bodyPr>
          <a:lstStyle/>
          <a:p>
            <a:pPr algn="l">
              <a:spcAft>
                <a:spcPts val="400"/>
              </a:spcAft>
            </a:pPr>
            <a:r>
              <a:rPr sz="2900" b="1">
                <a:solidFill>
                  <a:srgbClr val="161B26"/>
                </a:solidFill>
                <a:latin typeface="Arial"/>
              </a:rPr>
              <a:t>Goal Lineage — Every Issue Carries Its Reason</a:t>
            </a:r>
          </a:p>
        </p:txBody>
      </p:sp>
      <p:sp>
        <p:nvSpPr>
          <p:cNvPr id="6" name="Rectangle 5"/>
          <p:cNvSpPr/>
          <p:nvPr/>
        </p:nvSpPr>
        <p:spPr>
          <a:xfrm>
            <a:off x="777240" y="155448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7" name="Picture 6" descr="diagram-goal-lineage.png"/>
          <p:cNvPicPr>
            <a:picLocks noChangeAspect="1"/>
          </p:cNvPicPr>
          <p:nvPr/>
        </p:nvPicPr>
        <p:blipFill>
          <a:blip r:embed="rId2"/>
          <a:stretch>
            <a:fillRect/>
          </a:stretch>
        </p:blipFill>
        <p:spPr>
          <a:xfrm>
            <a:off x="777240" y="2361927"/>
            <a:ext cx="6812280" cy="3121697"/>
          </a:xfrm>
          <a:prstGeom prst="rect">
            <a:avLst/>
          </a:prstGeom>
        </p:spPr>
      </p:pic>
      <p:sp>
        <p:nvSpPr>
          <p:cNvPr id="8" name="Rectangle 7"/>
          <p:cNvSpPr/>
          <p:nvPr/>
        </p:nvSpPr>
        <p:spPr>
          <a:xfrm>
            <a:off x="7882127" y="1810512"/>
            <a:ext cx="3529584" cy="1027684"/>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7882127" y="1810512"/>
            <a:ext cx="3529584" cy="82296"/>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8083295" y="1975104"/>
            <a:ext cx="3127248" cy="310896"/>
          </a:xfrm>
          <a:prstGeom prst="rect">
            <a:avLst/>
          </a:prstGeom>
          <a:noFill/>
        </p:spPr>
        <p:txBody>
          <a:bodyPr wrap="square" anchor="t">
            <a:spAutoFit/>
          </a:bodyPr>
          <a:lstStyle/>
          <a:p>
            <a:pPr algn="l">
              <a:spcAft>
                <a:spcPts val="400"/>
              </a:spcAft>
            </a:pPr>
            <a:r>
              <a:rPr sz="1350" b="1">
                <a:solidFill>
                  <a:srgbClr val="1F6FEB"/>
                </a:solidFill>
                <a:latin typeface="Arial"/>
              </a:rPr>
              <a:t>Mission</a:t>
            </a:r>
          </a:p>
        </p:txBody>
      </p:sp>
      <p:sp>
        <p:nvSpPr>
          <p:cNvPr id="11" name="TextBox 10"/>
          <p:cNvSpPr txBox="1"/>
          <p:nvPr/>
        </p:nvSpPr>
        <p:spPr>
          <a:xfrm>
            <a:off x="8083295" y="2322576"/>
            <a:ext cx="3127248" cy="424180"/>
          </a:xfrm>
          <a:prstGeom prst="rect">
            <a:avLst/>
          </a:prstGeom>
          <a:noFill/>
        </p:spPr>
        <p:txBody>
          <a:bodyPr wrap="square" anchor="t">
            <a:spAutoFit/>
          </a:bodyPr>
          <a:lstStyle/>
          <a:p>
            <a:pPr algn="l">
              <a:spcAft>
                <a:spcPts val="400"/>
              </a:spcAft>
            </a:pPr>
            <a:r>
              <a:rPr sz="1000" b="0">
                <a:solidFill>
                  <a:srgbClr val="161B26"/>
                </a:solidFill>
                <a:latin typeface="Arial"/>
              </a:rPr>
              <a:t>One measurable outcome defines why the company exists.</a:t>
            </a:r>
          </a:p>
        </p:txBody>
      </p:sp>
      <p:sp>
        <p:nvSpPr>
          <p:cNvPr id="12" name="Rectangle 11"/>
          <p:cNvSpPr/>
          <p:nvPr/>
        </p:nvSpPr>
        <p:spPr>
          <a:xfrm>
            <a:off x="7882127" y="2984500"/>
            <a:ext cx="3529584" cy="865124"/>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7882127" y="2984500"/>
            <a:ext cx="3529584" cy="82296"/>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8083295" y="3149092"/>
            <a:ext cx="3127248" cy="310896"/>
          </a:xfrm>
          <a:prstGeom prst="rect">
            <a:avLst/>
          </a:prstGeom>
          <a:noFill/>
        </p:spPr>
        <p:txBody>
          <a:bodyPr wrap="square" anchor="t">
            <a:spAutoFit/>
          </a:bodyPr>
          <a:lstStyle/>
          <a:p>
            <a:pPr algn="l">
              <a:spcAft>
                <a:spcPts val="400"/>
              </a:spcAft>
            </a:pPr>
            <a:r>
              <a:rPr sz="1350" b="1">
                <a:solidFill>
                  <a:srgbClr val="10B981"/>
                </a:solidFill>
                <a:latin typeface="Arial"/>
              </a:rPr>
              <a:t>Project goal</a:t>
            </a:r>
          </a:p>
        </p:txBody>
      </p:sp>
      <p:sp>
        <p:nvSpPr>
          <p:cNvPr id="15" name="TextBox 14"/>
          <p:cNvSpPr txBox="1"/>
          <p:nvPr/>
        </p:nvSpPr>
        <p:spPr>
          <a:xfrm>
            <a:off x="8083295" y="3496564"/>
            <a:ext cx="3127248" cy="261620"/>
          </a:xfrm>
          <a:prstGeom prst="rect">
            <a:avLst/>
          </a:prstGeom>
          <a:noFill/>
        </p:spPr>
        <p:txBody>
          <a:bodyPr wrap="square" anchor="t">
            <a:spAutoFit/>
          </a:bodyPr>
          <a:lstStyle/>
          <a:p>
            <a:pPr algn="l">
              <a:spcAft>
                <a:spcPts val="400"/>
              </a:spcAft>
            </a:pPr>
            <a:r>
              <a:rPr sz="1000" b="0">
                <a:solidFill>
                  <a:srgbClr val="161B26"/>
                </a:solidFill>
                <a:latin typeface="Arial"/>
              </a:rPr>
              <a:t>A budgeted scope the agent reads at runtime.</a:t>
            </a:r>
          </a:p>
        </p:txBody>
      </p:sp>
      <p:sp>
        <p:nvSpPr>
          <p:cNvPr id="16" name="Rectangle 15"/>
          <p:cNvSpPr/>
          <p:nvPr/>
        </p:nvSpPr>
        <p:spPr>
          <a:xfrm>
            <a:off x="7882127" y="3995928"/>
            <a:ext cx="3529584" cy="1027684"/>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7882127" y="3995928"/>
            <a:ext cx="3529584" cy="82296"/>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8083295" y="4160520"/>
            <a:ext cx="3127248" cy="310896"/>
          </a:xfrm>
          <a:prstGeom prst="rect">
            <a:avLst/>
          </a:prstGeom>
          <a:noFill/>
        </p:spPr>
        <p:txBody>
          <a:bodyPr wrap="square" anchor="t">
            <a:spAutoFit/>
          </a:bodyPr>
          <a:lstStyle/>
          <a:p>
            <a:pPr algn="l">
              <a:spcAft>
                <a:spcPts val="400"/>
              </a:spcAft>
            </a:pPr>
            <a:r>
              <a:rPr sz="1350" b="1">
                <a:solidFill>
                  <a:srgbClr val="7C3AED"/>
                </a:solidFill>
                <a:latin typeface="Arial"/>
              </a:rPr>
              <a:t>Parent issue</a:t>
            </a:r>
          </a:p>
        </p:txBody>
      </p:sp>
      <p:sp>
        <p:nvSpPr>
          <p:cNvPr id="19" name="TextBox 18"/>
          <p:cNvSpPr txBox="1"/>
          <p:nvPr/>
        </p:nvSpPr>
        <p:spPr>
          <a:xfrm>
            <a:off x="8083295" y="4507992"/>
            <a:ext cx="3127248" cy="424180"/>
          </a:xfrm>
          <a:prstGeom prst="rect">
            <a:avLst/>
          </a:prstGeom>
          <a:noFill/>
        </p:spPr>
        <p:txBody>
          <a:bodyPr wrap="square" anchor="t">
            <a:spAutoFit/>
          </a:bodyPr>
          <a:lstStyle/>
          <a:p>
            <a:pPr algn="l">
              <a:spcAft>
                <a:spcPts val="400"/>
              </a:spcAft>
            </a:pPr>
            <a:r>
              <a:rPr sz="1000" b="0">
                <a:solidFill>
                  <a:srgbClr val="161B26"/>
                </a:solidFill>
                <a:latin typeface="Arial"/>
              </a:rPr>
              <a:t>The synthesis — created unassigned so it cannot wake early.</a:t>
            </a:r>
          </a:p>
        </p:txBody>
      </p:sp>
      <p:sp>
        <p:nvSpPr>
          <p:cNvPr id="20" name="Rectangle 19"/>
          <p:cNvSpPr/>
          <p:nvPr/>
        </p:nvSpPr>
        <p:spPr>
          <a:xfrm>
            <a:off x="7882127" y="5169916"/>
            <a:ext cx="3529584" cy="865124"/>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ectangle 20"/>
          <p:cNvSpPr/>
          <p:nvPr/>
        </p:nvSpPr>
        <p:spPr>
          <a:xfrm>
            <a:off x="7882127" y="5169916"/>
            <a:ext cx="3529584" cy="82296"/>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8083295" y="5334508"/>
            <a:ext cx="3127248" cy="310896"/>
          </a:xfrm>
          <a:prstGeom prst="rect">
            <a:avLst/>
          </a:prstGeom>
          <a:noFill/>
        </p:spPr>
        <p:txBody>
          <a:bodyPr wrap="square" anchor="t">
            <a:spAutoFit/>
          </a:bodyPr>
          <a:lstStyle/>
          <a:p>
            <a:pPr algn="l">
              <a:spcAft>
                <a:spcPts val="400"/>
              </a:spcAft>
            </a:pPr>
            <a:r>
              <a:rPr sz="1350" b="1">
                <a:solidFill>
                  <a:srgbClr val="F59E0B"/>
                </a:solidFill>
                <a:latin typeface="Arial"/>
              </a:rPr>
              <a:t>Child issues</a:t>
            </a:r>
          </a:p>
        </p:txBody>
      </p:sp>
      <p:sp>
        <p:nvSpPr>
          <p:cNvPr id="23" name="TextBox 22"/>
          <p:cNvSpPr txBox="1"/>
          <p:nvPr/>
        </p:nvSpPr>
        <p:spPr>
          <a:xfrm>
            <a:off x="8083295" y="5681980"/>
            <a:ext cx="3127248" cy="261620"/>
          </a:xfrm>
          <a:prstGeom prst="rect">
            <a:avLst/>
          </a:prstGeom>
          <a:noFill/>
        </p:spPr>
        <p:txBody>
          <a:bodyPr wrap="square" anchor="t">
            <a:spAutoFit/>
          </a:bodyPr>
          <a:lstStyle/>
          <a:p>
            <a:pPr algn="l">
              <a:spcAft>
                <a:spcPts val="400"/>
              </a:spcAft>
            </a:pPr>
            <a:r>
              <a:rPr sz="1000" b="0">
                <a:solidFill>
                  <a:srgbClr val="161B26"/>
                </a:solidFill>
                <a:latin typeface="Arial"/>
              </a:rPr>
              <a:t>Specialist work, assigned ONE AT A TIME.</a:t>
            </a:r>
          </a:p>
        </p:txBody>
      </p:sp>
      <p:sp>
        <p:nvSpPr>
          <p:cNvPr id="24" name="TextBox 23"/>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Manage AI Agents with Paperclip (TGS-2023036646)  ·  TGS-2023036646</a:t>
            </a:r>
          </a:p>
        </p:txBody>
      </p:sp>
      <p:sp>
        <p:nvSpPr>
          <p:cNvPr id="25" name="TextBox 24"/>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26" name="TextBox 25"/>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64</a:t>
            </a:r>
          </a:p>
        </p:txBody>
      </p:sp>
    </p:spTree>
  </p:cSld>
  <p:clrMapOvr>
    <a:masterClrMapping/>
  </p:clrMapOvr>
  <p:transition spd="fast" advClick="1">
    <p:fade/>
  </p:transition>
</p:sld>
</file>

<file path=ppt/slides/slide6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10B981"/>
                </a:solidFill>
                <a:latin typeface="Arial"/>
              </a:rPr>
              <a:t>LO3 · WHY SEQUENCE MATTERS</a:t>
            </a:r>
          </a:p>
        </p:txBody>
      </p:sp>
      <p:sp>
        <p:nvSpPr>
          <p:cNvPr id="5" name="TextBox 4"/>
          <p:cNvSpPr txBox="1"/>
          <p:nvPr/>
        </p:nvSpPr>
        <p:spPr>
          <a:xfrm>
            <a:off x="777240" y="804672"/>
            <a:ext cx="10881360" cy="713232"/>
          </a:xfrm>
          <a:prstGeom prst="rect">
            <a:avLst/>
          </a:prstGeom>
          <a:noFill/>
        </p:spPr>
        <p:txBody>
          <a:bodyPr wrap="square" anchor="ctr">
            <a:spAutoFit/>
          </a:bodyPr>
          <a:lstStyle/>
          <a:p>
            <a:pPr algn="l">
              <a:spcAft>
                <a:spcPts val="400"/>
              </a:spcAft>
            </a:pPr>
            <a:r>
              <a:rPr sz="2900" b="1">
                <a:solidFill>
                  <a:srgbClr val="161B26"/>
                </a:solidFill>
                <a:latin typeface="Arial"/>
              </a:rPr>
              <a:t>Assign One Child at a Time</a:t>
            </a:r>
          </a:p>
        </p:txBody>
      </p:sp>
      <p:sp>
        <p:nvSpPr>
          <p:cNvPr id="6" name="Rectangle 5"/>
          <p:cNvSpPr/>
          <p:nvPr/>
        </p:nvSpPr>
        <p:spPr>
          <a:xfrm>
            <a:off x="777240" y="155448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7" name="Picture 6" descr="chart-sequential-runs.png"/>
          <p:cNvPicPr>
            <a:picLocks noChangeAspect="1"/>
          </p:cNvPicPr>
          <p:nvPr/>
        </p:nvPicPr>
        <p:blipFill>
          <a:blip r:embed="rId2"/>
          <a:stretch>
            <a:fillRect/>
          </a:stretch>
        </p:blipFill>
        <p:spPr>
          <a:xfrm>
            <a:off x="777240" y="2385830"/>
            <a:ext cx="6812280" cy="3073891"/>
          </a:xfrm>
          <a:prstGeom prst="rect">
            <a:avLst/>
          </a:prstGeom>
        </p:spPr>
      </p:pic>
      <p:sp>
        <p:nvSpPr>
          <p:cNvPr id="8" name="Rectangle 7"/>
          <p:cNvSpPr/>
          <p:nvPr/>
        </p:nvSpPr>
        <p:spPr>
          <a:xfrm>
            <a:off x="7882127" y="1810512"/>
            <a:ext cx="3529584" cy="987552"/>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7882127" y="1810512"/>
            <a:ext cx="3529584" cy="82296"/>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8083295" y="1975104"/>
            <a:ext cx="3127248" cy="310896"/>
          </a:xfrm>
          <a:prstGeom prst="rect">
            <a:avLst/>
          </a:prstGeom>
          <a:noFill/>
        </p:spPr>
        <p:txBody>
          <a:bodyPr wrap="square" anchor="t">
            <a:spAutoFit/>
          </a:bodyPr>
          <a:lstStyle/>
          <a:p>
            <a:pPr algn="l">
              <a:spcAft>
                <a:spcPts val="400"/>
              </a:spcAft>
            </a:pPr>
            <a:r>
              <a:rPr sz="1350" b="1">
                <a:solidFill>
                  <a:srgbClr val="1F6FEB"/>
                </a:solidFill>
                <a:latin typeface="Arial"/>
              </a:rPr>
              <a:t>Assignment is the trigger</a:t>
            </a:r>
          </a:p>
        </p:txBody>
      </p:sp>
      <p:sp>
        <p:nvSpPr>
          <p:cNvPr id="11" name="TextBox 10"/>
          <p:cNvSpPr txBox="1"/>
          <p:nvPr/>
        </p:nvSpPr>
        <p:spPr>
          <a:xfrm>
            <a:off x="8083295" y="2322576"/>
            <a:ext cx="3127248" cy="384048"/>
          </a:xfrm>
          <a:prstGeom prst="rect">
            <a:avLst/>
          </a:prstGeom>
          <a:noFill/>
        </p:spPr>
        <p:txBody>
          <a:bodyPr wrap="square" anchor="t">
            <a:spAutoFit/>
          </a:bodyPr>
          <a:lstStyle/>
          <a:p>
            <a:pPr algn="l">
              <a:spcAft>
                <a:spcPts val="400"/>
              </a:spcAft>
            </a:pPr>
            <a:r>
              <a:rPr sz="900" b="0">
                <a:solidFill>
                  <a:srgbClr val="161B26"/>
                </a:solidFill>
                <a:latin typeface="Arial"/>
              </a:rPr>
              <a:t>Creating an issue does not wake anyone — assigning it does.</a:t>
            </a:r>
          </a:p>
        </p:txBody>
      </p:sp>
      <p:sp>
        <p:nvSpPr>
          <p:cNvPr id="12" name="Rectangle 11"/>
          <p:cNvSpPr/>
          <p:nvPr/>
        </p:nvSpPr>
        <p:spPr>
          <a:xfrm>
            <a:off x="7882127" y="2944368"/>
            <a:ext cx="3529584" cy="987552"/>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7882127" y="2944368"/>
            <a:ext cx="3529584" cy="82296"/>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8083295" y="3108960"/>
            <a:ext cx="3127248" cy="310896"/>
          </a:xfrm>
          <a:prstGeom prst="rect">
            <a:avLst/>
          </a:prstGeom>
          <a:noFill/>
        </p:spPr>
        <p:txBody>
          <a:bodyPr wrap="square" anchor="t">
            <a:spAutoFit/>
          </a:bodyPr>
          <a:lstStyle/>
          <a:p>
            <a:pPr algn="l">
              <a:spcAft>
                <a:spcPts val="400"/>
              </a:spcAft>
            </a:pPr>
            <a:r>
              <a:rPr sz="1350" b="1">
                <a:solidFill>
                  <a:srgbClr val="10B981"/>
                </a:solidFill>
                <a:latin typeface="Arial"/>
              </a:rPr>
              <a:t>Sequential = attributable</a:t>
            </a:r>
          </a:p>
        </p:txBody>
      </p:sp>
      <p:sp>
        <p:nvSpPr>
          <p:cNvPr id="15" name="TextBox 14"/>
          <p:cNvSpPr txBox="1"/>
          <p:nvPr/>
        </p:nvSpPr>
        <p:spPr>
          <a:xfrm>
            <a:off x="8083295" y="3456432"/>
            <a:ext cx="3127248" cy="384048"/>
          </a:xfrm>
          <a:prstGeom prst="rect">
            <a:avLst/>
          </a:prstGeom>
          <a:noFill/>
        </p:spPr>
        <p:txBody>
          <a:bodyPr wrap="square" anchor="t">
            <a:spAutoFit/>
          </a:bodyPr>
          <a:lstStyle/>
          <a:p>
            <a:pPr algn="l">
              <a:spcAft>
                <a:spcPts val="400"/>
              </a:spcAft>
            </a:pPr>
            <a:r>
              <a:rPr sz="900" b="0">
                <a:solidFill>
                  <a:srgbClr val="161B26"/>
                </a:solidFill>
                <a:latin typeface="Arial"/>
              </a:rPr>
              <a:t>Non-overlapping runs let you tie each artifact to exactly one run.</a:t>
            </a:r>
          </a:p>
        </p:txBody>
      </p:sp>
      <p:sp>
        <p:nvSpPr>
          <p:cNvPr id="16" name="Rectangle 15"/>
          <p:cNvSpPr/>
          <p:nvPr/>
        </p:nvSpPr>
        <p:spPr>
          <a:xfrm>
            <a:off x="7882127" y="4078224"/>
            <a:ext cx="3529584" cy="987552"/>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7882127" y="4078224"/>
            <a:ext cx="3529584" cy="82296"/>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8083295" y="4242816"/>
            <a:ext cx="3127248" cy="310896"/>
          </a:xfrm>
          <a:prstGeom prst="rect">
            <a:avLst/>
          </a:prstGeom>
          <a:noFill/>
        </p:spPr>
        <p:txBody>
          <a:bodyPr wrap="square" anchor="t">
            <a:spAutoFit/>
          </a:bodyPr>
          <a:lstStyle/>
          <a:p>
            <a:pPr algn="l">
              <a:spcAft>
                <a:spcPts val="400"/>
              </a:spcAft>
            </a:pPr>
            <a:r>
              <a:rPr sz="1350" b="1">
                <a:solidFill>
                  <a:srgbClr val="7C3AED"/>
                </a:solidFill>
                <a:latin typeface="Arial"/>
              </a:rPr>
              <a:t>Overlapping = unverifiable</a:t>
            </a:r>
          </a:p>
        </p:txBody>
      </p:sp>
      <p:sp>
        <p:nvSpPr>
          <p:cNvPr id="19" name="TextBox 18"/>
          <p:cNvSpPr txBox="1"/>
          <p:nvPr/>
        </p:nvSpPr>
        <p:spPr>
          <a:xfrm>
            <a:off x="8083295" y="4590288"/>
            <a:ext cx="3127248" cy="384048"/>
          </a:xfrm>
          <a:prstGeom prst="rect">
            <a:avLst/>
          </a:prstGeom>
          <a:noFill/>
        </p:spPr>
        <p:txBody>
          <a:bodyPr wrap="square" anchor="t">
            <a:spAutoFit/>
          </a:bodyPr>
          <a:lstStyle/>
          <a:p>
            <a:pPr algn="l">
              <a:spcAft>
                <a:spcPts val="400"/>
              </a:spcAft>
            </a:pPr>
            <a:r>
              <a:rPr sz="900" b="0">
                <a:solidFill>
                  <a:srgbClr val="161B26"/>
                </a:solidFill>
                <a:latin typeface="Arial"/>
              </a:rPr>
              <a:t>If both ran at once you cannot prove the hand-off actually happened.</a:t>
            </a:r>
          </a:p>
        </p:txBody>
      </p:sp>
      <p:sp>
        <p:nvSpPr>
          <p:cNvPr id="20" name="Rectangle 19"/>
          <p:cNvSpPr/>
          <p:nvPr/>
        </p:nvSpPr>
        <p:spPr>
          <a:xfrm>
            <a:off x="7882127" y="5212080"/>
            <a:ext cx="3529584" cy="987552"/>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ectangle 20"/>
          <p:cNvSpPr/>
          <p:nvPr/>
        </p:nvSpPr>
        <p:spPr>
          <a:xfrm>
            <a:off x="7882127" y="5212080"/>
            <a:ext cx="3529584" cy="82296"/>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8083295" y="5376672"/>
            <a:ext cx="3127248" cy="310896"/>
          </a:xfrm>
          <a:prstGeom prst="rect">
            <a:avLst/>
          </a:prstGeom>
          <a:noFill/>
        </p:spPr>
        <p:txBody>
          <a:bodyPr wrap="square" anchor="t">
            <a:spAutoFit/>
          </a:bodyPr>
          <a:lstStyle/>
          <a:p>
            <a:pPr algn="l">
              <a:spcAft>
                <a:spcPts val="400"/>
              </a:spcAft>
            </a:pPr>
            <a:r>
              <a:rPr sz="1350" b="1">
                <a:solidFill>
                  <a:srgbClr val="F59E0B"/>
                </a:solidFill>
                <a:latin typeface="Arial"/>
              </a:rPr>
              <a:t>Bound every wait</a:t>
            </a:r>
          </a:p>
        </p:txBody>
      </p:sp>
      <p:sp>
        <p:nvSpPr>
          <p:cNvPr id="23" name="TextBox 22"/>
          <p:cNvSpPr txBox="1"/>
          <p:nvPr/>
        </p:nvSpPr>
        <p:spPr>
          <a:xfrm>
            <a:off x="8083295" y="5724144"/>
            <a:ext cx="3127248" cy="384048"/>
          </a:xfrm>
          <a:prstGeom prst="rect">
            <a:avLst/>
          </a:prstGeom>
          <a:noFill/>
        </p:spPr>
        <p:txBody>
          <a:bodyPr wrap="square" anchor="t">
            <a:spAutoFit/>
          </a:bodyPr>
          <a:lstStyle/>
          <a:p>
            <a:pPr algn="l">
              <a:spcAft>
                <a:spcPts val="400"/>
              </a:spcAft>
            </a:pPr>
            <a:r>
              <a:rPr sz="900" b="0">
                <a:solidFill>
                  <a:srgbClr val="161B26"/>
                </a:solidFill>
                <a:latin typeface="Arial"/>
              </a:rPr>
              <a:t>An unbounded wait hides a failed adapter behind apparent patience.</a:t>
            </a:r>
          </a:p>
        </p:txBody>
      </p:sp>
      <p:sp>
        <p:nvSpPr>
          <p:cNvPr id="24" name="TextBox 23"/>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Manage AI Agents with Paperclip (TGS-2023036646)  ·  TGS-2023036646</a:t>
            </a:r>
          </a:p>
        </p:txBody>
      </p:sp>
      <p:sp>
        <p:nvSpPr>
          <p:cNvPr id="25" name="TextBox 24"/>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26" name="TextBox 25"/>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65</a:t>
            </a:r>
          </a:p>
        </p:txBody>
      </p:sp>
    </p:spTree>
  </p:cSld>
  <p:clrMapOvr>
    <a:masterClrMapping/>
  </p:clrMapOvr>
  <p:transition spd="fast" advClick="1">
    <p:fade/>
  </p:transition>
</p:sld>
</file>

<file path=ppt/slides/slide6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1F6FEB"/>
                </a:solidFill>
                <a:latin typeface="Arial"/>
              </a:rPr>
              <a:t>LO3 · WHAT 'VERIFIED' ACTUALLY MEANS</a:t>
            </a:r>
          </a:p>
        </p:txBody>
      </p:sp>
      <p:sp>
        <p:nvSpPr>
          <p:cNvPr id="5" name="TextBox 4"/>
          <p:cNvSpPr txBox="1"/>
          <p:nvPr/>
        </p:nvSpPr>
        <p:spPr>
          <a:xfrm>
            <a:off x="777240" y="804672"/>
            <a:ext cx="10881360" cy="713232"/>
          </a:xfrm>
          <a:prstGeom prst="rect">
            <a:avLst/>
          </a:prstGeom>
          <a:noFill/>
        </p:spPr>
        <p:txBody>
          <a:bodyPr wrap="square" anchor="ctr">
            <a:spAutoFit/>
          </a:bodyPr>
          <a:lstStyle/>
          <a:p>
            <a:pPr algn="l">
              <a:spcAft>
                <a:spcPts val="400"/>
              </a:spcAft>
            </a:pPr>
            <a:r>
              <a:rPr sz="2900" b="1">
                <a:solidFill>
                  <a:srgbClr val="161B26"/>
                </a:solidFill>
                <a:latin typeface="Arial"/>
              </a:rPr>
              <a:t>Verifying Between Disparate Components</a:t>
            </a:r>
          </a:p>
        </p:txBody>
      </p:sp>
      <p:sp>
        <p:nvSpPr>
          <p:cNvPr id="6" name="Rectangle 5"/>
          <p:cNvSpPr/>
          <p:nvPr/>
        </p:nvSpPr>
        <p:spPr>
          <a:xfrm>
            <a:off x="777240" y="155448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7" name="Picture 6" descr="diagram-evidence-chain.png"/>
          <p:cNvPicPr>
            <a:picLocks noChangeAspect="1"/>
          </p:cNvPicPr>
          <p:nvPr/>
        </p:nvPicPr>
        <p:blipFill>
          <a:blip r:embed="rId2"/>
          <a:stretch>
            <a:fillRect/>
          </a:stretch>
        </p:blipFill>
        <p:spPr>
          <a:xfrm>
            <a:off x="777240" y="2581832"/>
            <a:ext cx="6812280" cy="2681887"/>
          </a:xfrm>
          <a:prstGeom prst="rect">
            <a:avLst/>
          </a:prstGeom>
        </p:spPr>
      </p:pic>
      <p:sp>
        <p:nvSpPr>
          <p:cNvPr id="8" name="Rectangle 7"/>
          <p:cNvSpPr/>
          <p:nvPr/>
        </p:nvSpPr>
        <p:spPr>
          <a:xfrm>
            <a:off x="7882127" y="1810512"/>
            <a:ext cx="3529584" cy="987552"/>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7882127" y="1810512"/>
            <a:ext cx="3529584" cy="82296"/>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8083295" y="1975104"/>
            <a:ext cx="3127248" cy="310896"/>
          </a:xfrm>
          <a:prstGeom prst="rect">
            <a:avLst/>
          </a:prstGeom>
          <a:noFill/>
        </p:spPr>
        <p:txBody>
          <a:bodyPr wrap="square" anchor="t">
            <a:spAutoFit/>
          </a:bodyPr>
          <a:lstStyle/>
          <a:p>
            <a:pPr algn="l">
              <a:spcAft>
                <a:spcPts val="400"/>
              </a:spcAft>
            </a:pPr>
            <a:r>
              <a:rPr sz="1350" b="1">
                <a:solidFill>
                  <a:srgbClr val="1F6FEB"/>
                </a:solidFill>
                <a:latin typeface="Arial"/>
              </a:rPr>
              <a:t>Five places, one thread</a:t>
            </a:r>
          </a:p>
        </p:txBody>
      </p:sp>
      <p:sp>
        <p:nvSpPr>
          <p:cNvPr id="11" name="TextBox 10"/>
          <p:cNvSpPr txBox="1"/>
          <p:nvPr/>
        </p:nvSpPr>
        <p:spPr>
          <a:xfrm>
            <a:off x="8083295" y="2322576"/>
            <a:ext cx="3127248" cy="384048"/>
          </a:xfrm>
          <a:prstGeom prst="rect">
            <a:avLst/>
          </a:prstGeom>
          <a:noFill/>
        </p:spPr>
        <p:txBody>
          <a:bodyPr wrap="square" anchor="t">
            <a:spAutoFit/>
          </a:bodyPr>
          <a:lstStyle/>
          <a:p>
            <a:pPr algn="l">
              <a:spcAft>
                <a:spcPts val="400"/>
              </a:spcAft>
            </a:pPr>
            <a:r>
              <a:rPr sz="900" b="0">
                <a:solidFill>
                  <a:srgbClr val="161B26"/>
                </a:solidFill>
                <a:latin typeface="Arial"/>
              </a:rPr>
              <a:t>Issue ID, run log, comment, workspace diff and cost entry must agree.</a:t>
            </a:r>
          </a:p>
        </p:txBody>
      </p:sp>
      <p:sp>
        <p:nvSpPr>
          <p:cNvPr id="12" name="Rectangle 11"/>
          <p:cNvSpPr/>
          <p:nvPr/>
        </p:nvSpPr>
        <p:spPr>
          <a:xfrm>
            <a:off x="7882127" y="2944368"/>
            <a:ext cx="3529584" cy="987552"/>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7882127" y="2944368"/>
            <a:ext cx="3529584" cy="82296"/>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8083295" y="3108960"/>
            <a:ext cx="3127248" cy="310896"/>
          </a:xfrm>
          <a:prstGeom prst="rect">
            <a:avLst/>
          </a:prstGeom>
          <a:noFill/>
        </p:spPr>
        <p:txBody>
          <a:bodyPr wrap="square" anchor="t">
            <a:spAutoFit/>
          </a:bodyPr>
          <a:lstStyle/>
          <a:p>
            <a:pPr algn="l">
              <a:spcAft>
                <a:spcPts val="400"/>
              </a:spcAft>
            </a:pPr>
            <a:r>
              <a:rPr sz="1350" b="1">
                <a:solidFill>
                  <a:srgbClr val="10B981"/>
                </a:solidFill>
                <a:latin typeface="Arial"/>
              </a:rPr>
              <a:t>The diff is king</a:t>
            </a:r>
          </a:p>
        </p:txBody>
      </p:sp>
      <p:sp>
        <p:nvSpPr>
          <p:cNvPr id="15" name="TextBox 14"/>
          <p:cNvSpPr txBox="1"/>
          <p:nvPr/>
        </p:nvSpPr>
        <p:spPr>
          <a:xfrm>
            <a:off x="8083295" y="3456432"/>
            <a:ext cx="3127248" cy="384048"/>
          </a:xfrm>
          <a:prstGeom prst="rect">
            <a:avLst/>
          </a:prstGeom>
          <a:noFill/>
        </p:spPr>
        <p:txBody>
          <a:bodyPr wrap="square" anchor="t">
            <a:spAutoFit/>
          </a:bodyPr>
          <a:lstStyle/>
          <a:p>
            <a:pPr algn="l">
              <a:spcAft>
                <a:spcPts val="400"/>
              </a:spcAft>
            </a:pPr>
            <a:r>
              <a:rPr sz="900" b="0">
                <a:solidFill>
                  <a:srgbClr val="161B26"/>
                </a:solidFill>
                <a:latin typeface="Arial"/>
              </a:rPr>
              <a:t>Read what actually changed on disk before accepting any agent's summary.</a:t>
            </a:r>
          </a:p>
        </p:txBody>
      </p:sp>
      <p:sp>
        <p:nvSpPr>
          <p:cNvPr id="16" name="Rectangle 15"/>
          <p:cNvSpPr/>
          <p:nvPr/>
        </p:nvSpPr>
        <p:spPr>
          <a:xfrm>
            <a:off x="7882127" y="4078224"/>
            <a:ext cx="3529584" cy="987552"/>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7882127" y="4078224"/>
            <a:ext cx="3529584" cy="82296"/>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8083295" y="4242816"/>
            <a:ext cx="3127248" cy="310896"/>
          </a:xfrm>
          <a:prstGeom prst="rect">
            <a:avLst/>
          </a:prstGeom>
          <a:noFill/>
        </p:spPr>
        <p:txBody>
          <a:bodyPr wrap="square" anchor="t">
            <a:spAutoFit/>
          </a:bodyPr>
          <a:lstStyle/>
          <a:p>
            <a:pPr algn="l">
              <a:spcAft>
                <a:spcPts val="400"/>
              </a:spcAft>
            </a:pPr>
            <a:r>
              <a:rPr sz="1350" b="1">
                <a:solidFill>
                  <a:srgbClr val="7C3AED"/>
                </a:solidFill>
                <a:latin typeface="Arial"/>
              </a:rPr>
              <a:t>Status is not evidence</a:t>
            </a:r>
          </a:p>
        </p:txBody>
      </p:sp>
      <p:sp>
        <p:nvSpPr>
          <p:cNvPr id="19" name="TextBox 18"/>
          <p:cNvSpPr txBox="1"/>
          <p:nvPr/>
        </p:nvSpPr>
        <p:spPr>
          <a:xfrm>
            <a:off x="8083295" y="4590288"/>
            <a:ext cx="3127248" cy="384048"/>
          </a:xfrm>
          <a:prstGeom prst="rect">
            <a:avLst/>
          </a:prstGeom>
          <a:noFill/>
        </p:spPr>
        <p:txBody>
          <a:bodyPr wrap="square" anchor="t">
            <a:spAutoFit/>
          </a:bodyPr>
          <a:lstStyle/>
          <a:p>
            <a:pPr algn="l">
              <a:spcAft>
                <a:spcPts val="400"/>
              </a:spcAft>
            </a:pPr>
            <a:r>
              <a:rPr sz="900" b="0">
                <a:solidFill>
                  <a:srgbClr val="161B26"/>
                </a:solidFill>
                <a:latin typeface="Arial"/>
              </a:rPr>
              <a:t>'Done' with no artifact and no diff is an unverified claim.</a:t>
            </a:r>
          </a:p>
        </p:txBody>
      </p:sp>
      <p:sp>
        <p:nvSpPr>
          <p:cNvPr id="20" name="Rectangle 19"/>
          <p:cNvSpPr/>
          <p:nvPr/>
        </p:nvSpPr>
        <p:spPr>
          <a:xfrm>
            <a:off x="7882127" y="5212080"/>
            <a:ext cx="3529584" cy="987552"/>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ectangle 20"/>
          <p:cNvSpPr/>
          <p:nvPr/>
        </p:nvSpPr>
        <p:spPr>
          <a:xfrm>
            <a:off x="7882127" y="5212080"/>
            <a:ext cx="3529584" cy="82296"/>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8083295" y="5376672"/>
            <a:ext cx="3127248" cy="310896"/>
          </a:xfrm>
          <a:prstGeom prst="rect">
            <a:avLst/>
          </a:prstGeom>
          <a:noFill/>
        </p:spPr>
        <p:txBody>
          <a:bodyPr wrap="square" anchor="t">
            <a:spAutoFit/>
          </a:bodyPr>
          <a:lstStyle/>
          <a:p>
            <a:pPr algn="l">
              <a:spcAft>
                <a:spcPts val="400"/>
              </a:spcAft>
            </a:pPr>
            <a:r>
              <a:rPr sz="1350" b="1">
                <a:solidFill>
                  <a:srgbClr val="F59E0B"/>
                </a:solidFill>
                <a:latin typeface="Arial"/>
              </a:rPr>
              <a:t>Name the evidence</a:t>
            </a:r>
          </a:p>
        </p:txBody>
      </p:sp>
      <p:sp>
        <p:nvSpPr>
          <p:cNvPr id="23" name="TextBox 22"/>
          <p:cNvSpPr txBox="1"/>
          <p:nvPr/>
        </p:nvSpPr>
        <p:spPr>
          <a:xfrm>
            <a:off x="8083295" y="5724144"/>
            <a:ext cx="3127248" cy="384048"/>
          </a:xfrm>
          <a:prstGeom prst="rect">
            <a:avLst/>
          </a:prstGeom>
          <a:noFill/>
        </p:spPr>
        <p:txBody>
          <a:bodyPr wrap="square" anchor="t">
            <a:spAutoFit/>
          </a:bodyPr>
          <a:lstStyle/>
          <a:p>
            <a:pPr algn="l">
              <a:spcAft>
                <a:spcPts val="400"/>
              </a:spcAft>
            </a:pPr>
            <a:r>
              <a:rPr sz="900" b="0">
                <a:solidFill>
                  <a:srgbClr val="161B26"/>
                </a:solidFill>
                <a:latin typeface="Arial"/>
              </a:rPr>
              <a:t>An acceptance criterion states the artifact, its path and its fields.</a:t>
            </a:r>
          </a:p>
        </p:txBody>
      </p:sp>
      <p:sp>
        <p:nvSpPr>
          <p:cNvPr id="24" name="TextBox 23"/>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Manage AI Agents with Paperclip (TGS-2023036646)  ·  TGS-2023036646</a:t>
            </a:r>
          </a:p>
        </p:txBody>
      </p:sp>
      <p:sp>
        <p:nvSpPr>
          <p:cNvPr id="25" name="TextBox 24"/>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26" name="TextBox 25"/>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66</a:t>
            </a:r>
          </a:p>
        </p:txBody>
      </p:sp>
    </p:spTree>
  </p:cSld>
  <p:clrMapOvr>
    <a:masterClrMapping/>
  </p:clrMapOvr>
  <p:transition spd="fast" advClick="1">
    <p:fade/>
  </p:transition>
</p:sld>
</file>

<file path=ppt/slides/slide6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10B981"/>
                </a:solidFill>
                <a:latin typeface="Arial"/>
              </a:rPr>
              <a:t>LO3 · ACCEPTING WORK</a:t>
            </a:r>
          </a:p>
        </p:txBody>
      </p:sp>
      <p:sp>
        <p:nvSpPr>
          <p:cNvPr id="5" name="TextBox 4"/>
          <p:cNvSpPr txBox="1"/>
          <p:nvPr/>
        </p:nvSpPr>
        <p:spPr>
          <a:xfrm>
            <a:off x="777240" y="804672"/>
            <a:ext cx="10881360" cy="713232"/>
          </a:xfrm>
          <a:prstGeom prst="rect">
            <a:avLst/>
          </a:prstGeom>
          <a:noFill/>
        </p:spPr>
        <p:txBody>
          <a:bodyPr wrap="square" anchor="ctr">
            <a:spAutoFit/>
          </a:bodyPr>
          <a:lstStyle/>
          <a:p>
            <a:pPr algn="l">
              <a:spcAft>
                <a:spcPts val="400"/>
              </a:spcAft>
            </a:pPr>
            <a:r>
              <a:rPr sz="2900" b="1">
                <a:solidFill>
                  <a:srgbClr val="161B26"/>
                </a:solidFill>
                <a:latin typeface="Arial"/>
              </a:rPr>
              <a:t>Hand-Off Acceptance — What You Are Actually Checking</a:t>
            </a:r>
          </a:p>
        </p:txBody>
      </p:sp>
      <p:sp>
        <p:nvSpPr>
          <p:cNvPr id="6" name="Rectangle 5"/>
          <p:cNvSpPr/>
          <p:nvPr/>
        </p:nvSpPr>
        <p:spPr>
          <a:xfrm>
            <a:off x="777240" y="155448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77240" y="1783080"/>
            <a:ext cx="5180076" cy="2066544"/>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777240" y="1783080"/>
            <a:ext cx="91440" cy="2066544"/>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Oval 8"/>
          <p:cNvSpPr/>
          <p:nvPr/>
        </p:nvSpPr>
        <p:spPr>
          <a:xfrm>
            <a:off x="1033272" y="2542032"/>
            <a:ext cx="548640" cy="548640"/>
          </a:xfrm>
          <a:prstGeom prst="ellipse">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1033272" y="2542032"/>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1</a:t>
            </a:r>
          </a:p>
        </p:txBody>
      </p:sp>
      <p:sp>
        <p:nvSpPr>
          <p:cNvPr id="11" name="TextBox 10"/>
          <p:cNvSpPr txBox="1"/>
          <p:nvPr/>
        </p:nvSpPr>
        <p:spPr>
          <a:xfrm>
            <a:off x="1764792" y="1911096"/>
            <a:ext cx="3973068" cy="1883664"/>
          </a:xfrm>
          <a:prstGeom prst="rect">
            <a:avLst/>
          </a:prstGeom>
          <a:noFill/>
        </p:spPr>
        <p:txBody>
          <a:bodyPr wrap="square" anchor="ctr">
            <a:spAutoFit/>
          </a:bodyPr>
          <a:lstStyle/>
          <a:p>
            <a:pPr algn="l">
              <a:spcAft>
                <a:spcPts val="300"/>
              </a:spcAft>
            </a:pPr>
            <a:r>
              <a:rPr sz="1600" b="1">
                <a:solidFill>
                  <a:srgbClr val="161B26"/>
                </a:solidFill>
                <a:latin typeface="Arial"/>
              </a:rPr>
              <a:t>Consumable without a question</a:t>
            </a:r>
          </a:p>
          <a:p>
            <a:pPr algn="l">
              <a:spcAft>
                <a:spcPts val="300"/>
              </a:spcAft>
            </a:pPr>
            <a:r>
              <a:rPr sz="1200" b="0">
                <a:solidFill>
                  <a:srgbClr val="5B6372"/>
                </a:solidFill>
                <a:latin typeface="Arial"/>
              </a:rPr>
              <a:t>The receiving agent can use the artifact without asking the producer anything.</a:t>
            </a:r>
          </a:p>
        </p:txBody>
      </p:sp>
      <p:sp>
        <p:nvSpPr>
          <p:cNvPr id="12" name="Rectangle 11"/>
          <p:cNvSpPr/>
          <p:nvPr/>
        </p:nvSpPr>
        <p:spPr>
          <a:xfrm>
            <a:off x="6231636" y="1783080"/>
            <a:ext cx="5180076" cy="2066544"/>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6231636" y="1783080"/>
            <a:ext cx="91440" cy="2066544"/>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Oval 13"/>
          <p:cNvSpPr/>
          <p:nvPr/>
        </p:nvSpPr>
        <p:spPr>
          <a:xfrm>
            <a:off x="6487668" y="2542032"/>
            <a:ext cx="548640" cy="548640"/>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487668" y="2542032"/>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2</a:t>
            </a:r>
          </a:p>
        </p:txBody>
      </p:sp>
      <p:sp>
        <p:nvSpPr>
          <p:cNvPr id="16" name="TextBox 15"/>
          <p:cNvSpPr txBox="1"/>
          <p:nvPr/>
        </p:nvSpPr>
        <p:spPr>
          <a:xfrm>
            <a:off x="7219188" y="1911096"/>
            <a:ext cx="3973068" cy="1883664"/>
          </a:xfrm>
          <a:prstGeom prst="rect">
            <a:avLst/>
          </a:prstGeom>
          <a:noFill/>
        </p:spPr>
        <p:txBody>
          <a:bodyPr wrap="square" anchor="ctr">
            <a:spAutoFit/>
          </a:bodyPr>
          <a:lstStyle/>
          <a:p>
            <a:pPr algn="l">
              <a:spcAft>
                <a:spcPts val="300"/>
              </a:spcAft>
            </a:pPr>
            <a:r>
              <a:rPr sz="1600" b="1">
                <a:solidFill>
                  <a:srgbClr val="161B26"/>
                </a:solidFill>
                <a:latin typeface="Arial"/>
              </a:rPr>
              <a:t>Limitations stated</a:t>
            </a:r>
          </a:p>
          <a:p>
            <a:pPr algn="l">
              <a:spcAft>
                <a:spcPts val="300"/>
              </a:spcAft>
            </a:pPr>
            <a:r>
              <a:rPr sz="1200" b="0">
                <a:solidFill>
                  <a:srgbClr val="5B6372"/>
                </a:solidFill>
                <a:latin typeface="Arial"/>
              </a:rPr>
              <a:t>An agent that reports what it could NOT establish is more useful than one that quietly guesses.</a:t>
            </a:r>
          </a:p>
        </p:txBody>
      </p:sp>
      <p:sp>
        <p:nvSpPr>
          <p:cNvPr id="17" name="Rectangle 16"/>
          <p:cNvSpPr/>
          <p:nvPr/>
        </p:nvSpPr>
        <p:spPr>
          <a:xfrm>
            <a:off x="777240" y="4087368"/>
            <a:ext cx="5180076" cy="2066544"/>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777240" y="4087368"/>
            <a:ext cx="91440" cy="2066544"/>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Oval 18"/>
          <p:cNvSpPr/>
          <p:nvPr/>
        </p:nvSpPr>
        <p:spPr>
          <a:xfrm>
            <a:off x="1033272" y="4846320"/>
            <a:ext cx="548640" cy="548640"/>
          </a:xfrm>
          <a:prstGeom prst="ellipse">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1033272" y="4846320"/>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3</a:t>
            </a:r>
          </a:p>
        </p:txBody>
      </p:sp>
      <p:sp>
        <p:nvSpPr>
          <p:cNvPr id="21" name="TextBox 20"/>
          <p:cNvSpPr txBox="1"/>
          <p:nvPr/>
        </p:nvSpPr>
        <p:spPr>
          <a:xfrm>
            <a:off x="1764792" y="4215384"/>
            <a:ext cx="3973068" cy="1883664"/>
          </a:xfrm>
          <a:prstGeom prst="rect">
            <a:avLst/>
          </a:prstGeom>
          <a:noFill/>
        </p:spPr>
        <p:txBody>
          <a:bodyPr wrap="square" anchor="ctr">
            <a:spAutoFit/>
          </a:bodyPr>
          <a:lstStyle/>
          <a:p>
            <a:pPr algn="l">
              <a:spcAft>
                <a:spcPts val="300"/>
              </a:spcAft>
            </a:pPr>
            <a:r>
              <a:rPr sz="1600" b="1">
                <a:solidFill>
                  <a:srgbClr val="161B26"/>
                </a:solidFill>
                <a:latin typeface="Arial"/>
              </a:rPr>
              <a:t>Idempotent</a:t>
            </a:r>
          </a:p>
          <a:p>
            <a:pPr algn="l">
              <a:spcAft>
                <a:spcPts val="300"/>
              </a:spcAft>
            </a:pPr>
            <a:r>
              <a:rPr sz="1200" b="0">
                <a:solidFill>
                  <a:srgbClr val="5B6372"/>
                </a:solidFill>
                <a:latin typeface="Arial"/>
              </a:rPr>
              <a:t>One event should not create many outcomes — re-running must not duplicate the work.</a:t>
            </a:r>
          </a:p>
        </p:txBody>
      </p:sp>
      <p:sp>
        <p:nvSpPr>
          <p:cNvPr id="22" name="Rectangle 21"/>
          <p:cNvSpPr/>
          <p:nvPr/>
        </p:nvSpPr>
        <p:spPr>
          <a:xfrm>
            <a:off x="6231636" y="4087368"/>
            <a:ext cx="5180076" cy="2066544"/>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ectangle 22"/>
          <p:cNvSpPr/>
          <p:nvPr/>
        </p:nvSpPr>
        <p:spPr>
          <a:xfrm>
            <a:off x="6231636" y="4087368"/>
            <a:ext cx="91440" cy="2066544"/>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Oval 23"/>
          <p:cNvSpPr/>
          <p:nvPr/>
        </p:nvSpPr>
        <p:spPr>
          <a:xfrm>
            <a:off x="6487668" y="4846320"/>
            <a:ext cx="548640" cy="548640"/>
          </a:xfrm>
          <a:prstGeom prst="ellipse">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6487668" y="4846320"/>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4</a:t>
            </a:r>
          </a:p>
        </p:txBody>
      </p:sp>
      <p:sp>
        <p:nvSpPr>
          <p:cNvPr id="26" name="TextBox 25"/>
          <p:cNvSpPr txBox="1"/>
          <p:nvPr/>
        </p:nvSpPr>
        <p:spPr>
          <a:xfrm>
            <a:off x="7219188" y="4215384"/>
            <a:ext cx="3973068" cy="1883664"/>
          </a:xfrm>
          <a:prstGeom prst="rect">
            <a:avLst/>
          </a:prstGeom>
          <a:noFill/>
        </p:spPr>
        <p:txBody>
          <a:bodyPr wrap="square" anchor="ctr">
            <a:spAutoFit/>
          </a:bodyPr>
          <a:lstStyle/>
          <a:p>
            <a:pPr algn="l">
              <a:spcAft>
                <a:spcPts val="300"/>
              </a:spcAft>
            </a:pPr>
            <a:r>
              <a:rPr sz="1600" b="1">
                <a:solidFill>
                  <a:srgbClr val="161B26"/>
                </a:solidFill>
                <a:latin typeface="Arial"/>
              </a:rPr>
              <a:t>Traceable</a:t>
            </a:r>
          </a:p>
          <a:p>
            <a:pPr algn="l">
              <a:spcAft>
                <a:spcPts val="300"/>
              </a:spcAft>
            </a:pPr>
            <a:r>
              <a:rPr sz="1200" b="0">
                <a:solidFill>
                  <a:srgbClr val="5B6372"/>
                </a:solidFill>
                <a:latin typeface="Arial"/>
              </a:rPr>
              <a:t>Every claim in the deliverable points back to a named source in the allowed inputs.</a:t>
            </a:r>
          </a:p>
        </p:txBody>
      </p:sp>
      <p:sp>
        <p:nvSpPr>
          <p:cNvPr id="27" name="TextBox 26"/>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Manage AI Agents with Paperclip (TGS-2023036646)  ·  TGS-2023036646</a:t>
            </a:r>
          </a:p>
        </p:txBody>
      </p:sp>
      <p:sp>
        <p:nvSpPr>
          <p:cNvPr id="28" name="TextBox 27"/>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29" name="TextBox 28"/>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67</a:t>
            </a:r>
          </a:p>
        </p:txBody>
      </p:sp>
      <p:sp>
        <p:nvSpPr>
          <p:cNvPr id="30" name="Rectangle 29"/>
          <p:cNvSpPr/>
          <p:nvPr/>
        </p:nvSpPr>
        <p:spPr>
          <a:xfrm>
            <a:off x="777240" y="5742432"/>
            <a:ext cx="10607040" cy="603504"/>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Rectangle 30"/>
          <p:cNvSpPr/>
          <p:nvPr/>
        </p:nvSpPr>
        <p:spPr>
          <a:xfrm>
            <a:off x="777240" y="5742432"/>
            <a:ext cx="91440" cy="603504"/>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TextBox 31"/>
          <p:cNvSpPr txBox="1"/>
          <p:nvPr/>
        </p:nvSpPr>
        <p:spPr>
          <a:xfrm>
            <a:off x="1051560" y="5742432"/>
            <a:ext cx="10241280" cy="603504"/>
          </a:xfrm>
          <a:prstGeom prst="rect">
            <a:avLst/>
          </a:prstGeom>
          <a:noFill/>
        </p:spPr>
        <p:txBody>
          <a:bodyPr wrap="square" anchor="ctr">
            <a:spAutoFit/>
          </a:bodyPr>
          <a:lstStyle/>
          <a:p>
            <a:pPr algn="l">
              <a:spcAft>
                <a:spcPts val="400"/>
              </a:spcAft>
            </a:pPr>
            <a:r>
              <a:rPr sz="1350" b="1">
                <a:solidFill>
                  <a:srgbClr val="161B26"/>
                </a:solidFill>
                <a:latin typeface="Arial"/>
              </a:rPr>
              <a:t>Accept artifacts and explicit limitations — never a status change on its own.</a:t>
            </a:r>
          </a:p>
        </p:txBody>
      </p:sp>
    </p:spTree>
  </p:cSld>
  <p:clrMapOvr>
    <a:masterClrMapping/>
  </p:clrMapOvr>
  <p:transition spd="fast" advClick="1">
    <p:fade/>
  </p:transition>
</p:sld>
</file>

<file path=ppt/slides/slide6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1F6FEB"/>
                </a:solidFill>
                <a:latin typeface="Arial"/>
              </a:rPr>
              <a:t>WHAT YOU'LL DO</a:t>
            </a:r>
          </a:p>
        </p:txBody>
      </p:sp>
      <p:sp>
        <p:nvSpPr>
          <p:cNvPr id="5" name="TextBox 4"/>
          <p:cNvSpPr txBox="1"/>
          <p:nvPr/>
        </p:nvSpPr>
        <p:spPr>
          <a:xfrm>
            <a:off x="777240" y="804672"/>
            <a:ext cx="10881360" cy="713232"/>
          </a:xfrm>
          <a:prstGeom prst="rect">
            <a:avLst/>
          </a:prstGeom>
          <a:noFill/>
        </p:spPr>
        <p:txBody>
          <a:bodyPr wrap="square" anchor="ctr">
            <a:spAutoFit/>
          </a:bodyPr>
          <a:lstStyle/>
          <a:p>
            <a:pPr algn="l">
              <a:spcAft>
                <a:spcPts val="400"/>
              </a:spcAft>
            </a:pPr>
            <a:r>
              <a:rPr sz="2500" b="1">
                <a:solidFill>
                  <a:srgbClr val="161B26"/>
                </a:solidFill>
                <a:latin typeface="Arial"/>
              </a:rPr>
              <a:t>Hands-On Labs — Developing Intelligent Multi-Agent Systems</a:t>
            </a:r>
          </a:p>
        </p:txBody>
      </p:sp>
      <p:sp>
        <p:nvSpPr>
          <p:cNvPr id="6" name="Rectangle 5"/>
          <p:cNvSpPr/>
          <p:nvPr/>
        </p:nvSpPr>
        <p:spPr>
          <a:xfrm>
            <a:off x="777240" y="155448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77240" y="1783080"/>
            <a:ext cx="3337560" cy="429768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777240" y="1783080"/>
            <a:ext cx="3337560" cy="109728"/>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1005840" y="2011680"/>
            <a:ext cx="2926080" cy="548640"/>
          </a:xfrm>
          <a:prstGeom prst="rect">
            <a:avLst/>
          </a:prstGeom>
          <a:noFill/>
        </p:spPr>
        <p:txBody>
          <a:bodyPr wrap="square" anchor="t">
            <a:spAutoFit/>
          </a:bodyPr>
          <a:lstStyle/>
          <a:p>
            <a:pPr algn="l">
              <a:spcAft>
                <a:spcPts val="400"/>
              </a:spcAft>
            </a:pPr>
            <a:r>
              <a:rPr sz="1900" b="1">
                <a:solidFill>
                  <a:srgbClr val="1F6FEB"/>
                </a:solidFill>
                <a:latin typeface="Arial"/>
              </a:rPr>
              <a:t>Lab 4</a:t>
            </a:r>
          </a:p>
        </p:txBody>
      </p:sp>
      <p:sp>
        <p:nvSpPr>
          <p:cNvPr id="10" name="TextBox 9"/>
          <p:cNvSpPr txBox="1"/>
          <p:nvPr/>
        </p:nvSpPr>
        <p:spPr>
          <a:xfrm>
            <a:off x="1005840" y="2697480"/>
            <a:ext cx="2926080" cy="3108960"/>
          </a:xfrm>
          <a:prstGeom prst="rect">
            <a:avLst/>
          </a:prstGeom>
          <a:noFill/>
        </p:spPr>
        <p:txBody>
          <a:bodyPr wrap="square">
            <a:spAutoFit/>
          </a:bodyPr>
          <a:lstStyle/>
          <a:p>
            <a:pPr>
              <a:spcAft>
                <a:spcPts val="900"/>
              </a:spcAft>
            </a:pPr>
            <a:r>
              <a:rPr sz="1400" b="0">
                <a:solidFill>
                  <a:srgbClr val="161B26"/>
                </a:solidFill>
                <a:latin typeface="Arial"/>
              </a:rPr>
              <a:t>•  Translate the Ledgerly Mission into Assigned Issues and Hand-Offs (Accounting)</a:t>
            </a:r>
          </a:p>
          <a:p>
            <a:pPr>
              <a:spcAft>
                <a:spcPts val="900"/>
              </a:spcAft>
            </a:pPr>
            <a:r>
              <a:rPr sz="1400" b="0">
                <a:solidFill>
                  <a:srgbClr val="161B26"/>
                </a:solidFill>
                <a:latin typeface="Arial"/>
              </a:rPr>
              <a:t>•  Ledgerly Accounting (Accounting)</a:t>
            </a:r>
          </a:p>
        </p:txBody>
      </p:sp>
      <p:sp>
        <p:nvSpPr>
          <p:cNvPr id="11" name="Rectangle 10"/>
          <p:cNvSpPr/>
          <p:nvPr/>
        </p:nvSpPr>
        <p:spPr>
          <a:xfrm>
            <a:off x="4572000" y="1783080"/>
            <a:ext cx="3337560" cy="429768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ectangle 11"/>
          <p:cNvSpPr/>
          <p:nvPr/>
        </p:nvSpPr>
        <p:spPr>
          <a:xfrm>
            <a:off x="4572000" y="1783080"/>
            <a:ext cx="3337560" cy="109728"/>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4800600" y="2011680"/>
            <a:ext cx="2926080" cy="548640"/>
          </a:xfrm>
          <a:prstGeom prst="rect">
            <a:avLst/>
          </a:prstGeom>
          <a:noFill/>
        </p:spPr>
        <p:txBody>
          <a:bodyPr wrap="square" anchor="t">
            <a:spAutoFit/>
          </a:bodyPr>
          <a:lstStyle/>
          <a:p>
            <a:pPr algn="l">
              <a:spcAft>
                <a:spcPts val="400"/>
              </a:spcAft>
            </a:pPr>
            <a:r>
              <a:rPr sz="1900" b="1">
                <a:solidFill>
                  <a:srgbClr val="10B981"/>
                </a:solidFill>
                <a:latin typeface="Arial"/>
              </a:rPr>
              <a:t>Lab 5</a:t>
            </a:r>
          </a:p>
        </p:txBody>
      </p:sp>
      <p:sp>
        <p:nvSpPr>
          <p:cNvPr id="14" name="TextBox 13"/>
          <p:cNvSpPr txBox="1"/>
          <p:nvPr/>
        </p:nvSpPr>
        <p:spPr>
          <a:xfrm>
            <a:off x="4800600" y="2697480"/>
            <a:ext cx="2926080" cy="3108960"/>
          </a:xfrm>
          <a:prstGeom prst="rect">
            <a:avLst/>
          </a:prstGeom>
          <a:noFill/>
        </p:spPr>
        <p:txBody>
          <a:bodyPr wrap="square">
            <a:spAutoFit/>
          </a:bodyPr>
          <a:lstStyle/>
          <a:p>
            <a:pPr>
              <a:spcAft>
                <a:spcPts val="900"/>
              </a:spcAft>
            </a:pPr>
            <a:r>
              <a:rPr sz="1400" b="0">
                <a:solidFill>
                  <a:srgbClr val="161B26"/>
                </a:solidFill>
                <a:latin typeface="Arial"/>
              </a:rPr>
              <a:t>•  Verify NorthPoint Routines and Layered Budget Controls (Stock Trading Research)</a:t>
            </a:r>
          </a:p>
          <a:p>
            <a:pPr>
              <a:spcAft>
                <a:spcPts val="900"/>
              </a:spcAft>
            </a:pPr>
            <a:r>
              <a:rPr sz="1400" b="0">
                <a:solidFill>
                  <a:srgbClr val="161B26"/>
                </a:solidFill>
                <a:latin typeface="Arial"/>
              </a:rPr>
              <a:t>•  NorthPoint Trading Research (Stock Trading — research only)</a:t>
            </a:r>
          </a:p>
        </p:txBody>
      </p:sp>
      <p:sp>
        <p:nvSpPr>
          <p:cNvPr id="15" name="Rectangle 14"/>
          <p:cNvSpPr/>
          <p:nvPr/>
        </p:nvSpPr>
        <p:spPr>
          <a:xfrm>
            <a:off x="8366760" y="1783080"/>
            <a:ext cx="3337560" cy="429768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ectangle 15"/>
          <p:cNvSpPr/>
          <p:nvPr/>
        </p:nvSpPr>
        <p:spPr>
          <a:xfrm>
            <a:off x="8366760" y="1783080"/>
            <a:ext cx="3337560" cy="109728"/>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8595360" y="2011680"/>
            <a:ext cx="2926080" cy="548640"/>
          </a:xfrm>
          <a:prstGeom prst="rect">
            <a:avLst/>
          </a:prstGeom>
          <a:noFill/>
        </p:spPr>
        <p:txBody>
          <a:bodyPr wrap="square" anchor="t">
            <a:spAutoFit/>
          </a:bodyPr>
          <a:lstStyle/>
          <a:p>
            <a:pPr algn="l">
              <a:spcAft>
                <a:spcPts val="400"/>
              </a:spcAft>
            </a:pPr>
            <a:r>
              <a:rPr sz="1900" b="1">
                <a:solidFill>
                  <a:srgbClr val="F59E0B"/>
                </a:solidFill>
                <a:latin typeface="Arial"/>
              </a:rPr>
              <a:t>—</a:t>
            </a:r>
          </a:p>
        </p:txBody>
      </p:sp>
      <p:sp>
        <p:nvSpPr>
          <p:cNvPr id="18" name="TextBox 17"/>
          <p:cNvSpPr txBox="1"/>
          <p:nvPr/>
        </p:nvSpPr>
        <p:spPr>
          <a:xfrm>
            <a:off x="8595360" y="2697480"/>
            <a:ext cx="2926080" cy="3108960"/>
          </a:xfrm>
          <a:prstGeom prst="rect">
            <a:avLst/>
          </a:prstGeom>
          <a:noFill/>
        </p:spPr>
        <p:txBody>
          <a:bodyPr wrap="square">
            <a:spAutoFit/>
          </a:bodyPr>
          <a:lstStyle/>
          <a:p>
            <a:pPr>
              <a:spcAft>
                <a:spcPts val="900"/>
              </a:spcAft>
            </a:pPr>
            <a:r>
              <a:rPr sz="1400" b="0">
                <a:solidFill>
                  <a:srgbClr val="161B26"/>
                </a:solidFill>
                <a:latin typeface="Arial"/>
              </a:rPr>
              <a:t>•  —</a:t>
            </a:r>
          </a:p>
        </p:txBody>
      </p:sp>
      <p:sp>
        <p:nvSpPr>
          <p:cNvPr id="19" name="TextBox 18"/>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Manage AI Agents with Paperclip (TGS-2023036646)  ·  TGS-2023036646</a:t>
            </a:r>
          </a:p>
        </p:txBody>
      </p:sp>
      <p:sp>
        <p:nvSpPr>
          <p:cNvPr id="20" name="TextBox 19"/>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21" name="TextBox 20"/>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68</a:t>
            </a:r>
          </a:p>
        </p:txBody>
      </p:sp>
    </p:spTree>
  </p:cSld>
  <p:clrMapOvr>
    <a:masterClrMapping/>
  </p:clrMapOvr>
  <p:transition spd="fast" advClick="1">
    <p:fade/>
  </p:transition>
</p:sld>
</file>

<file path=ppt/slides/slide6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10B981"/>
                </a:solidFill>
                <a:latin typeface="Arial"/>
              </a:rPr>
              <a:t>LAB 4  ·  HANDS-ON</a:t>
            </a:r>
          </a:p>
        </p:txBody>
      </p:sp>
      <p:sp>
        <p:nvSpPr>
          <p:cNvPr id="5" name="TextBox 4"/>
          <p:cNvSpPr txBox="1"/>
          <p:nvPr/>
        </p:nvSpPr>
        <p:spPr>
          <a:xfrm>
            <a:off x="777240" y="804672"/>
            <a:ext cx="10881360" cy="713232"/>
          </a:xfrm>
          <a:prstGeom prst="rect">
            <a:avLst/>
          </a:prstGeom>
          <a:noFill/>
        </p:spPr>
        <p:txBody>
          <a:bodyPr wrap="square" anchor="ctr">
            <a:spAutoFit/>
          </a:bodyPr>
          <a:lstStyle/>
          <a:p>
            <a:pPr algn="l">
              <a:spcAft>
                <a:spcPts val="400"/>
              </a:spcAft>
            </a:pPr>
            <a:r>
              <a:rPr sz="2200" b="1">
                <a:solidFill>
                  <a:srgbClr val="161B26"/>
                </a:solidFill>
                <a:latin typeface="Arial"/>
              </a:rPr>
              <a:t>Translate the Ledgerly Mission into Assigned Issues and Hand-Offs (Accounting)</a:t>
            </a:r>
          </a:p>
        </p:txBody>
      </p:sp>
      <p:sp>
        <p:nvSpPr>
          <p:cNvPr id="6" name="Rectangle 5"/>
          <p:cNvSpPr/>
          <p:nvPr/>
        </p:nvSpPr>
        <p:spPr>
          <a:xfrm>
            <a:off x="777240" y="155448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77240" y="1783080"/>
            <a:ext cx="10607040" cy="56692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777240" y="1783080"/>
            <a:ext cx="91440" cy="566928"/>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1051560" y="1783080"/>
            <a:ext cx="10241280" cy="566928"/>
          </a:xfrm>
          <a:prstGeom prst="rect">
            <a:avLst/>
          </a:prstGeom>
          <a:noFill/>
        </p:spPr>
        <p:txBody>
          <a:bodyPr wrap="square" anchor="ctr">
            <a:spAutoFit/>
          </a:bodyPr>
          <a:lstStyle/>
          <a:p>
            <a:pPr algn="l">
              <a:spcAft>
                <a:spcPts val="400"/>
              </a:spcAft>
            </a:pPr>
            <a:r>
              <a:rPr sz="1300" b="1">
                <a:solidFill>
                  <a:srgbClr val="7C3AED"/>
                </a:solidFill>
                <a:latin typeface="Arial"/>
              </a:rPr>
              <a:t>SIMULATED COMPANY  ·  Ledgerly Accounting (Accounting)</a:t>
            </a:r>
          </a:p>
        </p:txBody>
      </p:sp>
      <p:sp>
        <p:nvSpPr>
          <p:cNvPr id="10" name="TextBox 9"/>
          <p:cNvSpPr txBox="1"/>
          <p:nvPr/>
        </p:nvSpPr>
        <p:spPr>
          <a:xfrm>
            <a:off x="777240" y="2514600"/>
            <a:ext cx="10607040" cy="1298448"/>
          </a:xfrm>
          <a:prstGeom prst="rect">
            <a:avLst/>
          </a:prstGeom>
          <a:noFill/>
        </p:spPr>
        <p:txBody>
          <a:bodyPr wrap="square" anchor="t">
            <a:spAutoFit/>
          </a:bodyPr>
          <a:lstStyle/>
          <a:p>
            <a:pPr algn="l">
              <a:spcAft>
                <a:spcPts val="400"/>
              </a:spcAft>
            </a:pPr>
            <a:r>
              <a:rPr sz="1350" b="0">
                <a:solidFill>
                  <a:srgbClr val="161B26"/>
                </a:solidFill>
                <a:latin typeface="Arial"/>
              </a:rPr>
              <a:t>You turn the Ledgerly Accounting mission into actual work. You create a budgeted month-end close project, then a PARENT synthesis issue and two specialist CHILD issues — all created UNASSIGNED, so that creating work cannot accidentally wake an agent. Only after every acceptance criterion names its evidence do you assign one child at a time. This is the core discipline of the topic: assignment is the trigger, and sequential assignment is what makes each run individually verifiable.</a:t>
            </a:r>
          </a:p>
        </p:txBody>
      </p:sp>
      <p:sp>
        <p:nvSpPr>
          <p:cNvPr id="11" name="Rectangle 10"/>
          <p:cNvSpPr/>
          <p:nvPr/>
        </p:nvSpPr>
        <p:spPr>
          <a:xfrm>
            <a:off x="777240" y="3931920"/>
            <a:ext cx="6766560" cy="157276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ectangle 11"/>
          <p:cNvSpPr/>
          <p:nvPr/>
        </p:nvSpPr>
        <p:spPr>
          <a:xfrm>
            <a:off x="777240" y="3931920"/>
            <a:ext cx="6766560" cy="82296"/>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1005840" y="4069080"/>
            <a:ext cx="6309360" cy="329184"/>
          </a:xfrm>
          <a:prstGeom prst="rect">
            <a:avLst/>
          </a:prstGeom>
          <a:noFill/>
        </p:spPr>
        <p:txBody>
          <a:bodyPr wrap="square" anchor="t">
            <a:spAutoFit/>
          </a:bodyPr>
          <a:lstStyle/>
          <a:p>
            <a:pPr algn="l">
              <a:spcAft>
                <a:spcPts val="400"/>
              </a:spcAft>
            </a:pPr>
            <a:r>
              <a:rPr sz="1200" b="1">
                <a:solidFill>
                  <a:srgbClr val="10B981"/>
                </a:solidFill>
                <a:latin typeface="Arial"/>
              </a:rPr>
              <a:t>YOU'LL BUILD</a:t>
            </a:r>
          </a:p>
        </p:txBody>
      </p:sp>
      <p:sp>
        <p:nvSpPr>
          <p:cNvPr id="14" name="TextBox 13"/>
          <p:cNvSpPr txBox="1"/>
          <p:nvPr/>
        </p:nvSpPr>
        <p:spPr>
          <a:xfrm>
            <a:off x="1005840" y="4416552"/>
            <a:ext cx="6309360" cy="1005840"/>
          </a:xfrm>
          <a:prstGeom prst="rect">
            <a:avLst/>
          </a:prstGeom>
          <a:noFill/>
        </p:spPr>
        <p:txBody>
          <a:bodyPr wrap="square" anchor="t">
            <a:spAutoFit/>
          </a:bodyPr>
          <a:lstStyle/>
          <a:p>
            <a:pPr algn="l">
              <a:spcAft>
                <a:spcPts val="400"/>
              </a:spcAft>
            </a:pPr>
            <a:r>
              <a:rPr sz="1150" b="0">
                <a:solidFill>
                  <a:srgbClr val="161B26"/>
                </a:solidFill>
                <a:latin typeface="Arial"/>
              </a:rPr>
              <a:t>A capped Ledgerly close project with an unassigned parent issue, two sequentially completed specialist children, clean workspace manifests, and an evidence record linking issue IDs, run IDs, comments, statuses and artifact paths.</a:t>
            </a:r>
          </a:p>
        </p:txBody>
      </p:sp>
      <p:sp>
        <p:nvSpPr>
          <p:cNvPr id="15" name="Rectangle 14"/>
          <p:cNvSpPr/>
          <p:nvPr/>
        </p:nvSpPr>
        <p:spPr>
          <a:xfrm>
            <a:off x="7818120" y="3931920"/>
            <a:ext cx="3566160" cy="157276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ectangle 15"/>
          <p:cNvSpPr/>
          <p:nvPr/>
        </p:nvSpPr>
        <p:spPr>
          <a:xfrm>
            <a:off x="7818120" y="3931920"/>
            <a:ext cx="3566160" cy="82296"/>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8046720" y="4069080"/>
            <a:ext cx="3108960" cy="329184"/>
          </a:xfrm>
          <a:prstGeom prst="rect">
            <a:avLst/>
          </a:prstGeom>
          <a:noFill/>
        </p:spPr>
        <p:txBody>
          <a:bodyPr wrap="square" anchor="t">
            <a:spAutoFit/>
          </a:bodyPr>
          <a:lstStyle/>
          <a:p>
            <a:pPr algn="l">
              <a:spcAft>
                <a:spcPts val="400"/>
              </a:spcAft>
            </a:pPr>
            <a:r>
              <a:rPr sz="1200" b="1">
                <a:solidFill>
                  <a:srgbClr val="1F6FEB"/>
                </a:solidFill>
                <a:latin typeface="Arial"/>
              </a:rPr>
              <a:t>MAPS TO</a:t>
            </a:r>
          </a:p>
        </p:txBody>
      </p:sp>
      <p:sp>
        <p:nvSpPr>
          <p:cNvPr id="18" name="TextBox 17"/>
          <p:cNvSpPr txBox="1"/>
          <p:nvPr/>
        </p:nvSpPr>
        <p:spPr>
          <a:xfrm>
            <a:off x="8046720" y="4416552"/>
            <a:ext cx="3108960" cy="1005840"/>
          </a:xfrm>
          <a:prstGeom prst="rect">
            <a:avLst/>
          </a:prstGeom>
          <a:noFill/>
        </p:spPr>
        <p:txBody>
          <a:bodyPr wrap="square" anchor="t">
            <a:spAutoFit/>
          </a:bodyPr>
          <a:lstStyle/>
          <a:p>
            <a:pPr algn="l">
              <a:spcAft>
                <a:spcPts val="400"/>
              </a:spcAft>
            </a:pPr>
            <a:r>
              <a:rPr sz="1050" b="0">
                <a:solidFill>
                  <a:srgbClr val="161B26"/>
                </a:solidFill>
                <a:latin typeface="Arial"/>
              </a:rPr>
              <a:t>LO3: Decompose a mission into a parent and specialist child issues, run the specialists sequentially and verify each hand-off against acceptance evidence.</a:t>
            </a:r>
          </a:p>
        </p:txBody>
      </p:sp>
      <p:sp>
        <p:nvSpPr>
          <p:cNvPr id="19" name="TextBox 18"/>
          <p:cNvSpPr txBox="1"/>
          <p:nvPr/>
        </p:nvSpPr>
        <p:spPr>
          <a:xfrm>
            <a:off x="777240" y="5669280"/>
            <a:ext cx="10607040" cy="640080"/>
          </a:xfrm>
          <a:prstGeom prst="rect">
            <a:avLst/>
          </a:prstGeom>
          <a:noFill/>
        </p:spPr>
        <p:txBody>
          <a:bodyPr wrap="square" anchor="t">
            <a:spAutoFit/>
          </a:bodyPr>
          <a:lstStyle/>
          <a:p>
            <a:pPr algn="l">
              <a:spcAft>
                <a:spcPts val="300"/>
              </a:spcAft>
            </a:pPr>
            <a:r>
              <a:rPr sz="1100" b="0">
                <a:solidFill>
                  <a:srgbClr val="5B6372"/>
                </a:solidFill>
                <a:latin typeface="Arial"/>
              </a:rPr>
              <a:t>Tools:  Paperclip Projects, Budgets, Issues, Agents and Runs; approved adapter runtime; Git; Markdown workspaces</a:t>
            </a:r>
          </a:p>
          <a:p>
            <a:pPr algn="l">
              <a:spcAft>
                <a:spcPts val="300"/>
              </a:spcAft>
            </a:pPr>
            <a:r>
              <a:rPr sz="1100" b="0">
                <a:solidFill>
                  <a:srgbClr val="5B6372"/>
                </a:solidFill>
                <a:latin typeface="Arial"/>
              </a:rPr>
              <a:t>Full step-by-step procedure: Learner Guide, Lab 4  ·  labs/ folder</a:t>
            </a:r>
          </a:p>
        </p:txBody>
      </p:sp>
      <p:sp>
        <p:nvSpPr>
          <p:cNvPr id="20" name="TextBox 19"/>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Manage AI Agents with Paperclip (TGS-2023036646)  ·  TGS-2023036646</a:t>
            </a:r>
          </a:p>
        </p:txBody>
      </p:sp>
      <p:sp>
        <p:nvSpPr>
          <p:cNvPr id="21" name="TextBox 20"/>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22" name="TextBox 21"/>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69</a:t>
            </a:r>
          </a:p>
        </p:txBody>
      </p:sp>
    </p:spTree>
  </p:cSld>
  <p:clrMapOvr>
    <a:masterClrMapping/>
  </p:clrMapOvr>
  <p:transition spd="fast" advClick="1">
    <p:fade/>
  </p:transition>
</p:sld>
</file>

<file path=ppt/slides/slide7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10B981"/>
                </a:solidFill>
                <a:latin typeface="Arial"/>
              </a:rPr>
              <a:t>LAB 4 · PROCESS MAP</a:t>
            </a:r>
          </a:p>
        </p:txBody>
      </p:sp>
      <p:sp>
        <p:nvSpPr>
          <p:cNvPr id="5" name="TextBox 4"/>
          <p:cNvSpPr txBox="1"/>
          <p:nvPr/>
        </p:nvSpPr>
        <p:spPr>
          <a:xfrm>
            <a:off x="777240" y="804672"/>
            <a:ext cx="10881360" cy="713232"/>
          </a:xfrm>
          <a:prstGeom prst="rect">
            <a:avLst/>
          </a:prstGeom>
          <a:noFill/>
        </p:spPr>
        <p:txBody>
          <a:bodyPr wrap="square" anchor="ctr">
            <a:spAutoFit/>
          </a:bodyPr>
          <a:lstStyle/>
          <a:p>
            <a:pPr algn="l">
              <a:spcAft>
                <a:spcPts val="400"/>
              </a:spcAft>
            </a:pPr>
            <a:r>
              <a:rPr sz="2900" b="1">
                <a:solidFill>
                  <a:srgbClr val="161B26"/>
                </a:solidFill>
                <a:latin typeface="Arial"/>
              </a:rPr>
              <a:t>How Lab 4 Runs</a:t>
            </a:r>
          </a:p>
        </p:txBody>
      </p:sp>
      <p:sp>
        <p:nvSpPr>
          <p:cNvPr id="6" name="Rectangle 5"/>
          <p:cNvSpPr/>
          <p:nvPr/>
        </p:nvSpPr>
        <p:spPr>
          <a:xfrm>
            <a:off x="777240" y="155448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ounded Rectangle 6"/>
          <p:cNvSpPr/>
          <p:nvPr/>
        </p:nvSpPr>
        <p:spPr>
          <a:xfrm>
            <a:off x="777240" y="2148840"/>
            <a:ext cx="1819656" cy="2148840"/>
          </a:xfrm>
          <a:prstGeom prst="roundRect">
            <a:avLst>
              <a:gd name="adj" fmla="val 10000"/>
            </a:avLst>
          </a:prstGeom>
          <a:solidFill>
            <a:srgbClr val="F5F8FC"/>
          </a:solidFill>
          <a:ln w="1587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777240" y="2148840"/>
            <a:ext cx="1819656" cy="100584"/>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Oval 8"/>
          <p:cNvSpPr/>
          <p:nvPr/>
        </p:nvSpPr>
        <p:spPr>
          <a:xfrm>
            <a:off x="1403604" y="2459736"/>
            <a:ext cx="566928" cy="566928"/>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1403604" y="2459736"/>
            <a:ext cx="566928" cy="566928"/>
          </a:xfrm>
          <a:prstGeom prst="rect">
            <a:avLst/>
          </a:prstGeom>
          <a:noFill/>
        </p:spPr>
        <p:txBody>
          <a:bodyPr wrap="square" anchor="ctr">
            <a:spAutoFit/>
          </a:bodyPr>
          <a:lstStyle/>
          <a:p>
            <a:pPr algn="ctr">
              <a:spcAft>
                <a:spcPts val="400"/>
              </a:spcAft>
            </a:pPr>
            <a:r>
              <a:rPr sz="2400" b="1">
                <a:solidFill>
                  <a:srgbClr val="FFFFFF"/>
                </a:solidFill>
                <a:latin typeface="Arial"/>
              </a:rPr>
              <a:t>1</a:t>
            </a:r>
          </a:p>
        </p:txBody>
      </p:sp>
      <p:sp>
        <p:nvSpPr>
          <p:cNvPr id="11" name="TextBox 10"/>
          <p:cNvSpPr txBox="1"/>
          <p:nvPr/>
        </p:nvSpPr>
        <p:spPr>
          <a:xfrm>
            <a:off x="905256" y="3081528"/>
            <a:ext cx="1563624" cy="786384"/>
          </a:xfrm>
          <a:prstGeom prst="rect">
            <a:avLst/>
          </a:prstGeom>
          <a:noFill/>
        </p:spPr>
        <p:txBody>
          <a:bodyPr wrap="square" anchor="ctr">
            <a:spAutoFit/>
          </a:bodyPr>
          <a:lstStyle/>
          <a:p>
            <a:pPr algn="ctr">
              <a:spcAft>
                <a:spcPts val="0"/>
              </a:spcAft>
            </a:pPr>
            <a:r>
              <a:rPr sz="1300" b="1">
                <a:solidFill>
                  <a:srgbClr val="161B26"/>
                </a:solidFill>
                <a:latin typeface="Arial"/>
              </a:rPr>
              <a:t>Create the close project</a:t>
            </a:r>
          </a:p>
        </p:txBody>
      </p:sp>
      <p:sp>
        <p:nvSpPr>
          <p:cNvPr id="12" name="TextBox 11"/>
          <p:cNvSpPr txBox="1"/>
          <p:nvPr/>
        </p:nvSpPr>
        <p:spPr>
          <a:xfrm>
            <a:off x="850392" y="3584448"/>
            <a:ext cx="1673352" cy="603504"/>
          </a:xfrm>
          <a:prstGeom prst="rect">
            <a:avLst/>
          </a:prstGeom>
          <a:noFill/>
        </p:spPr>
        <p:txBody>
          <a:bodyPr wrap="square" anchor="ctr">
            <a:spAutoFit/>
          </a:bodyPr>
          <a:lstStyle/>
          <a:p>
            <a:pPr algn="ctr">
              <a:spcAft>
                <a:spcPts val="0"/>
              </a:spcAft>
            </a:pPr>
            <a:r>
              <a:rPr sz="900" b="0">
                <a:solidFill>
                  <a:srgbClr val="5B6372"/>
                </a:solidFill>
                <a:latin typeface="Arial"/>
              </a:rPr>
              <a:t>its own budget cap</a:t>
            </a:r>
          </a:p>
        </p:txBody>
      </p:sp>
      <p:cxnSp>
        <p:nvCxnSpPr>
          <p:cNvPr id="13" name="Connector 12"/>
          <p:cNvCxnSpPr/>
          <p:nvPr/>
        </p:nvCxnSpPr>
        <p:spPr>
          <a:xfrm>
            <a:off x="2651760" y="3223260"/>
            <a:ext cx="274320" cy="0"/>
          </a:xfrm>
          <a:prstGeom prst="line">
            <a:avLst/>
          </a:prstGeom>
          <a:ln w="25400">
            <a:solidFill>
              <a:srgbClr val="10B981"/>
            </a:solidFill>
            <a:tailEnd type="triangle" w="med" len="med"/>
          </a:ln>
        </p:spPr>
        <p:style>
          <a:lnRef idx="2">
            <a:schemeClr val="accent1"/>
          </a:lnRef>
          <a:fillRef idx="0">
            <a:schemeClr val="accent1"/>
          </a:fillRef>
          <a:effectRef idx="1">
            <a:schemeClr val="accent1"/>
          </a:effectRef>
          <a:fontRef idx="minor">
            <a:schemeClr val="tx1"/>
          </a:fontRef>
        </p:style>
      </p:cxnSp>
      <p:sp>
        <p:nvSpPr>
          <p:cNvPr id="14" name="Rounded Rectangle 13"/>
          <p:cNvSpPr/>
          <p:nvPr/>
        </p:nvSpPr>
        <p:spPr>
          <a:xfrm>
            <a:off x="2980944" y="2148840"/>
            <a:ext cx="1819656" cy="2148840"/>
          </a:xfrm>
          <a:prstGeom prst="roundRect">
            <a:avLst>
              <a:gd name="adj" fmla="val 10000"/>
            </a:avLst>
          </a:prstGeom>
          <a:solidFill>
            <a:srgbClr val="F5F8FC"/>
          </a:solidFill>
          <a:ln w="1587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2980944" y="2148840"/>
            <a:ext cx="1819656" cy="100584"/>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Oval 15"/>
          <p:cNvSpPr/>
          <p:nvPr/>
        </p:nvSpPr>
        <p:spPr>
          <a:xfrm>
            <a:off x="3607308" y="2459736"/>
            <a:ext cx="566928" cy="566928"/>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3607308" y="2459736"/>
            <a:ext cx="566928" cy="566928"/>
          </a:xfrm>
          <a:prstGeom prst="rect">
            <a:avLst/>
          </a:prstGeom>
          <a:noFill/>
        </p:spPr>
        <p:txBody>
          <a:bodyPr wrap="square" anchor="ctr">
            <a:spAutoFit/>
          </a:bodyPr>
          <a:lstStyle/>
          <a:p>
            <a:pPr algn="ctr">
              <a:spcAft>
                <a:spcPts val="400"/>
              </a:spcAft>
            </a:pPr>
            <a:r>
              <a:rPr sz="2400" b="1">
                <a:solidFill>
                  <a:srgbClr val="FFFFFF"/>
                </a:solidFill>
                <a:latin typeface="Arial"/>
              </a:rPr>
              <a:t>2</a:t>
            </a:r>
          </a:p>
        </p:txBody>
      </p:sp>
      <p:sp>
        <p:nvSpPr>
          <p:cNvPr id="18" name="TextBox 17"/>
          <p:cNvSpPr txBox="1"/>
          <p:nvPr/>
        </p:nvSpPr>
        <p:spPr>
          <a:xfrm>
            <a:off x="3108960" y="3081528"/>
            <a:ext cx="1563624" cy="786384"/>
          </a:xfrm>
          <a:prstGeom prst="rect">
            <a:avLst/>
          </a:prstGeom>
          <a:noFill/>
        </p:spPr>
        <p:txBody>
          <a:bodyPr wrap="square" anchor="ctr">
            <a:spAutoFit/>
          </a:bodyPr>
          <a:lstStyle/>
          <a:p>
            <a:pPr algn="ctr">
              <a:spcAft>
                <a:spcPts val="0"/>
              </a:spcAft>
            </a:pPr>
            <a:r>
              <a:rPr sz="1300" b="1">
                <a:solidFill>
                  <a:srgbClr val="161B26"/>
                </a:solidFill>
                <a:latin typeface="Arial"/>
              </a:rPr>
              <a:t>Parent issue, unassigned</a:t>
            </a:r>
          </a:p>
        </p:txBody>
      </p:sp>
      <p:sp>
        <p:nvSpPr>
          <p:cNvPr id="19" name="TextBox 18"/>
          <p:cNvSpPr txBox="1"/>
          <p:nvPr/>
        </p:nvSpPr>
        <p:spPr>
          <a:xfrm>
            <a:off x="3054096" y="3584448"/>
            <a:ext cx="1673352" cy="603504"/>
          </a:xfrm>
          <a:prstGeom prst="rect">
            <a:avLst/>
          </a:prstGeom>
          <a:noFill/>
        </p:spPr>
        <p:txBody>
          <a:bodyPr wrap="square" anchor="ctr">
            <a:spAutoFit/>
          </a:bodyPr>
          <a:lstStyle/>
          <a:p>
            <a:pPr algn="ctr">
              <a:spcAft>
                <a:spcPts val="0"/>
              </a:spcAft>
            </a:pPr>
            <a:r>
              <a:rPr sz="900" b="0">
                <a:solidFill>
                  <a:srgbClr val="5B6372"/>
                </a:solidFill>
                <a:latin typeface="Arial"/>
              </a:rPr>
              <a:t>creation must not wake anyone</a:t>
            </a:r>
          </a:p>
        </p:txBody>
      </p:sp>
      <p:cxnSp>
        <p:nvCxnSpPr>
          <p:cNvPr id="20" name="Connector 19"/>
          <p:cNvCxnSpPr/>
          <p:nvPr/>
        </p:nvCxnSpPr>
        <p:spPr>
          <a:xfrm>
            <a:off x="4855464" y="3223260"/>
            <a:ext cx="274320" cy="0"/>
          </a:xfrm>
          <a:prstGeom prst="line">
            <a:avLst/>
          </a:prstGeom>
          <a:ln w="25400">
            <a:solidFill>
              <a:srgbClr val="10B981"/>
            </a:solidFill>
            <a:tailEnd type="triangle" w="med" len="med"/>
          </a:ln>
        </p:spPr>
        <p:style>
          <a:lnRef idx="2">
            <a:schemeClr val="accent1"/>
          </a:lnRef>
          <a:fillRef idx="0">
            <a:schemeClr val="accent1"/>
          </a:fillRef>
          <a:effectRef idx="1">
            <a:schemeClr val="accent1"/>
          </a:effectRef>
          <a:fontRef idx="minor">
            <a:schemeClr val="tx1"/>
          </a:fontRef>
        </p:style>
      </p:cxnSp>
      <p:sp>
        <p:nvSpPr>
          <p:cNvPr id="21" name="Rounded Rectangle 20"/>
          <p:cNvSpPr/>
          <p:nvPr/>
        </p:nvSpPr>
        <p:spPr>
          <a:xfrm>
            <a:off x="5184648" y="2148840"/>
            <a:ext cx="1819656" cy="2148840"/>
          </a:xfrm>
          <a:prstGeom prst="roundRect">
            <a:avLst>
              <a:gd name="adj" fmla="val 10000"/>
            </a:avLst>
          </a:prstGeom>
          <a:solidFill>
            <a:srgbClr val="F5F8FC"/>
          </a:solidFill>
          <a:ln w="1587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Rectangle 21"/>
          <p:cNvSpPr/>
          <p:nvPr/>
        </p:nvSpPr>
        <p:spPr>
          <a:xfrm>
            <a:off x="5184648" y="2148840"/>
            <a:ext cx="1819656" cy="100584"/>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Oval 22"/>
          <p:cNvSpPr/>
          <p:nvPr/>
        </p:nvSpPr>
        <p:spPr>
          <a:xfrm>
            <a:off x="5811012" y="2459736"/>
            <a:ext cx="566928" cy="566928"/>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5811012" y="2459736"/>
            <a:ext cx="566928" cy="566928"/>
          </a:xfrm>
          <a:prstGeom prst="rect">
            <a:avLst/>
          </a:prstGeom>
          <a:noFill/>
        </p:spPr>
        <p:txBody>
          <a:bodyPr wrap="square" anchor="ctr">
            <a:spAutoFit/>
          </a:bodyPr>
          <a:lstStyle/>
          <a:p>
            <a:pPr algn="ctr">
              <a:spcAft>
                <a:spcPts val="400"/>
              </a:spcAft>
            </a:pPr>
            <a:r>
              <a:rPr sz="2400" b="1">
                <a:solidFill>
                  <a:srgbClr val="FFFFFF"/>
                </a:solidFill>
                <a:latin typeface="Arial"/>
              </a:rPr>
              <a:t>3</a:t>
            </a:r>
          </a:p>
        </p:txBody>
      </p:sp>
      <p:sp>
        <p:nvSpPr>
          <p:cNvPr id="25" name="TextBox 24"/>
          <p:cNvSpPr txBox="1"/>
          <p:nvPr/>
        </p:nvSpPr>
        <p:spPr>
          <a:xfrm>
            <a:off x="5312664" y="3081528"/>
            <a:ext cx="1563624" cy="786384"/>
          </a:xfrm>
          <a:prstGeom prst="rect">
            <a:avLst/>
          </a:prstGeom>
          <a:noFill/>
        </p:spPr>
        <p:txBody>
          <a:bodyPr wrap="square" anchor="ctr">
            <a:spAutoFit/>
          </a:bodyPr>
          <a:lstStyle/>
          <a:p>
            <a:pPr algn="ctr">
              <a:spcAft>
                <a:spcPts val="0"/>
              </a:spcAft>
            </a:pPr>
            <a:r>
              <a:rPr sz="1300" b="1">
                <a:solidFill>
                  <a:srgbClr val="161B26"/>
                </a:solidFill>
                <a:latin typeface="Arial"/>
              </a:rPr>
              <a:t>Two child issues</a:t>
            </a:r>
          </a:p>
        </p:txBody>
      </p:sp>
      <p:sp>
        <p:nvSpPr>
          <p:cNvPr id="26" name="TextBox 25"/>
          <p:cNvSpPr txBox="1"/>
          <p:nvPr/>
        </p:nvSpPr>
        <p:spPr>
          <a:xfrm>
            <a:off x="5257800" y="3584448"/>
            <a:ext cx="1673352" cy="603504"/>
          </a:xfrm>
          <a:prstGeom prst="rect">
            <a:avLst/>
          </a:prstGeom>
          <a:noFill/>
        </p:spPr>
        <p:txBody>
          <a:bodyPr wrap="square" anchor="ctr">
            <a:spAutoFit/>
          </a:bodyPr>
          <a:lstStyle/>
          <a:p>
            <a:pPr algn="ctr">
              <a:spcAft>
                <a:spcPts val="0"/>
              </a:spcAft>
            </a:pPr>
            <a:r>
              <a:rPr sz="900" b="0">
                <a:solidFill>
                  <a:srgbClr val="5B6372"/>
                </a:solidFill>
                <a:latin typeface="Arial"/>
              </a:rPr>
              <a:t>acceptance names the evidence</a:t>
            </a:r>
          </a:p>
        </p:txBody>
      </p:sp>
      <p:cxnSp>
        <p:nvCxnSpPr>
          <p:cNvPr id="27" name="Connector 26"/>
          <p:cNvCxnSpPr/>
          <p:nvPr/>
        </p:nvCxnSpPr>
        <p:spPr>
          <a:xfrm>
            <a:off x="7059168" y="3223260"/>
            <a:ext cx="274320" cy="0"/>
          </a:xfrm>
          <a:prstGeom prst="line">
            <a:avLst/>
          </a:prstGeom>
          <a:ln w="25400">
            <a:solidFill>
              <a:srgbClr val="10B981"/>
            </a:solidFill>
            <a:tailEnd type="triangle" w="med" len="med"/>
          </a:ln>
        </p:spPr>
        <p:style>
          <a:lnRef idx="2">
            <a:schemeClr val="accent1"/>
          </a:lnRef>
          <a:fillRef idx="0">
            <a:schemeClr val="accent1"/>
          </a:fillRef>
          <a:effectRef idx="1">
            <a:schemeClr val="accent1"/>
          </a:effectRef>
          <a:fontRef idx="minor">
            <a:schemeClr val="tx1"/>
          </a:fontRef>
        </p:style>
      </p:cxnSp>
      <p:sp>
        <p:nvSpPr>
          <p:cNvPr id="28" name="Rounded Rectangle 27"/>
          <p:cNvSpPr/>
          <p:nvPr/>
        </p:nvSpPr>
        <p:spPr>
          <a:xfrm>
            <a:off x="7388352" y="2148840"/>
            <a:ext cx="1819656" cy="2148840"/>
          </a:xfrm>
          <a:prstGeom prst="roundRect">
            <a:avLst>
              <a:gd name="adj" fmla="val 10000"/>
            </a:avLst>
          </a:prstGeom>
          <a:solidFill>
            <a:srgbClr val="F5F8FC"/>
          </a:solidFill>
          <a:ln w="1587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Rectangle 28"/>
          <p:cNvSpPr/>
          <p:nvPr/>
        </p:nvSpPr>
        <p:spPr>
          <a:xfrm>
            <a:off x="7388352" y="2148840"/>
            <a:ext cx="1819656" cy="100584"/>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Oval 29"/>
          <p:cNvSpPr/>
          <p:nvPr/>
        </p:nvSpPr>
        <p:spPr>
          <a:xfrm>
            <a:off x="8014716" y="2459736"/>
            <a:ext cx="566928" cy="566928"/>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TextBox 30"/>
          <p:cNvSpPr txBox="1"/>
          <p:nvPr/>
        </p:nvSpPr>
        <p:spPr>
          <a:xfrm>
            <a:off x="8014716" y="2459736"/>
            <a:ext cx="566928" cy="566928"/>
          </a:xfrm>
          <a:prstGeom prst="rect">
            <a:avLst/>
          </a:prstGeom>
          <a:noFill/>
        </p:spPr>
        <p:txBody>
          <a:bodyPr wrap="square" anchor="ctr">
            <a:spAutoFit/>
          </a:bodyPr>
          <a:lstStyle/>
          <a:p>
            <a:pPr algn="ctr">
              <a:spcAft>
                <a:spcPts val="400"/>
              </a:spcAft>
            </a:pPr>
            <a:r>
              <a:rPr sz="2400" b="1">
                <a:solidFill>
                  <a:srgbClr val="FFFFFF"/>
                </a:solidFill>
                <a:latin typeface="Arial"/>
              </a:rPr>
              <a:t>4</a:t>
            </a:r>
          </a:p>
        </p:txBody>
      </p:sp>
      <p:sp>
        <p:nvSpPr>
          <p:cNvPr id="32" name="TextBox 31"/>
          <p:cNvSpPr txBox="1"/>
          <p:nvPr/>
        </p:nvSpPr>
        <p:spPr>
          <a:xfrm>
            <a:off x="7516368" y="3081528"/>
            <a:ext cx="1563624" cy="786384"/>
          </a:xfrm>
          <a:prstGeom prst="rect">
            <a:avLst/>
          </a:prstGeom>
          <a:noFill/>
        </p:spPr>
        <p:txBody>
          <a:bodyPr wrap="square" anchor="ctr">
            <a:spAutoFit/>
          </a:bodyPr>
          <a:lstStyle/>
          <a:p>
            <a:pPr algn="ctr">
              <a:spcAft>
                <a:spcPts val="0"/>
              </a:spcAft>
            </a:pPr>
            <a:r>
              <a:rPr sz="1300" b="1">
                <a:solidFill>
                  <a:srgbClr val="161B26"/>
                </a:solidFill>
                <a:latin typeface="Arial"/>
              </a:rPr>
              <a:t>Assign child 1 only</a:t>
            </a:r>
          </a:p>
        </p:txBody>
      </p:sp>
      <p:sp>
        <p:nvSpPr>
          <p:cNvPr id="33" name="TextBox 32"/>
          <p:cNvSpPr txBox="1"/>
          <p:nvPr/>
        </p:nvSpPr>
        <p:spPr>
          <a:xfrm>
            <a:off x="7461504" y="3584448"/>
            <a:ext cx="1673352" cy="603504"/>
          </a:xfrm>
          <a:prstGeom prst="rect">
            <a:avLst/>
          </a:prstGeom>
          <a:noFill/>
        </p:spPr>
        <p:txBody>
          <a:bodyPr wrap="square" anchor="ctr">
            <a:spAutoFit/>
          </a:bodyPr>
          <a:lstStyle/>
          <a:p>
            <a:pPr algn="ctr">
              <a:spcAft>
                <a:spcPts val="0"/>
              </a:spcAft>
            </a:pPr>
            <a:r>
              <a:rPr sz="900" b="0">
                <a:solidFill>
                  <a:srgbClr val="5B6372"/>
                </a:solidFill>
                <a:latin typeface="Arial"/>
              </a:rPr>
              <a:t>assignment is the trigger</a:t>
            </a:r>
          </a:p>
        </p:txBody>
      </p:sp>
      <p:cxnSp>
        <p:nvCxnSpPr>
          <p:cNvPr id="34" name="Connector 33"/>
          <p:cNvCxnSpPr/>
          <p:nvPr/>
        </p:nvCxnSpPr>
        <p:spPr>
          <a:xfrm>
            <a:off x="9262872" y="3223260"/>
            <a:ext cx="274320" cy="0"/>
          </a:xfrm>
          <a:prstGeom prst="line">
            <a:avLst/>
          </a:prstGeom>
          <a:ln w="25400">
            <a:solidFill>
              <a:srgbClr val="10B981"/>
            </a:solidFill>
            <a:tailEnd type="triangle" w="med" len="med"/>
          </a:ln>
        </p:spPr>
        <p:style>
          <a:lnRef idx="2">
            <a:schemeClr val="accent1"/>
          </a:lnRef>
          <a:fillRef idx="0">
            <a:schemeClr val="accent1"/>
          </a:fillRef>
          <a:effectRef idx="1">
            <a:schemeClr val="accent1"/>
          </a:effectRef>
          <a:fontRef idx="minor">
            <a:schemeClr val="tx1"/>
          </a:fontRef>
        </p:style>
      </p:cxnSp>
      <p:sp>
        <p:nvSpPr>
          <p:cNvPr id="35" name="Rounded Rectangle 34"/>
          <p:cNvSpPr/>
          <p:nvPr/>
        </p:nvSpPr>
        <p:spPr>
          <a:xfrm>
            <a:off x="9592056" y="2148840"/>
            <a:ext cx="1819656" cy="2148840"/>
          </a:xfrm>
          <a:prstGeom prst="roundRect">
            <a:avLst>
              <a:gd name="adj" fmla="val 10000"/>
            </a:avLst>
          </a:prstGeom>
          <a:solidFill>
            <a:srgbClr val="F5F8FC"/>
          </a:solidFill>
          <a:ln w="1587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 name="Rectangle 35"/>
          <p:cNvSpPr/>
          <p:nvPr/>
        </p:nvSpPr>
        <p:spPr>
          <a:xfrm>
            <a:off x="9592056" y="2148840"/>
            <a:ext cx="1819656" cy="100584"/>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 name="Oval 36"/>
          <p:cNvSpPr/>
          <p:nvPr/>
        </p:nvSpPr>
        <p:spPr>
          <a:xfrm>
            <a:off x="10218420" y="2459736"/>
            <a:ext cx="566928" cy="566928"/>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 name="TextBox 37"/>
          <p:cNvSpPr txBox="1"/>
          <p:nvPr/>
        </p:nvSpPr>
        <p:spPr>
          <a:xfrm>
            <a:off x="10218420" y="2459736"/>
            <a:ext cx="566928" cy="566928"/>
          </a:xfrm>
          <a:prstGeom prst="rect">
            <a:avLst/>
          </a:prstGeom>
          <a:noFill/>
        </p:spPr>
        <p:txBody>
          <a:bodyPr wrap="square" anchor="ctr">
            <a:spAutoFit/>
          </a:bodyPr>
          <a:lstStyle/>
          <a:p>
            <a:pPr algn="ctr">
              <a:spcAft>
                <a:spcPts val="400"/>
              </a:spcAft>
            </a:pPr>
            <a:r>
              <a:rPr sz="2400" b="1">
                <a:solidFill>
                  <a:srgbClr val="FFFFFF"/>
                </a:solidFill>
                <a:latin typeface="Arial"/>
              </a:rPr>
              <a:t>5</a:t>
            </a:r>
          </a:p>
        </p:txBody>
      </p:sp>
      <p:sp>
        <p:nvSpPr>
          <p:cNvPr id="39" name="TextBox 38"/>
          <p:cNvSpPr txBox="1"/>
          <p:nvPr/>
        </p:nvSpPr>
        <p:spPr>
          <a:xfrm>
            <a:off x="9720072" y="3081528"/>
            <a:ext cx="1563624" cy="786384"/>
          </a:xfrm>
          <a:prstGeom prst="rect">
            <a:avLst/>
          </a:prstGeom>
          <a:noFill/>
        </p:spPr>
        <p:txBody>
          <a:bodyPr wrap="square" anchor="ctr">
            <a:spAutoFit/>
          </a:bodyPr>
          <a:lstStyle/>
          <a:p>
            <a:pPr algn="ctr">
              <a:spcAft>
                <a:spcPts val="0"/>
              </a:spcAft>
            </a:pPr>
            <a:r>
              <a:rPr sz="1300" b="1">
                <a:solidFill>
                  <a:srgbClr val="161B26"/>
                </a:solidFill>
                <a:latin typeface="Arial"/>
              </a:rPr>
              <a:t>Accept, then assign child 2</a:t>
            </a:r>
          </a:p>
        </p:txBody>
      </p:sp>
      <p:sp>
        <p:nvSpPr>
          <p:cNvPr id="40" name="TextBox 39"/>
          <p:cNvSpPr txBox="1"/>
          <p:nvPr/>
        </p:nvSpPr>
        <p:spPr>
          <a:xfrm>
            <a:off x="9665208" y="3584448"/>
            <a:ext cx="1673352" cy="603504"/>
          </a:xfrm>
          <a:prstGeom prst="rect">
            <a:avLst/>
          </a:prstGeom>
          <a:noFill/>
        </p:spPr>
        <p:txBody>
          <a:bodyPr wrap="square" anchor="ctr">
            <a:spAutoFit/>
          </a:bodyPr>
          <a:lstStyle/>
          <a:p>
            <a:pPr algn="ctr">
              <a:spcAft>
                <a:spcPts val="0"/>
              </a:spcAft>
            </a:pPr>
            <a:r>
              <a:rPr sz="900" b="0">
                <a:solidFill>
                  <a:srgbClr val="5B6372"/>
                </a:solidFill>
                <a:latin typeface="Arial"/>
              </a:rPr>
              <a:t>sequential and attributable</a:t>
            </a:r>
          </a:p>
        </p:txBody>
      </p:sp>
      <p:sp>
        <p:nvSpPr>
          <p:cNvPr id="41" name="Rectangle 40"/>
          <p:cNvSpPr/>
          <p:nvPr/>
        </p:nvSpPr>
        <p:spPr>
          <a:xfrm>
            <a:off x="777240" y="4608576"/>
            <a:ext cx="10634472" cy="105156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2" name="Rectangle 41"/>
          <p:cNvSpPr/>
          <p:nvPr/>
        </p:nvSpPr>
        <p:spPr>
          <a:xfrm>
            <a:off x="777240" y="4608576"/>
            <a:ext cx="100584" cy="105156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3" name="TextBox 42"/>
          <p:cNvSpPr txBox="1"/>
          <p:nvPr/>
        </p:nvSpPr>
        <p:spPr>
          <a:xfrm>
            <a:off x="1051560" y="4718304"/>
            <a:ext cx="10149840" cy="292608"/>
          </a:xfrm>
          <a:prstGeom prst="rect">
            <a:avLst/>
          </a:prstGeom>
          <a:noFill/>
        </p:spPr>
        <p:txBody>
          <a:bodyPr wrap="square" anchor="t">
            <a:spAutoFit/>
          </a:bodyPr>
          <a:lstStyle/>
          <a:p>
            <a:pPr algn="l">
              <a:spcAft>
                <a:spcPts val="400"/>
              </a:spcAft>
            </a:pPr>
            <a:r>
              <a:rPr sz="1100" b="1">
                <a:solidFill>
                  <a:srgbClr val="10B981"/>
                </a:solidFill>
                <a:latin typeface="Arial"/>
              </a:rPr>
              <a:t>THE POINT</a:t>
            </a:r>
          </a:p>
        </p:txBody>
      </p:sp>
      <p:sp>
        <p:nvSpPr>
          <p:cNvPr id="44" name="TextBox 43"/>
          <p:cNvSpPr txBox="1"/>
          <p:nvPr/>
        </p:nvSpPr>
        <p:spPr>
          <a:xfrm>
            <a:off x="1051560" y="5029200"/>
            <a:ext cx="10149840" cy="566928"/>
          </a:xfrm>
          <a:prstGeom prst="rect">
            <a:avLst/>
          </a:prstGeom>
          <a:noFill/>
        </p:spPr>
        <p:txBody>
          <a:bodyPr wrap="square" anchor="t">
            <a:spAutoFit/>
          </a:bodyPr>
          <a:lstStyle/>
          <a:p>
            <a:pPr algn="l">
              <a:spcAft>
                <a:spcPts val="400"/>
              </a:spcAft>
            </a:pPr>
            <a:r>
              <a:rPr sz="1300" b="0">
                <a:solidFill>
                  <a:srgbClr val="161B26"/>
                </a:solidFill>
                <a:latin typeface="Arial"/>
              </a:rPr>
              <a:t>LO3: Decompose a mission into a parent and specialist child issues, run the specialists sequentially and verify each hand-off against acceptance evidence.</a:t>
            </a:r>
          </a:p>
        </p:txBody>
      </p:sp>
      <p:sp>
        <p:nvSpPr>
          <p:cNvPr id="95" name="TextBox 94"/>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Manage AI Agents with Paperclip (TGS-2023036646)  ·  TGS-2023036646</a:t>
            </a:r>
          </a:p>
        </p:txBody>
      </p:sp>
      <p:sp>
        <p:nvSpPr>
          <p:cNvPr id="96" name="TextBox 95"/>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97" name="TextBox 96"/>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70</a:t>
            </a:r>
          </a:p>
        </p:txBody>
      </p:sp>
    </p:spTree>
  </p:cSld>
  <p:clrMapOvr>
    <a:masterClrMapping/>
  </p:clrMapOvr>
  <p:timing>
    <p:tnLst>
      <p:par>
        <p:cTn id="1" dur="indefinite" restart="never" nodeType="tmRoot">
          <p:childTnLst>
            <p:seq concurrent="1" nextAc="seek">
              <p:cTn id="2" dur="indefinite" nodeType="mainSeq">
                <p:childTnLst>
                  <p:par>
                    <p:cTn id="10" fill="hold">
                      <p:stCondLst>
                        <p:cond delay="indefinite"/>
                      </p:stCondLst>
                      <p:childTnLst>
                        <p:par>
                          <p:cTn id="11" fill="hold">
                            <p:stCondLst>
                              <p:cond delay="0"/>
                            </p:stCondLst>
                            <p:childTnLst>
                              <p:par>
                                <p:cTn id="12" presetID="1" presetClass="entr" presetSubtype="0" fill="hold" nodeType="clickEffect">
                                  <p:stCondLst>
                                    <p:cond delay="0"/>
                                  </p:stCondLst>
                                  <p:childTnLst>
                                    <p:set>
                                      <p:cBhvr>
                                        <p:cTn id="13" dur="1" fill="hold">
                                          <p:stCondLst>
                                            <p:cond delay="0"/>
                                          </p:stCondLst>
                                        </p:cTn>
                                        <p:tgtEl>
                                          <p:spTgt spid="7"/>
                                        </p:tgtEl>
                                        <p:attrNameLst>
                                          <p:attrName>style.visibility</p:attrName>
                                        </p:attrNameLst>
                                      </p:cBhvr>
                                      <p:to>
                                        <p:strVal val="visible"/>
                                      </p:to>
                                    </p:set>
                                    <p:animEffect transition="in" filter="fade">
                                      <p:cBhvr>
                                        <p:cTn id="14" dur="400"/>
                                        <p:tgtEl>
                                          <p:spTgt spid="7"/>
                                        </p:tgtEl>
                                      </p:cBhvr>
                                    </p:animEffect>
                                  </p:childTnLst>
                                </p:cTn>
                              </p:par>
                            </p:childTnLst>
                          </p:cTn>
                        </p:par>
                      </p:childTnLst>
                    </p:cTn>
                  </p:par>
                  <p:par>
                    <p:cTn id="20" fill="hold">
                      <p:stCondLst>
                        <p:cond delay="indefinite"/>
                      </p:stCondLst>
                      <p:childTnLst>
                        <p:par>
                          <p:cTn id="21" fill="hold">
                            <p:stCondLst>
                              <p:cond delay="0"/>
                            </p:stCondLst>
                            <p:childTnLst>
                              <p:par>
                                <p:cTn id="22" presetID="1" presetClass="entr" presetSubtype="0" fill="hold" nodeType="afterEffect">
                                  <p:stCondLst>
                                    <p:cond delay="0"/>
                                  </p:stCondLst>
                                  <p:childTnLst>
                                    <p:set>
                                      <p:cBhvr>
                                        <p:cTn id="23" dur="1" fill="hold">
                                          <p:stCondLst>
                                            <p:cond delay="0"/>
                                          </p:stCondLst>
                                        </p:cTn>
                                        <p:tgtEl>
                                          <p:spTgt spid="13"/>
                                        </p:tgtEl>
                                        <p:attrNameLst>
                                          <p:attrName>style.visibility</p:attrName>
                                        </p:attrNameLst>
                                      </p:cBhvr>
                                      <p:to>
                                        <p:strVal val="visible"/>
                                      </p:to>
                                    </p:set>
                                    <p:animEffect transition="in" filter="fade">
                                      <p:cBhvr>
                                        <p:cTn id="24" dur="400"/>
                                        <p:tgtEl>
                                          <p:spTgt spid="13"/>
                                        </p:tgtEl>
                                      </p:cBhvr>
                                    </p:animEffect>
                                  </p:childTnLst>
                                </p:cTn>
                              </p:par>
                            </p:childTnLst>
                          </p:cTn>
                        </p:par>
                      </p:childTnLst>
                    </p:cTn>
                  </p:par>
                  <p:par>
                    <p:cTn id="30" fill="hold">
                      <p:stCondLst>
                        <p:cond delay="indefinite"/>
                      </p:stCondLst>
                      <p:childTnLst>
                        <p:par>
                          <p:cTn id="31" fill="hold">
                            <p:stCondLst>
                              <p:cond delay="0"/>
                            </p:stCondLst>
                            <p:childTnLst>
                              <p:par>
                                <p:cTn id="32" presetID="1" presetClass="entr" presetSubtype="0" fill="hold" nodeType="afterEffect">
                                  <p:stCondLst>
                                    <p:cond delay="0"/>
                                  </p:stCondLst>
                                  <p:childTnLst>
                                    <p:set>
                                      <p:cBhvr>
                                        <p:cTn id="33" dur="1" fill="hold">
                                          <p:stCondLst>
                                            <p:cond delay="0"/>
                                          </p:stCondLst>
                                        </p:cTn>
                                        <p:tgtEl>
                                          <p:spTgt spid="14"/>
                                        </p:tgtEl>
                                        <p:attrNameLst>
                                          <p:attrName>style.visibility</p:attrName>
                                        </p:attrNameLst>
                                      </p:cBhvr>
                                      <p:to>
                                        <p:strVal val="visible"/>
                                      </p:to>
                                    </p:set>
                                    <p:animEffect transition="in" filter="fade">
                                      <p:cBhvr>
                                        <p:cTn id="34" dur="400"/>
                                        <p:tgtEl>
                                          <p:spTgt spid="14"/>
                                        </p:tgtEl>
                                      </p:cBhvr>
                                    </p:animEffect>
                                  </p:childTnLst>
                                </p:cTn>
                              </p:par>
                            </p:childTnLst>
                          </p:cTn>
                        </p:par>
                      </p:childTnLst>
                    </p:cTn>
                  </p:par>
                  <p:par>
                    <p:cTn id="40" fill="hold">
                      <p:stCondLst>
                        <p:cond delay="indefinite"/>
                      </p:stCondLst>
                      <p:childTnLst>
                        <p:par>
                          <p:cTn id="41" fill="hold">
                            <p:stCondLst>
                              <p:cond delay="0"/>
                            </p:stCondLst>
                            <p:childTnLst>
                              <p:par>
                                <p:cTn id="42" presetID="1" presetClass="entr" presetSubtype="0" fill="hold" nodeType="afterEffect">
                                  <p:stCondLst>
                                    <p:cond delay="0"/>
                                  </p:stCondLst>
                                  <p:childTnLst>
                                    <p:set>
                                      <p:cBhvr>
                                        <p:cTn id="43" dur="1" fill="hold">
                                          <p:stCondLst>
                                            <p:cond delay="0"/>
                                          </p:stCondLst>
                                        </p:cTn>
                                        <p:tgtEl>
                                          <p:spTgt spid="20"/>
                                        </p:tgtEl>
                                        <p:attrNameLst>
                                          <p:attrName>style.visibility</p:attrName>
                                        </p:attrNameLst>
                                      </p:cBhvr>
                                      <p:to>
                                        <p:strVal val="visible"/>
                                      </p:to>
                                    </p:set>
                                    <p:animEffect transition="in" filter="fade">
                                      <p:cBhvr>
                                        <p:cTn id="44" dur="400"/>
                                        <p:tgtEl>
                                          <p:spTgt spid="20"/>
                                        </p:tgtEl>
                                      </p:cBhvr>
                                    </p:animEffect>
                                  </p:childTnLst>
                                </p:cTn>
                              </p:par>
                            </p:childTnLst>
                          </p:cTn>
                        </p:par>
                      </p:childTnLst>
                    </p:cTn>
                  </p:par>
                  <p:par>
                    <p:cTn id="50" fill="hold">
                      <p:stCondLst>
                        <p:cond delay="indefinite"/>
                      </p:stCondLst>
                      <p:childTnLst>
                        <p:par>
                          <p:cTn id="51" fill="hold">
                            <p:stCondLst>
                              <p:cond delay="0"/>
                            </p:stCondLst>
                            <p:childTnLst>
                              <p:par>
                                <p:cTn id="52" presetID="1" presetClass="entr" presetSubtype="0" fill="hold" nodeType="afterEffect">
                                  <p:stCondLst>
                                    <p:cond delay="0"/>
                                  </p:stCondLst>
                                  <p:childTnLst>
                                    <p:set>
                                      <p:cBhvr>
                                        <p:cTn id="53" dur="1" fill="hold">
                                          <p:stCondLst>
                                            <p:cond delay="0"/>
                                          </p:stCondLst>
                                        </p:cTn>
                                        <p:tgtEl>
                                          <p:spTgt spid="21"/>
                                        </p:tgtEl>
                                        <p:attrNameLst>
                                          <p:attrName>style.visibility</p:attrName>
                                        </p:attrNameLst>
                                      </p:cBhvr>
                                      <p:to>
                                        <p:strVal val="visible"/>
                                      </p:to>
                                    </p:set>
                                    <p:animEffect transition="in" filter="fade">
                                      <p:cBhvr>
                                        <p:cTn id="54" dur="400"/>
                                        <p:tgtEl>
                                          <p:spTgt spid="21"/>
                                        </p:tgtEl>
                                      </p:cBhvr>
                                    </p:animEffect>
                                  </p:childTnLst>
                                </p:cTn>
                              </p:par>
                            </p:childTnLst>
                          </p:cTn>
                        </p:par>
                      </p:childTnLst>
                    </p:cTn>
                  </p:par>
                  <p:par>
                    <p:cTn id="60" fill="hold">
                      <p:stCondLst>
                        <p:cond delay="indefinite"/>
                      </p:stCondLst>
                      <p:childTnLst>
                        <p:par>
                          <p:cTn id="61" fill="hold">
                            <p:stCondLst>
                              <p:cond delay="0"/>
                            </p:stCondLst>
                            <p:childTnLst>
                              <p:par>
                                <p:cTn id="62" presetID="1" presetClass="entr" presetSubtype="0" fill="hold" nodeType="afterEffect">
                                  <p:stCondLst>
                                    <p:cond delay="0"/>
                                  </p:stCondLst>
                                  <p:childTnLst>
                                    <p:set>
                                      <p:cBhvr>
                                        <p:cTn id="63" dur="1" fill="hold">
                                          <p:stCondLst>
                                            <p:cond delay="0"/>
                                          </p:stCondLst>
                                        </p:cTn>
                                        <p:tgtEl>
                                          <p:spTgt spid="27"/>
                                        </p:tgtEl>
                                        <p:attrNameLst>
                                          <p:attrName>style.visibility</p:attrName>
                                        </p:attrNameLst>
                                      </p:cBhvr>
                                      <p:to>
                                        <p:strVal val="visible"/>
                                      </p:to>
                                    </p:set>
                                    <p:animEffect transition="in" filter="fade">
                                      <p:cBhvr>
                                        <p:cTn id="64" dur="400"/>
                                        <p:tgtEl>
                                          <p:spTgt spid="27"/>
                                        </p:tgtEl>
                                      </p:cBhvr>
                                    </p:animEffect>
                                  </p:childTnLst>
                                </p:cTn>
                              </p:par>
                            </p:childTnLst>
                          </p:cTn>
                        </p:par>
                      </p:childTnLst>
                    </p:cTn>
                  </p:par>
                  <p:par>
                    <p:cTn id="70" fill="hold">
                      <p:stCondLst>
                        <p:cond delay="indefinite"/>
                      </p:stCondLst>
                      <p:childTnLst>
                        <p:par>
                          <p:cTn id="71" fill="hold">
                            <p:stCondLst>
                              <p:cond delay="0"/>
                            </p:stCondLst>
                            <p:childTnLst>
                              <p:par>
                                <p:cTn id="72" presetID="1" presetClass="entr" presetSubtype="0" fill="hold" nodeType="afterEffect">
                                  <p:stCondLst>
                                    <p:cond delay="0"/>
                                  </p:stCondLst>
                                  <p:childTnLst>
                                    <p:set>
                                      <p:cBhvr>
                                        <p:cTn id="73" dur="1" fill="hold">
                                          <p:stCondLst>
                                            <p:cond delay="0"/>
                                          </p:stCondLst>
                                        </p:cTn>
                                        <p:tgtEl>
                                          <p:spTgt spid="28"/>
                                        </p:tgtEl>
                                        <p:attrNameLst>
                                          <p:attrName>style.visibility</p:attrName>
                                        </p:attrNameLst>
                                      </p:cBhvr>
                                      <p:to>
                                        <p:strVal val="visible"/>
                                      </p:to>
                                    </p:set>
                                    <p:animEffect transition="in" filter="fade">
                                      <p:cBhvr>
                                        <p:cTn id="74" dur="400"/>
                                        <p:tgtEl>
                                          <p:spTgt spid="28"/>
                                        </p:tgtEl>
                                      </p:cBhvr>
                                    </p:animEffect>
                                  </p:childTnLst>
                                </p:cTn>
                              </p:par>
                            </p:childTnLst>
                          </p:cTn>
                        </p:par>
                      </p:childTnLst>
                    </p:cTn>
                  </p:par>
                  <p:par>
                    <p:cTn id="80" fill="hold">
                      <p:stCondLst>
                        <p:cond delay="indefinite"/>
                      </p:stCondLst>
                      <p:childTnLst>
                        <p:par>
                          <p:cTn id="81" fill="hold">
                            <p:stCondLst>
                              <p:cond delay="0"/>
                            </p:stCondLst>
                            <p:childTnLst>
                              <p:par>
                                <p:cTn id="82" presetID="1" presetClass="entr" presetSubtype="0" fill="hold" nodeType="afterEffect">
                                  <p:stCondLst>
                                    <p:cond delay="0"/>
                                  </p:stCondLst>
                                  <p:childTnLst>
                                    <p:set>
                                      <p:cBhvr>
                                        <p:cTn id="83" dur="1" fill="hold">
                                          <p:stCondLst>
                                            <p:cond delay="0"/>
                                          </p:stCondLst>
                                        </p:cTn>
                                        <p:tgtEl>
                                          <p:spTgt spid="34"/>
                                        </p:tgtEl>
                                        <p:attrNameLst>
                                          <p:attrName>style.visibility</p:attrName>
                                        </p:attrNameLst>
                                      </p:cBhvr>
                                      <p:to>
                                        <p:strVal val="visible"/>
                                      </p:to>
                                    </p:set>
                                    <p:animEffect transition="in" filter="fade">
                                      <p:cBhvr>
                                        <p:cTn id="84" dur="400"/>
                                        <p:tgtEl>
                                          <p:spTgt spid="34"/>
                                        </p:tgtEl>
                                      </p:cBhvr>
                                    </p:animEffect>
                                  </p:childTnLst>
                                </p:cTn>
                              </p:par>
                            </p:childTnLst>
                          </p:cTn>
                        </p:par>
                      </p:childTnLst>
                    </p:cTn>
                  </p:par>
                  <p:par>
                    <p:cTn id="90" fill="hold">
                      <p:stCondLst>
                        <p:cond delay="indefinite"/>
                      </p:stCondLst>
                      <p:childTnLst>
                        <p:par>
                          <p:cTn id="91" fill="hold">
                            <p:stCondLst>
                              <p:cond delay="0"/>
                            </p:stCondLst>
                            <p:childTnLst>
                              <p:par>
                                <p:cTn id="92" presetID="1" presetClass="entr" presetSubtype="0" fill="hold" nodeType="afterEffect">
                                  <p:stCondLst>
                                    <p:cond delay="0"/>
                                  </p:stCondLst>
                                  <p:childTnLst>
                                    <p:set>
                                      <p:cBhvr>
                                        <p:cTn id="93" dur="1" fill="hold">
                                          <p:stCondLst>
                                            <p:cond delay="0"/>
                                          </p:stCondLst>
                                        </p:cTn>
                                        <p:tgtEl>
                                          <p:spTgt spid="35"/>
                                        </p:tgtEl>
                                        <p:attrNameLst>
                                          <p:attrName>style.visibility</p:attrName>
                                        </p:attrNameLst>
                                      </p:cBhvr>
                                      <p:to>
                                        <p:strVal val="visible"/>
                                      </p:to>
                                    </p:set>
                                    <p:animEffect transition="in" filter="fade">
                                      <p:cBhvr>
                                        <p:cTn id="94" dur="400"/>
                                        <p:tgtEl>
                                          <p:spTgt spid="35"/>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transition spd="fast" advClick="1">
    <p:fade/>
  </p:transition>
</p:sld>
</file>

<file path=ppt/slides/slide7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10B981"/>
                </a:solidFill>
                <a:latin typeface="Arial"/>
              </a:rPr>
              <a:t>LAB 4 · VERIFY</a:t>
            </a:r>
          </a:p>
        </p:txBody>
      </p:sp>
      <p:sp>
        <p:nvSpPr>
          <p:cNvPr id="5" name="TextBox 4"/>
          <p:cNvSpPr txBox="1"/>
          <p:nvPr/>
        </p:nvSpPr>
        <p:spPr>
          <a:xfrm>
            <a:off x="777240" y="804672"/>
            <a:ext cx="10881360" cy="713232"/>
          </a:xfrm>
          <a:prstGeom prst="rect">
            <a:avLst/>
          </a:prstGeom>
          <a:noFill/>
        </p:spPr>
        <p:txBody>
          <a:bodyPr wrap="square" anchor="ctr">
            <a:spAutoFit/>
          </a:bodyPr>
          <a:lstStyle/>
          <a:p>
            <a:pPr algn="l">
              <a:spcAft>
                <a:spcPts val="400"/>
              </a:spcAft>
            </a:pPr>
            <a:r>
              <a:rPr sz="2200" b="1">
                <a:solidFill>
                  <a:srgbClr val="161B26"/>
                </a:solidFill>
                <a:latin typeface="Arial"/>
              </a:rPr>
              <a:t>Translate the Ledgerly Mission into Assigned Issues and Hand-Offs (Accounting)</a:t>
            </a:r>
          </a:p>
        </p:txBody>
      </p:sp>
      <p:sp>
        <p:nvSpPr>
          <p:cNvPr id="6" name="Rectangle 5"/>
          <p:cNvSpPr/>
          <p:nvPr/>
        </p:nvSpPr>
        <p:spPr>
          <a:xfrm>
            <a:off x="777240" y="155448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77240" y="1783080"/>
            <a:ext cx="10634472" cy="1965960"/>
          </a:xfrm>
          <a:prstGeom prst="rect">
            <a:avLst/>
          </a:prstGeom>
          <a:solidFill>
            <a:srgbClr val="E8F7E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777240" y="1783080"/>
            <a:ext cx="100584" cy="1965960"/>
          </a:xfrm>
          <a:prstGeom prst="rect">
            <a:avLst/>
          </a:prstGeom>
          <a:solidFill>
            <a:srgbClr val="127A3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1097280" y="1938528"/>
            <a:ext cx="10058400" cy="402336"/>
          </a:xfrm>
          <a:prstGeom prst="rect">
            <a:avLst/>
          </a:prstGeom>
          <a:noFill/>
        </p:spPr>
        <p:txBody>
          <a:bodyPr wrap="square" anchor="t">
            <a:spAutoFit/>
          </a:bodyPr>
          <a:lstStyle/>
          <a:p>
            <a:pPr algn="l">
              <a:spcAft>
                <a:spcPts val="400"/>
              </a:spcAft>
            </a:pPr>
            <a:r>
              <a:rPr sz="1700" b="1">
                <a:solidFill>
                  <a:srgbClr val="127A3E"/>
                </a:solidFill>
                <a:latin typeface="Arial"/>
              </a:rPr>
              <a:t>✅  Expected result</a:t>
            </a:r>
          </a:p>
        </p:txBody>
      </p:sp>
      <p:sp>
        <p:nvSpPr>
          <p:cNvPr id="10" name="TextBox 9"/>
          <p:cNvSpPr txBox="1"/>
          <p:nvPr/>
        </p:nvSpPr>
        <p:spPr>
          <a:xfrm>
            <a:off x="1097280" y="2395728"/>
            <a:ext cx="10058400" cy="1234440"/>
          </a:xfrm>
          <a:prstGeom prst="rect">
            <a:avLst/>
          </a:prstGeom>
          <a:noFill/>
        </p:spPr>
        <p:txBody>
          <a:bodyPr wrap="square" anchor="t">
            <a:spAutoFit/>
          </a:bodyPr>
          <a:lstStyle/>
          <a:p>
            <a:pPr algn="l">
              <a:spcAft>
                <a:spcPts val="400"/>
              </a:spcAft>
            </a:pPr>
            <a:r>
              <a:rPr sz="1500" b="0">
                <a:solidFill>
                  <a:srgbClr val="161B26"/>
                </a:solidFill>
                <a:latin typeface="Arial"/>
              </a:rPr>
              <a:t>The Ledgerly project shows a saved cap above actual spend; the parent issue is still open and unassigned; both children are Done with a linked artifact and a recorded run ID; the two specialists ran SEQUENTIALLY (non-overlapping run timestamps); and the exceptions file demonstrably references the reconciliation figures.</a:t>
            </a:r>
          </a:p>
        </p:txBody>
      </p:sp>
      <p:sp>
        <p:nvSpPr>
          <p:cNvPr id="11" name="TextBox 10"/>
          <p:cNvSpPr txBox="1"/>
          <p:nvPr/>
        </p:nvSpPr>
        <p:spPr>
          <a:xfrm>
            <a:off x="777240" y="3950208"/>
            <a:ext cx="10634472" cy="310896"/>
          </a:xfrm>
          <a:prstGeom prst="rect">
            <a:avLst/>
          </a:prstGeom>
          <a:noFill/>
        </p:spPr>
        <p:txBody>
          <a:bodyPr wrap="square" anchor="t">
            <a:spAutoFit/>
          </a:bodyPr>
          <a:lstStyle/>
          <a:p>
            <a:pPr algn="l">
              <a:spcAft>
                <a:spcPts val="400"/>
              </a:spcAft>
            </a:pPr>
            <a:r>
              <a:rPr sz="1100" b="1">
                <a:solidFill>
                  <a:srgbClr val="F59E0B"/>
                </a:solidFill>
                <a:latin typeface="Arial"/>
              </a:rPr>
              <a:t>IF IT DOESN'T WORK</a:t>
            </a:r>
          </a:p>
        </p:txBody>
      </p:sp>
      <p:sp>
        <p:nvSpPr>
          <p:cNvPr id="12" name="Rectangle 11"/>
          <p:cNvSpPr/>
          <p:nvPr/>
        </p:nvSpPr>
        <p:spPr>
          <a:xfrm>
            <a:off x="777240" y="4297680"/>
            <a:ext cx="3392424" cy="157276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777240" y="4297680"/>
            <a:ext cx="3392424" cy="82296"/>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996696" y="4453128"/>
            <a:ext cx="2980944" cy="329184"/>
          </a:xfrm>
          <a:prstGeom prst="rect">
            <a:avLst/>
          </a:prstGeom>
          <a:noFill/>
        </p:spPr>
        <p:txBody>
          <a:bodyPr wrap="square" anchor="t">
            <a:spAutoFit/>
          </a:bodyPr>
          <a:lstStyle/>
          <a:p>
            <a:pPr algn="l">
              <a:spcAft>
                <a:spcPts val="400"/>
              </a:spcAft>
            </a:pPr>
            <a:r>
              <a:rPr sz="1250" b="1">
                <a:solidFill>
                  <a:srgbClr val="161B26"/>
                </a:solidFill>
                <a:latin typeface="Arial"/>
              </a:rPr>
              <a:t>Both specialists wake at the same time</a:t>
            </a:r>
          </a:p>
        </p:txBody>
      </p:sp>
      <p:sp>
        <p:nvSpPr>
          <p:cNvPr id="15" name="TextBox 14"/>
          <p:cNvSpPr txBox="1"/>
          <p:nvPr/>
        </p:nvSpPr>
        <p:spPr>
          <a:xfrm>
            <a:off x="996696" y="4809744"/>
            <a:ext cx="2980944" cy="960120"/>
          </a:xfrm>
          <a:prstGeom prst="rect">
            <a:avLst/>
          </a:prstGeom>
          <a:noFill/>
        </p:spPr>
        <p:txBody>
          <a:bodyPr wrap="square" anchor="t">
            <a:spAutoFit/>
          </a:bodyPr>
          <a:lstStyle/>
          <a:p>
            <a:pPr algn="l">
              <a:spcAft>
                <a:spcPts val="400"/>
              </a:spcAft>
            </a:pPr>
            <a:r>
              <a:rPr sz="1100" b="0">
                <a:solidFill>
                  <a:srgbClr val="5B6372"/>
                </a:solidFill>
                <a:latin typeface="Arial"/>
              </a:rPr>
              <a:t>A child was assigned before the previous one was accepted. Pause the second agent, let the first run settle, then re-assign so the runs are sequential.</a:t>
            </a:r>
          </a:p>
        </p:txBody>
      </p:sp>
      <p:sp>
        <p:nvSpPr>
          <p:cNvPr id="16" name="Rectangle 15"/>
          <p:cNvSpPr/>
          <p:nvPr/>
        </p:nvSpPr>
        <p:spPr>
          <a:xfrm>
            <a:off x="4398264" y="4297680"/>
            <a:ext cx="3392424" cy="157276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4398264" y="4297680"/>
            <a:ext cx="3392424" cy="82296"/>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4617720" y="4453128"/>
            <a:ext cx="2980944" cy="329184"/>
          </a:xfrm>
          <a:prstGeom prst="rect">
            <a:avLst/>
          </a:prstGeom>
          <a:noFill/>
        </p:spPr>
        <p:txBody>
          <a:bodyPr wrap="square" anchor="t">
            <a:spAutoFit/>
          </a:bodyPr>
          <a:lstStyle/>
          <a:p>
            <a:pPr algn="l">
              <a:spcAft>
                <a:spcPts val="400"/>
              </a:spcAft>
            </a:pPr>
            <a:r>
              <a:rPr sz="1250" b="1">
                <a:solidFill>
                  <a:srgbClr val="161B26"/>
                </a:solidFill>
                <a:latin typeface="Arial"/>
              </a:rPr>
              <a:t>The child artifact exists but is missing fields</a:t>
            </a:r>
          </a:p>
        </p:txBody>
      </p:sp>
      <p:sp>
        <p:nvSpPr>
          <p:cNvPr id="19" name="TextBox 18"/>
          <p:cNvSpPr txBox="1"/>
          <p:nvPr/>
        </p:nvSpPr>
        <p:spPr>
          <a:xfrm>
            <a:off x="4617720" y="4809744"/>
            <a:ext cx="2980944" cy="960120"/>
          </a:xfrm>
          <a:prstGeom prst="rect">
            <a:avLst/>
          </a:prstGeom>
          <a:noFill/>
        </p:spPr>
        <p:txBody>
          <a:bodyPr wrap="square" anchor="t">
            <a:spAutoFit/>
          </a:bodyPr>
          <a:lstStyle/>
          <a:p>
            <a:pPr algn="l">
              <a:spcAft>
                <a:spcPts val="400"/>
              </a:spcAft>
            </a:pPr>
            <a:r>
              <a:rPr sz="1100" b="0">
                <a:solidFill>
                  <a:srgbClr val="5B6372"/>
                </a:solidFill>
                <a:latin typeface="Arial"/>
              </a:rPr>
              <a:t>The acceptance criterion was written as an activity, not as evidence. Rewrite it naming the required fields and re-run — do not hand-edit the agent's artifact.</a:t>
            </a:r>
          </a:p>
        </p:txBody>
      </p:sp>
      <p:sp>
        <p:nvSpPr>
          <p:cNvPr id="20" name="Rectangle 19"/>
          <p:cNvSpPr/>
          <p:nvPr/>
        </p:nvSpPr>
        <p:spPr>
          <a:xfrm>
            <a:off x="8019288" y="4297680"/>
            <a:ext cx="3392424" cy="157276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ectangle 20"/>
          <p:cNvSpPr/>
          <p:nvPr/>
        </p:nvSpPr>
        <p:spPr>
          <a:xfrm>
            <a:off x="8019288" y="4297680"/>
            <a:ext cx="3392424" cy="82296"/>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8238744" y="4453128"/>
            <a:ext cx="2980944" cy="329184"/>
          </a:xfrm>
          <a:prstGeom prst="rect">
            <a:avLst/>
          </a:prstGeom>
          <a:noFill/>
        </p:spPr>
        <p:txBody>
          <a:bodyPr wrap="square" anchor="t">
            <a:spAutoFit/>
          </a:bodyPr>
          <a:lstStyle/>
          <a:p>
            <a:pPr algn="l">
              <a:spcAft>
                <a:spcPts val="400"/>
              </a:spcAft>
            </a:pPr>
            <a:r>
              <a:rPr sz="1250" b="1">
                <a:solidFill>
                  <a:srgbClr val="161B26"/>
                </a:solidFill>
                <a:latin typeface="Arial"/>
              </a:rPr>
              <a:t>The parent issue wakes unexpectedly</a:t>
            </a:r>
          </a:p>
        </p:txBody>
      </p:sp>
      <p:sp>
        <p:nvSpPr>
          <p:cNvPr id="23" name="TextBox 22"/>
          <p:cNvSpPr txBox="1"/>
          <p:nvPr/>
        </p:nvSpPr>
        <p:spPr>
          <a:xfrm>
            <a:off x="8238744" y="4809744"/>
            <a:ext cx="2980944" cy="960120"/>
          </a:xfrm>
          <a:prstGeom prst="rect">
            <a:avLst/>
          </a:prstGeom>
          <a:noFill/>
        </p:spPr>
        <p:txBody>
          <a:bodyPr wrap="square" anchor="t">
            <a:spAutoFit/>
          </a:bodyPr>
          <a:lstStyle/>
          <a:p>
            <a:pPr algn="l">
              <a:spcAft>
                <a:spcPts val="400"/>
              </a:spcAft>
            </a:pPr>
            <a:r>
              <a:rPr sz="1100" b="0">
                <a:solidFill>
                  <a:srgbClr val="5B6372"/>
                </a:solidFill>
                <a:latin typeface="Arial"/>
              </a:rPr>
              <a:t>It was assigned during creation. Clear the assignee; the parent stays unassigned until both children are accepted (that is Lab 6).</a:t>
            </a:r>
          </a:p>
        </p:txBody>
      </p:sp>
      <p:sp>
        <p:nvSpPr>
          <p:cNvPr id="24" name="TextBox 23"/>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Manage AI Agents with Paperclip (TGS-2023036646)  ·  TGS-2023036646</a:t>
            </a:r>
          </a:p>
        </p:txBody>
      </p:sp>
      <p:sp>
        <p:nvSpPr>
          <p:cNvPr id="25" name="TextBox 24"/>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26" name="TextBox 25"/>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71</a:t>
            </a:r>
          </a:p>
        </p:txBody>
      </p:sp>
    </p:spTree>
  </p:cSld>
  <p:clrMapOvr>
    <a:masterClrMapping/>
  </p:clrMapOvr>
  <p:transition spd="fast" advClick="1">
    <p:fade/>
  </p:transition>
</p:sld>
</file>

<file path=ppt/slides/slide7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F59E0B"/>
                </a:solidFill>
                <a:latin typeface="Arial"/>
              </a:rPr>
              <a:t>LAB 4  ·  TROUBLESHOOTING</a:t>
            </a:r>
          </a:p>
        </p:txBody>
      </p:sp>
      <p:sp>
        <p:nvSpPr>
          <p:cNvPr id="5" name="TextBox 4"/>
          <p:cNvSpPr txBox="1"/>
          <p:nvPr/>
        </p:nvSpPr>
        <p:spPr>
          <a:xfrm>
            <a:off x="777240" y="804672"/>
            <a:ext cx="10881360" cy="713232"/>
          </a:xfrm>
          <a:prstGeom prst="rect">
            <a:avLst/>
          </a:prstGeom>
          <a:noFill/>
        </p:spPr>
        <p:txBody>
          <a:bodyPr wrap="square" anchor="ctr">
            <a:spAutoFit/>
          </a:bodyPr>
          <a:lstStyle/>
          <a:p>
            <a:pPr algn="l">
              <a:spcAft>
                <a:spcPts val="400"/>
              </a:spcAft>
            </a:pPr>
            <a:r>
              <a:rPr sz="2200" b="1">
                <a:solidFill>
                  <a:srgbClr val="161B26"/>
                </a:solidFill>
                <a:latin typeface="Arial"/>
              </a:rPr>
              <a:t>Translate the Ledgerly Mission into Assigned Issues and Hand-Offs (Accounting)</a:t>
            </a:r>
          </a:p>
        </p:txBody>
      </p:sp>
      <p:sp>
        <p:nvSpPr>
          <p:cNvPr id="6" name="Rectangle 5"/>
          <p:cNvSpPr/>
          <p:nvPr/>
        </p:nvSpPr>
        <p:spPr>
          <a:xfrm>
            <a:off x="777240" y="155448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77240" y="1810512"/>
            <a:ext cx="10607040" cy="94488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777240" y="1810512"/>
            <a:ext cx="91440" cy="944880"/>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1051560" y="1938528"/>
            <a:ext cx="10149840" cy="329184"/>
          </a:xfrm>
          <a:prstGeom prst="rect">
            <a:avLst/>
          </a:prstGeom>
          <a:noFill/>
        </p:spPr>
        <p:txBody>
          <a:bodyPr wrap="square" anchor="t">
            <a:spAutoFit/>
          </a:bodyPr>
          <a:lstStyle/>
          <a:p>
            <a:pPr algn="l">
              <a:spcAft>
                <a:spcPts val="400"/>
              </a:spcAft>
            </a:pPr>
            <a:r>
              <a:rPr sz="1300" b="1">
                <a:solidFill>
                  <a:srgbClr val="161B26"/>
                </a:solidFill>
                <a:latin typeface="Arial"/>
              </a:rPr>
              <a:t>⚠  Both specialists wake at the same time</a:t>
            </a:r>
          </a:p>
        </p:txBody>
      </p:sp>
      <p:sp>
        <p:nvSpPr>
          <p:cNvPr id="10" name="TextBox 9"/>
          <p:cNvSpPr txBox="1"/>
          <p:nvPr/>
        </p:nvSpPr>
        <p:spPr>
          <a:xfrm>
            <a:off x="1051560" y="2304288"/>
            <a:ext cx="10149840" cy="341376"/>
          </a:xfrm>
          <a:prstGeom prst="rect">
            <a:avLst/>
          </a:prstGeom>
          <a:noFill/>
        </p:spPr>
        <p:txBody>
          <a:bodyPr wrap="square" anchor="t">
            <a:spAutoFit/>
          </a:bodyPr>
          <a:lstStyle/>
          <a:p>
            <a:pPr algn="l">
              <a:spcAft>
                <a:spcPts val="400"/>
              </a:spcAft>
            </a:pPr>
            <a:r>
              <a:rPr sz="1150" b="0">
                <a:solidFill>
                  <a:srgbClr val="5B6372"/>
                </a:solidFill>
                <a:latin typeface="Arial"/>
              </a:rPr>
              <a:t>A child was assigned before the previous one was accepted. Pause the second agent, let the first run settle, then re-assign so the runs are sequential.</a:t>
            </a:r>
          </a:p>
        </p:txBody>
      </p:sp>
      <p:sp>
        <p:nvSpPr>
          <p:cNvPr id="11" name="Rectangle 10"/>
          <p:cNvSpPr/>
          <p:nvPr/>
        </p:nvSpPr>
        <p:spPr>
          <a:xfrm>
            <a:off x="777240" y="2938272"/>
            <a:ext cx="10607040" cy="94488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ectangle 11"/>
          <p:cNvSpPr/>
          <p:nvPr/>
        </p:nvSpPr>
        <p:spPr>
          <a:xfrm>
            <a:off x="777240" y="2938272"/>
            <a:ext cx="91440" cy="944880"/>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1051560" y="3066288"/>
            <a:ext cx="10149840" cy="329184"/>
          </a:xfrm>
          <a:prstGeom prst="rect">
            <a:avLst/>
          </a:prstGeom>
          <a:noFill/>
        </p:spPr>
        <p:txBody>
          <a:bodyPr wrap="square" anchor="t">
            <a:spAutoFit/>
          </a:bodyPr>
          <a:lstStyle/>
          <a:p>
            <a:pPr algn="l">
              <a:spcAft>
                <a:spcPts val="400"/>
              </a:spcAft>
            </a:pPr>
            <a:r>
              <a:rPr sz="1300" b="1">
                <a:solidFill>
                  <a:srgbClr val="161B26"/>
                </a:solidFill>
                <a:latin typeface="Arial"/>
              </a:rPr>
              <a:t>⚠  The child artifact exists but is missing fields</a:t>
            </a:r>
          </a:p>
        </p:txBody>
      </p:sp>
      <p:sp>
        <p:nvSpPr>
          <p:cNvPr id="14" name="TextBox 13"/>
          <p:cNvSpPr txBox="1"/>
          <p:nvPr/>
        </p:nvSpPr>
        <p:spPr>
          <a:xfrm>
            <a:off x="1051560" y="3432048"/>
            <a:ext cx="10149840" cy="341376"/>
          </a:xfrm>
          <a:prstGeom prst="rect">
            <a:avLst/>
          </a:prstGeom>
          <a:noFill/>
        </p:spPr>
        <p:txBody>
          <a:bodyPr wrap="square" anchor="t">
            <a:spAutoFit/>
          </a:bodyPr>
          <a:lstStyle/>
          <a:p>
            <a:pPr algn="l">
              <a:spcAft>
                <a:spcPts val="400"/>
              </a:spcAft>
            </a:pPr>
            <a:r>
              <a:rPr sz="1150" b="0">
                <a:solidFill>
                  <a:srgbClr val="5B6372"/>
                </a:solidFill>
                <a:latin typeface="Arial"/>
              </a:rPr>
              <a:t>The acceptance criterion was written as an activity, not as evidence. Rewrite it naming the required fields and re-run — do not hand-edit the agent's artifact.</a:t>
            </a:r>
          </a:p>
        </p:txBody>
      </p:sp>
      <p:sp>
        <p:nvSpPr>
          <p:cNvPr id="15" name="Rectangle 14"/>
          <p:cNvSpPr/>
          <p:nvPr/>
        </p:nvSpPr>
        <p:spPr>
          <a:xfrm>
            <a:off x="777240" y="4066032"/>
            <a:ext cx="10607040" cy="94488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ectangle 15"/>
          <p:cNvSpPr/>
          <p:nvPr/>
        </p:nvSpPr>
        <p:spPr>
          <a:xfrm>
            <a:off x="777240" y="4066032"/>
            <a:ext cx="91440" cy="944880"/>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1051560" y="4194048"/>
            <a:ext cx="10149840" cy="329184"/>
          </a:xfrm>
          <a:prstGeom prst="rect">
            <a:avLst/>
          </a:prstGeom>
          <a:noFill/>
        </p:spPr>
        <p:txBody>
          <a:bodyPr wrap="square" anchor="t">
            <a:spAutoFit/>
          </a:bodyPr>
          <a:lstStyle/>
          <a:p>
            <a:pPr algn="l">
              <a:spcAft>
                <a:spcPts val="400"/>
              </a:spcAft>
            </a:pPr>
            <a:r>
              <a:rPr sz="1300" b="1">
                <a:solidFill>
                  <a:srgbClr val="161B26"/>
                </a:solidFill>
                <a:latin typeface="Arial"/>
              </a:rPr>
              <a:t>⚠  The parent issue wakes unexpectedly</a:t>
            </a:r>
          </a:p>
        </p:txBody>
      </p:sp>
      <p:sp>
        <p:nvSpPr>
          <p:cNvPr id="18" name="TextBox 17"/>
          <p:cNvSpPr txBox="1"/>
          <p:nvPr/>
        </p:nvSpPr>
        <p:spPr>
          <a:xfrm>
            <a:off x="1051560" y="4559808"/>
            <a:ext cx="10149840" cy="341376"/>
          </a:xfrm>
          <a:prstGeom prst="rect">
            <a:avLst/>
          </a:prstGeom>
          <a:noFill/>
        </p:spPr>
        <p:txBody>
          <a:bodyPr wrap="square" anchor="t">
            <a:spAutoFit/>
          </a:bodyPr>
          <a:lstStyle/>
          <a:p>
            <a:pPr algn="l">
              <a:spcAft>
                <a:spcPts val="400"/>
              </a:spcAft>
            </a:pPr>
            <a:r>
              <a:rPr sz="1150" b="0">
                <a:solidFill>
                  <a:srgbClr val="5B6372"/>
                </a:solidFill>
                <a:latin typeface="Arial"/>
              </a:rPr>
              <a:t>It was assigned during creation. Clear the assignee; the parent stays unassigned until both children are accepted (that is Lab 6).</a:t>
            </a:r>
          </a:p>
        </p:txBody>
      </p:sp>
      <p:sp>
        <p:nvSpPr>
          <p:cNvPr id="19" name="Rectangle 18"/>
          <p:cNvSpPr/>
          <p:nvPr/>
        </p:nvSpPr>
        <p:spPr>
          <a:xfrm>
            <a:off x="777240" y="5230368"/>
            <a:ext cx="5212080" cy="100584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ectangle 19"/>
          <p:cNvSpPr/>
          <p:nvPr/>
        </p:nvSpPr>
        <p:spPr>
          <a:xfrm>
            <a:off x="777240" y="5230368"/>
            <a:ext cx="91440" cy="1005840"/>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1051560" y="5321808"/>
            <a:ext cx="4846320" cy="292608"/>
          </a:xfrm>
          <a:prstGeom prst="rect">
            <a:avLst/>
          </a:prstGeom>
          <a:noFill/>
        </p:spPr>
        <p:txBody>
          <a:bodyPr wrap="square" anchor="t">
            <a:spAutoFit/>
          </a:bodyPr>
          <a:lstStyle/>
          <a:p>
            <a:pPr algn="l">
              <a:spcAft>
                <a:spcPts val="400"/>
              </a:spcAft>
            </a:pPr>
            <a:r>
              <a:rPr sz="1150" b="1">
                <a:solidFill>
                  <a:srgbClr val="7C3AED"/>
                </a:solidFill>
                <a:latin typeface="Arial"/>
              </a:rPr>
              <a:t>CHALLENGE</a:t>
            </a:r>
          </a:p>
        </p:txBody>
      </p:sp>
      <p:sp>
        <p:nvSpPr>
          <p:cNvPr id="22" name="TextBox 21"/>
          <p:cNvSpPr txBox="1"/>
          <p:nvPr/>
        </p:nvSpPr>
        <p:spPr>
          <a:xfrm>
            <a:off x="1051560" y="5632704"/>
            <a:ext cx="4846320" cy="548640"/>
          </a:xfrm>
          <a:prstGeom prst="rect">
            <a:avLst/>
          </a:prstGeom>
          <a:noFill/>
        </p:spPr>
        <p:txBody>
          <a:bodyPr wrap="square" anchor="t">
            <a:spAutoFit/>
          </a:bodyPr>
          <a:lstStyle/>
          <a:p>
            <a:pPr algn="l">
              <a:spcAft>
                <a:spcPts val="400"/>
              </a:spcAft>
            </a:pPr>
            <a:r>
              <a:rPr sz="1050" b="0">
                <a:solidFill>
                  <a:srgbClr val="161B26"/>
                </a:solidFill>
                <a:latin typeface="Arial"/>
              </a:rPr>
              <a:t>Add a third child issue whose acceptance criterion deliberately names an artifact the previous child never produces, and record precisely how the failure surfaces in the run log.</a:t>
            </a:r>
          </a:p>
        </p:txBody>
      </p:sp>
      <p:sp>
        <p:nvSpPr>
          <p:cNvPr id="23" name="Rectangle 22"/>
          <p:cNvSpPr/>
          <p:nvPr/>
        </p:nvSpPr>
        <p:spPr>
          <a:xfrm>
            <a:off x="6172200" y="5230368"/>
            <a:ext cx="5212080" cy="100584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Rectangle 23"/>
          <p:cNvSpPr/>
          <p:nvPr/>
        </p:nvSpPr>
        <p:spPr>
          <a:xfrm>
            <a:off x="6172200" y="5230368"/>
            <a:ext cx="91440" cy="100584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6446520" y="5321808"/>
            <a:ext cx="4846320" cy="292608"/>
          </a:xfrm>
          <a:prstGeom prst="rect">
            <a:avLst/>
          </a:prstGeom>
          <a:noFill/>
        </p:spPr>
        <p:txBody>
          <a:bodyPr wrap="square" anchor="t">
            <a:spAutoFit/>
          </a:bodyPr>
          <a:lstStyle/>
          <a:p>
            <a:pPr algn="l">
              <a:spcAft>
                <a:spcPts val="400"/>
              </a:spcAft>
            </a:pPr>
            <a:r>
              <a:rPr sz="1150" b="1">
                <a:solidFill>
                  <a:srgbClr val="1F6FEB"/>
                </a:solidFill>
                <a:latin typeface="Arial"/>
              </a:rPr>
              <a:t>REFLECTION</a:t>
            </a:r>
          </a:p>
        </p:txBody>
      </p:sp>
      <p:sp>
        <p:nvSpPr>
          <p:cNvPr id="26" name="TextBox 25"/>
          <p:cNvSpPr txBox="1"/>
          <p:nvPr/>
        </p:nvSpPr>
        <p:spPr>
          <a:xfrm>
            <a:off x="6446520" y="5632704"/>
            <a:ext cx="4846320" cy="548640"/>
          </a:xfrm>
          <a:prstGeom prst="rect">
            <a:avLst/>
          </a:prstGeom>
          <a:noFill/>
        </p:spPr>
        <p:txBody>
          <a:bodyPr wrap="square" anchor="t">
            <a:spAutoFit/>
          </a:bodyPr>
          <a:lstStyle/>
          <a:p>
            <a:pPr algn="l">
              <a:spcAft>
                <a:spcPts val="400"/>
              </a:spcAft>
            </a:pPr>
            <a:r>
              <a:rPr sz="1050" b="0">
                <a:solidFill>
                  <a:srgbClr val="161B26"/>
                </a:solidFill>
                <a:latin typeface="Arial"/>
              </a:rPr>
              <a:t>Why does creating every issue unassigned change the risk profile of a multi-agent company, compared with assigning at creation time?</a:t>
            </a:r>
          </a:p>
        </p:txBody>
      </p:sp>
      <p:sp>
        <p:nvSpPr>
          <p:cNvPr id="27" name="TextBox 26"/>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Manage AI Agents with Paperclip (TGS-2023036646)  ·  TGS-2023036646</a:t>
            </a:r>
          </a:p>
        </p:txBody>
      </p:sp>
      <p:sp>
        <p:nvSpPr>
          <p:cNvPr id="28" name="TextBox 27"/>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29" name="TextBox 28"/>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72</a:t>
            </a:r>
          </a:p>
        </p:txBody>
      </p:sp>
    </p:spTree>
  </p:cSld>
  <p:clrMapOvr>
    <a:masterClrMapping/>
  </p:clrMapOvr>
  <p:transition spd="fast" advClick="1">
    <p:fade/>
  </p:transition>
</p:sld>
</file>

<file path=ppt/slides/slide7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10B981"/>
                </a:solidFill>
                <a:latin typeface="Arial"/>
              </a:rPr>
              <a:t>LAB 5  ·  HANDS-ON</a:t>
            </a:r>
          </a:p>
        </p:txBody>
      </p:sp>
      <p:sp>
        <p:nvSpPr>
          <p:cNvPr id="5" name="TextBox 4"/>
          <p:cNvSpPr txBox="1"/>
          <p:nvPr/>
        </p:nvSpPr>
        <p:spPr>
          <a:xfrm>
            <a:off x="777240" y="804672"/>
            <a:ext cx="10881360" cy="713232"/>
          </a:xfrm>
          <a:prstGeom prst="rect">
            <a:avLst/>
          </a:prstGeom>
          <a:noFill/>
        </p:spPr>
        <p:txBody>
          <a:bodyPr wrap="square" anchor="ctr">
            <a:spAutoFit/>
          </a:bodyPr>
          <a:lstStyle/>
          <a:p>
            <a:pPr algn="l">
              <a:spcAft>
                <a:spcPts val="400"/>
              </a:spcAft>
            </a:pPr>
            <a:r>
              <a:rPr sz="2200" b="1">
                <a:solidFill>
                  <a:srgbClr val="161B26"/>
                </a:solidFill>
                <a:latin typeface="Arial"/>
              </a:rPr>
              <a:t>Verify NorthPoint Routines and Layered Budget Controls (Stock Trading Research)</a:t>
            </a:r>
          </a:p>
        </p:txBody>
      </p:sp>
      <p:sp>
        <p:nvSpPr>
          <p:cNvPr id="6" name="Rectangle 5"/>
          <p:cNvSpPr/>
          <p:nvPr/>
        </p:nvSpPr>
        <p:spPr>
          <a:xfrm>
            <a:off x="777240" y="155448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77240" y="1783080"/>
            <a:ext cx="10607040" cy="56692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777240" y="1783080"/>
            <a:ext cx="91440" cy="566928"/>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1051560" y="1783080"/>
            <a:ext cx="10241280" cy="566928"/>
          </a:xfrm>
          <a:prstGeom prst="rect">
            <a:avLst/>
          </a:prstGeom>
          <a:noFill/>
        </p:spPr>
        <p:txBody>
          <a:bodyPr wrap="square" anchor="ctr">
            <a:spAutoFit/>
          </a:bodyPr>
          <a:lstStyle/>
          <a:p>
            <a:pPr algn="l">
              <a:spcAft>
                <a:spcPts val="400"/>
              </a:spcAft>
            </a:pPr>
            <a:r>
              <a:rPr sz="1300" b="1">
                <a:solidFill>
                  <a:srgbClr val="7C3AED"/>
                </a:solidFill>
                <a:latin typeface="Arial"/>
              </a:rPr>
              <a:t>SIMULATED COMPANY  ·  NorthPoint Trading Research (Stock Trading — research only)</a:t>
            </a:r>
          </a:p>
        </p:txBody>
      </p:sp>
      <p:sp>
        <p:nvSpPr>
          <p:cNvPr id="10" name="TextBox 9"/>
          <p:cNvSpPr txBox="1"/>
          <p:nvPr/>
        </p:nvSpPr>
        <p:spPr>
          <a:xfrm>
            <a:off x="777240" y="2514600"/>
            <a:ext cx="10607040" cy="1298448"/>
          </a:xfrm>
          <a:prstGeom prst="rect">
            <a:avLst/>
          </a:prstGeom>
          <a:noFill/>
        </p:spPr>
        <p:txBody>
          <a:bodyPr wrap="square" anchor="t">
            <a:spAutoFit/>
          </a:bodyPr>
          <a:lstStyle/>
          <a:p>
            <a:pPr algn="l">
              <a:spcAft>
                <a:spcPts val="400"/>
              </a:spcAft>
            </a:pPr>
            <a:r>
              <a:rPr sz="1350" b="0">
                <a:solidFill>
                  <a:srgbClr val="161B26"/>
                </a:solidFill>
                <a:latin typeface="Arial"/>
              </a:rPr>
              <a:t>NorthPoint Trading Research needs a daily pre-market brief — which makes it the right place to learn routines. You create the readiness routine PAUSED, add an explicit cron trigger with an IANA timezone, prove the routine once by hand, and leave it paused afterwards. You then verify all three budget layers against actual recorded spend. The rule the lab teaches: automation earns the schedule only after a human has watched it succeed once. This is research only — the company never places or recommends a trade.</a:t>
            </a:r>
          </a:p>
        </p:txBody>
      </p:sp>
      <p:sp>
        <p:nvSpPr>
          <p:cNvPr id="11" name="Rectangle 10"/>
          <p:cNvSpPr/>
          <p:nvPr/>
        </p:nvSpPr>
        <p:spPr>
          <a:xfrm>
            <a:off x="777240" y="3931920"/>
            <a:ext cx="6766560" cy="157276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ectangle 11"/>
          <p:cNvSpPr/>
          <p:nvPr/>
        </p:nvSpPr>
        <p:spPr>
          <a:xfrm>
            <a:off x="777240" y="3931920"/>
            <a:ext cx="6766560" cy="82296"/>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1005840" y="4069080"/>
            <a:ext cx="6309360" cy="329184"/>
          </a:xfrm>
          <a:prstGeom prst="rect">
            <a:avLst/>
          </a:prstGeom>
          <a:noFill/>
        </p:spPr>
        <p:txBody>
          <a:bodyPr wrap="square" anchor="t">
            <a:spAutoFit/>
          </a:bodyPr>
          <a:lstStyle/>
          <a:p>
            <a:pPr algn="l">
              <a:spcAft>
                <a:spcPts val="400"/>
              </a:spcAft>
            </a:pPr>
            <a:r>
              <a:rPr sz="1200" b="1">
                <a:solidFill>
                  <a:srgbClr val="10B981"/>
                </a:solidFill>
                <a:latin typeface="Arial"/>
              </a:rPr>
              <a:t>YOU'LL BUILD</a:t>
            </a:r>
          </a:p>
        </p:txBody>
      </p:sp>
      <p:sp>
        <p:nvSpPr>
          <p:cNvPr id="14" name="TextBox 13"/>
          <p:cNvSpPr txBox="1"/>
          <p:nvPr/>
        </p:nvSpPr>
        <p:spPr>
          <a:xfrm>
            <a:off x="1005840" y="4416552"/>
            <a:ext cx="6309360" cy="1005840"/>
          </a:xfrm>
          <a:prstGeom prst="rect">
            <a:avLst/>
          </a:prstGeom>
          <a:noFill/>
        </p:spPr>
        <p:txBody>
          <a:bodyPr wrap="square" anchor="t">
            <a:spAutoFit/>
          </a:bodyPr>
          <a:lstStyle/>
          <a:p>
            <a:pPr algn="l">
              <a:spcAft>
                <a:spcPts val="400"/>
              </a:spcAft>
            </a:pPr>
            <a:r>
              <a:rPr sz="1150" b="0">
                <a:solidFill>
                  <a:srgbClr val="161B26"/>
                </a:solidFill>
                <a:latin typeface="Arial"/>
              </a:rPr>
              <a:t>A paused NorthPoint readiness routine with a saved 07:00 Asia/Singapore trigger, exactly one reviewed manual run, and a control table proving company, project and agent budget layers all remain above recorded spend.</a:t>
            </a:r>
          </a:p>
        </p:txBody>
      </p:sp>
      <p:sp>
        <p:nvSpPr>
          <p:cNvPr id="15" name="Rectangle 14"/>
          <p:cNvSpPr/>
          <p:nvPr/>
        </p:nvSpPr>
        <p:spPr>
          <a:xfrm>
            <a:off x="7818120" y="3931920"/>
            <a:ext cx="3566160" cy="157276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ectangle 15"/>
          <p:cNvSpPr/>
          <p:nvPr/>
        </p:nvSpPr>
        <p:spPr>
          <a:xfrm>
            <a:off x="7818120" y="3931920"/>
            <a:ext cx="3566160" cy="82296"/>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8046720" y="4069080"/>
            <a:ext cx="3108960" cy="329184"/>
          </a:xfrm>
          <a:prstGeom prst="rect">
            <a:avLst/>
          </a:prstGeom>
          <a:noFill/>
        </p:spPr>
        <p:txBody>
          <a:bodyPr wrap="square" anchor="t">
            <a:spAutoFit/>
          </a:bodyPr>
          <a:lstStyle/>
          <a:p>
            <a:pPr algn="l">
              <a:spcAft>
                <a:spcPts val="400"/>
              </a:spcAft>
            </a:pPr>
            <a:r>
              <a:rPr sz="1200" b="1">
                <a:solidFill>
                  <a:srgbClr val="1F6FEB"/>
                </a:solidFill>
                <a:latin typeface="Arial"/>
              </a:rPr>
              <a:t>MAPS TO</a:t>
            </a:r>
          </a:p>
        </p:txBody>
      </p:sp>
      <p:sp>
        <p:nvSpPr>
          <p:cNvPr id="18" name="TextBox 17"/>
          <p:cNvSpPr txBox="1"/>
          <p:nvPr/>
        </p:nvSpPr>
        <p:spPr>
          <a:xfrm>
            <a:off x="8046720" y="4416552"/>
            <a:ext cx="3108960" cy="1005840"/>
          </a:xfrm>
          <a:prstGeom prst="rect">
            <a:avLst/>
          </a:prstGeom>
          <a:noFill/>
        </p:spPr>
        <p:txBody>
          <a:bodyPr wrap="square" anchor="t">
            <a:spAutoFit/>
          </a:bodyPr>
          <a:lstStyle/>
          <a:p>
            <a:pPr algn="l">
              <a:spcAft>
                <a:spcPts val="400"/>
              </a:spcAft>
            </a:pPr>
            <a:r>
              <a:rPr sz="1050" b="0">
                <a:solidFill>
                  <a:srgbClr val="161B26"/>
                </a:solidFill>
                <a:latin typeface="Arial"/>
              </a:rPr>
              <a:t>LO3: Test a scheduled routine and verify that every budget layer holds, using one bounded manual run before automation is allowed to own the schedule.</a:t>
            </a:r>
          </a:p>
        </p:txBody>
      </p:sp>
      <p:sp>
        <p:nvSpPr>
          <p:cNvPr id="19" name="TextBox 18"/>
          <p:cNvSpPr txBox="1"/>
          <p:nvPr/>
        </p:nvSpPr>
        <p:spPr>
          <a:xfrm>
            <a:off x="777240" y="5669280"/>
            <a:ext cx="10607040" cy="640080"/>
          </a:xfrm>
          <a:prstGeom prst="rect">
            <a:avLst/>
          </a:prstGeom>
          <a:noFill/>
        </p:spPr>
        <p:txBody>
          <a:bodyPr wrap="square" anchor="t">
            <a:spAutoFit/>
          </a:bodyPr>
          <a:lstStyle/>
          <a:p>
            <a:pPr algn="l">
              <a:spcAft>
                <a:spcPts val="300"/>
              </a:spcAft>
            </a:pPr>
            <a:r>
              <a:rPr sz="1100" b="0">
                <a:solidFill>
                  <a:srgbClr val="5B6372"/>
                </a:solidFill>
                <a:latin typeface="Arial"/>
              </a:rPr>
              <a:t>Tools:  Paperclip Routines, Costs and Budgets, Agent Budget tabs, Project settings, Activity</a:t>
            </a:r>
          </a:p>
          <a:p>
            <a:pPr algn="l">
              <a:spcAft>
                <a:spcPts val="300"/>
              </a:spcAft>
            </a:pPr>
            <a:r>
              <a:rPr sz="1100" b="0">
                <a:solidFill>
                  <a:srgbClr val="5B6372"/>
                </a:solidFill>
                <a:latin typeface="Arial"/>
              </a:rPr>
              <a:t>Full step-by-step procedure: Learner Guide, Lab 5  ·  labs/ folder</a:t>
            </a:r>
          </a:p>
        </p:txBody>
      </p:sp>
      <p:sp>
        <p:nvSpPr>
          <p:cNvPr id="20" name="TextBox 19"/>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Manage AI Agents with Paperclip (TGS-2023036646)  ·  TGS-2023036646</a:t>
            </a:r>
          </a:p>
        </p:txBody>
      </p:sp>
      <p:sp>
        <p:nvSpPr>
          <p:cNvPr id="21" name="TextBox 20"/>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22" name="TextBox 21"/>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73</a:t>
            </a:r>
          </a:p>
        </p:txBody>
      </p:sp>
    </p:spTree>
  </p:cSld>
  <p:clrMapOvr>
    <a:masterClrMapping/>
  </p:clrMapOvr>
  <p:transition spd="fast" advClick="1">
    <p:fade/>
  </p:transition>
</p:sld>
</file>

<file path=ppt/slides/slide7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10B981"/>
                </a:solidFill>
                <a:latin typeface="Arial"/>
              </a:rPr>
              <a:t>LAB 5 · PROCESS MAP</a:t>
            </a:r>
          </a:p>
        </p:txBody>
      </p:sp>
      <p:sp>
        <p:nvSpPr>
          <p:cNvPr id="5" name="TextBox 4"/>
          <p:cNvSpPr txBox="1"/>
          <p:nvPr/>
        </p:nvSpPr>
        <p:spPr>
          <a:xfrm>
            <a:off x="777240" y="804672"/>
            <a:ext cx="10881360" cy="713232"/>
          </a:xfrm>
          <a:prstGeom prst="rect">
            <a:avLst/>
          </a:prstGeom>
          <a:noFill/>
        </p:spPr>
        <p:txBody>
          <a:bodyPr wrap="square" anchor="ctr">
            <a:spAutoFit/>
          </a:bodyPr>
          <a:lstStyle/>
          <a:p>
            <a:pPr algn="l">
              <a:spcAft>
                <a:spcPts val="400"/>
              </a:spcAft>
            </a:pPr>
            <a:r>
              <a:rPr sz="2900" b="1">
                <a:solidFill>
                  <a:srgbClr val="161B26"/>
                </a:solidFill>
                <a:latin typeface="Arial"/>
              </a:rPr>
              <a:t>How Lab 5 Runs</a:t>
            </a:r>
          </a:p>
        </p:txBody>
      </p:sp>
      <p:sp>
        <p:nvSpPr>
          <p:cNvPr id="6" name="Rectangle 5"/>
          <p:cNvSpPr/>
          <p:nvPr/>
        </p:nvSpPr>
        <p:spPr>
          <a:xfrm>
            <a:off x="777240" y="155448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ounded Rectangle 6"/>
          <p:cNvSpPr/>
          <p:nvPr/>
        </p:nvSpPr>
        <p:spPr>
          <a:xfrm>
            <a:off x="777240" y="2148840"/>
            <a:ext cx="1819656" cy="2148840"/>
          </a:xfrm>
          <a:prstGeom prst="roundRect">
            <a:avLst>
              <a:gd name="adj" fmla="val 10000"/>
            </a:avLst>
          </a:prstGeom>
          <a:solidFill>
            <a:srgbClr val="F5F8FC"/>
          </a:solidFill>
          <a:ln w="1587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777240" y="2148840"/>
            <a:ext cx="1819656" cy="100584"/>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Oval 8"/>
          <p:cNvSpPr/>
          <p:nvPr/>
        </p:nvSpPr>
        <p:spPr>
          <a:xfrm>
            <a:off x="1403604" y="2459736"/>
            <a:ext cx="566928" cy="566928"/>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1403604" y="2459736"/>
            <a:ext cx="566928" cy="566928"/>
          </a:xfrm>
          <a:prstGeom prst="rect">
            <a:avLst/>
          </a:prstGeom>
          <a:noFill/>
        </p:spPr>
        <p:txBody>
          <a:bodyPr wrap="square" anchor="ctr">
            <a:spAutoFit/>
          </a:bodyPr>
          <a:lstStyle/>
          <a:p>
            <a:pPr algn="ctr">
              <a:spcAft>
                <a:spcPts val="400"/>
              </a:spcAft>
            </a:pPr>
            <a:r>
              <a:rPr sz="2400" b="1">
                <a:solidFill>
                  <a:srgbClr val="FFFFFF"/>
                </a:solidFill>
                <a:latin typeface="Arial"/>
              </a:rPr>
              <a:t>1</a:t>
            </a:r>
          </a:p>
        </p:txBody>
      </p:sp>
      <p:sp>
        <p:nvSpPr>
          <p:cNvPr id="11" name="TextBox 10"/>
          <p:cNvSpPr txBox="1"/>
          <p:nvPr/>
        </p:nvSpPr>
        <p:spPr>
          <a:xfrm>
            <a:off x="905256" y="3081528"/>
            <a:ext cx="1563624" cy="786384"/>
          </a:xfrm>
          <a:prstGeom prst="rect">
            <a:avLst/>
          </a:prstGeom>
          <a:noFill/>
        </p:spPr>
        <p:txBody>
          <a:bodyPr wrap="square" anchor="ctr">
            <a:spAutoFit/>
          </a:bodyPr>
          <a:lstStyle/>
          <a:p>
            <a:pPr algn="ctr">
              <a:spcAft>
                <a:spcPts val="0"/>
              </a:spcAft>
            </a:pPr>
            <a:r>
              <a:rPr sz="1300" b="1">
                <a:solidFill>
                  <a:srgbClr val="161B26"/>
                </a:solidFill>
                <a:latin typeface="Arial"/>
              </a:rPr>
              <a:t>Create NorthPoint</a:t>
            </a:r>
          </a:p>
        </p:txBody>
      </p:sp>
      <p:sp>
        <p:nvSpPr>
          <p:cNvPr id="12" name="TextBox 11"/>
          <p:cNvSpPr txBox="1"/>
          <p:nvPr/>
        </p:nvSpPr>
        <p:spPr>
          <a:xfrm>
            <a:off x="850392" y="3584448"/>
            <a:ext cx="1673352" cy="603504"/>
          </a:xfrm>
          <a:prstGeom prst="rect">
            <a:avLst/>
          </a:prstGeom>
          <a:noFill/>
        </p:spPr>
        <p:txBody>
          <a:bodyPr wrap="square" anchor="ctr">
            <a:spAutoFit/>
          </a:bodyPr>
          <a:lstStyle/>
          <a:p>
            <a:pPr algn="ctr">
              <a:spcAft>
                <a:spcPts val="0"/>
              </a:spcAft>
            </a:pPr>
            <a:r>
              <a:rPr sz="900" b="0">
                <a:solidFill>
                  <a:srgbClr val="5B6372"/>
                </a:solidFill>
                <a:latin typeface="Arial"/>
              </a:rPr>
              <a:t>research only — never a trade</a:t>
            </a:r>
          </a:p>
        </p:txBody>
      </p:sp>
      <p:cxnSp>
        <p:nvCxnSpPr>
          <p:cNvPr id="13" name="Connector 12"/>
          <p:cNvCxnSpPr/>
          <p:nvPr/>
        </p:nvCxnSpPr>
        <p:spPr>
          <a:xfrm>
            <a:off x="2651760" y="3223260"/>
            <a:ext cx="274320" cy="0"/>
          </a:xfrm>
          <a:prstGeom prst="line">
            <a:avLst/>
          </a:prstGeom>
          <a:ln w="25400">
            <a:solidFill>
              <a:srgbClr val="10B981"/>
            </a:solidFill>
            <a:tailEnd type="triangle" w="med" len="med"/>
          </a:ln>
        </p:spPr>
        <p:style>
          <a:lnRef idx="2">
            <a:schemeClr val="accent1"/>
          </a:lnRef>
          <a:fillRef idx="0">
            <a:schemeClr val="accent1"/>
          </a:fillRef>
          <a:effectRef idx="1">
            <a:schemeClr val="accent1"/>
          </a:effectRef>
          <a:fontRef idx="minor">
            <a:schemeClr val="tx1"/>
          </a:fontRef>
        </p:style>
      </p:cxnSp>
      <p:sp>
        <p:nvSpPr>
          <p:cNvPr id="14" name="Rounded Rectangle 13"/>
          <p:cNvSpPr/>
          <p:nvPr/>
        </p:nvSpPr>
        <p:spPr>
          <a:xfrm>
            <a:off x="2980944" y="2148840"/>
            <a:ext cx="1819656" cy="2148840"/>
          </a:xfrm>
          <a:prstGeom prst="roundRect">
            <a:avLst>
              <a:gd name="adj" fmla="val 10000"/>
            </a:avLst>
          </a:prstGeom>
          <a:solidFill>
            <a:srgbClr val="F5F8FC"/>
          </a:solidFill>
          <a:ln w="1587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2980944" y="2148840"/>
            <a:ext cx="1819656" cy="100584"/>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Oval 15"/>
          <p:cNvSpPr/>
          <p:nvPr/>
        </p:nvSpPr>
        <p:spPr>
          <a:xfrm>
            <a:off x="3607308" y="2459736"/>
            <a:ext cx="566928" cy="566928"/>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3607308" y="2459736"/>
            <a:ext cx="566928" cy="566928"/>
          </a:xfrm>
          <a:prstGeom prst="rect">
            <a:avLst/>
          </a:prstGeom>
          <a:noFill/>
        </p:spPr>
        <p:txBody>
          <a:bodyPr wrap="square" anchor="ctr">
            <a:spAutoFit/>
          </a:bodyPr>
          <a:lstStyle/>
          <a:p>
            <a:pPr algn="ctr">
              <a:spcAft>
                <a:spcPts val="400"/>
              </a:spcAft>
            </a:pPr>
            <a:r>
              <a:rPr sz="2400" b="1">
                <a:solidFill>
                  <a:srgbClr val="FFFFFF"/>
                </a:solidFill>
                <a:latin typeface="Arial"/>
              </a:rPr>
              <a:t>2</a:t>
            </a:r>
          </a:p>
        </p:txBody>
      </p:sp>
      <p:sp>
        <p:nvSpPr>
          <p:cNvPr id="18" name="TextBox 17"/>
          <p:cNvSpPr txBox="1"/>
          <p:nvPr/>
        </p:nvSpPr>
        <p:spPr>
          <a:xfrm>
            <a:off x="3108960" y="3081528"/>
            <a:ext cx="1563624" cy="786384"/>
          </a:xfrm>
          <a:prstGeom prst="rect">
            <a:avLst/>
          </a:prstGeom>
          <a:noFill/>
        </p:spPr>
        <p:txBody>
          <a:bodyPr wrap="square" anchor="ctr">
            <a:spAutoFit/>
          </a:bodyPr>
          <a:lstStyle/>
          <a:p>
            <a:pPr algn="ctr">
              <a:spcAft>
                <a:spcPts val="0"/>
              </a:spcAft>
            </a:pPr>
            <a:r>
              <a:rPr sz="1300" b="1">
                <a:solidFill>
                  <a:srgbClr val="161B26"/>
                </a:solidFill>
                <a:latin typeface="Arial"/>
              </a:rPr>
              <a:t>Create the routine PAUSED</a:t>
            </a:r>
          </a:p>
        </p:txBody>
      </p:sp>
      <p:sp>
        <p:nvSpPr>
          <p:cNvPr id="19" name="TextBox 18"/>
          <p:cNvSpPr txBox="1"/>
          <p:nvPr/>
        </p:nvSpPr>
        <p:spPr>
          <a:xfrm>
            <a:off x="3054096" y="3584448"/>
            <a:ext cx="1673352" cy="603504"/>
          </a:xfrm>
          <a:prstGeom prst="rect">
            <a:avLst/>
          </a:prstGeom>
          <a:noFill/>
        </p:spPr>
        <p:txBody>
          <a:bodyPr wrap="square" anchor="ctr">
            <a:spAutoFit/>
          </a:bodyPr>
          <a:lstStyle/>
          <a:p>
            <a:pPr algn="ctr">
              <a:spcAft>
                <a:spcPts val="0"/>
              </a:spcAft>
            </a:pPr>
            <a:r>
              <a:rPr sz="900" b="0">
                <a:solidFill>
                  <a:srgbClr val="5B6372"/>
                </a:solidFill>
                <a:latin typeface="Arial"/>
              </a:rPr>
              <a:t>unproven automation stays off</a:t>
            </a:r>
          </a:p>
        </p:txBody>
      </p:sp>
      <p:cxnSp>
        <p:nvCxnSpPr>
          <p:cNvPr id="20" name="Connector 19"/>
          <p:cNvCxnSpPr/>
          <p:nvPr/>
        </p:nvCxnSpPr>
        <p:spPr>
          <a:xfrm>
            <a:off x="4855464" y="3223260"/>
            <a:ext cx="274320" cy="0"/>
          </a:xfrm>
          <a:prstGeom prst="line">
            <a:avLst/>
          </a:prstGeom>
          <a:ln w="25400">
            <a:solidFill>
              <a:srgbClr val="10B981"/>
            </a:solidFill>
            <a:tailEnd type="triangle" w="med" len="med"/>
          </a:ln>
        </p:spPr>
        <p:style>
          <a:lnRef idx="2">
            <a:schemeClr val="accent1"/>
          </a:lnRef>
          <a:fillRef idx="0">
            <a:schemeClr val="accent1"/>
          </a:fillRef>
          <a:effectRef idx="1">
            <a:schemeClr val="accent1"/>
          </a:effectRef>
          <a:fontRef idx="minor">
            <a:schemeClr val="tx1"/>
          </a:fontRef>
        </p:style>
      </p:cxnSp>
      <p:sp>
        <p:nvSpPr>
          <p:cNvPr id="21" name="Rounded Rectangle 20"/>
          <p:cNvSpPr/>
          <p:nvPr/>
        </p:nvSpPr>
        <p:spPr>
          <a:xfrm>
            <a:off x="5184648" y="2148840"/>
            <a:ext cx="1819656" cy="2148840"/>
          </a:xfrm>
          <a:prstGeom prst="roundRect">
            <a:avLst>
              <a:gd name="adj" fmla="val 10000"/>
            </a:avLst>
          </a:prstGeom>
          <a:solidFill>
            <a:srgbClr val="F5F8FC"/>
          </a:solidFill>
          <a:ln w="1587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Rectangle 21"/>
          <p:cNvSpPr/>
          <p:nvPr/>
        </p:nvSpPr>
        <p:spPr>
          <a:xfrm>
            <a:off x="5184648" y="2148840"/>
            <a:ext cx="1819656" cy="100584"/>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Oval 22"/>
          <p:cNvSpPr/>
          <p:nvPr/>
        </p:nvSpPr>
        <p:spPr>
          <a:xfrm>
            <a:off x="5811012" y="2459736"/>
            <a:ext cx="566928" cy="566928"/>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5811012" y="2459736"/>
            <a:ext cx="566928" cy="566928"/>
          </a:xfrm>
          <a:prstGeom prst="rect">
            <a:avLst/>
          </a:prstGeom>
          <a:noFill/>
        </p:spPr>
        <p:txBody>
          <a:bodyPr wrap="square" anchor="ctr">
            <a:spAutoFit/>
          </a:bodyPr>
          <a:lstStyle/>
          <a:p>
            <a:pPr algn="ctr">
              <a:spcAft>
                <a:spcPts val="400"/>
              </a:spcAft>
            </a:pPr>
            <a:r>
              <a:rPr sz="2400" b="1">
                <a:solidFill>
                  <a:srgbClr val="FFFFFF"/>
                </a:solidFill>
                <a:latin typeface="Arial"/>
              </a:rPr>
              <a:t>3</a:t>
            </a:r>
          </a:p>
        </p:txBody>
      </p:sp>
      <p:sp>
        <p:nvSpPr>
          <p:cNvPr id="25" name="TextBox 24"/>
          <p:cNvSpPr txBox="1"/>
          <p:nvPr/>
        </p:nvSpPr>
        <p:spPr>
          <a:xfrm>
            <a:off x="5312664" y="3081528"/>
            <a:ext cx="1563624" cy="786384"/>
          </a:xfrm>
          <a:prstGeom prst="rect">
            <a:avLst/>
          </a:prstGeom>
          <a:noFill/>
        </p:spPr>
        <p:txBody>
          <a:bodyPr wrap="square" anchor="ctr">
            <a:spAutoFit/>
          </a:bodyPr>
          <a:lstStyle/>
          <a:p>
            <a:pPr algn="ctr">
              <a:spcAft>
                <a:spcPts val="0"/>
              </a:spcAft>
            </a:pPr>
            <a:r>
              <a:rPr sz="1300" b="1">
                <a:solidFill>
                  <a:srgbClr val="161B26"/>
                </a:solidFill>
                <a:latin typeface="Arial"/>
              </a:rPr>
              <a:t>Add the cron trigger</a:t>
            </a:r>
          </a:p>
        </p:txBody>
      </p:sp>
      <p:sp>
        <p:nvSpPr>
          <p:cNvPr id="26" name="TextBox 25"/>
          <p:cNvSpPr txBox="1"/>
          <p:nvPr/>
        </p:nvSpPr>
        <p:spPr>
          <a:xfrm>
            <a:off x="5257800" y="3584448"/>
            <a:ext cx="1673352" cy="603504"/>
          </a:xfrm>
          <a:prstGeom prst="rect">
            <a:avLst/>
          </a:prstGeom>
          <a:noFill/>
        </p:spPr>
        <p:txBody>
          <a:bodyPr wrap="square" anchor="ctr">
            <a:spAutoFit/>
          </a:bodyPr>
          <a:lstStyle/>
          <a:p>
            <a:pPr algn="ctr">
              <a:spcAft>
                <a:spcPts val="0"/>
              </a:spcAft>
            </a:pPr>
            <a:r>
              <a:rPr sz="900" b="0">
                <a:solidFill>
                  <a:srgbClr val="5B6372"/>
                </a:solidFill>
                <a:latin typeface="Arial"/>
              </a:rPr>
              <a:t>0 7 * * * with Asia/Singapore</a:t>
            </a:r>
          </a:p>
        </p:txBody>
      </p:sp>
      <p:cxnSp>
        <p:nvCxnSpPr>
          <p:cNvPr id="27" name="Connector 26"/>
          <p:cNvCxnSpPr/>
          <p:nvPr/>
        </p:nvCxnSpPr>
        <p:spPr>
          <a:xfrm>
            <a:off x="7059168" y="3223260"/>
            <a:ext cx="274320" cy="0"/>
          </a:xfrm>
          <a:prstGeom prst="line">
            <a:avLst/>
          </a:prstGeom>
          <a:ln w="25400">
            <a:solidFill>
              <a:srgbClr val="10B981"/>
            </a:solidFill>
            <a:tailEnd type="triangle" w="med" len="med"/>
          </a:ln>
        </p:spPr>
        <p:style>
          <a:lnRef idx="2">
            <a:schemeClr val="accent1"/>
          </a:lnRef>
          <a:fillRef idx="0">
            <a:schemeClr val="accent1"/>
          </a:fillRef>
          <a:effectRef idx="1">
            <a:schemeClr val="accent1"/>
          </a:effectRef>
          <a:fontRef idx="minor">
            <a:schemeClr val="tx1"/>
          </a:fontRef>
        </p:style>
      </p:cxnSp>
      <p:sp>
        <p:nvSpPr>
          <p:cNvPr id="28" name="Rounded Rectangle 27"/>
          <p:cNvSpPr/>
          <p:nvPr/>
        </p:nvSpPr>
        <p:spPr>
          <a:xfrm>
            <a:off x="7388352" y="2148840"/>
            <a:ext cx="1819656" cy="2148840"/>
          </a:xfrm>
          <a:prstGeom prst="roundRect">
            <a:avLst>
              <a:gd name="adj" fmla="val 10000"/>
            </a:avLst>
          </a:prstGeom>
          <a:solidFill>
            <a:srgbClr val="F5F8FC"/>
          </a:solidFill>
          <a:ln w="1587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Rectangle 28"/>
          <p:cNvSpPr/>
          <p:nvPr/>
        </p:nvSpPr>
        <p:spPr>
          <a:xfrm>
            <a:off x="7388352" y="2148840"/>
            <a:ext cx="1819656" cy="100584"/>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Oval 29"/>
          <p:cNvSpPr/>
          <p:nvPr/>
        </p:nvSpPr>
        <p:spPr>
          <a:xfrm>
            <a:off x="8014716" y="2459736"/>
            <a:ext cx="566928" cy="566928"/>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TextBox 30"/>
          <p:cNvSpPr txBox="1"/>
          <p:nvPr/>
        </p:nvSpPr>
        <p:spPr>
          <a:xfrm>
            <a:off x="8014716" y="2459736"/>
            <a:ext cx="566928" cy="566928"/>
          </a:xfrm>
          <a:prstGeom prst="rect">
            <a:avLst/>
          </a:prstGeom>
          <a:noFill/>
        </p:spPr>
        <p:txBody>
          <a:bodyPr wrap="square" anchor="ctr">
            <a:spAutoFit/>
          </a:bodyPr>
          <a:lstStyle/>
          <a:p>
            <a:pPr algn="ctr">
              <a:spcAft>
                <a:spcPts val="400"/>
              </a:spcAft>
            </a:pPr>
            <a:r>
              <a:rPr sz="2400" b="1">
                <a:solidFill>
                  <a:srgbClr val="FFFFFF"/>
                </a:solidFill>
                <a:latin typeface="Arial"/>
              </a:rPr>
              <a:t>4</a:t>
            </a:r>
          </a:p>
        </p:txBody>
      </p:sp>
      <p:sp>
        <p:nvSpPr>
          <p:cNvPr id="32" name="TextBox 31"/>
          <p:cNvSpPr txBox="1"/>
          <p:nvPr/>
        </p:nvSpPr>
        <p:spPr>
          <a:xfrm>
            <a:off x="7516368" y="3081528"/>
            <a:ext cx="1563624" cy="786384"/>
          </a:xfrm>
          <a:prstGeom prst="rect">
            <a:avLst/>
          </a:prstGeom>
          <a:noFill/>
        </p:spPr>
        <p:txBody>
          <a:bodyPr wrap="square" anchor="ctr">
            <a:spAutoFit/>
          </a:bodyPr>
          <a:lstStyle/>
          <a:p>
            <a:pPr algn="ctr">
              <a:spcAft>
                <a:spcPts val="0"/>
              </a:spcAft>
            </a:pPr>
            <a:r>
              <a:rPr sz="1300" b="1">
                <a:solidFill>
                  <a:srgbClr val="161B26"/>
                </a:solidFill>
                <a:latin typeface="Arial"/>
              </a:rPr>
              <a:t>Run once, bounded</a:t>
            </a:r>
          </a:p>
        </p:txBody>
      </p:sp>
      <p:sp>
        <p:nvSpPr>
          <p:cNvPr id="33" name="TextBox 32"/>
          <p:cNvSpPr txBox="1"/>
          <p:nvPr/>
        </p:nvSpPr>
        <p:spPr>
          <a:xfrm>
            <a:off x="7461504" y="3584448"/>
            <a:ext cx="1673352" cy="603504"/>
          </a:xfrm>
          <a:prstGeom prst="rect">
            <a:avLst/>
          </a:prstGeom>
          <a:noFill/>
        </p:spPr>
        <p:txBody>
          <a:bodyPr wrap="square" anchor="ctr">
            <a:spAutoFit/>
          </a:bodyPr>
          <a:lstStyle/>
          <a:p>
            <a:pPr algn="ctr">
              <a:spcAft>
                <a:spcPts val="0"/>
              </a:spcAft>
            </a:pPr>
            <a:r>
              <a:rPr sz="900" b="0">
                <a:solidFill>
                  <a:srgbClr val="5B6372"/>
                </a:solidFill>
                <a:latin typeface="Arial"/>
              </a:rPr>
              <a:t>the human review earns the schedule</a:t>
            </a:r>
          </a:p>
        </p:txBody>
      </p:sp>
      <p:cxnSp>
        <p:nvCxnSpPr>
          <p:cNvPr id="34" name="Connector 33"/>
          <p:cNvCxnSpPr/>
          <p:nvPr/>
        </p:nvCxnSpPr>
        <p:spPr>
          <a:xfrm>
            <a:off x="9262872" y="3223260"/>
            <a:ext cx="274320" cy="0"/>
          </a:xfrm>
          <a:prstGeom prst="line">
            <a:avLst/>
          </a:prstGeom>
          <a:ln w="25400">
            <a:solidFill>
              <a:srgbClr val="10B981"/>
            </a:solidFill>
            <a:tailEnd type="triangle" w="med" len="med"/>
          </a:ln>
        </p:spPr>
        <p:style>
          <a:lnRef idx="2">
            <a:schemeClr val="accent1"/>
          </a:lnRef>
          <a:fillRef idx="0">
            <a:schemeClr val="accent1"/>
          </a:fillRef>
          <a:effectRef idx="1">
            <a:schemeClr val="accent1"/>
          </a:effectRef>
          <a:fontRef idx="minor">
            <a:schemeClr val="tx1"/>
          </a:fontRef>
        </p:style>
      </p:cxnSp>
      <p:sp>
        <p:nvSpPr>
          <p:cNvPr id="35" name="Rounded Rectangle 34"/>
          <p:cNvSpPr/>
          <p:nvPr/>
        </p:nvSpPr>
        <p:spPr>
          <a:xfrm>
            <a:off x="9592056" y="2148840"/>
            <a:ext cx="1819656" cy="2148840"/>
          </a:xfrm>
          <a:prstGeom prst="roundRect">
            <a:avLst>
              <a:gd name="adj" fmla="val 10000"/>
            </a:avLst>
          </a:prstGeom>
          <a:solidFill>
            <a:srgbClr val="F5F8FC"/>
          </a:solidFill>
          <a:ln w="1587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 name="Rectangle 35"/>
          <p:cNvSpPr/>
          <p:nvPr/>
        </p:nvSpPr>
        <p:spPr>
          <a:xfrm>
            <a:off x="9592056" y="2148840"/>
            <a:ext cx="1819656" cy="100584"/>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 name="Oval 36"/>
          <p:cNvSpPr/>
          <p:nvPr/>
        </p:nvSpPr>
        <p:spPr>
          <a:xfrm>
            <a:off x="10218420" y="2459736"/>
            <a:ext cx="566928" cy="566928"/>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 name="TextBox 37"/>
          <p:cNvSpPr txBox="1"/>
          <p:nvPr/>
        </p:nvSpPr>
        <p:spPr>
          <a:xfrm>
            <a:off x="10218420" y="2459736"/>
            <a:ext cx="566928" cy="566928"/>
          </a:xfrm>
          <a:prstGeom prst="rect">
            <a:avLst/>
          </a:prstGeom>
          <a:noFill/>
        </p:spPr>
        <p:txBody>
          <a:bodyPr wrap="square" anchor="ctr">
            <a:spAutoFit/>
          </a:bodyPr>
          <a:lstStyle/>
          <a:p>
            <a:pPr algn="ctr">
              <a:spcAft>
                <a:spcPts val="400"/>
              </a:spcAft>
            </a:pPr>
            <a:r>
              <a:rPr sz="2400" b="1">
                <a:solidFill>
                  <a:srgbClr val="FFFFFF"/>
                </a:solidFill>
                <a:latin typeface="Arial"/>
              </a:rPr>
              <a:t>5</a:t>
            </a:r>
          </a:p>
        </p:txBody>
      </p:sp>
      <p:sp>
        <p:nvSpPr>
          <p:cNvPr id="39" name="TextBox 38"/>
          <p:cNvSpPr txBox="1"/>
          <p:nvPr/>
        </p:nvSpPr>
        <p:spPr>
          <a:xfrm>
            <a:off x="9720072" y="3081528"/>
            <a:ext cx="1563624" cy="786384"/>
          </a:xfrm>
          <a:prstGeom prst="rect">
            <a:avLst/>
          </a:prstGeom>
          <a:noFill/>
        </p:spPr>
        <p:txBody>
          <a:bodyPr wrap="square" anchor="ctr">
            <a:spAutoFit/>
          </a:bodyPr>
          <a:lstStyle/>
          <a:p>
            <a:pPr algn="ctr">
              <a:spcAft>
                <a:spcPts val="0"/>
              </a:spcAft>
            </a:pPr>
            <a:r>
              <a:rPr sz="1300" b="1">
                <a:solidFill>
                  <a:srgbClr val="161B26"/>
                </a:solidFill>
                <a:latin typeface="Arial"/>
              </a:rPr>
              <a:t>Check every budget layer</a:t>
            </a:r>
          </a:p>
        </p:txBody>
      </p:sp>
      <p:sp>
        <p:nvSpPr>
          <p:cNvPr id="40" name="TextBox 39"/>
          <p:cNvSpPr txBox="1"/>
          <p:nvPr/>
        </p:nvSpPr>
        <p:spPr>
          <a:xfrm>
            <a:off x="9665208" y="3584448"/>
            <a:ext cx="1673352" cy="603504"/>
          </a:xfrm>
          <a:prstGeom prst="rect">
            <a:avLst/>
          </a:prstGeom>
          <a:noFill/>
        </p:spPr>
        <p:txBody>
          <a:bodyPr wrap="square" anchor="ctr">
            <a:spAutoFit/>
          </a:bodyPr>
          <a:lstStyle/>
          <a:p>
            <a:pPr algn="ctr">
              <a:spcAft>
                <a:spcPts val="0"/>
              </a:spcAft>
            </a:pPr>
            <a:r>
              <a:rPr sz="900" b="0">
                <a:solidFill>
                  <a:srgbClr val="5B6372"/>
                </a:solidFill>
                <a:latin typeface="Arial"/>
              </a:rPr>
              <a:t>company, project and agent</a:t>
            </a:r>
          </a:p>
        </p:txBody>
      </p:sp>
      <p:sp>
        <p:nvSpPr>
          <p:cNvPr id="41" name="Rectangle 40"/>
          <p:cNvSpPr/>
          <p:nvPr/>
        </p:nvSpPr>
        <p:spPr>
          <a:xfrm>
            <a:off x="777240" y="4608576"/>
            <a:ext cx="10634472" cy="105156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2" name="Rectangle 41"/>
          <p:cNvSpPr/>
          <p:nvPr/>
        </p:nvSpPr>
        <p:spPr>
          <a:xfrm>
            <a:off x="777240" y="4608576"/>
            <a:ext cx="100584" cy="105156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3" name="TextBox 42"/>
          <p:cNvSpPr txBox="1"/>
          <p:nvPr/>
        </p:nvSpPr>
        <p:spPr>
          <a:xfrm>
            <a:off x="1051560" y="4718304"/>
            <a:ext cx="10149840" cy="292608"/>
          </a:xfrm>
          <a:prstGeom prst="rect">
            <a:avLst/>
          </a:prstGeom>
          <a:noFill/>
        </p:spPr>
        <p:txBody>
          <a:bodyPr wrap="square" anchor="t">
            <a:spAutoFit/>
          </a:bodyPr>
          <a:lstStyle/>
          <a:p>
            <a:pPr algn="l">
              <a:spcAft>
                <a:spcPts val="400"/>
              </a:spcAft>
            </a:pPr>
            <a:r>
              <a:rPr sz="1100" b="1">
                <a:solidFill>
                  <a:srgbClr val="10B981"/>
                </a:solidFill>
                <a:latin typeface="Arial"/>
              </a:rPr>
              <a:t>THE POINT</a:t>
            </a:r>
          </a:p>
        </p:txBody>
      </p:sp>
      <p:sp>
        <p:nvSpPr>
          <p:cNvPr id="44" name="TextBox 43"/>
          <p:cNvSpPr txBox="1"/>
          <p:nvPr/>
        </p:nvSpPr>
        <p:spPr>
          <a:xfrm>
            <a:off x="1051560" y="5029200"/>
            <a:ext cx="10149840" cy="566928"/>
          </a:xfrm>
          <a:prstGeom prst="rect">
            <a:avLst/>
          </a:prstGeom>
          <a:noFill/>
        </p:spPr>
        <p:txBody>
          <a:bodyPr wrap="square" anchor="t">
            <a:spAutoFit/>
          </a:bodyPr>
          <a:lstStyle/>
          <a:p>
            <a:pPr algn="l">
              <a:spcAft>
                <a:spcPts val="400"/>
              </a:spcAft>
            </a:pPr>
            <a:r>
              <a:rPr sz="1300" b="0">
                <a:solidFill>
                  <a:srgbClr val="161B26"/>
                </a:solidFill>
                <a:latin typeface="Arial"/>
              </a:rPr>
              <a:t>LO3: Test a scheduled routine and verify that every budget layer holds, using one bounded manual run before automation is allowed to own the schedule.</a:t>
            </a:r>
          </a:p>
        </p:txBody>
      </p:sp>
      <p:sp>
        <p:nvSpPr>
          <p:cNvPr id="95" name="TextBox 94"/>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Manage AI Agents with Paperclip (TGS-2023036646)  ·  TGS-2023036646</a:t>
            </a:r>
          </a:p>
        </p:txBody>
      </p:sp>
      <p:sp>
        <p:nvSpPr>
          <p:cNvPr id="96" name="TextBox 95"/>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97" name="TextBox 96"/>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74</a:t>
            </a:r>
          </a:p>
        </p:txBody>
      </p:sp>
    </p:spTree>
  </p:cSld>
  <p:clrMapOvr>
    <a:masterClrMapping/>
  </p:clrMapOvr>
  <p:timing>
    <p:tnLst>
      <p:par>
        <p:cTn id="1" dur="indefinite" restart="never" nodeType="tmRoot">
          <p:childTnLst>
            <p:seq concurrent="1" nextAc="seek">
              <p:cTn id="2" dur="indefinite" nodeType="mainSeq">
                <p:childTnLst>
                  <p:par>
                    <p:cTn id="10" fill="hold">
                      <p:stCondLst>
                        <p:cond delay="indefinite"/>
                      </p:stCondLst>
                      <p:childTnLst>
                        <p:par>
                          <p:cTn id="11" fill="hold">
                            <p:stCondLst>
                              <p:cond delay="0"/>
                            </p:stCondLst>
                            <p:childTnLst>
                              <p:par>
                                <p:cTn id="12" presetID="1" presetClass="entr" presetSubtype="0" fill="hold" nodeType="clickEffect">
                                  <p:stCondLst>
                                    <p:cond delay="0"/>
                                  </p:stCondLst>
                                  <p:childTnLst>
                                    <p:set>
                                      <p:cBhvr>
                                        <p:cTn id="13" dur="1" fill="hold">
                                          <p:stCondLst>
                                            <p:cond delay="0"/>
                                          </p:stCondLst>
                                        </p:cTn>
                                        <p:tgtEl>
                                          <p:spTgt spid="7"/>
                                        </p:tgtEl>
                                        <p:attrNameLst>
                                          <p:attrName>style.visibility</p:attrName>
                                        </p:attrNameLst>
                                      </p:cBhvr>
                                      <p:to>
                                        <p:strVal val="visible"/>
                                      </p:to>
                                    </p:set>
                                    <p:animEffect transition="in" filter="fade">
                                      <p:cBhvr>
                                        <p:cTn id="14" dur="400"/>
                                        <p:tgtEl>
                                          <p:spTgt spid="7"/>
                                        </p:tgtEl>
                                      </p:cBhvr>
                                    </p:animEffect>
                                  </p:childTnLst>
                                </p:cTn>
                              </p:par>
                            </p:childTnLst>
                          </p:cTn>
                        </p:par>
                      </p:childTnLst>
                    </p:cTn>
                  </p:par>
                  <p:par>
                    <p:cTn id="20" fill="hold">
                      <p:stCondLst>
                        <p:cond delay="indefinite"/>
                      </p:stCondLst>
                      <p:childTnLst>
                        <p:par>
                          <p:cTn id="21" fill="hold">
                            <p:stCondLst>
                              <p:cond delay="0"/>
                            </p:stCondLst>
                            <p:childTnLst>
                              <p:par>
                                <p:cTn id="22" presetID="1" presetClass="entr" presetSubtype="0" fill="hold" nodeType="afterEffect">
                                  <p:stCondLst>
                                    <p:cond delay="0"/>
                                  </p:stCondLst>
                                  <p:childTnLst>
                                    <p:set>
                                      <p:cBhvr>
                                        <p:cTn id="23" dur="1" fill="hold">
                                          <p:stCondLst>
                                            <p:cond delay="0"/>
                                          </p:stCondLst>
                                        </p:cTn>
                                        <p:tgtEl>
                                          <p:spTgt spid="13"/>
                                        </p:tgtEl>
                                        <p:attrNameLst>
                                          <p:attrName>style.visibility</p:attrName>
                                        </p:attrNameLst>
                                      </p:cBhvr>
                                      <p:to>
                                        <p:strVal val="visible"/>
                                      </p:to>
                                    </p:set>
                                    <p:animEffect transition="in" filter="fade">
                                      <p:cBhvr>
                                        <p:cTn id="24" dur="400"/>
                                        <p:tgtEl>
                                          <p:spTgt spid="13"/>
                                        </p:tgtEl>
                                      </p:cBhvr>
                                    </p:animEffect>
                                  </p:childTnLst>
                                </p:cTn>
                              </p:par>
                            </p:childTnLst>
                          </p:cTn>
                        </p:par>
                      </p:childTnLst>
                    </p:cTn>
                  </p:par>
                  <p:par>
                    <p:cTn id="30" fill="hold">
                      <p:stCondLst>
                        <p:cond delay="indefinite"/>
                      </p:stCondLst>
                      <p:childTnLst>
                        <p:par>
                          <p:cTn id="31" fill="hold">
                            <p:stCondLst>
                              <p:cond delay="0"/>
                            </p:stCondLst>
                            <p:childTnLst>
                              <p:par>
                                <p:cTn id="32" presetID="1" presetClass="entr" presetSubtype="0" fill="hold" nodeType="afterEffect">
                                  <p:stCondLst>
                                    <p:cond delay="0"/>
                                  </p:stCondLst>
                                  <p:childTnLst>
                                    <p:set>
                                      <p:cBhvr>
                                        <p:cTn id="33" dur="1" fill="hold">
                                          <p:stCondLst>
                                            <p:cond delay="0"/>
                                          </p:stCondLst>
                                        </p:cTn>
                                        <p:tgtEl>
                                          <p:spTgt spid="14"/>
                                        </p:tgtEl>
                                        <p:attrNameLst>
                                          <p:attrName>style.visibility</p:attrName>
                                        </p:attrNameLst>
                                      </p:cBhvr>
                                      <p:to>
                                        <p:strVal val="visible"/>
                                      </p:to>
                                    </p:set>
                                    <p:animEffect transition="in" filter="fade">
                                      <p:cBhvr>
                                        <p:cTn id="34" dur="400"/>
                                        <p:tgtEl>
                                          <p:spTgt spid="14"/>
                                        </p:tgtEl>
                                      </p:cBhvr>
                                    </p:animEffect>
                                  </p:childTnLst>
                                </p:cTn>
                              </p:par>
                            </p:childTnLst>
                          </p:cTn>
                        </p:par>
                      </p:childTnLst>
                    </p:cTn>
                  </p:par>
                  <p:par>
                    <p:cTn id="40" fill="hold">
                      <p:stCondLst>
                        <p:cond delay="indefinite"/>
                      </p:stCondLst>
                      <p:childTnLst>
                        <p:par>
                          <p:cTn id="41" fill="hold">
                            <p:stCondLst>
                              <p:cond delay="0"/>
                            </p:stCondLst>
                            <p:childTnLst>
                              <p:par>
                                <p:cTn id="42" presetID="1" presetClass="entr" presetSubtype="0" fill="hold" nodeType="afterEffect">
                                  <p:stCondLst>
                                    <p:cond delay="0"/>
                                  </p:stCondLst>
                                  <p:childTnLst>
                                    <p:set>
                                      <p:cBhvr>
                                        <p:cTn id="43" dur="1" fill="hold">
                                          <p:stCondLst>
                                            <p:cond delay="0"/>
                                          </p:stCondLst>
                                        </p:cTn>
                                        <p:tgtEl>
                                          <p:spTgt spid="20"/>
                                        </p:tgtEl>
                                        <p:attrNameLst>
                                          <p:attrName>style.visibility</p:attrName>
                                        </p:attrNameLst>
                                      </p:cBhvr>
                                      <p:to>
                                        <p:strVal val="visible"/>
                                      </p:to>
                                    </p:set>
                                    <p:animEffect transition="in" filter="fade">
                                      <p:cBhvr>
                                        <p:cTn id="44" dur="400"/>
                                        <p:tgtEl>
                                          <p:spTgt spid="20"/>
                                        </p:tgtEl>
                                      </p:cBhvr>
                                    </p:animEffect>
                                  </p:childTnLst>
                                </p:cTn>
                              </p:par>
                            </p:childTnLst>
                          </p:cTn>
                        </p:par>
                      </p:childTnLst>
                    </p:cTn>
                  </p:par>
                  <p:par>
                    <p:cTn id="50" fill="hold">
                      <p:stCondLst>
                        <p:cond delay="indefinite"/>
                      </p:stCondLst>
                      <p:childTnLst>
                        <p:par>
                          <p:cTn id="51" fill="hold">
                            <p:stCondLst>
                              <p:cond delay="0"/>
                            </p:stCondLst>
                            <p:childTnLst>
                              <p:par>
                                <p:cTn id="52" presetID="1" presetClass="entr" presetSubtype="0" fill="hold" nodeType="afterEffect">
                                  <p:stCondLst>
                                    <p:cond delay="0"/>
                                  </p:stCondLst>
                                  <p:childTnLst>
                                    <p:set>
                                      <p:cBhvr>
                                        <p:cTn id="53" dur="1" fill="hold">
                                          <p:stCondLst>
                                            <p:cond delay="0"/>
                                          </p:stCondLst>
                                        </p:cTn>
                                        <p:tgtEl>
                                          <p:spTgt spid="21"/>
                                        </p:tgtEl>
                                        <p:attrNameLst>
                                          <p:attrName>style.visibility</p:attrName>
                                        </p:attrNameLst>
                                      </p:cBhvr>
                                      <p:to>
                                        <p:strVal val="visible"/>
                                      </p:to>
                                    </p:set>
                                    <p:animEffect transition="in" filter="fade">
                                      <p:cBhvr>
                                        <p:cTn id="54" dur="400"/>
                                        <p:tgtEl>
                                          <p:spTgt spid="21"/>
                                        </p:tgtEl>
                                      </p:cBhvr>
                                    </p:animEffect>
                                  </p:childTnLst>
                                </p:cTn>
                              </p:par>
                            </p:childTnLst>
                          </p:cTn>
                        </p:par>
                      </p:childTnLst>
                    </p:cTn>
                  </p:par>
                  <p:par>
                    <p:cTn id="60" fill="hold">
                      <p:stCondLst>
                        <p:cond delay="indefinite"/>
                      </p:stCondLst>
                      <p:childTnLst>
                        <p:par>
                          <p:cTn id="61" fill="hold">
                            <p:stCondLst>
                              <p:cond delay="0"/>
                            </p:stCondLst>
                            <p:childTnLst>
                              <p:par>
                                <p:cTn id="62" presetID="1" presetClass="entr" presetSubtype="0" fill="hold" nodeType="afterEffect">
                                  <p:stCondLst>
                                    <p:cond delay="0"/>
                                  </p:stCondLst>
                                  <p:childTnLst>
                                    <p:set>
                                      <p:cBhvr>
                                        <p:cTn id="63" dur="1" fill="hold">
                                          <p:stCondLst>
                                            <p:cond delay="0"/>
                                          </p:stCondLst>
                                        </p:cTn>
                                        <p:tgtEl>
                                          <p:spTgt spid="27"/>
                                        </p:tgtEl>
                                        <p:attrNameLst>
                                          <p:attrName>style.visibility</p:attrName>
                                        </p:attrNameLst>
                                      </p:cBhvr>
                                      <p:to>
                                        <p:strVal val="visible"/>
                                      </p:to>
                                    </p:set>
                                    <p:animEffect transition="in" filter="fade">
                                      <p:cBhvr>
                                        <p:cTn id="64" dur="400"/>
                                        <p:tgtEl>
                                          <p:spTgt spid="27"/>
                                        </p:tgtEl>
                                      </p:cBhvr>
                                    </p:animEffect>
                                  </p:childTnLst>
                                </p:cTn>
                              </p:par>
                            </p:childTnLst>
                          </p:cTn>
                        </p:par>
                      </p:childTnLst>
                    </p:cTn>
                  </p:par>
                  <p:par>
                    <p:cTn id="70" fill="hold">
                      <p:stCondLst>
                        <p:cond delay="indefinite"/>
                      </p:stCondLst>
                      <p:childTnLst>
                        <p:par>
                          <p:cTn id="71" fill="hold">
                            <p:stCondLst>
                              <p:cond delay="0"/>
                            </p:stCondLst>
                            <p:childTnLst>
                              <p:par>
                                <p:cTn id="72" presetID="1" presetClass="entr" presetSubtype="0" fill="hold" nodeType="afterEffect">
                                  <p:stCondLst>
                                    <p:cond delay="0"/>
                                  </p:stCondLst>
                                  <p:childTnLst>
                                    <p:set>
                                      <p:cBhvr>
                                        <p:cTn id="73" dur="1" fill="hold">
                                          <p:stCondLst>
                                            <p:cond delay="0"/>
                                          </p:stCondLst>
                                        </p:cTn>
                                        <p:tgtEl>
                                          <p:spTgt spid="28"/>
                                        </p:tgtEl>
                                        <p:attrNameLst>
                                          <p:attrName>style.visibility</p:attrName>
                                        </p:attrNameLst>
                                      </p:cBhvr>
                                      <p:to>
                                        <p:strVal val="visible"/>
                                      </p:to>
                                    </p:set>
                                    <p:animEffect transition="in" filter="fade">
                                      <p:cBhvr>
                                        <p:cTn id="74" dur="400"/>
                                        <p:tgtEl>
                                          <p:spTgt spid="28"/>
                                        </p:tgtEl>
                                      </p:cBhvr>
                                    </p:animEffect>
                                  </p:childTnLst>
                                </p:cTn>
                              </p:par>
                            </p:childTnLst>
                          </p:cTn>
                        </p:par>
                      </p:childTnLst>
                    </p:cTn>
                  </p:par>
                  <p:par>
                    <p:cTn id="80" fill="hold">
                      <p:stCondLst>
                        <p:cond delay="indefinite"/>
                      </p:stCondLst>
                      <p:childTnLst>
                        <p:par>
                          <p:cTn id="81" fill="hold">
                            <p:stCondLst>
                              <p:cond delay="0"/>
                            </p:stCondLst>
                            <p:childTnLst>
                              <p:par>
                                <p:cTn id="82" presetID="1" presetClass="entr" presetSubtype="0" fill="hold" nodeType="afterEffect">
                                  <p:stCondLst>
                                    <p:cond delay="0"/>
                                  </p:stCondLst>
                                  <p:childTnLst>
                                    <p:set>
                                      <p:cBhvr>
                                        <p:cTn id="83" dur="1" fill="hold">
                                          <p:stCondLst>
                                            <p:cond delay="0"/>
                                          </p:stCondLst>
                                        </p:cTn>
                                        <p:tgtEl>
                                          <p:spTgt spid="34"/>
                                        </p:tgtEl>
                                        <p:attrNameLst>
                                          <p:attrName>style.visibility</p:attrName>
                                        </p:attrNameLst>
                                      </p:cBhvr>
                                      <p:to>
                                        <p:strVal val="visible"/>
                                      </p:to>
                                    </p:set>
                                    <p:animEffect transition="in" filter="fade">
                                      <p:cBhvr>
                                        <p:cTn id="84" dur="400"/>
                                        <p:tgtEl>
                                          <p:spTgt spid="34"/>
                                        </p:tgtEl>
                                      </p:cBhvr>
                                    </p:animEffect>
                                  </p:childTnLst>
                                </p:cTn>
                              </p:par>
                            </p:childTnLst>
                          </p:cTn>
                        </p:par>
                      </p:childTnLst>
                    </p:cTn>
                  </p:par>
                  <p:par>
                    <p:cTn id="90" fill="hold">
                      <p:stCondLst>
                        <p:cond delay="indefinite"/>
                      </p:stCondLst>
                      <p:childTnLst>
                        <p:par>
                          <p:cTn id="91" fill="hold">
                            <p:stCondLst>
                              <p:cond delay="0"/>
                            </p:stCondLst>
                            <p:childTnLst>
                              <p:par>
                                <p:cTn id="92" presetID="1" presetClass="entr" presetSubtype="0" fill="hold" nodeType="afterEffect">
                                  <p:stCondLst>
                                    <p:cond delay="0"/>
                                  </p:stCondLst>
                                  <p:childTnLst>
                                    <p:set>
                                      <p:cBhvr>
                                        <p:cTn id="93" dur="1" fill="hold">
                                          <p:stCondLst>
                                            <p:cond delay="0"/>
                                          </p:stCondLst>
                                        </p:cTn>
                                        <p:tgtEl>
                                          <p:spTgt spid="35"/>
                                        </p:tgtEl>
                                        <p:attrNameLst>
                                          <p:attrName>style.visibility</p:attrName>
                                        </p:attrNameLst>
                                      </p:cBhvr>
                                      <p:to>
                                        <p:strVal val="visible"/>
                                      </p:to>
                                    </p:set>
                                    <p:animEffect transition="in" filter="fade">
                                      <p:cBhvr>
                                        <p:cTn id="94" dur="400"/>
                                        <p:tgtEl>
                                          <p:spTgt spid="35"/>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transition spd="fast" advClick="1">
    <p:fade/>
  </p:transition>
</p:sld>
</file>

<file path=ppt/slides/slide7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10B981"/>
                </a:solidFill>
                <a:latin typeface="Arial"/>
              </a:rPr>
              <a:t>LAB 5 · VERIFY</a:t>
            </a:r>
          </a:p>
        </p:txBody>
      </p:sp>
      <p:sp>
        <p:nvSpPr>
          <p:cNvPr id="5" name="TextBox 4"/>
          <p:cNvSpPr txBox="1"/>
          <p:nvPr/>
        </p:nvSpPr>
        <p:spPr>
          <a:xfrm>
            <a:off x="777240" y="804672"/>
            <a:ext cx="10881360" cy="713232"/>
          </a:xfrm>
          <a:prstGeom prst="rect">
            <a:avLst/>
          </a:prstGeom>
          <a:noFill/>
        </p:spPr>
        <p:txBody>
          <a:bodyPr wrap="square" anchor="ctr">
            <a:spAutoFit/>
          </a:bodyPr>
          <a:lstStyle/>
          <a:p>
            <a:pPr algn="l">
              <a:spcAft>
                <a:spcPts val="400"/>
              </a:spcAft>
            </a:pPr>
            <a:r>
              <a:rPr sz="2200" b="1">
                <a:solidFill>
                  <a:srgbClr val="161B26"/>
                </a:solidFill>
                <a:latin typeface="Arial"/>
              </a:rPr>
              <a:t>Verify NorthPoint Routines and Layered Budget Controls (Stock Trading Research)</a:t>
            </a:r>
          </a:p>
        </p:txBody>
      </p:sp>
      <p:sp>
        <p:nvSpPr>
          <p:cNvPr id="6" name="Rectangle 5"/>
          <p:cNvSpPr/>
          <p:nvPr/>
        </p:nvSpPr>
        <p:spPr>
          <a:xfrm>
            <a:off x="777240" y="155448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77240" y="1783080"/>
            <a:ext cx="10634472" cy="1965960"/>
          </a:xfrm>
          <a:prstGeom prst="rect">
            <a:avLst/>
          </a:prstGeom>
          <a:solidFill>
            <a:srgbClr val="E8F7E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777240" y="1783080"/>
            <a:ext cx="100584" cy="1965960"/>
          </a:xfrm>
          <a:prstGeom prst="rect">
            <a:avLst/>
          </a:prstGeom>
          <a:solidFill>
            <a:srgbClr val="127A3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1097280" y="1938528"/>
            <a:ext cx="10058400" cy="402336"/>
          </a:xfrm>
          <a:prstGeom prst="rect">
            <a:avLst/>
          </a:prstGeom>
          <a:noFill/>
        </p:spPr>
        <p:txBody>
          <a:bodyPr wrap="square" anchor="t">
            <a:spAutoFit/>
          </a:bodyPr>
          <a:lstStyle/>
          <a:p>
            <a:pPr algn="l">
              <a:spcAft>
                <a:spcPts val="400"/>
              </a:spcAft>
            </a:pPr>
            <a:r>
              <a:rPr sz="1700" b="1">
                <a:solidFill>
                  <a:srgbClr val="127A3E"/>
                </a:solidFill>
                <a:latin typeface="Arial"/>
              </a:rPr>
              <a:t>✅  Expected result</a:t>
            </a:r>
          </a:p>
        </p:txBody>
      </p:sp>
      <p:sp>
        <p:nvSpPr>
          <p:cNvPr id="10" name="TextBox 9"/>
          <p:cNvSpPr txBox="1"/>
          <p:nvPr/>
        </p:nvSpPr>
        <p:spPr>
          <a:xfrm>
            <a:off x="1097280" y="2395728"/>
            <a:ext cx="10058400" cy="1234440"/>
          </a:xfrm>
          <a:prstGeom prst="rect">
            <a:avLst/>
          </a:prstGeom>
          <a:noFill/>
        </p:spPr>
        <p:txBody>
          <a:bodyPr wrap="square" anchor="t">
            <a:spAutoFit/>
          </a:bodyPr>
          <a:lstStyle/>
          <a:p>
            <a:pPr algn="l">
              <a:spcAft>
                <a:spcPts val="400"/>
              </a:spcAft>
            </a:pPr>
            <a:r>
              <a:rPr sz="1500" b="0">
                <a:solidFill>
                  <a:srgbClr val="161B26"/>
                </a:solidFill>
                <a:latin typeface="Arial"/>
              </a:rPr>
              <a:t>The routine carries an explicit 0 7 * * * Asia/Singapore trigger, has exactly ONE successful reviewed manual run, and finishes PAUSED; the brief exists and cites only the synthetic data with limitations stated and no trade recommendation; and the control table shows all three budget layers above recorded spend.</a:t>
            </a:r>
          </a:p>
        </p:txBody>
      </p:sp>
      <p:sp>
        <p:nvSpPr>
          <p:cNvPr id="11" name="TextBox 10"/>
          <p:cNvSpPr txBox="1"/>
          <p:nvPr/>
        </p:nvSpPr>
        <p:spPr>
          <a:xfrm>
            <a:off x="777240" y="3950208"/>
            <a:ext cx="10634472" cy="310896"/>
          </a:xfrm>
          <a:prstGeom prst="rect">
            <a:avLst/>
          </a:prstGeom>
          <a:noFill/>
        </p:spPr>
        <p:txBody>
          <a:bodyPr wrap="square" anchor="t">
            <a:spAutoFit/>
          </a:bodyPr>
          <a:lstStyle/>
          <a:p>
            <a:pPr algn="l">
              <a:spcAft>
                <a:spcPts val="400"/>
              </a:spcAft>
            </a:pPr>
            <a:r>
              <a:rPr sz="1100" b="1">
                <a:solidFill>
                  <a:srgbClr val="F59E0B"/>
                </a:solidFill>
                <a:latin typeface="Arial"/>
              </a:rPr>
              <a:t>IF IT DOESN'T WORK</a:t>
            </a:r>
          </a:p>
        </p:txBody>
      </p:sp>
      <p:sp>
        <p:nvSpPr>
          <p:cNvPr id="12" name="Rectangle 11"/>
          <p:cNvSpPr/>
          <p:nvPr/>
        </p:nvSpPr>
        <p:spPr>
          <a:xfrm>
            <a:off x="777240" y="4297680"/>
            <a:ext cx="3392424" cy="157276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777240" y="4297680"/>
            <a:ext cx="3392424" cy="82296"/>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996696" y="4453128"/>
            <a:ext cx="2980944" cy="329184"/>
          </a:xfrm>
          <a:prstGeom prst="rect">
            <a:avLst/>
          </a:prstGeom>
          <a:noFill/>
        </p:spPr>
        <p:txBody>
          <a:bodyPr wrap="square" anchor="t">
            <a:spAutoFit/>
          </a:bodyPr>
          <a:lstStyle/>
          <a:p>
            <a:pPr algn="l">
              <a:spcAft>
                <a:spcPts val="400"/>
              </a:spcAft>
            </a:pPr>
            <a:r>
              <a:rPr sz="1250" b="1">
                <a:solidFill>
                  <a:srgbClr val="161B26"/>
                </a:solidFill>
                <a:latin typeface="Arial"/>
              </a:rPr>
              <a:t>The routine fires unexpectedly</a:t>
            </a:r>
          </a:p>
        </p:txBody>
      </p:sp>
      <p:sp>
        <p:nvSpPr>
          <p:cNvPr id="15" name="TextBox 14"/>
          <p:cNvSpPr txBox="1"/>
          <p:nvPr/>
        </p:nvSpPr>
        <p:spPr>
          <a:xfrm>
            <a:off x="996696" y="4809744"/>
            <a:ext cx="2980944" cy="960120"/>
          </a:xfrm>
          <a:prstGeom prst="rect">
            <a:avLst/>
          </a:prstGeom>
          <a:noFill/>
        </p:spPr>
        <p:txBody>
          <a:bodyPr wrap="square" anchor="t">
            <a:spAutoFit/>
          </a:bodyPr>
          <a:lstStyle/>
          <a:p>
            <a:pPr algn="l">
              <a:spcAft>
                <a:spcPts val="400"/>
              </a:spcAft>
            </a:pPr>
            <a:r>
              <a:rPr sz="1100" b="0">
                <a:solidFill>
                  <a:srgbClr val="5B6372"/>
                </a:solidFill>
                <a:latin typeface="Arial"/>
              </a:rPr>
              <a:t>It was left active after the manual run. Pause it, then check the activity log for any additional runs and record them — do not delete the evidence.</a:t>
            </a:r>
          </a:p>
        </p:txBody>
      </p:sp>
      <p:sp>
        <p:nvSpPr>
          <p:cNvPr id="16" name="Rectangle 15"/>
          <p:cNvSpPr/>
          <p:nvPr/>
        </p:nvSpPr>
        <p:spPr>
          <a:xfrm>
            <a:off x="4398264" y="4297680"/>
            <a:ext cx="3392424" cy="157276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4398264" y="4297680"/>
            <a:ext cx="3392424" cy="82296"/>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4617720" y="4453128"/>
            <a:ext cx="2980944" cy="329184"/>
          </a:xfrm>
          <a:prstGeom prst="rect">
            <a:avLst/>
          </a:prstGeom>
          <a:noFill/>
        </p:spPr>
        <p:txBody>
          <a:bodyPr wrap="square" anchor="t">
            <a:spAutoFit/>
          </a:bodyPr>
          <a:lstStyle/>
          <a:p>
            <a:pPr algn="l">
              <a:spcAft>
                <a:spcPts val="400"/>
              </a:spcAft>
            </a:pPr>
            <a:r>
              <a:rPr sz="1250" b="1">
                <a:solidFill>
                  <a:srgbClr val="161B26"/>
                </a:solidFill>
                <a:latin typeface="Arial"/>
              </a:rPr>
              <a:t>The cost shows as zero</a:t>
            </a:r>
          </a:p>
        </p:txBody>
      </p:sp>
      <p:sp>
        <p:nvSpPr>
          <p:cNvPr id="19" name="TextBox 18"/>
          <p:cNvSpPr txBox="1"/>
          <p:nvPr/>
        </p:nvSpPr>
        <p:spPr>
          <a:xfrm>
            <a:off x="4617720" y="4809744"/>
            <a:ext cx="2980944" cy="960120"/>
          </a:xfrm>
          <a:prstGeom prst="rect">
            <a:avLst/>
          </a:prstGeom>
          <a:noFill/>
        </p:spPr>
        <p:txBody>
          <a:bodyPr wrap="square" anchor="t">
            <a:spAutoFit/>
          </a:bodyPr>
          <a:lstStyle/>
          <a:p>
            <a:pPr algn="l">
              <a:spcAft>
                <a:spcPts val="400"/>
              </a:spcAft>
            </a:pPr>
            <a:r>
              <a:rPr sz="1100" b="0">
                <a:solidFill>
                  <a:srgbClr val="5B6372"/>
                </a:solidFill>
                <a:latin typeface="Arial"/>
              </a:rPr>
              <a:t>The run may have failed before invoking the runtime. Read the run log for an adapter error rather than assuming the work was free.</a:t>
            </a:r>
          </a:p>
        </p:txBody>
      </p:sp>
      <p:sp>
        <p:nvSpPr>
          <p:cNvPr id="20" name="Rectangle 19"/>
          <p:cNvSpPr/>
          <p:nvPr/>
        </p:nvSpPr>
        <p:spPr>
          <a:xfrm>
            <a:off x="8019288" y="4297680"/>
            <a:ext cx="3392424" cy="157276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ectangle 20"/>
          <p:cNvSpPr/>
          <p:nvPr/>
        </p:nvSpPr>
        <p:spPr>
          <a:xfrm>
            <a:off x="8019288" y="4297680"/>
            <a:ext cx="3392424" cy="82296"/>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8238744" y="4453128"/>
            <a:ext cx="2980944" cy="329184"/>
          </a:xfrm>
          <a:prstGeom prst="rect">
            <a:avLst/>
          </a:prstGeom>
          <a:noFill/>
        </p:spPr>
        <p:txBody>
          <a:bodyPr wrap="square" anchor="t">
            <a:spAutoFit/>
          </a:bodyPr>
          <a:lstStyle/>
          <a:p>
            <a:pPr algn="l">
              <a:spcAft>
                <a:spcPts val="400"/>
              </a:spcAft>
            </a:pPr>
            <a:r>
              <a:rPr sz="1250" b="1">
                <a:solidFill>
                  <a:srgbClr val="161B26"/>
                </a:solidFill>
                <a:latin typeface="Arial"/>
              </a:rPr>
              <a:t>The timezone reverts or the schedule fires an hour out</a:t>
            </a:r>
          </a:p>
        </p:txBody>
      </p:sp>
      <p:sp>
        <p:nvSpPr>
          <p:cNvPr id="23" name="TextBox 22"/>
          <p:cNvSpPr txBox="1"/>
          <p:nvPr/>
        </p:nvSpPr>
        <p:spPr>
          <a:xfrm>
            <a:off x="8238744" y="4809744"/>
            <a:ext cx="2980944" cy="960120"/>
          </a:xfrm>
          <a:prstGeom prst="rect">
            <a:avLst/>
          </a:prstGeom>
          <a:noFill/>
        </p:spPr>
        <p:txBody>
          <a:bodyPr wrap="square" anchor="t">
            <a:spAutoFit/>
          </a:bodyPr>
          <a:lstStyle/>
          <a:p>
            <a:pPr algn="l">
              <a:spcAft>
                <a:spcPts val="400"/>
              </a:spcAft>
            </a:pPr>
            <a:r>
              <a:rPr sz="1100" b="0">
                <a:solidFill>
                  <a:srgbClr val="5B6372"/>
                </a:solidFill>
                <a:latin typeface="Arial"/>
              </a:rPr>
              <a:t>The trigger was saved without an explicit IANA timezone and inherited the host's. Re-save the trigger with Asia/Singapore stated explicitly.</a:t>
            </a:r>
          </a:p>
        </p:txBody>
      </p:sp>
      <p:sp>
        <p:nvSpPr>
          <p:cNvPr id="24" name="TextBox 23"/>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Manage AI Agents with Paperclip (TGS-2023036646)  ·  TGS-2023036646</a:t>
            </a:r>
          </a:p>
        </p:txBody>
      </p:sp>
      <p:sp>
        <p:nvSpPr>
          <p:cNvPr id="25" name="TextBox 24"/>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26" name="TextBox 25"/>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75</a:t>
            </a:r>
          </a:p>
        </p:txBody>
      </p:sp>
    </p:spTree>
  </p:cSld>
  <p:clrMapOvr>
    <a:masterClrMapping/>
  </p:clrMapOvr>
  <p:transition spd="fast" advClick="1">
    <p:fade/>
  </p:transition>
</p:sld>
</file>

<file path=ppt/slides/slide7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F59E0B"/>
                </a:solidFill>
                <a:latin typeface="Arial"/>
              </a:rPr>
              <a:t>LAB 5  ·  TROUBLESHOOTING</a:t>
            </a:r>
          </a:p>
        </p:txBody>
      </p:sp>
      <p:sp>
        <p:nvSpPr>
          <p:cNvPr id="5" name="TextBox 4"/>
          <p:cNvSpPr txBox="1"/>
          <p:nvPr/>
        </p:nvSpPr>
        <p:spPr>
          <a:xfrm>
            <a:off x="777240" y="804672"/>
            <a:ext cx="10881360" cy="713232"/>
          </a:xfrm>
          <a:prstGeom prst="rect">
            <a:avLst/>
          </a:prstGeom>
          <a:noFill/>
        </p:spPr>
        <p:txBody>
          <a:bodyPr wrap="square" anchor="ctr">
            <a:spAutoFit/>
          </a:bodyPr>
          <a:lstStyle/>
          <a:p>
            <a:pPr algn="l">
              <a:spcAft>
                <a:spcPts val="400"/>
              </a:spcAft>
            </a:pPr>
            <a:r>
              <a:rPr sz="2200" b="1">
                <a:solidFill>
                  <a:srgbClr val="161B26"/>
                </a:solidFill>
                <a:latin typeface="Arial"/>
              </a:rPr>
              <a:t>Verify NorthPoint Routines and Layered Budget Controls (Stock Trading Research)</a:t>
            </a:r>
          </a:p>
        </p:txBody>
      </p:sp>
      <p:sp>
        <p:nvSpPr>
          <p:cNvPr id="6" name="Rectangle 5"/>
          <p:cNvSpPr/>
          <p:nvPr/>
        </p:nvSpPr>
        <p:spPr>
          <a:xfrm>
            <a:off x="777240" y="155448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77240" y="1810512"/>
            <a:ext cx="10607040" cy="94488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777240" y="1810512"/>
            <a:ext cx="91440" cy="944880"/>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1051560" y="1938528"/>
            <a:ext cx="10149840" cy="329184"/>
          </a:xfrm>
          <a:prstGeom prst="rect">
            <a:avLst/>
          </a:prstGeom>
          <a:noFill/>
        </p:spPr>
        <p:txBody>
          <a:bodyPr wrap="square" anchor="t">
            <a:spAutoFit/>
          </a:bodyPr>
          <a:lstStyle/>
          <a:p>
            <a:pPr algn="l">
              <a:spcAft>
                <a:spcPts val="400"/>
              </a:spcAft>
            </a:pPr>
            <a:r>
              <a:rPr sz="1300" b="1">
                <a:solidFill>
                  <a:srgbClr val="161B26"/>
                </a:solidFill>
                <a:latin typeface="Arial"/>
              </a:rPr>
              <a:t>⚠  The routine fires unexpectedly</a:t>
            </a:r>
          </a:p>
        </p:txBody>
      </p:sp>
      <p:sp>
        <p:nvSpPr>
          <p:cNvPr id="10" name="TextBox 9"/>
          <p:cNvSpPr txBox="1"/>
          <p:nvPr/>
        </p:nvSpPr>
        <p:spPr>
          <a:xfrm>
            <a:off x="1051560" y="2304288"/>
            <a:ext cx="10149840" cy="341376"/>
          </a:xfrm>
          <a:prstGeom prst="rect">
            <a:avLst/>
          </a:prstGeom>
          <a:noFill/>
        </p:spPr>
        <p:txBody>
          <a:bodyPr wrap="square" anchor="t">
            <a:spAutoFit/>
          </a:bodyPr>
          <a:lstStyle/>
          <a:p>
            <a:pPr algn="l">
              <a:spcAft>
                <a:spcPts val="400"/>
              </a:spcAft>
            </a:pPr>
            <a:r>
              <a:rPr sz="1150" b="0">
                <a:solidFill>
                  <a:srgbClr val="5B6372"/>
                </a:solidFill>
                <a:latin typeface="Arial"/>
              </a:rPr>
              <a:t>It was left active after the manual run. Pause it, then check the activity log for any additional runs and record them — do not delete the evidence.</a:t>
            </a:r>
          </a:p>
        </p:txBody>
      </p:sp>
      <p:sp>
        <p:nvSpPr>
          <p:cNvPr id="11" name="Rectangle 10"/>
          <p:cNvSpPr/>
          <p:nvPr/>
        </p:nvSpPr>
        <p:spPr>
          <a:xfrm>
            <a:off x="777240" y="2938272"/>
            <a:ext cx="10607040" cy="94488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ectangle 11"/>
          <p:cNvSpPr/>
          <p:nvPr/>
        </p:nvSpPr>
        <p:spPr>
          <a:xfrm>
            <a:off x="777240" y="2938272"/>
            <a:ext cx="91440" cy="944880"/>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1051560" y="3066288"/>
            <a:ext cx="10149840" cy="329184"/>
          </a:xfrm>
          <a:prstGeom prst="rect">
            <a:avLst/>
          </a:prstGeom>
          <a:noFill/>
        </p:spPr>
        <p:txBody>
          <a:bodyPr wrap="square" anchor="t">
            <a:spAutoFit/>
          </a:bodyPr>
          <a:lstStyle/>
          <a:p>
            <a:pPr algn="l">
              <a:spcAft>
                <a:spcPts val="400"/>
              </a:spcAft>
            </a:pPr>
            <a:r>
              <a:rPr sz="1300" b="1">
                <a:solidFill>
                  <a:srgbClr val="161B26"/>
                </a:solidFill>
                <a:latin typeface="Arial"/>
              </a:rPr>
              <a:t>⚠  The cost shows as zero</a:t>
            </a:r>
          </a:p>
        </p:txBody>
      </p:sp>
      <p:sp>
        <p:nvSpPr>
          <p:cNvPr id="14" name="TextBox 13"/>
          <p:cNvSpPr txBox="1"/>
          <p:nvPr/>
        </p:nvSpPr>
        <p:spPr>
          <a:xfrm>
            <a:off x="1051560" y="3432048"/>
            <a:ext cx="10149840" cy="341376"/>
          </a:xfrm>
          <a:prstGeom prst="rect">
            <a:avLst/>
          </a:prstGeom>
          <a:noFill/>
        </p:spPr>
        <p:txBody>
          <a:bodyPr wrap="square" anchor="t">
            <a:spAutoFit/>
          </a:bodyPr>
          <a:lstStyle/>
          <a:p>
            <a:pPr algn="l">
              <a:spcAft>
                <a:spcPts val="400"/>
              </a:spcAft>
            </a:pPr>
            <a:r>
              <a:rPr sz="1150" b="0">
                <a:solidFill>
                  <a:srgbClr val="5B6372"/>
                </a:solidFill>
                <a:latin typeface="Arial"/>
              </a:rPr>
              <a:t>The run may have failed before invoking the runtime. Read the run log for an adapter error rather than assuming the work was free.</a:t>
            </a:r>
          </a:p>
        </p:txBody>
      </p:sp>
      <p:sp>
        <p:nvSpPr>
          <p:cNvPr id="15" name="Rectangle 14"/>
          <p:cNvSpPr/>
          <p:nvPr/>
        </p:nvSpPr>
        <p:spPr>
          <a:xfrm>
            <a:off x="777240" y="4066032"/>
            <a:ext cx="10607040" cy="94488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ectangle 15"/>
          <p:cNvSpPr/>
          <p:nvPr/>
        </p:nvSpPr>
        <p:spPr>
          <a:xfrm>
            <a:off x="777240" y="4066032"/>
            <a:ext cx="91440" cy="944880"/>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1051560" y="4194048"/>
            <a:ext cx="10149840" cy="329184"/>
          </a:xfrm>
          <a:prstGeom prst="rect">
            <a:avLst/>
          </a:prstGeom>
          <a:noFill/>
        </p:spPr>
        <p:txBody>
          <a:bodyPr wrap="square" anchor="t">
            <a:spAutoFit/>
          </a:bodyPr>
          <a:lstStyle/>
          <a:p>
            <a:pPr algn="l">
              <a:spcAft>
                <a:spcPts val="400"/>
              </a:spcAft>
            </a:pPr>
            <a:r>
              <a:rPr sz="1300" b="1">
                <a:solidFill>
                  <a:srgbClr val="161B26"/>
                </a:solidFill>
                <a:latin typeface="Arial"/>
              </a:rPr>
              <a:t>⚠  The timezone reverts or the schedule fires an hour out</a:t>
            </a:r>
          </a:p>
        </p:txBody>
      </p:sp>
      <p:sp>
        <p:nvSpPr>
          <p:cNvPr id="18" name="TextBox 17"/>
          <p:cNvSpPr txBox="1"/>
          <p:nvPr/>
        </p:nvSpPr>
        <p:spPr>
          <a:xfrm>
            <a:off x="1051560" y="4559808"/>
            <a:ext cx="10149840" cy="341376"/>
          </a:xfrm>
          <a:prstGeom prst="rect">
            <a:avLst/>
          </a:prstGeom>
          <a:noFill/>
        </p:spPr>
        <p:txBody>
          <a:bodyPr wrap="square" anchor="t">
            <a:spAutoFit/>
          </a:bodyPr>
          <a:lstStyle/>
          <a:p>
            <a:pPr algn="l">
              <a:spcAft>
                <a:spcPts val="400"/>
              </a:spcAft>
            </a:pPr>
            <a:r>
              <a:rPr sz="1150" b="0">
                <a:solidFill>
                  <a:srgbClr val="5B6372"/>
                </a:solidFill>
                <a:latin typeface="Arial"/>
              </a:rPr>
              <a:t>The trigger was saved without an explicit IANA timezone and inherited the host's. Re-save the trigger with Asia/Singapore stated explicitly.</a:t>
            </a:r>
          </a:p>
        </p:txBody>
      </p:sp>
      <p:sp>
        <p:nvSpPr>
          <p:cNvPr id="19" name="Rectangle 18"/>
          <p:cNvSpPr/>
          <p:nvPr/>
        </p:nvSpPr>
        <p:spPr>
          <a:xfrm>
            <a:off x="777240" y="5230368"/>
            <a:ext cx="5212080" cy="100584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ectangle 19"/>
          <p:cNvSpPr/>
          <p:nvPr/>
        </p:nvSpPr>
        <p:spPr>
          <a:xfrm>
            <a:off x="777240" y="5230368"/>
            <a:ext cx="91440" cy="1005840"/>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1051560" y="5321808"/>
            <a:ext cx="4846320" cy="292608"/>
          </a:xfrm>
          <a:prstGeom prst="rect">
            <a:avLst/>
          </a:prstGeom>
          <a:noFill/>
        </p:spPr>
        <p:txBody>
          <a:bodyPr wrap="square" anchor="t">
            <a:spAutoFit/>
          </a:bodyPr>
          <a:lstStyle/>
          <a:p>
            <a:pPr algn="l">
              <a:spcAft>
                <a:spcPts val="400"/>
              </a:spcAft>
            </a:pPr>
            <a:r>
              <a:rPr sz="1150" b="1">
                <a:solidFill>
                  <a:srgbClr val="7C3AED"/>
                </a:solidFill>
                <a:latin typeface="Arial"/>
              </a:rPr>
              <a:t>CHALLENGE</a:t>
            </a:r>
          </a:p>
        </p:txBody>
      </p:sp>
      <p:sp>
        <p:nvSpPr>
          <p:cNvPr id="22" name="TextBox 21"/>
          <p:cNvSpPr txBox="1"/>
          <p:nvPr/>
        </p:nvSpPr>
        <p:spPr>
          <a:xfrm>
            <a:off x="1051560" y="5632704"/>
            <a:ext cx="4846320" cy="548640"/>
          </a:xfrm>
          <a:prstGeom prst="rect">
            <a:avLst/>
          </a:prstGeom>
          <a:noFill/>
        </p:spPr>
        <p:txBody>
          <a:bodyPr wrap="square" anchor="t">
            <a:spAutoFit/>
          </a:bodyPr>
          <a:lstStyle/>
          <a:p>
            <a:pPr algn="l">
              <a:spcAft>
                <a:spcPts val="400"/>
              </a:spcAft>
            </a:pPr>
            <a:r>
              <a:rPr sz="1050" b="0">
                <a:solidFill>
                  <a:srgbClr val="161B26"/>
                </a:solidFill>
                <a:latin typeface="Arial"/>
              </a:rPr>
              <a:t>Lower the Market Data Analyst cap below the recorded run cost, run the routine once more, and record exactly which layer stops the run and where it is reported.</a:t>
            </a:r>
          </a:p>
        </p:txBody>
      </p:sp>
      <p:sp>
        <p:nvSpPr>
          <p:cNvPr id="23" name="Rectangle 22"/>
          <p:cNvSpPr/>
          <p:nvPr/>
        </p:nvSpPr>
        <p:spPr>
          <a:xfrm>
            <a:off x="6172200" y="5230368"/>
            <a:ext cx="5212080" cy="100584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Rectangle 23"/>
          <p:cNvSpPr/>
          <p:nvPr/>
        </p:nvSpPr>
        <p:spPr>
          <a:xfrm>
            <a:off x="6172200" y="5230368"/>
            <a:ext cx="91440" cy="100584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6446520" y="5321808"/>
            <a:ext cx="4846320" cy="292608"/>
          </a:xfrm>
          <a:prstGeom prst="rect">
            <a:avLst/>
          </a:prstGeom>
          <a:noFill/>
        </p:spPr>
        <p:txBody>
          <a:bodyPr wrap="square" anchor="t">
            <a:spAutoFit/>
          </a:bodyPr>
          <a:lstStyle/>
          <a:p>
            <a:pPr algn="l">
              <a:spcAft>
                <a:spcPts val="400"/>
              </a:spcAft>
            </a:pPr>
            <a:r>
              <a:rPr sz="1150" b="1">
                <a:solidFill>
                  <a:srgbClr val="1F6FEB"/>
                </a:solidFill>
                <a:latin typeface="Arial"/>
              </a:rPr>
              <a:t>REFLECTION</a:t>
            </a:r>
          </a:p>
        </p:txBody>
      </p:sp>
      <p:sp>
        <p:nvSpPr>
          <p:cNvPr id="26" name="TextBox 25"/>
          <p:cNvSpPr txBox="1"/>
          <p:nvPr/>
        </p:nvSpPr>
        <p:spPr>
          <a:xfrm>
            <a:off x="6446520" y="5632704"/>
            <a:ext cx="4846320" cy="548640"/>
          </a:xfrm>
          <a:prstGeom prst="rect">
            <a:avLst/>
          </a:prstGeom>
          <a:noFill/>
        </p:spPr>
        <p:txBody>
          <a:bodyPr wrap="square" anchor="t">
            <a:spAutoFit/>
          </a:bodyPr>
          <a:lstStyle/>
          <a:p>
            <a:pPr algn="l">
              <a:spcAft>
                <a:spcPts val="400"/>
              </a:spcAft>
            </a:pPr>
            <a:r>
              <a:rPr sz="1050" b="0">
                <a:solidFill>
                  <a:srgbClr val="161B26"/>
                </a:solidFill>
                <a:latin typeface="Arial"/>
              </a:rPr>
              <a:t>Why must a routine be proved by one bounded manual run before the schedule is allowed to own it?</a:t>
            </a:r>
          </a:p>
        </p:txBody>
      </p:sp>
      <p:sp>
        <p:nvSpPr>
          <p:cNvPr id="27" name="TextBox 26"/>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Manage AI Agents with Paperclip (TGS-2023036646)  ·  TGS-2023036646</a:t>
            </a:r>
          </a:p>
        </p:txBody>
      </p:sp>
      <p:sp>
        <p:nvSpPr>
          <p:cNvPr id="28" name="TextBox 27"/>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29" name="TextBox 28"/>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76</a:t>
            </a:r>
          </a:p>
        </p:txBody>
      </p:sp>
    </p:spTree>
  </p:cSld>
  <p:clrMapOvr>
    <a:masterClrMapping/>
  </p:clrMapOvr>
  <p:transition spd="fast" advClick="1">
    <p:fade/>
  </p:transition>
</p:sld>
</file>

<file path=ppt/slides/slide7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1F6FEB"/>
                </a:solidFill>
                <a:latin typeface="Arial"/>
              </a:rPr>
              <a:t>TOPIC RECAP</a:t>
            </a:r>
          </a:p>
        </p:txBody>
      </p:sp>
      <p:sp>
        <p:nvSpPr>
          <p:cNvPr id="5" name="TextBox 4"/>
          <p:cNvSpPr txBox="1"/>
          <p:nvPr/>
        </p:nvSpPr>
        <p:spPr>
          <a:xfrm>
            <a:off x="777240" y="804672"/>
            <a:ext cx="10881360" cy="713232"/>
          </a:xfrm>
          <a:prstGeom prst="rect">
            <a:avLst/>
          </a:prstGeom>
          <a:noFill/>
        </p:spPr>
        <p:txBody>
          <a:bodyPr wrap="square" anchor="ctr">
            <a:spAutoFit/>
          </a:bodyPr>
          <a:lstStyle/>
          <a:p>
            <a:pPr algn="l">
              <a:spcAft>
                <a:spcPts val="400"/>
              </a:spcAft>
            </a:pPr>
            <a:r>
              <a:rPr sz="2900" b="1">
                <a:solidFill>
                  <a:srgbClr val="161B26"/>
                </a:solidFill>
                <a:latin typeface="Arial"/>
              </a:rPr>
              <a:t>Recap — Developing Intelligent Multi-Agent Systems</a:t>
            </a:r>
          </a:p>
        </p:txBody>
      </p:sp>
      <p:sp>
        <p:nvSpPr>
          <p:cNvPr id="6" name="Rectangle 5"/>
          <p:cNvSpPr/>
          <p:nvPr/>
        </p:nvSpPr>
        <p:spPr>
          <a:xfrm>
            <a:off x="777240" y="155448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77240" y="1783080"/>
            <a:ext cx="10607040" cy="4480560"/>
          </a:xfrm>
          <a:prstGeom prst="rect">
            <a:avLst/>
          </a:prstGeom>
          <a:noFill/>
        </p:spPr>
        <p:txBody>
          <a:bodyPr wrap="square">
            <a:spAutoFit/>
          </a:bodyPr>
          <a:lstStyle/>
          <a:p>
            <a:pPr>
              <a:spcAft>
                <a:spcPts val="1000"/>
              </a:spcAft>
            </a:pPr>
            <a:r>
              <a:rPr sz="1500" b="0">
                <a:solidFill>
                  <a:srgbClr val="161B26"/>
                </a:solidFill>
                <a:latin typeface="Arial"/>
              </a:rPr>
              <a:t>•  You can now: LO3: Decompose a mission into a parent and specialist child issues, run the specialists sequentially and verify each hand-off against acceptance evidence.</a:t>
            </a:r>
          </a:p>
          <a:p>
            <a:pPr>
              <a:spcAft>
                <a:spcPts val="1000"/>
              </a:spcAft>
            </a:pPr>
            <a:r>
              <a:rPr sz="1500" b="0">
                <a:solidFill>
                  <a:srgbClr val="161B26"/>
                </a:solidFill>
                <a:latin typeface="Arial"/>
              </a:rPr>
              <a:t>•  You can now: LO3: Test a scheduled routine and verify that every budget layer holds, using one bounded manual run before automation is allowed to own the schedule.</a:t>
            </a:r>
          </a:p>
          <a:p>
            <a:pPr>
              <a:spcAft>
                <a:spcPts val="1000"/>
              </a:spcAft>
            </a:pPr>
            <a:r>
              <a:rPr sz="1500" b="0">
                <a:solidFill>
                  <a:srgbClr val="161B26"/>
                </a:solidFill>
                <a:latin typeface="Arial"/>
              </a:rPr>
              <a:t>•  Projects hold goals and issues and supply the context an agent reads at runtime, so tasks carry full goal ancestry — the agent sees why, not only what.</a:t>
            </a:r>
          </a:p>
          <a:p>
            <a:pPr>
              <a:spcAft>
                <a:spcPts val="1000"/>
              </a:spcAft>
            </a:pPr>
            <a:r>
              <a:rPr sz="1500" b="0">
                <a:solidFill>
                  <a:srgbClr val="161B26"/>
                </a:solidFill>
                <a:latin typeface="Arial"/>
              </a:rPr>
              <a:t>•  Goal lineage flows downward: company mission → project goal → parent issue → child issue. An agent that cannot trace its lineage is working without direction.</a:t>
            </a:r>
          </a:p>
          <a:p>
            <a:pPr>
              <a:spcAft>
                <a:spcPts val="1000"/>
              </a:spcAft>
            </a:pPr>
            <a:r>
              <a:rPr sz="1500" b="0">
                <a:solidFill>
                  <a:srgbClr val="161B26"/>
                </a:solidFill>
                <a:latin typeface="Arial"/>
              </a:rPr>
              <a:t>•  Issues move through seven states — backlog, todo, in_progress, in_review, done, plus blocked and cancelled. done and cancelled are TERMINAL: issues do not move backwards.</a:t>
            </a:r>
          </a:p>
        </p:txBody>
      </p:sp>
      <p:sp>
        <p:nvSpPr>
          <p:cNvPr id="8" name="TextBox 7"/>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Manage AI Agents with Paperclip (TGS-2023036646)  ·  TGS-2023036646</a:t>
            </a:r>
          </a:p>
        </p:txBody>
      </p:sp>
      <p:sp>
        <p:nvSpPr>
          <p:cNvPr id="9" name="TextBox 8"/>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10" name="TextBox 9"/>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77</a:t>
            </a:r>
          </a:p>
        </p:txBody>
      </p:sp>
    </p:spTree>
  </p:cSld>
  <p:clrMapOvr>
    <a:masterClrMapping/>
  </p:clrMapOvr>
  <p:transition spd="fast" advClick="1">
    <p:fade/>
  </p:transition>
</p:sld>
</file>

<file path=ppt/slides/slide7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685800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777240" y="2286000"/>
            <a:ext cx="128016" cy="182880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1143000" y="2331720"/>
            <a:ext cx="10058400" cy="548640"/>
          </a:xfrm>
          <a:prstGeom prst="rect">
            <a:avLst/>
          </a:prstGeom>
          <a:noFill/>
        </p:spPr>
        <p:txBody>
          <a:bodyPr wrap="square" anchor="t">
            <a:spAutoFit/>
          </a:bodyPr>
          <a:lstStyle/>
          <a:p>
            <a:pPr algn="l">
              <a:spcAft>
                <a:spcPts val="400"/>
              </a:spcAft>
            </a:pPr>
            <a:r>
              <a:rPr sz="1800" b="1">
                <a:solidFill>
                  <a:srgbClr val="1F6FEB"/>
                </a:solidFill>
                <a:latin typeface="Arial"/>
              </a:rPr>
              <a:t>TOPIC 04</a:t>
            </a:r>
          </a:p>
        </p:txBody>
      </p:sp>
      <p:sp>
        <p:nvSpPr>
          <p:cNvPr id="6" name="TextBox 5"/>
          <p:cNvSpPr txBox="1"/>
          <p:nvPr/>
        </p:nvSpPr>
        <p:spPr>
          <a:xfrm>
            <a:off x="1143000" y="2743200"/>
            <a:ext cx="10424160" cy="1463040"/>
          </a:xfrm>
          <a:prstGeom prst="rect">
            <a:avLst/>
          </a:prstGeom>
          <a:noFill/>
        </p:spPr>
        <p:txBody>
          <a:bodyPr wrap="square" anchor="t">
            <a:spAutoFit/>
          </a:bodyPr>
          <a:lstStyle/>
          <a:p>
            <a:pPr algn="l">
              <a:spcAft>
                <a:spcPts val="400"/>
              </a:spcAft>
            </a:pPr>
            <a:r>
              <a:rPr sz="4000" b="1">
                <a:solidFill>
                  <a:srgbClr val="161B26"/>
                </a:solidFill>
                <a:latin typeface="Arial"/>
              </a:rPr>
              <a:t>Deploying and Managing AI Agents</a:t>
            </a:r>
          </a:p>
        </p:txBody>
      </p:sp>
      <p:sp>
        <p:nvSpPr>
          <p:cNvPr id="7" name="TextBox 6"/>
          <p:cNvSpPr txBox="1"/>
          <p:nvPr/>
        </p:nvSpPr>
        <p:spPr>
          <a:xfrm>
            <a:off x="1161288" y="4160520"/>
            <a:ext cx="10058400" cy="731520"/>
          </a:xfrm>
          <a:prstGeom prst="rect">
            <a:avLst/>
          </a:prstGeom>
          <a:noFill/>
        </p:spPr>
        <p:txBody>
          <a:bodyPr wrap="square" anchor="t">
            <a:spAutoFit/>
          </a:bodyPr>
          <a:lstStyle/>
          <a:p>
            <a:pPr algn="l">
              <a:spcAft>
                <a:spcPts val="400"/>
              </a:spcAft>
            </a:pPr>
            <a:r>
              <a:rPr sz="1600" b="0">
                <a:solidFill>
                  <a:srgbClr val="5B6372"/>
                </a:solidFill>
                <a:latin typeface="Arial"/>
              </a:rPr>
              <a:t>Routines and schedules · layered budgets · approvals and audit · operator intervention · deployment, portability and troubleshooting</a:t>
            </a:r>
          </a:p>
        </p:txBody>
      </p:sp>
      <p:sp>
        <p:nvSpPr>
          <p:cNvPr id="8" name="TextBox 7"/>
          <p:cNvSpPr txBox="1"/>
          <p:nvPr/>
        </p:nvSpPr>
        <p:spPr>
          <a:xfrm>
            <a:off x="9144000" y="640080"/>
            <a:ext cx="2560320" cy="1463040"/>
          </a:xfrm>
          <a:prstGeom prst="rect">
            <a:avLst/>
          </a:prstGeom>
          <a:noFill/>
        </p:spPr>
        <p:txBody>
          <a:bodyPr wrap="square" anchor="t">
            <a:spAutoFit/>
          </a:bodyPr>
          <a:lstStyle/>
          <a:p>
            <a:pPr algn="r">
              <a:spcAft>
                <a:spcPts val="400"/>
              </a:spcAft>
            </a:pPr>
            <a:r>
              <a:rPr sz="7200" b="1">
                <a:solidFill>
                  <a:srgbClr val="E2E8F0"/>
                </a:solidFill>
                <a:latin typeface="Arial"/>
              </a:rPr>
              <a:t>04</a:t>
            </a:r>
          </a:p>
        </p:txBody>
      </p:sp>
      <p:sp>
        <p:nvSpPr>
          <p:cNvPr id="9" name="TextBox 8"/>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Manage AI Agents with Paperclip (TGS-2023036646)  ·  TGS-2023036646</a:t>
            </a:r>
          </a:p>
        </p:txBody>
      </p:sp>
      <p:sp>
        <p:nvSpPr>
          <p:cNvPr id="10" name="TextBox 9"/>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11" name="TextBox 10"/>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78</a:t>
            </a:r>
          </a:p>
        </p:txBody>
      </p:sp>
    </p:spTree>
  </p:cSld>
  <p:clrMapOvr>
    <a:masterClrMapping/>
  </p:clrMapOvr>
  <p:transition spd="med" advClick="1">
    <p:push dir="l"/>
  </p:transition>
</p:sld>
</file>

<file path=ppt/slides/slide7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1F6FEB"/>
                </a:solidFill>
                <a:latin typeface="Arial"/>
              </a:rPr>
              <a:t>TOPIC WEIGHTING 25%</a:t>
            </a:r>
          </a:p>
        </p:txBody>
      </p:sp>
      <p:sp>
        <p:nvSpPr>
          <p:cNvPr id="5" name="TextBox 4"/>
          <p:cNvSpPr txBox="1"/>
          <p:nvPr/>
        </p:nvSpPr>
        <p:spPr>
          <a:xfrm>
            <a:off x="777240" y="804672"/>
            <a:ext cx="10881360" cy="713232"/>
          </a:xfrm>
          <a:prstGeom prst="rect">
            <a:avLst/>
          </a:prstGeom>
          <a:noFill/>
        </p:spPr>
        <p:txBody>
          <a:bodyPr wrap="square" anchor="ctr">
            <a:spAutoFit/>
          </a:bodyPr>
          <a:lstStyle/>
          <a:p>
            <a:pPr algn="l">
              <a:spcAft>
                <a:spcPts val="400"/>
              </a:spcAft>
            </a:pPr>
            <a:r>
              <a:rPr sz="2900" b="1">
                <a:solidFill>
                  <a:srgbClr val="161B26"/>
                </a:solidFill>
                <a:latin typeface="Arial"/>
              </a:rPr>
              <a:t>Key Concepts — Deploying and Managing AI Agents</a:t>
            </a:r>
          </a:p>
        </p:txBody>
      </p:sp>
      <p:sp>
        <p:nvSpPr>
          <p:cNvPr id="6" name="Rectangle 5"/>
          <p:cNvSpPr/>
          <p:nvPr/>
        </p:nvSpPr>
        <p:spPr>
          <a:xfrm>
            <a:off x="777240" y="155448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77240" y="1783080"/>
            <a:ext cx="5180076" cy="129844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777240" y="1783080"/>
            <a:ext cx="91440" cy="1298448"/>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Oval 8"/>
          <p:cNvSpPr/>
          <p:nvPr/>
        </p:nvSpPr>
        <p:spPr>
          <a:xfrm>
            <a:off x="1033272" y="2157984"/>
            <a:ext cx="548640" cy="548640"/>
          </a:xfrm>
          <a:prstGeom prst="ellipse">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1033272" y="2157984"/>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1</a:t>
            </a:r>
          </a:p>
        </p:txBody>
      </p:sp>
      <p:sp>
        <p:nvSpPr>
          <p:cNvPr id="11" name="TextBox 10"/>
          <p:cNvSpPr txBox="1"/>
          <p:nvPr/>
        </p:nvSpPr>
        <p:spPr>
          <a:xfrm>
            <a:off x="1764792" y="1874520"/>
            <a:ext cx="3973068" cy="1152144"/>
          </a:xfrm>
          <a:prstGeom prst="rect">
            <a:avLst/>
          </a:prstGeom>
          <a:noFill/>
        </p:spPr>
        <p:txBody>
          <a:bodyPr wrap="square" anchor="ctr">
            <a:spAutoFit/>
          </a:bodyPr>
          <a:lstStyle/>
          <a:p>
            <a:pPr algn="l">
              <a:spcAft>
                <a:spcPts val="400"/>
              </a:spcAft>
            </a:pPr>
            <a:r>
              <a:rPr sz="1300" b="0">
                <a:solidFill>
                  <a:srgbClr val="161B26"/>
                </a:solidFill>
                <a:latin typeface="Arial"/>
              </a:rPr>
              <a:t>A routine is recurring work triggered by cron, webhook or API. Create it paused, prove it once by hand, and only then let the schedule own it.</a:t>
            </a:r>
          </a:p>
        </p:txBody>
      </p:sp>
      <p:sp>
        <p:nvSpPr>
          <p:cNvPr id="12" name="Rectangle 11"/>
          <p:cNvSpPr/>
          <p:nvPr/>
        </p:nvSpPr>
        <p:spPr>
          <a:xfrm>
            <a:off x="6231636" y="1783080"/>
            <a:ext cx="5180076" cy="129844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6231636" y="1783080"/>
            <a:ext cx="91440" cy="1298448"/>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Oval 13"/>
          <p:cNvSpPr/>
          <p:nvPr/>
        </p:nvSpPr>
        <p:spPr>
          <a:xfrm>
            <a:off x="6487668" y="2157984"/>
            <a:ext cx="548640" cy="548640"/>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487668" y="2157984"/>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2</a:t>
            </a:r>
          </a:p>
        </p:txBody>
      </p:sp>
      <p:sp>
        <p:nvSpPr>
          <p:cNvPr id="16" name="TextBox 15"/>
          <p:cNvSpPr txBox="1"/>
          <p:nvPr/>
        </p:nvSpPr>
        <p:spPr>
          <a:xfrm>
            <a:off x="7219188" y="1874520"/>
            <a:ext cx="3973068" cy="1152144"/>
          </a:xfrm>
          <a:prstGeom prst="rect">
            <a:avLst/>
          </a:prstGeom>
          <a:noFill/>
        </p:spPr>
        <p:txBody>
          <a:bodyPr wrap="square" anchor="ctr">
            <a:spAutoFit/>
          </a:bodyPr>
          <a:lstStyle/>
          <a:p>
            <a:pPr algn="l">
              <a:spcAft>
                <a:spcPts val="400"/>
              </a:spcAft>
            </a:pPr>
            <a:r>
              <a:rPr sz="1300" b="0">
                <a:solidFill>
                  <a:srgbClr val="161B26"/>
                </a:solidFill>
                <a:latin typeface="Arial"/>
              </a:rPr>
              <a:t>A schedule trigger is explicit — 30 16 * * * with an IANA timezone such as Asia/Singapore. An implicit timezone is a production incident waiting to happen.</a:t>
            </a:r>
          </a:p>
        </p:txBody>
      </p:sp>
      <p:sp>
        <p:nvSpPr>
          <p:cNvPr id="17" name="Rectangle 16"/>
          <p:cNvSpPr/>
          <p:nvPr/>
        </p:nvSpPr>
        <p:spPr>
          <a:xfrm>
            <a:off x="777240" y="3319272"/>
            <a:ext cx="5180076" cy="129844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777240" y="3319272"/>
            <a:ext cx="91440" cy="1298448"/>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Oval 18"/>
          <p:cNvSpPr/>
          <p:nvPr/>
        </p:nvSpPr>
        <p:spPr>
          <a:xfrm>
            <a:off x="1033272" y="3694176"/>
            <a:ext cx="548640" cy="548640"/>
          </a:xfrm>
          <a:prstGeom prst="ellipse">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1033272" y="3694176"/>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3</a:t>
            </a:r>
          </a:p>
        </p:txBody>
      </p:sp>
      <p:sp>
        <p:nvSpPr>
          <p:cNvPr id="21" name="TextBox 20"/>
          <p:cNvSpPr txBox="1"/>
          <p:nvPr/>
        </p:nvSpPr>
        <p:spPr>
          <a:xfrm>
            <a:off x="1764792" y="3410712"/>
            <a:ext cx="3973068" cy="1152144"/>
          </a:xfrm>
          <a:prstGeom prst="rect">
            <a:avLst/>
          </a:prstGeom>
          <a:noFill/>
        </p:spPr>
        <p:txBody>
          <a:bodyPr wrap="square" anchor="ctr">
            <a:spAutoFit/>
          </a:bodyPr>
          <a:lstStyle/>
          <a:p>
            <a:pPr algn="l">
              <a:spcAft>
                <a:spcPts val="400"/>
              </a:spcAft>
            </a:pPr>
            <a:r>
              <a:rPr sz="1300" b="0">
                <a:solidFill>
                  <a:srgbClr val="161B26"/>
                </a:solidFill>
                <a:latin typeface="Arial"/>
              </a:rPr>
              <a:t>Budgets have three scopes enforced in PARALLEL: company (monthly), agent (monthly) and project (lifetime). An agent can be paused by its own cap even when the company has budget left.</a:t>
            </a:r>
          </a:p>
        </p:txBody>
      </p:sp>
      <p:sp>
        <p:nvSpPr>
          <p:cNvPr id="22" name="Rectangle 21"/>
          <p:cNvSpPr/>
          <p:nvPr/>
        </p:nvSpPr>
        <p:spPr>
          <a:xfrm>
            <a:off x="6231636" y="3319272"/>
            <a:ext cx="5180076" cy="129844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ectangle 22"/>
          <p:cNvSpPr/>
          <p:nvPr/>
        </p:nvSpPr>
        <p:spPr>
          <a:xfrm>
            <a:off x="6231636" y="3319272"/>
            <a:ext cx="91440" cy="1298448"/>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Oval 23"/>
          <p:cNvSpPr/>
          <p:nvPr/>
        </p:nvSpPr>
        <p:spPr>
          <a:xfrm>
            <a:off x="6487668" y="3694176"/>
            <a:ext cx="548640" cy="548640"/>
          </a:xfrm>
          <a:prstGeom prst="ellipse">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6487668" y="3694176"/>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4</a:t>
            </a:r>
          </a:p>
        </p:txBody>
      </p:sp>
      <p:sp>
        <p:nvSpPr>
          <p:cNvPr id="26" name="TextBox 25"/>
          <p:cNvSpPr txBox="1"/>
          <p:nvPr/>
        </p:nvSpPr>
        <p:spPr>
          <a:xfrm>
            <a:off x="7219188" y="3410712"/>
            <a:ext cx="3973068" cy="1152144"/>
          </a:xfrm>
          <a:prstGeom prst="rect">
            <a:avLst/>
          </a:prstGeom>
          <a:noFill/>
        </p:spPr>
        <p:txBody>
          <a:bodyPr wrap="square" anchor="ctr">
            <a:spAutoFit/>
          </a:bodyPr>
          <a:lstStyle/>
          <a:p>
            <a:pPr algn="l">
              <a:spcAft>
                <a:spcPts val="400"/>
              </a:spcAft>
            </a:pPr>
            <a:r>
              <a:rPr sz="1300" b="0">
                <a:solidFill>
                  <a:srgbClr val="161B26"/>
                </a:solidFill>
                <a:latin typeface="Arial"/>
              </a:rPr>
              <a:t>Enforcement is a two-stage circuit breaker at exact thresholds: 80% utilisation records a warning and the agent keeps running; 100% pauses the agent automatically with pauseReason = budget. Enforcement happens at checkout, not at billing.</a:t>
            </a:r>
          </a:p>
        </p:txBody>
      </p:sp>
      <p:sp>
        <p:nvSpPr>
          <p:cNvPr id="27" name="Rectangle 26"/>
          <p:cNvSpPr/>
          <p:nvPr/>
        </p:nvSpPr>
        <p:spPr>
          <a:xfrm>
            <a:off x="777240" y="4855464"/>
            <a:ext cx="5180076" cy="129844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Rectangle 27"/>
          <p:cNvSpPr/>
          <p:nvPr/>
        </p:nvSpPr>
        <p:spPr>
          <a:xfrm>
            <a:off x="777240" y="4855464"/>
            <a:ext cx="91440" cy="1298448"/>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Oval 28"/>
          <p:cNvSpPr/>
          <p:nvPr/>
        </p:nvSpPr>
        <p:spPr>
          <a:xfrm>
            <a:off x="1033272" y="5230368"/>
            <a:ext cx="548640" cy="548640"/>
          </a:xfrm>
          <a:prstGeom prst="ellipse">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TextBox 29"/>
          <p:cNvSpPr txBox="1"/>
          <p:nvPr/>
        </p:nvSpPr>
        <p:spPr>
          <a:xfrm>
            <a:off x="1033272" y="5230368"/>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5</a:t>
            </a:r>
          </a:p>
        </p:txBody>
      </p:sp>
      <p:sp>
        <p:nvSpPr>
          <p:cNvPr id="31" name="TextBox 30"/>
          <p:cNvSpPr txBox="1"/>
          <p:nvPr/>
        </p:nvSpPr>
        <p:spPr>
          <a:xfrm>
            <a:off x="1764792" y="4946904"/>
            <a:ext cx="3973068" cy="1152144"/>
          </a:xfrm>
          <a:prstGeom prst="rect">
            <a:avLst/>
          </a:prstGeom>
          <a:noFill/>
        </p:spPr>
        <p:txBody>
          <a:bodyPr wrap="square" anchor="ctr">
            <a:spAutoFit/>
          </a:bodyPr>
          <a:lstStyle/>
          <a:p>
            <a:pPr algn="l">
              <a:spcAft>
                <a:spcPts val="400"/>
              </a:spcAft>
            </a:pPr>
            <a:r>
              <a:rPr sz="1300" b="0">
                <a:solidFill>
                  <a:srgbClr val="161B26"/>
                </a:solidFill>
                <a:latin typeface="Arial"/>
              </a:rPr>
              <a:t>Treat the budget as a two-stage circuit breaker — warn, then stop — and record the baseline spend and expected run frequency before you rely on it.</a:t>
            </a:r>
          </a:p>
        </p:txBody>
      </p:sp>
      <p:sp>
        <p:nvSpPr>
          <p:cNvPr id="32" name="TextBox 31"/>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Manage AI Agents with Paperclip (TGS-2023036646)  ·  TGS-2023036646</a:t>
            </a:r>
          </a:p>
        </p:txBody>
      </p:sp>
      <p:sp>
        <p:nvSpPr>
          <p:cNvPr id="33" name="TextBox 32"/>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34" name="TextBox 33"/>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79</a:t>
            </a:r>
          </a:p>
        </p:txBody>
      </p:sp>
    </p:spTree>
  </p:cSld>
  <p:clrMapOvr>
    <a:masterClrMapping/>
  </p:clrMapOvr>
  <p:transition spd="fast" advClick="1">
    <p:fade/>
  </p:transition>
</p:sld>
</file>

<file path=ppt/slides/slide8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1F6FEB"/>
                </a:solidFill>
                <a:latin typeface="Arial"/>
              </a:rPr>
              <a:t>TOPIC WEIGHTING 25%</a:t>
            </a:r>
          </a:p>
        </p:txBody>
      </p:sp>
      <p:sp>
        <p:nvSpPr>
          <p:cNvPr id="5" name="TextBox 4"/>
          <p:cNvSpPr txBox="1"/>
          <p:nvPr/>
        </p:nvSpPr>
        <p:spPr>
          <a:xfrm>
            <a:off x="777240" y="804672"/>
            <a:ext cx="10881360" cy="713232"/>
          </a:xfrm>
          <a:prstGeom prst="rect">
            <a:avLst/>
          </a:prstGeom>
          <a:noFill/>
        </p:spPr>
        <p:txBody>
          <a:bodyPr wrap="square" anchor="ctr">
            <a:spAutoFit/>
          </a:bodyPr>
          <a:lstStyle/>
          <a:p>
            <a:pPr algn="l">
              <a:spcAft>
                <a:spcPts val="400"/>
              </a:spcAft>
            </a:pPr>
            <a:r>
              <a:rPr sz="2500" b="1">
                <a:solidFill>
                  <a:srgbClr val="161B26"/>
                </a:solidFill>
                <a:latin typeface="Arial"/>
              </a:rPr>
              <a:t>Key Concepts — Deploying and Managing AI Agents (continued)</a:t>
            </a:r>
          </a:p>
        </p:txBody>
      </p:sp>
      <p:sp>
        <p:nvSpPr>
          <p:cNvPr id="6" name="Rectangle 5"/>
          <p:cNvSpPr/>
          <p:nvPr/>
        </p:nvSpPr>
        <p:spPr>
          <a:xfrm>
            <a:off x="777240" y="155448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77240" y="1783080"/>
            <a:ext cx="5180076" cy="129844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777240" y="1783080"/>
            <a:ext cx="91440" cy="1298448"/>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Oval 8"/>
          <p:cNvSpPr/>
          <p:nvPr/>
        </p:nvSpPr>
        <p:spPr>
          <a:xfrm>
            <a:off x="1033272" y="2157984"/>
            <a:ext cx="548640" cy="548640"/>
          </a:xfrm>
          <a:prstGeom prst="ellipse">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1033272" y="2157984"/>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1</a:t>
            </a:r>
          </a:p>
        </p:txBody>
      </p:sp>
      <p:sp>
        <p:nvSpPr>
          <p:cNvPr id="11" name="TextBox 10"/>
          <p:cNvSpPr txBox="1"/>
          <p:nvPr/>
        </p:nvSpPr>
        <p:spPr>
          <a:xfrm>
            <a:off x="1764792" y="1874520"/>
            <a:ext cx="3973068" cy="1152144"/>
          </a:xfrm>
          <a:prstGeom prst="rect">
            <a:avLst/>
          </a:prstGeom>
          <a:noFill/>
        </p:spPr>
        <p:txBody>
          <a:bodyPr wrap="square" anchor="ctr">
            <a:spAutoFit/>
          </a:bodyPr>
          <a:lstStyle/>
          <a:p>
            <a:pPr algn="l">
              <a:spcAft>
                <a:spcPts val="400"/>
              </a:spcAft>
            </a:pPr>
            <a:r>
              <a:rPr sz="1300" b="0">
                <a:solidFill>
                  <a:srgbClr val="161B26"/>
                </a:solidFill>
                <a:latin typeface="Arial"/>
              </a:rPr>
              <a:t>Cost is tracked at token level by provider, model, agent and project, which is what makes the per-agent cap meaningful rather than notional.</a:t>
            </a:r>
          </a:p>
        </p:txBody>
      </p:sp>
      <p:sp>
        <p:nvSpPr>
          <p:cNvPr id="12" name="Rectangle 11"/>
          <p:cNvSpPr/>
          <p:nvPr/>
        </p:nvSpPr>
        <p:spPr>
          <a:xfrm>
            <a:off x="6231636" y="1783080"/>
            <a:ext cx="5180076" cy="129844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6231636" y="1783080"/>
            <a:ext cx="91440" cy="1298448"/>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Oval 13"/>
          <p:cNvSpPr/>
          <p:nvPr/>
        </p:nvSpPr>
        <p:spPr>
          <a:xfrm>
            <a:off x="6487668" y="2157984"/>
            <a:ext cx="548640" cy="548640"/>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487668" y="2157984"/>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2</a:t>
            </a:r>
          </a:p>
        </p:txBody>
      </p:sp>
      <p:sp>
        <p:nvSpPr>
          <p:cNvPr id="16" name="TextBox 15"/>
          <p:cNvSpPr txBox="1"/>
          <p:nvPr/>
        </p:nvSpPr>
        <p:spPr>
          <a:xfrm>
            <a:off x="7219188" y="1874520"/>
            <a:ext cx="3973068" cy="1152144"/>
          </a:xfrm>
          <a:prstGeom prst="rect">
            <a:avLst/>
          </a:prstGeom>
          <a:noFill/>
        </p:spPr>
        <p:txBody>
          <a:bodyPr wrap="square" anchor="ctr">
            <a:spAutoFit/>
          </a:bodyPr>
          <a:lstStyle/>
          <a:p>
            <a:pPr algn="l">
              <a:spcAft>
                <a:spcPts val="400"/>
              </a:spcAft>
            </a:pPr>
            <a:r>
              <a:rPr sz="1300" b="0">
                <a:solidFill>
                  <a:srgbClr val="161B26"/>
                </a:solidFill>
                <a:latin typeface="Arial"/>
              </a:rPr>
              <a:t>Approvals come in three types — CEO Strategy, Hire Agent and Budget Override — and you have three responses: approve, reject, or request revision. Approvals never expire on their own, so a silent company is often an unattended approval queue.</a:t>
            </a:r>
          </a:p>
        </p:txBody>
      </p:sp>
      <p:sp>
        <p:nvSpPr>
          <p:cNvPr id="17" name="Rectangle 16"/>
          <p:cNvSpPr/>
          <p:nvPr/>
        </p:nvSpPr>
        <p:spPr>
          <a:xfrm>
            <a:off x="777240" y="3319272"/>
            <a:ext cx="5180076" cy="129844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777240" y="3319272"/>
            <a:ext cx="91440" cy="1298448"/>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Oval 18"/>
          <p:cNvSpPr/>
          <p:nvPr/>
        </p:nvSpPr>
        <p:spPr>
          <a:xfrm>
            <a:off x="1033272" y="3694176"/>
            <a:ext cx="548640" cy="548640"/>
          </a:xfrm>
          <a:prstGeom prst="ellipse">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1033272" y="3694176"/>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3</a:t>
            </a:r>
          </a:p>
        </p:txBody>
      </p:sp>
      <p:sp>
        <p:nvSpPr>
          <p:cNvPr id="21" name="TextBox 20"/>
          <p:cNvSpPr txBox="1"/>
          <p:nvPr/>
        </p:nvSpPr>
        <p:spPr>
          <a:xfrm>
            <a:off x="1764792" y="3410712"/>
            <a:ext cx="3973068" cy="1152144"/>
          </a:xfrm>
          <a:prstGeom prst="rect">
            <a:avLst/>
          </a:prstGeom>
          <a:noFill/>
        </p:spPr>
        <p:txBody>
          <a:bodyPr wrap="square" anchor="ctr">
            <a:spAutoFit/>
          </a:bodyPr>
          <a:lstStyle/>
          <a:p>
            <a:pPr algn="l">
              <a:spcAft>
                <a:spcPts val="400"/>
              </a:spcAft>
            </a:pPr>
            <a:r>
              <a:rPr sz="1300" b="0">
                <a:solidFill>
                  <a:srgbClr val="161B26"/>
                </a:solidFill>
                <a:latin typeface="Arial"/>
              </a:rPr>
              <a:t>The activity log is a durable record of mutations, heartbeats, cost events and approvals — the audit loop closes when the whole operation reconstructs from it.</a:t>
            </a:r>
          </a:p>
        </p:txBody>
      </p:sp>
      <p:sp>
        <p:nvSpPr>
          <p:cNvPr id="22" name="Rectangle 21"/>
          <p:cNvSpPr/>
          <p:nvPr/>
        </p:nvSpPr>
        <p:spPr>
          <a:xfrm>
            <a:off x="6231636" y="3319272"/>
            <a:ext cx="5180076" cy="129844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ectangle 22"/>
          <p:cNvSpPr/>
          <p:nvPr/>
        </p:nvSpPr>
        <p:spPr>
          <a:xfrm>
            <a:off x="6231636" y="3319272"/>
            <a:ext cx="91440" cy="1298448"/>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Oval 23"/>
          <p:cNvSpPr/>
          <p:nvPr/>
        </p:nvSpPr>
        <p:spPr>
          <a:xfrm>
            <a:off x="6487668" y="3694176"/>
            <a:ext cx="548640" cy="548640"/>
          </a:xfrm>
          <a:prstGeom prst="ellipse">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6487668" y="3694176"/>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4</a:t>
            </a:r>
          </a:p>
        </p:txBody>
      </p:sp>
      <p:sp>
        <p:nvSpPr>
          <p:cNvPr id="26" name="TextBox 25"/>
          <p:cNvSpPr txBox="1"/>
          <p:nvPr/>
        </p:nvSpPr>
        <p:spPr>
          <a:xfrm>
            <a:off x="7219188" y="3410712"/>
            <a:ext cx="3973068" cy="1152144"/>
          </a:xfrm>
          <a:prstGeom prst="rect">
            <a:avLst/>
          </a:prstGeom>
          <a:noFill/>
        </p:spPr>
        <p:txBody>
          <a:bodyPr wrap="square" anchor="ctr">
            <a:spAutoFit/>
          </a:bodyPr>
          <a:lstStyle/>
          <a:p>
            <a:pPr algn="l">
              <a:spcAft>
                <a:spcPts val="400"/>
              </a:spcAft>
            </a:pPr>
            <a:r>
              <a:rPr sz="1300" b="0">
                <a:solidFill>
                  <a:srgbClr val="161B26"/>
                </a:solidFill>
                <a:latin typeface="Arial"/>
              </a:rPr>
              <a:t>Use the least irreversible control first: inspect, pause, reassign, then terminate. Pause and heartbeat-off differ: heartbeat-off still wakes on assignment, comment, routine and on-demand; a paused agent wakes on nothing.</a:t>
            </a:r>
          </a:p>
        </p:txBody>
      </p:sp>
      <p:sp>
        <p:nvSpPr>
          <p:cNvPr id="27" name="Rectangle 26"/>
          <p:cNvSpPr/>
          <p:nvPr/>
        </p:nvSpPr>
        <p:spPr>
          <a:xfrm>
            <a:off x="777240" y="4855464"/>
            <a:ext cx="5180076" cy="129844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Rectangle 27"/>
          <p:cNvSpPr/>
          <p:nvPr/>
        </p:nvSpPr>
        <p:spPr>
          <a:xfrm>
            <a:off x="777240" y="4855464"/>
            <a:ext cx="91440" cy="1298448"/>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Oval 28"/>
          <p:cNvSpPr/>
          <p:nvPr/>
        </p:nvSpPr>
        <p:spPr>
          <a:xfrm>
            <a:off x="1033272" y="5230368"/>
            <a:ext cx="548640" cy="548640"/>
          </a:xfrm>
          <a:prstGeom prst="ellipse">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TextBox 29"/>
          <p:cNvSpPr txBox="1"/>
          <p:nvPr/>
        </p:nvSpPr>
        <p:spPr>
          <a:xfrm>
            <a:off x="1033272" y="5230368"/>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5</a:t>
            </a:r>
          </a:p>
        </p:txBody>
      </p:sp>
      <p:sp>
        <p:nvSpPr>
          <p:cNvPr id="31" name="TextBox 30"/>
          <p:cNvSpPr txBox="1"/>
          <p:nvPr/>
        </p:nvSpPr>
        <p:spPr>
          <a:xfrm>
            <a:off x="1764792" y="4946904"/>
            <a:ext cx="3973068" cy="1152144"/>
          </a:xfrm>
          <a:prstGeom prst="rect">
            <a:avLst/>
          </a:prstGeom>
          <a:noFill/>
        </p:spPr>
        <p:txBody>
          <a:bodyPr wrap="square" anchor="ctr">
            <a:spAutoFit/>
          </a:bodyPr>
          <a:lstStyle/>
          <a:p>
            <a:pPr algn="l">
              <a:spcAft>
                <a:spcPts val="400"/>
              </a:spcAft>
            </a:pPr>
            <a:r>
              <a:rPr sz="1300" b="0">
                <a:solidFill>
                  <a:srgbClr val="161B26"/>
                </a:solidFill>
                <a:latin typeface="Arial"/>
              </a:rPr>
              <a:t>Deployment modes are local_trusted (the default, no login), authenticated+private and authenticated+public, set with paperclipai configure --section server.</a:t>
            </a:r>
          </a:p>
        </p:txBody>
      </p:sp>
      <p:sp>
        <p:nvSpPr>
          <p:cNvPr id="32" name="TextBox 31"/>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Manage AI Agents with Paperclip (TGS-2023036646)  ·  TGS-2023036646</a:t>
            </a:r>
          </a:p>
        </p:txBody>
      </p:sp>
      <p:sp>
        <p:nvSpPr>
          <p:cNvPr id="33" name="TextBox 32"/>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34" name="TextBox 33"/>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80</a:t>
            </a:r>
          </a:p>
        </p:txBody>
      </p:sp>
    </p:spTree>
  </p:cSld>
  <p:clrMapOvr>
    <a:masterClrMapping/>
  </p:clrMapOvr>
  <p:transition spd="fast" advClick="1">
    <p:fade/>
  </p:transition>
</p:sld>
</file>

<file path=ppt/slides/slide8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1F6FEB"/>
                </a:solidFill>
                <a:latin typeface="Arial"/>
              </a:rPr>
              <a:t>TOPIC WEIGHTING 25%</a:t>
            </a:r>
          </a:p>
        </p:txBody>
      </p:sp>
      <p:sp>
        <p:nvSpPr>
          <p:cNvPr id="5" name="TextBox 4"/>
          <p:cNvSpPr txBox="1"/>
          <p:nvPr/>
        </p:nvSpPr>
        <p:spPr>
          <a:xfrm>
            <a:off x="777240" y="804672"/>
            <a:ext cx="10881360" cy="713232"/>
          </a:xfrm>
          <a:prstGeom prst="rect">
            <a:avLst/>
          </a:prstGeom>
          <a:noFill/>
        </p:spPr>
        <p:txBody>
          <a:bodyPr wrap="square" anchor="ctr">
            <a:spAutoFit/>
          </a:bodyPr>
          <a:lstStyle/>
          <a:p>
            <a:pPr algn="l">
              <a:spcAft>
                <a:spcPts val="400"/>
              </a:spcAft>
            </a:pPr>
            <a:r>
              <a:rPr sz="2500" b="1">
                <a:solidFill>
                  <a:srgbClr val="161B26"/>
                </a:solidFill>
                <a:latin typeface="Arial"/>
              </a:rPr>
              <a:t>Key Concepts — Deploying and Managing AI Agents (continued)</a:t>
            </a:r>
          </a:p>
        </p:txBody>
      </p:sp>
      <p:sp>
        <p:nvSpPr>
          <p:cNvPr id="6" name="Rectangle 5"/>
          <p:cNvSpPr/>
          <p:nvPr/>
        </p:nvSpPr>
        <p:spPr>
          <a:xfrm>
            <a:off x="777240" y="155448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77240" y="1783080"/>
            <a:ext cx="5180076" cy="2066544"/>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777240" y="1783080"/>
            <a:ext cx="91440" cy="2066544"/>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Oval 8"/>
          <p:cNvSpPr/>
          <p:nvPr/>
        </p:nvSpPr>
        <p:spPr>
          <a:xfrm>
            <a:off x="1033272" y="2542032"/>
            <a:ext cx="548640" cy="548640"/>
          </a:xfrm>
          <a:prstGeom prst="ellipse">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1033272" y="2542032"/>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1</a:t>
            </a:r>
          </a:p>
        </p:txBody>
      </p:sp>
      <p:sp>
        <p:nvSpPr>
          <p:cNvPr id="11" name="TextBox 10"/>
          <p:cNvSpPr txBox="1"/>
          <p:nvPr/>
        </p:nvSpPr>
        <p:spPr>
          <a:xfrm>
            <a:off x="1764792" y="1874520"/>
            <a:ext cx="3973068" cy="1920240"/>
          </a:xfrm>
          <a:prstGeom prst="rect">
            <a:avLst/>
          </a:prstGeom>
          <a:noFill/>
        </p:spPr>
        <p:txBody>
          <a:bodyPr wrap="square" anchor="ctr">
            <a:spAutoFit/>
          </a:bodyPr>
          <a:lstStyle/>
          <a:p>
            <a:pPr algn="l">
              <a:spcAft>
                <a:spcPts val="400"/>
              </a:spcAft>
            </a:pPr>
            <a:r>
              <a:rPr sz="1300" b="0">
                <a:solidFill>
                  <a:srgbClr val="161B26"/>
                </a:solidFill>
                <a:latin typeface="Arial"/>
              </a:rPr>
              <a:t>A hosted deployment REQUIRES PAPERCLIP_AGENT_JWT_SECRET and DATABASE_URL; PAPERCLIP_TOOL_ACTION_SIGNING_SECRET is separately documented as required with no fallback for TOOL-ACTION approvals.</a:t>
            </a:r>
          </a:p>
        </p:txBody>
      </p:sp>
      <p:sp>
        <p:nvSpPr>
          <p:cNvPr id="12" name="Rectangle 11"/>
          <p:cNvSpPr/>
          <p:nvPr/>
        </p:nvSpPr>
        <p:spPr>
          <a:xfrm>
            <a:off x="6231636" y="1783080"/>
            <a:ext cx="5180076" cy="2066544"/>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6231636" y="1783080"/>
            <a:ext cx="91440" cy="2066544"/>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Oval 13"/>
          <p:cNvSpPr/>
          <p:nvPr/>
        </p:nvSpPr>
        <p:spPr>
          <a:xfrm>
            <a:off x="6487668" y="2542032"/>
            <a:ext cx="548640" cy="548640"/>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487668" y="2542032"/>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2</a:t>
            </a:r>
          </a:p>
        </p:txBody>
      </p:sp>
      <p:sp>
        <p:nvSpPr>
          <p:cNvPr id="16" name="TextBox 15"/>
          <p:cNvSpPr txBox="1"/>
          <p:nvPr/>
        </p:nvSpPr>
        <p:spPr>
          <a:xfrm>
            <a:off x="7219188" y="1874520"/>
            <a:ext cx="3973068" cy="1920240"/>
          </a:xfrm>
          <a:prstGeom prst="rect">
            <a:avLst/>
          </a:prstGeom>
          <a:noFill/>
        </p:spPr>
        <p:txBody>
          <a:bodyPr wrap="square" anchor="ctr">
            <a:spAutoFit/>
          </a:bodyPr>
          <a:lstStyle/>
          <a:p>
            <a:pPr algn="l">
              <a:spcAft>
                <a:spcPts val="400"/>
              </a:spcAft>
            </a:pPr>
            <a:r>
              <a:rPr sz="1300" b="0">
                <a:solidFill>
                  <a:srgbClr val="161B26"/>
                </a:solidFill>
                <a:latin typeface="Arial"/>
              </a:rPr>
              <a:t>Portability means an entire company exports and imports with secrets scrubbed and collisions handled — the org chart is data, not a hand-built configuration.</a:t>
            </a:r>
          </a:p>
        </p:txBody>
      </p:sp>
      <p:sp>
        <p:nvSpPr>
          <p:cNvPr id="17" name="Rectangle 16"/>
          <p:cNvSpPr/>
          <p:nvPr/>
        </p:nvSpPr>
        <p:spPr>
          <a:xfrm>
            <a:off x="777240" y="4087368"/>
            <a:ext cx="5180076" cy="2066544"/>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777240" y="4087368"/>
            <a:ext cx="91440" cy="2066544"/>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Oval 18"/>
          <p:cNvSpPr/>
          <p:nvPr/>
        </p:nvSpPr>
        <p:spPr>
          <a:xfrm>
            <a:off x="1033272" y="4846320"/>
            <a:ext cx="548640" cy="548640"/>
          </a:xfrm>
          <a:prstGeom prst="ellipse">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1033272" y="4846320"/>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3</a:t>
            </a:r>
          </a:p>
        </p:txBody>
      </p:sp>
      <p:sp>
        <p:nvSpPr>
          <p:cNvPr id="21" name="TextBox 20"/>
          <p:cNvSpPr txBox="1"/>
          <p:nvPr/>
        </p:nvSpPr>
        <p:spPr>
          <a:xfrm>
            <a:off x="1764792" y="4178808"/>
            <a:ext cx="3973068" cy="1920240"/>
          </a:xfrm>
          <a:prstGeom prst="rect">
            <a:avLst/>
          </a:prstGeom>
          <a:noFill/>
        </p:spPr>
        <p:txBody>
          <a:bodyPr wrap="square" anchor="ctr">
            <a:spAutoFit/>
          </a:bodyPr>
          <a:lstStyle/>
          <a:p>
            <a:pPr algn="l">
              <a:spcAft>
                <a:spcPts val="400"/>
              </a:spcAft>
            </a:pPr>
            <a:r>
              <a:rPr sz="1300" b="0">
                <a:solidFill>
                  <a:srgbClr val="161B26"/>
                </a:solidFill>
                <a:latin typeface="Arial"/>
              </a:rPr>
              <a:t>Troubleshooting is a discipline: reproduce, isolate the layer, change one setting, re-verify with evidence, and record what the fix actually proved.</a:t>
            </a:r>
          </a:p>
        </p:txBody>
      </p:sp>
      <p:sp>
        <p:nvSpPr>
          <p:cNvPr id="22" name="TextBox 21"/>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Manage AI Agents with Paperclip (TGS-2023036646)  ·  TGS-2023036646</a:t>
            </a:r>
          </a:p>
        </p:txBody>
      </p:sp>
      <p:sp>
        <p:nvSpPr>
          <p:cNvPr id="23" name="TextBox 22"/>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24" name="TextBox 23"/>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81</a:t>
            </a:r>
          </a:p>
        </p:txBody>
      </p:sp>
    </p:spTree>
  </p:cSld>
  <p:clrMapOvr>
    <a:masterClrMapping/>
  </p:clrMapOvr>
  <p:transition spd="fast" advClick="1">
    <p:fade/>
  </p:transition>
</p:sld>
</file>

<file path=ppt/slides/slide8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7C3AED"/>
                </a:solidFill>
                <a:latin typeface="Arial"/>
              </a:rPr>
              <a:t>LO4 · COST CONTROL AS A CIRCUIT BREAKER</a:t>
            </a:r>
          </a:p>
        </p:txBody>
      </p:sp>
      <p:sp>
        <p:nvSpPr>
          <p:cNvPr id="5" name="TextBox 4"/>
          <p:cNvSpPr txBox="1"/>
          <p:nvPr/>
        </p:nvSpPr>
        <p:spPr>
          <a:xfrm>
            <a:off x="777240" y="804672"/>
            <a:ext cx="10881360" cy="713232"/>
          </a:xfrm>
          <a:prstGeom prst="rect">
            <a:avLst/>
          </a:prstGeom>
          <a:noFill/>
        </p:spPr>
        <p:txBody>
          <a:bodyPr wrap="square" anchor="ctr">
            <a:spAutoFit/>
          </a:bodyPr>
          <a:lstStyle/>
          <a:p>
            <a:pPr algn="l">
              <a:spcAft>
                <a:spcPts val="400"/>
              </a:spcAft>
            </a:pPr>
            <a:r>
              <a:rPr sz="2900" b="1">
                <a:solidFill>
                  <a:srgbClr val="161B26"/>
                </a:solidFill>
                <a:latin typeface="Arial"/>
              </a:rPr>
              <a:t>Layered Budgets — Warn, Then Stop</a:t>
            </a:r>
          </a:p>
        </p:txBody>
      </p:sp>
      <p:sp>
        <p:nvSpPr>
          <p:cNvPr id="6" name="Rectangle 5"/>
          <p:cNvSpPr/>
          <p:nvPr/>
        </p:nvSpPr>
        <p:spPr>
          <a:xfrm>
            <a:off x="777240" y="155448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7" name="Picture 6" descr="diagram-layered-budgets.png"/>
          <p:cNvPicPr>
            <a:picLocks noChangeAspect="1"/>
          </p:cNvPicPr>
          <p:nvPr/>
        </p:nvPicPr>
        <p:blipFill>
          <a:blip r:embed="rId2"/>
          <a:stretch>
            <a:fillRect/>
          </a:stretch>
        </p:blipFill>
        <p:spPr>
          <a:xfrm>
            <a:off x="777240" y="2102522"/>
            <a:ext cx="6812280" cy="3640507"/>
          </a:xfrm>
          <a:prstGeom prst="rect">
            <a:avLst/>
          </a:prstGeom>
        </p:spPr>
      </p:pic>
      <p:sp>
        <p:nvSpPr>
          <p:cNvPr id="8" name="Rectangle 7"/>
          <p:cNvSpPr/>
          <p:nvPr/>
        </p:nvSpPr>
        <p:spPr>
          <a:xfrm>
            <a:off x="7882127" y="1810512"/>
            <a:ext cx="3529584" cy="987552"/>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7882127" y="1810512"/>
            <a:ext cx="3529584" cy="82296"/>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8083295" y="1975104"/>
            <a:ext cx="3127248" cy="310896"/>
          </a:xfrm>
          <a:prstGeom prst="rect">
            <a:avLst/>
          </a:prstGeom>
          <a:noFill/>
        </p:spPr>
        <p:txBody>
          <a:bodyPr wrap="square" anchor="t">
            <a:spAutoFit/>
          </a:bodyPr>
          <a:lstStyle/>
          <a:p>
            <a:pPr algn="l">
              <a:spcAft>
                <a:spcPts val="400"/>
              </a:spcAft>
            </a:pPr>
            <a:r>
              <a:rPr sz="1350" b="1">
                <a:solidFill>
                  <a:srgbClr val="1F6FEB"/>
                </a:solidFill>
                <a:latin typeface="Arial"/>
              </a:rPr>
              <a:t>Three rings</a:t>
            </a:r>
          </a:p>
        </p:txBody>
      </p:sp>
      <p:sp>
        <p:nvSpPr>
          <p:cNvPr id="11" name="TextBox 10"/>
          <p:cNvSpPr txBox="1"/>
          <p:nvPr/>
        </p:nvSpPr>
        <p:spPr>
          <a:xfrm>
            <a:off x="8083295" y="2322576"/>
            <a:ext cx="3127248" cy="384048"/>
          </a:xfrm>
          <a:prstGeom prst="rect">
            <a:avLst/>
          </a:prstGeom>
          <a:noFill/>
        </p:spPr>
        <p:txBody>
          <a:bodyPr wrap="square" anchor="t">
            <a:spAutoFit/>
          </a:bodyPr>
          <a:lstStyle/>
          <a:p>
            <a:pPr algn="l">
              <a:spcAft>
                <a:spcPts val="400"/>
              </a:spcAft>
            </a:pPr>
            <a:r>
              <a:rPr sz="900" b="0">
                <a:solidFill>
                  <a:srgbClr val="161B26"/>
                </a:solidFill>
                <a:latin typeface="Arial"/>
              </a:rPr>
              <a:t>Company, project and agent — the innermost cap that binds fires first.</a:t>
            </a:r>
          </a:p>
        </p:txBody>
      </p:sp>
      <p:sp>
        <p:nvSpPr>
          <p:cNvPr id="12" name="Rectangle 11"/>
          <p:cNvSpPr/>
          <p:nvPr/>
        </p:nvSpPr>
        <p:spPr>
          <a:xfrm>
            <a:off x="7882127" y="2944368"/>
            <a:ext cx="3529584" cy="84124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7882127" y="2944368"/>
            <a:ext cx="3529584" cy="82296"/>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8083295" y="3108960"/>
            <a:ext cx="3127248" cy="310896"/>
          </a:xfrm>
          <a:prstGeom prst="rect">
            <a:avLst/>
          </a:prstGeom>
          <a:noFill/>
        </p:spPr>
        <p:txBody>
          <a:bodyPr wrap="square" anchor="t">
            <a:spAutoFit/>
          </a:bodyPr>
          <a:lstStyle/>
          <a:p>
            <a:pPr algn="l">
              <a:spcAft>
                <a:spcPts val="400"/>
              </a:spcAft>
            </a:pPr>
            <a:r>
              <a:rPr sz="1350" b="1">
                <a:solidFill>
                  <a:srgbClr val="10B981"/>
                </a:solidFill>
                <a:latin typeface="Arial"/>
              </a:rPr>
              <a:t>Enforced at checkout</a:t>
            </a:r>
          </a:p>
        </p:txBody>
      </p:sp>
      <p:sp>
        <p:nvSpPr>
          <p:cNvPr id="15" name="TextBox 14"/>
          <p:cNvSpPr txBox="1"/>
          <p:nvPr/>
        </p:nvSpPr>
        <p:spPr>
          <a:xfrm>
            <a:off x="8083295" y="3456432"/>
            <a:ext cx="3127248" cy="237744"/>
          </a:xfrm>
          <a:prstGeom prst="rect">
            <a:avLst/>
          </a:prstGeom>
          <a:noFill/>
        </p:spPr>
        <p:txBody>
          <a:bodyPr wrap="square" anchor="t">
            <a:spAutoFit/>
          </a:bodyPr>
          <a:lstStyle/>
          <a:p>
            <a:pPr algn="l">
              <a:spcAft>
                <a:spcPts val="400"/>
              </a:spcAft>
            </a:pPr>
            <a:r>
              <a:rPr sz="900" b="0">
                <a:solidFill>
                  <a:srgbClr val="161B26"/>
                </a:solidFill>
                <a:latin typeface="Arial"/>
              </a:rPr>
              <a:t>Not at billing. The loop stops at the ceiling.</a:t>
            </a:r>
          </a:p>
        </p:txBody>
      </p:sp>
      <p:sp>
        <p:nvSpPr>
          <p:cNvPr id="16" name="Rectangle 15"/>
          <p:cNvSpPr/>
          <p:nvPr/>
        </p:nvSpPr>
        <p:spPr>
          <a:xfrm>
            <a:off x="7882127" y="3931920"/>
            <a:ext cx="3529584" cy="987552"/>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7882127" y="3931920"/>
            <a:ext cx="3529584" cy="82296"/>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8083295" y="4096512"/>
            <a:ext cx="3127248" cy="310896"/>
          </a:xfrm>
          <a:prstGeom prst="rect">
            <a:avLst/>
          </a:prstGeom>
          <a:noFill/>
        </p:spPr>
        <p:txBody>
          <a:bodyPr wrap="square" anchor="t">
            <a:spAutoFit/>
          </a:bodyPr>
          <a:lstStyle/>
          <a:p>
            <a:pPr algn="l">
              <a:spcAft>
                <a:spcPts val="400"/>
              </a:spcAft>
            </a:pPr>
            <a:r>
              <a:rPr sz="1350" b="1">
                <a:solidFill>
                  <a:srgbClr val="7C3AED"/>
                </a:solidFill>
                <a:latin typeface="Arial"/>
              </a:rPr>
              <a:t>Baseline first</a:t>
            </a:r>
          </a:p>
        </p:txBody>
      </p:sp>
      <p:sp>
        <p:nvSpPr>
          <p:cNvPr id="19" name="TextBox 18"/>
          <p:cNvSpPr txBox="1"/>
          <p:nvPr/>
        </p:nvSpPr>
        <p:spPr>
          <a:xfrm>
            <a:off x="8083295" y="4443984"/>
            <a:ext cx="3127248" cy="384048"/>
          </a:xfrm>
          <a:prstGeom prst="rect">
            <a:avLst/>
          </a:prstGeom>
          <a:noFill/>
        </p:spPr>
        <p:txBody>
          <a:bodyPr wrap="square" anchor="t">
            <a:spAutoFit/>
          </a:bodyPr>
          <a:lstStyle/>
          <a:p>
            <a:pPr algn="l">
              <a:spcAft>
                <a:spcPts val="400"/>
              </a:spcAft>
            </a:pPr>
            <a:r>
              <a:rPr sz="900" b="0">
                <a:solidFill>
                  <a:srgbClr val="161B26"/>
                </a:solidFill>
                <a:latin typeface="Arial"/>
              </a:rPr>
              <a:t>Record current spend and expected run frequency before you rely on a cap.</a:t>
            </a:r>
          </a:p>
        </p:txBody>
      </p:sp>
      <p:sp>
        <p:nvSpPr>
          <p:cNvPr id="20" name="Rectangle 19"/>
          <p:cNvSpPr/>
          <p:nvPr/>
        </p:nvSpPr>
        <p:spPr>
          <a:xfrm>
            <a:off x="7882127" y="5065776"/>
            <a:ext cx="3529584" cy="987552"/>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ectangle 20"/>
          <p:cNvSpPr/>
          <p:nvPr/>
        </p:nvSpPr>
        <p:spPr>
          <a:xfrm>
            <a:off x="7882127" y="5065776"/>
            <a:ext cx="3529584" cy="82296"/>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8083295" y="5230368"/>
            <a:ext cx="3127248" cy="310896"/>
          </a:xfrm>
          <a:prstGeom prst="rect">
            <a:avLst/>
          </a:prstGeom>
          <a:noFill/>
        </p:spPr>
        <p:txBody>
          <a:bodyPr wrap="square" anchor="t">
            <a:spAutoFit/>
          </a:bodyPr>
          <a:lstStyle/>
          <a:p>
            <a:pPr algn="l">
              <a:spcAft>
                <a:spcPts val="400"/>
              </a:spcAft>
            </a:pPr>
            <a:r>
              <a:rPr sz="1350" b="1">
                <a:solidFill>
                  <a:srgbClr val="F59E0B"/>
                </a:solidFill>
                <a:latin typeface="Arial"/>
              </a:rPr>
              <a:t>Token-level costing</a:t>
            </a:r>
          </a:p>
        </p:txBody>
      </p:sp>
      <p:sp>
        <p:nvSpPr>
          <p:cNvPr id="23" name="TextBox 22"/>
          <p:cNvSpPr txBox="1"/>
          <p:nvPr/>
        </p:nvSpPr>
        <p:spPr>
          <a:xfrm>
            <a:off x="8083295" y="5577840"/>
            <a:ext cx="3127248" cy="384048"/>
          </a:xfrm>
          <a:prstGeom prst="rect">
            <a:avLst/>
          </a:prstGeom>
          <a:noFill/>
        </p:spPr>
        <p:txBody>
          <a:bodyPr wrap="square" anchor="t">
            <a:spAutoFit/>
          </a:bodyPr>
          <a:lstStyle/>
          <a:p>
            <a:pPr algn="l">
              <a:spcAft>
                <a:spcPts val="400"/>
              </a:spcAft>
            </a:pPr>
            <a:r>
              <a:rPr sz="900" b="0">
                <a:solidFill>
                  <a:srgbClr val="161B26"/>
                </a:solidFill>
                <a:latin typeface="Arial"/>
              </a:rPr>
              <a:t>Tracked by provider, model, agent and project — which is what makes the cap meaningful.</a:t>
            </a:r>
          </a:p>
        </p:txBody>
      </p:sp>
      <p:sp>
        <p:nvSpPr>
          <p:cNvPr id="24" name="TextBox 23"/>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Manage AI Agents with Paperclip (TGS-2023036646)  ·  TGS-2023036646</a:t>
            </a:r>
          </a:p>
        </p:txBody>
      </p:sp>
      <p:sp>
        <p:nvSpPr>
          <p:cNvPr id="25" name="TextBox 24"/>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26" name="TextBox 25"/>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82</a:t>
            </a:r>
          </a:p>
        </p:txBody>
      </p:sp>
    </p:spTree>
  </p:cSld>
  <p:clrMapOvr>
    <a:masterClrMapping/>
  </p:clrMapOvr>
  <p:transition spd="fast" advClick="1">
    <p:fade/>
  </p:transition>
</p:sld>
</file>

<file path=ppt/slides/slide8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F59E0B"/>
                </a:solidFill>
                <a:latin typeface="Arial"/>
              </a:rPr>
              <a:t>LO4 · THE ENGINEERING ARGUMENT</a:t>
            </a:r>
          </a:p>
        </p:txBody>
      </p:sp>
      <p:sp>
        <p:nvSpPr>
          <p:cNvPr id="5" name="TextBox 4"/>
          <p:cNvSpPr txBox="1"/>
          <p:nvPr/>
        </p:nvSpPr>
        <p:spPr>
          <a:xfrm>
            <a:off x="777240" y="804672"/>
            <a:ext cx="10881360" cy="713232"/>
          </a:xfrm>
          <a:prstGeom prst="rect">
            <a:avLst/>
          </a:prstGeom>
          <a:noFill/>
        </p:spPr>
        <p:txBody>
          <a:bodyPr wrap="square" anchor="ctr">
            <a:spAutoFit/>
          </a:bodyPr>
          <a:lstStyle/>
          <a:p>
            <a:pPr algn="l">
              <a:spcAft>
                <a:spcPts val="400"/>
              </a:spcAft>
            </a:pPr>
            <a:r>
              <a:rPr sz="2900" b="1">
                <a:solidFill>
                  <a:srgbClr val="161B26"/>
                </a:solidFill>
                <a:latin typeface="Arial"/>
              </a:rPr>
              <a:t>Why the Cap Is Enforced at Checkout</a:t>
            </a:r>
          </a:p>
        </p:txBody>
      </p:sp>
      <p:sp>
        <p:nvSpPr>
          <p:cNvPr id="6" name="Rectangle 5"/>
          <p:cNvSpPr/>
          <p:nvPr/>
        </p:nvSpPr>
        <p:spPr>
          <a:xfrm>
            <a:off x="777240" y="155448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7" name="Picture 6" descr="chart-budget-burndown.png"/>
          <p:cNvPicPr>
            <a:picLocks noChangeAspect="1"/>
          </p:cNvPicPr>
          <p:nvPr/>
        </p:nvPicPr>
        <p:blipFill>
          <a:blip r:embed="rId2"/>
          <a:stretch>
            <a:fillRect/>
          </a:stretch>
        </p:blipFill>
        <p:spPr>
          <a:xfrm>
            <a:off x="777240" y="2205354"/>
            <a:ext cx="6812280" cy="3434843"/>
          </a:xfrm>
          <a:prstGeom prst="rect">
            <a:avLst/>
          </a:prstGeom>
        </p:spPr>
      </p:pic>
      <p:sp>
        <p:nvSpPr>
          <p:cNvPr id="8" name="Rectangle 7"/>
          <p:cNvSpPr/>
          <p:nvPr/>
        </p:nvSpPr>
        <p:spPr>
          <a:xfrm>
            <a:off x="7882127" y="1810512"/>
            <a:ext cx="3529584" cy="987552"/>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7882127" y="1810512"/>
            <a:ext cx="3529584" cy="82296"/>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8083295" y="1975104"/>
            <a:ext cx="3127248" cy="310896"/>
          </a:xfrm>
          <a:prstGeom prst="rect">
            <a:avLst/>
          </a:prstGeom>
          <a:noFill/>
        </p:spPr>
        <p:txBody>
          <a:bodyPr wrap="square" anchor="t">
            <a:spAutoFit/>
          </a:bodyPr>
          <a:lstStyle/>
          <a:p>
            <a:pPr algn="l">
              <a:spcAft>
                <a:spcPts val="400"/>
              </a:spcAft>
            </a:pPr>
            <a:r>
              <a:rPr sz="1350" b="1">
                <a:solidFill>
                  <a:srgbClr val="1F6FEB"/>
                </a:solidFill>
                <a:latin typeface="Arial"/>
              </a:rPr>
              <a:t>Without a cap</a:t>
            </a:r>
          </a:p>
        </p:txBody>
      </p:sp>
      <p:sp>
        <p:nvSpPr>
          <p:cNvPr id="11" name="TextBox 10"/>
          <p:cNvSpPr txBox="1"/>
          <p:nvPr/>
        </p:nvSpPr>
        <p:spPr>
          <a:xfrm>
            <a:off x="8083295" y="2322576"/>
            <a:ext cx="3127248" cy="384048"/>
          </a:xfrm>
          <a:prstGeom prst="rect">
            <a:avLst/>
          </a:prstGeom>
          <a:noFill/>
        </p:spPr>
        <p:txBody>
          <a:bodyPr wrap="square" anchor="t">
            <a:spAutoFit/>
          </a:bodyPr>
          <a:lstStyle/>
          <a:p>
            <a:pPr algn="l">
              <a:spcAft>
                <a:spcPts val="400"/>
              </a:spcAft>
            </a:pPr>
            <a:r>
              <a:rPr sz="900" b="0">
                <a:solidFill>
                  <a:srgbClr val="161B26"/>
                </a:solidFill>
                <a:latin typeface="Arial"/>
              </a:rPr>
              <a:t>A runaway loop keeps spending until someone notices the invoice.</a:t>
            </a:r>
          </a:p>
        </p:txBody>
      </p:sp>
      <p:sp>
        <p:nvSpPr>
          <p:cNvPr id="12" name="Rectangle 11"/>
          <p:cNvSpPr/>
          <p:nvPr/>
        </p:nvSpPr>
        <p:spPr>
          <a:xfrm>
            <a:off x="7882127" y="2944368"/>
            <a:ext cx="3529584" cy="987552"/>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7882127" y="2944368"/>
            <a:ext cx="3529584" cy="82296"/>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8083295" y="3108960"/>
            <a:ext cx="3127248" cy="310896"/>
          </a:xfrm>
          <a:prstGeom prst="rect">
            <a:avLst/>
          </a:prstGeom>
          <a:noFill/>
        </p:spPr>
        <p:txBody>
          <a:bodyPr wrap="square" anchor="t">
            <a:spAutoFit/>
          </a:bodyPr>
          <a:lstStyle/>
          <a:p>
            <a:pPr algn="l">
              <a:spcAft>
                <a:spcPts val="400"/>
              </a:spcAft>
            </a:pPr>
            <a:r>
              <a:rPr sz="1350" b="1">
                <a:solidFill>
                  <a:srgbClr val="10B981"/>
                </a:solidFill>
                <a:latin typeface="Arial"/>
              </a:rPr>
              <a:t>With a cap</a:t>
            </a:r>
          </a:p>
        </p:txBody>
      </p:sp>
      <p:sp>
        <p:nvSpPr>
          <p:cNvPr id="15" name="TextBox 14"/>
          <p:cNvSpPr txBox="1"/>
          <p:nvPr/>
        </p:nvSpPr>
        <p:spPr>
          <a:xfrm>
            <a:off x="8083295" y="3456432"/>
            <a:ext cx="3127248" cy="384048"/>
          </a:xfrm>
          <a:prstGeom prst="rect">
            <a:avLst/>
          </a:prstGeom>
          <a:noFill/>
        </p:spPr>
        <p:txBody>
          <a:bodyPr wrap="square" anchor="t">
            <a:spAutoFit/>
          </a:bodyPr>
          <a:lstStyle/>
          <a:p>
            <a:pPr algn="l">
              <a:spcAft>
                <a:spcPts val="400"/>
              </a:spcAft>
            </a:pPr>
            <a:r>
              <a:rPr sz="900" b="0">
                <a:solidFill>
                  <a:srgbClr val="161B26"/>
                </a:solidFill>
                <a:latin typeface="Arial"/>
              </a:rPr>
              <a:t>Spend flattens at the ceiling and the agent simply stops.</a:t>
            </a:r>
          </a:p>
        </p:txBody>
      </p:sp>
      <p:sp>
        <p:nvSpPr>
          <p:cNvPr id="16" name="Rectangle 15"/>
          <p:cNvSpPr/>
          <p:nvPr/>
        </p:nvSpPr>
        <p:spPr>
          <a:xfrm>
            <a:off x="7882127" y="4078224"/>
            <a:ext cx="3529584" cy="987552"/>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7882127" y="4078224"/>
            <a:ext cx="3529584" cy="82296"/>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8083295" y="4242816"/>
            <a:ext cx="3127248" cy="310896"/>
          </a:xfrm>
          <a:prstGeom prst="rect">
            <a:avLst/>
          </a:prstGeom>
          <a:noFill/>
        </p:spPr>
        <p:txBody>
          <a:bodyPr wrap="square" anchor="t">
            <a:spAutoFit/>
          </a:bodyPr>
          <a:lstStyle/>
          <a:p>
            <a:pPr algn="l">
              <a:spcAft>
                <a:spcPts val="400"/>
              </a:spcAft>
            </a:pPr>
            <a:r>
              <a:rPr sz="1350" b="1">
                <a:solidFill>
                  <a:srgbClr val="7C3AED"/>
                </a:solidFill>
                <a:latin typeface="Arial"/>
              </a:rPr>
              <a:t>The cap is a control</a:t>
            </a:r>
          </a:p>
        </p:txBody>
      </p:sp>
      <p:sp>
        <p:nvSpPr>
          <p:cNvPr id="19" name="TextBox 18"/>
          <p:cNvSpPr txBox="1"/>
          <p:nvPr/>
        </p:nvSpPr>
        <p:spPr>
          <a:xfrm>
            <a:off x="8083295" y="4590288"/>
            <a:ext cx="3127248" cy="384048"/>
          </a:xfrm>
          <a:prstGeom prst="rect">
            <a:avLst/>
          </a:prstGeom>
          <a:noFill/>
        </p:spPr>
        <p:txBody>
          <a:bodyPr wrap="square" anchor="t">
            <a:spAutoFit/>
          </a:bodyPr>
          <a:lstStyle/>
          <a:p>
            <a:pPr algn="l">
              <a:spcAft>
                <a:spcPts val="400"/>
              </a:spcAft>
            </a:pPr>
            <a:r>
              <a:rPr sz="900" b="0">
                <a:solidFill>
                  <a:srgbClr val="161B26"/>
                </a:solidFill>
                <a:latin typeface="Arial"/>
              </a:rPr>
              <a:t>Not a budget estimate — it is the thing that makes unattended operation safe.</a:t>
            </a:r>
          </a:p>
        </p:txBody>
      </p:sp>
      <p:sp>
        <p:nvSpPr>
          <p:cNvPr id="20" name="Rectangle 19"/>
          <p:cNvSpPr/>
          <p:nvPr/>
        </p:nvSpPr>
        <p:spPr>
          <a:xfrm>
            <a:off x="7882127" y="5212080"/>
            <a:ext cx="3529584" cy="987552"/>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ectangle 20"/>
          <p:cNvSpPr/>
          <p:nvPr/>
        </p:nvSpPr>
        <p:spPr>
          <a:xfrm>
            <a:off x="7882127" y="5212080"/>
            <a:ext cx="3529584" cy="82296"/>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8083295" y="5376672"/>
            <a:ext cx="3127248" cy="310896"/>
          </a:xfrm>
          <a:prstGeom prst="rect">
            <a:avLst/>
          </a:prstGeom>
          <a:noFill/>
        </p:spPr>
        <p:txBody>
          <a:bodyPr wrap="square" anchor="t">
            <a:spAutoFit/>
          </a:bodyPr>
          <a:lstStyle/>
          <a:p>
            <a:pPr algn="l">
              <a:spcAft>
                <a:spcPts val="400"/>
              </a:spcAft>
            </a:pPr>
            <a:r>
              <a:rPr sz="1350" b="1">
                <a:solidFill>
                  <a:srgbClr val="F59E0B"/>
                </a:solidFill>
                <a:latin typeface="Arial"/>
              </a:rPr>
              <a:t>Set it below the pain</a:t>
            </a:r>
          </a:p>
        </p:txBody>
      </p:sp>
      <p:sp>
        <p:nvSpPr>
          <p:cNvPr id="23" name="TextBox 22"/>
          <p:cNvSpPr txBox="1"/>
          <p:nvPr/>
        </p:nvSpPr>
        <p:spPr>
          <a:xfrm>
            <a:off x="8083295" y="5724144"/>
            <a:ext cx="3127248" cy="384048"/>
          </a:xfrm>
          <a:prstGeom prst="rect">
            <a:avLst/>
          </a:prstGeom>
          <a:noFill/>
        </p:spPr>
        <p:txBody>
          <a:bodyPr wrap="square" anchor="t">
            <a:spAutoFit/>
          </a:bodyPr>
          <a:lstStyle/>
          <a:p>
            <a:pPr algn="l">
              <a:spcAft>
                <a:spcPts val="400"/>
              </a:spcAft>
            </a:pPr>
            <a:r>
              <a:rPr sz="900" b="0">
                <a:solidFill>
                  <a:srgbClr val="161B26"/>
                </a:solidFill>
                <a:latin typeface="Arial"/>
              </a:rPr>
              <a:t>A cap you would be unhappy to actually pay is set too high.</a:t>
            </a:r>
          </a:p>
        </p:txBody>
      </p:sp>
      <p:sp>
        <p:nvSpPr>
          <p:cNvPr id="24" name="TextBox 23"/>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Manage AI Agents with Paperclip (TGS-2023036646)  ·  TGS-2023036646</a:t>
            </a:r>
          </a:p>
        </p:txBody>
      </p:sp>
      <p:sp>
        <p:nvSpPr>
          <p:cNvPr id="25" name="TextBox 24"/>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26" name="TextBox 25"/>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83</a:t>
            </a:r>
          </a:p>
        </p:txBody>
      </p:sp>
    </p:spTree>
  </p:cSld>
  <p:clrMapOvr>
    <a:masterClrMapping/>
  </p:clrMapOvr>
  <p:transition spd="fast" advClick="1">
    <p:fade/>
  </p:transition>
</p:sld>
</file>

<file path=ppt/slides/slide8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10B981"/>
                </a:solidFill>
                <a:latin typeface="Arial"/>
              </a:rPr>
              <a:t>LO4 · SCHEDULED WORK</a:t>
            </a:r>
          </a:p>
        </p:txBody>
      </p:sp>
      <p:sp>
        <p:nvSpPr>
          <p:cNvPr id="5" name="TextBox 4"/>
          <p:cNvSpPr txBox="1"/>
          <p:nvPr/>
        </p:nvSpPr>
        <p:spPr>
          <a:xfrm>
            <a:off x="777240" y="804672"/>
            <a:ext cx="10881360" cy="713232"/>
          </a:xfrm>
          <a:prstGeom prst="rect">
            <a:avLst/>
          </a:prstGeom>
          <a:noFill/>
        </p:spPr>
        <p:txBody>
          <a:bodyPr wrap="square" anchor="ctr">
            <a:spAutoFit/>
          </a:bodyPr>
          <a:lstStyle/>
          <a:p>
            <a:pPr algn="l">
              <a:spcAft>
                <a:spcPts val="400"/>
              </a:spcAft>
            </a:pPr>
            <a:r>
              <a:rPr sz="2900" b="1">
                <a:solidFill>
                  <a:srgbClr val="161B26"/>
                </a:solidFill>
                <a:latin typeface="Arial"/>
              </a:rPr>
              <a:t>Routines — Automation Earns the Schedule</a:t>
            </a:r>
          </a:p>
        </p:txBody>
      </p:sp>
      <p:sp>
        <p:nvSpPr>
          <p:cNvPr id="6" name="Rectangle 5"/>
          <p:cNvSpPr/>
          <p:nvPr/>
        </p:nvSpPr>
        <p:spPr>
          <a:xfrm>
            <a:off x="777240" y="155448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77240" y="1783080"/>
            <a:ext cx="5180076" cy="129844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777240" y="1783080"/>
            <a:ext cx="91440" cy="1298448"/>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Oval 8"/>
          <p:cNvSpPr/>
          <p:nvPr/>
        </p:nvSpPr>
        <p:spPr>
          <a:xfrm>
            <a:off x="1033272" y="2157984"/>
            <a:ext cx="548640" cy="548640"/>
          </a:xfrm>
          <a:prstGeom prst="ellipse">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1033272" y="2157984"/>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1</a:t>
            </a:r>
          </a:p>
        </p:txBody>
      </p:sp>
      <p:sp>
        <p:nvSpPr>
          <p:cNvPr id="11" name="TextBox 10"/>
          <p:cNvSpPr txBox="1"/>
          <p:nvPr/>
        </p:nvSpPr>
        <p:spPr>
          <a:xfrm>
            <a:off x="1764792" y="1911096"/>
            <a:ext cx="3973068" cy="1115568"/>
          </a:xfrm>
          <a:prstGeom prst="rect">
            <a:avLst/>
          </a:prstGeom>
          <a:noFill/>
        </p:spPr>
        <p:txBody>
          <a:bodyPr wrap="square" anchor="ctr">
            <a:spAutoFit/>
          </a:bodyPr>
          <a:lstStyle/>
          <a:p>
            <a:pPr algn="l">
              <a:spcAft>
                <a:spcPts val="300"/>
              </a:spcAft>
            </a:pPr>
            <a:r>
              <a:rPr sz="1600" b="1">
                <a:solidFill>
                  <a:srgbClr val="161B26"/>
                </a:solidFill>
                <a:latin typeface="Arial"/>
              </a:rPr>
              <a:t>Create it PAUSED</a:t>
            </a:r>
          </a:p>
          <a:p>
            <a:pPr algn="l">
              <a:spcAft>
                <a:spcPts val="300"/>
              </a:spcAft>
            </a:pPr>
            <a:r>
              <a:rPr sz="1200" b="0">
                <a:solidFill>
                  <a:srgbClr val="5B6372"/>
                </a:solidFill>
                <a:latin typeface="Arial"/>
              </a:rPr>
              <a:t>A routine live before it has ever succeeded is unreviewed scheduled spend.</a:t>
            </a:r>
          </a:p>
        </p:txBody>
      </p:sp>
      <p:sp>
        <p:nvSpPr>
          <p:cNvPr id="12" name="Rectangle 11"/>
          <p:cNvSpPr/>
          <p:nvPr/>
        </p:nvSpPr>
        <p:spPr>
          <a:xfrm>
            <a:off x="6231636" y="1783080"/>
            <a:ext cx="5180076" cy="129844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6231636" y="1783080"/>
            <a:ext cx="91440" cy="1298448"/>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Oval 13"/>
          <p:cNvSpPr/>
          <p:nvPr/>
        </p:nvSpPr>
        <p:spPr>
          <a:xfrm>
            <a:off x="6487668" y="2157984"/>
            <a:ext cx="548640" cy="548640"/>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487668" y="2157984"/>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2</a:t>
            </a:r>
          </a:p>
        </p:txBody>
      </p:sp>
      <p:sp>
        <p:nvSpPr>
          <p:cNvPr id="16" name="TextBox 15"/>
          <p:cNvSpPr txBox="1"/>
          <p:nvPr/>
        </p:nvSpPr>
        <p:spPr>
          <a:xfrm>
            <a:off x="7219188" y="1911096"/>
            <a:ext cx="3973068" cy="1115568"/>
          </a:xfrm>
          <a:prstGeom prst="rect">
            <a:avLst/>
          </a:prstGeom>
          <a:noFill/>
        </p:spPr>
        <p:txBody>
          <a:bodyPr wrap="square" anchor="ctr">
            <a:spAutoFit/>
          </a:bodyPr>
          <a:lstStyle/>
          <a:p>
            <a:pPr algn="l">
              <a:spcAft>
                <a:spcPts val="300"/>
              </a:spcAft>
            </a:pPr>
            <a:r>
              <a:rPr sz="1600" b="1">
                <a:solidFill>
                  <a:srgbClr val="161B26"/>
                </a:solidFill>
                <a:latin typeface="Arial"/>
              </a:rPr>
              <a:t>State the trigger explicitly</a:t>
            </a:r>
          </a:p>
          <a:p>
            <a:pPr algn="l">
              <a:spcAft>
                <a:spcPts val="300"/>
              </a:spcAft>
            </a:pPr>
            <a:r>
              <a:rPr sz="1200" b="0">
                <a:solidFill>
                  <a:srgbClr val="5B6372"/>
                </a:solidFill>
                <a:latin typeface="Arial"/>
              </a:rPr>
              <a:t>30 16 * * * WITH an IANA timezone such as Asia/Singapore.</a:t>
            </a:r>
          </a:p>
        </p:txBody>
      </p:sp>
      <p:sp>
        <p:nvSpPr>
          <p:cNvPr id="17" name="Rectangle 16"/>
          <p:cNvSpPr/>
          <p:nvPr/>
        </p:nvSpPr>
        <p:spPr>
          <a:xfrm>
            <a:off x="777240" y="3319272"/>
            <a:ext cx="5180076" cy="129844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777240" y="3319272"/>
            <a:ext cx="91440" cy="1298448"/>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Oval 18"/>
          <p:cNvSpPr/>
          <p:nvPr/>
        </p:nvSpPr>
        <p:spPr>
          <a:xfrm>
            <a:off x="1033272" y="3694176"/>
            <a:ext cx="548640" cy="548640"/>
          </a:xfrm>
          <a:prstGeom prst="ellipse">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1033272" y="3694176"/>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3</a:t>
            </a:r>
          </a:p>
        </p:txBody>
      </p:sp>
      <p:sp>
        <p:nvSpPr>
          <p:cNvPr id="21" name="TextBox 20"/>
          <p:cNvSpPr txBox="1"/>
          <p:nvPr/>
        </p:nvSpPr>
        <p:spPr>
          <a:xfrm>
            <a:off x="1764792" y="3447288"/>
            <a:ext cx="3973068" cy="1115568"/>
          </a:xfrm>
          <a:prstGeom prst="rect">
            <a:avLst/>
          </a:prstGeom>
          <a:noFill/>
        </p:spPr>
        <p:txBody>
          <a:bodyPr wrap="square" anchor="ctr">
            <a:spAutoFit/>
          </a:bodyPr>
          <a:lstStyle/>
          <a:p>
            <a:pPr algn="l">
              <a:spcAft>
                <a:spcPts val="300"/>
              </a:spcAft>
            </a:pPr>
            <a:r>
              <a:rPr sz="1600" b="1">
                <a:solidFill>
                  <a:srgbClr val="161B26"/>
                </a:solidFill>
                <a:latin typeface="Arial"/>
              </a:rPr>
              <a:t>Prove it once by hand</a:t>
            </a:r>
          </a:p>
          <a:p>
            <a:pPr algn="l">
              <a:spcAft>
                <a:spcPts val="300"/>
              </a:spcAft>
            </a:pPr>
            <a:r>
              <a:rPr sz="1200" b="0">
                <a:solidFill>
                  <a:srgbClr val="5B6372"/>
                </a:solidFill>
                <a:latin typeface="Arial"/>
              </a:rPr>
              <a:t>One bounded manual run, reviewed by a human.</a:t>
            </a:r>
          </a:p>
        </p:txBody>
      </p:sp>
      <p:sp>
        <p:nvSpPr>
          <p:cNvPr id="22" name="Rectangle 21"/>
          <p:cNvSpPr/>
          <p:nvPr/>
        </p:nvSpPr>
        <p:spPr>
          <a:xfrm>
            <a:off x="6231636" y="3319272"/>
            <a:ext cx="5180076" cy="129844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ectangle 22"/>
          <p:cNvSpPr/>
          <p:nvPr/>
        </p:nvSpPr>
        <p:spPr>
          <a:xfrm>
            <a:off x="6231636" y="3319272"/>
            <a:ext cx="91440" cy="1298448"/>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Oval 23"/>
          <p:cNvSpPr/>
          <p:nvPr/>
        </p:nvSpPr>
        <p:spPr>
          <a:xfrm>
            <a:off x="6487668" y="3694176"/>
            <a:ext cx="548640" cy="548640"/>
          </a:xfrm>
          <a:prstGeom prst="ellipse">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6487668" y="3694176"/>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4</a:t>
            </a:r>
          </a:p>
        </p:txBody>
      </p:sp>
      <p:sp>
        <p:nvSpPr>
          <p:cNvPr id="26" name="TextBox 25"/>
          <p:cNvSpPr txBox="1"/>
          <p:nvPr/>
        </p:nvSpPr>
        <p:spPr>
          <a:xfrm>
            <a:off x="7219188" y="3447288"/>
            <a:ext cx="3973068" cy="1115568"/>
          </a:xfrm>
          <a:prstGeom prst="rect">
            <a:avLst/>
          </a:prstGeom>
          <a:noFill/>
        </p:spPr>
        <p:txBody>
          <a:bodyPr wrap="square" anchor="ctr">
            <a:spAutoFit/>
          </a:bodyPr>
          <a:lstStyle/>
          <a:p>
            <a:pPr algn="l">
              <a:spcAft>
                <a:spcPts val="300"/>
              </a:spcAft>
            </a:pPr>
            <a:r>
              <a:rPr sz="1600" b="1">
                <a:solidFill>
                  <a:srgbClr val="161B26"/>
                </a:solidFill>
                <a:latin typeface="Arial"/>
              </a:rPr>
              <a:t>Leave it paused</a:t>
            </a:r>
          </a:p>
          <a:p>
            <a:pPr algn="l">
              <a:spcAft>
                <a:spcPts val="300"/>
              </a:spcAft>
            </a:pPr>
            <a:r>
              <a:rPr sz="1200" b="0">
                <a:solidFill>
                  <a:srgbClr val="5B6372"/>
                </a:solidFill>
                <a:latin typeface="Arial"/>
              </a:rPr>
              <a:t>Until you have read the generated issue, the run and the cost.</a:t>
            </a:r>
          </a:p>
        </p:txBody>
      </p:sp>
      <p:sp>
        <p:nvSpPr>
          <p:cNvPr id="27" name="Rectangle 26"/>
          <p:cNvSpPr/>
          <p:nvPr/>
        </p:nvSpPr>
        <p:spPr>
          <a:xfrm>
            <a:off x="777240" y="4855464"/>
            <a:ext cx="5180076" cy="129844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Rectangle 27"/>
          <p:cNvSpPr/>
          <p:nvPr/>
        </p:nvSpPr>
        <p:spPr>
          <a:xfrm>
            <a:off x="777240" y="4855464"/>
            <a:ext cx="91440" cy="1298448"/>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Oval 28"/>
          <p:cNvSpPr/>
          <p:nvPr/>
        </p:nvSpPr>
        <p:spPr>
          <a:xfrm>
            <a:off x="1033272" y="5230368"/>
            <a:ext cx="548640" cy="548640"/>
          </a:xfrm>
          <a:prstGeom prst="ellipse">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TextBox 29"/>
          <p:cNvSpPr txBox="1"/>
          <p:nvPr/>
        </p:nvSpPr>
        <p:spPr>
          <a:xfrm>
            <a:off x="1033272" y="5230368"/>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5</a:t>
            </a:r>
          </a:p>
        </p:txBody>
      </p:sp>
      <p:sp>
        <p:nvSpPr>
          <p:cNvPr id="31" name="TextBox 30"/>
          <p:cNvSpPr txBox="1"/>
          <p:nvPr/>
        </p:nvSpPr>
        <p:spPr>
          <a:xfrm>
            <a:off x="1764792" y="4983480"/>
            <a:ext cx="3973068" cy="1115568"/>
          </a:xfrm>
          <a:prstGeom prst="rect">
            <a:avLst/>
          </a:prstGeom>
          <a:noFill/>
        </p:spPr>
        <p:txBody>
          <a:bodyPr wrap="square" anchor="ctr">
            <a:spAutoFit/>
          </a:bodyPr>
          <a:lstStyle/>
          <a:p>
            <a:pPr algn="l">
              <a:spcAft>
                <a:spcPts val="300"/>
              </a:spcAft>
            </a:pPr>
            <a:r>
              <a:rPr sz="1600" b="1">
                <a:solidFill>
                  <a:srgbClr val="161B26"/>
                </a:solidFill>
                <a:latin typeface="Arial"/>
              </a:rPr>
              <a:t>Name the artifact</a:t>
            </a:r>
          </a:p>
          <a:p>
            <a:pPr algn="l">
              <a:spcAft>
                <a:spcPts val="300"/>
              </a:spcAft>
            </a:pPr>
            <a:r>
              <a:rPr sz="1200" b="0">
                <a:solidFill>
                  <a:srgbClr val="5B6372"/>
                </a:solidFill>
                <a:latin typeface="Arial"/>
              </a:rPr>
              <a:t>The routine body must state what file it produces, or the run is unverifiable.</a:t>
            </a:r>
          </a:p>
        </p:txBody>
      </p:sp>
      <p:sp>
        <p:nvSpPr>
          <p:cNvPr id="32" name="Rectangle 31"/>
          <p:cNvSpPr/>
          <p:nvPr/>
        </p:nvSpPr>
        <p:spPr>
          <a:xfrm>
            <a:off x="6231636" y="4855464"/>
            <a:ext cx="5180076" cy="129844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Rectangle 32"/>
          <p:cNvSpPr/>
          <p:nvPr/>
        </p:nvSpPr>
        <p:spPr>
          <a:xfrm>
            <a:off x="6231636" y="4855464"/>
            <a:ext cx="91440" cy="1298448"/>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Oval 33"/>
          <p:cNvSpPr/>
          <p:nvPr/>
        </p:nvSpPr>
        <p:spPr>
          <a:xfrm>
            <a:off x="6487668" y="5230368"/>
            <a:ext cx="548640" cy="548640"/>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TextBox 34"/>
          <p:cNvSpPr txBox="1"/>
          <p:nvPr/>
        </p:nvSpPr>
        <p:spPr>
          <a:xfrm>
            <a:off x="6487668" y="5230368"/>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6</a:t>
            </a:r>
          </a:p>
        </p:txBody>
      </p:sp>
      <p:sp>
        <p:nvSpPr>
          <p:cNvPr id="36" name="TextBox 35"/>
          <p:cNvSpPr txBox="1"/>
          <p:nvPr/>
        </p:nvSpPr>
        <p:spPr>
          <a:xfrm>
            <a:off x="7219188" y="4983480"/>
            <a:ext cx="3973068" cy="1115568"/>
          </a:xfrm>
          <a:prstGeom prst="rect">
            <a:avLst/>
          </a:prstGeom>
          <a:noFill/>
        </p:spPr>
        <p:txBody>
          <a:bodyPr wrap="square" anchor="ctr">
            <a:spAutoFit/>
          </a:bodyPr>
          <a:lstStyle/>
          <a:p>
            <a:pPr algn="l">
              <a:spcAft>
                <a:spcPts val="300"/>
              </a:spcAft>
            </a:pPr>
            <a:r>
              <a:rPr sz="1600" b="1">
                <a:solidFill>
                  <a:srgbClr val="161B26"/>
                </a:solidFill>
                <a:latin typeface="Arial"/>
              </a:rPr>
              <a:t>Watch for concurrency</a:t>
            </a:r>
          </a:p>
          <a:p>
            <a:pPr algn="l">
              <a:spcAft>
                <a:spcPts val="300"/>
              </a:spcAft>
            </a:pPr>
            <a:r>
              <a:rPr sz="1200" b="0">
                <a:solidFill>
                  <a:srgbClr val="5B6372"/>
                </a:solidFill>
                <a:latin typeface="Arial"/>
              </a:rPr>
              <a:t>One event should not create many outcomes.</a:t>
            </a:r>
          </a:p>
        </p:txBody>
      </p:sp>
      <p:sp>
        <p:nvSpPr>
          <p:cNvPr id="37" name="TextBox 36"/>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Manage AI Agents with Paperclip (TGS-2023036646)  ·  TGS-2023036646</a:t>
            </a:r>
          </a:p>
        </p:txBody>
      </p:sp>
      <p:sp>
        <p:nvSpPr>
          <p:cNvPr id="38" name="TextBox 37"/>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39" name="TextBox 38"/>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84</a:t>
            </a:r>
          </a:p>
        </p:txBody>
      </p:sp>
      <p:sp>
        <p:nvSpPr>
          <p:cNvPr id="40" name="Rectangle 39"/>
          <p:cNvSpPr/>
          <p:nvPr/>
        </p:nvSpPr>
        <p:spPr>
          <a:xfrm>
            <a:off x="777240" y="5742432"/>
            <a:ext cx="10607040" cy="603504"/>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1" name="Rectangle 40"/>
          <p:cNvSpPr/>
          <p:nvPr/>
        </p:nvSpPr>
        <p:spPr>
          <a:xfrm>
            <a:off x="777240" y="5742432"/>
            <a:ext cx="91440" cy="603504"/>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2" name="TextBox 41"/>
          <p:cNvSpPr txBox="1"/>
          <p:nvPr/>
        </p:nvSpPr>
        <p:spPr>
          <a:xfrm>
            <a:off x="1051560" y="5742432"/>
            <a:ext cx="10241280" cy="603504"/>
          </a:xfrm>
          <a:prstGeom prst="rect">
            <a:avLst/>
          </a:prstGeom>
          <a:noFill/>
        </p:spPr>
        <p:txBody>
          <a:bodyPr wrap="square" anchor="ctr">
            <a:spAutoFit/>
          </a:bodyPr>
          <a:lstStyle/>
          <a:p>
            <a:pPr algn="l">
              <a:spcAft>
                <a:spcPts val="400"/>
              </a:spcAft>
            </a:pPr>
            <a:r>
              <a:rPr sz="1350" b="1">
                <a:solidFill>
                  <a:srgbClr val="161B26"/>
                </a:solidFill>
                <a:latin typeface="Arial"/>
              </a:rPr>
              <a:t>An implicit timezone is a production incident waiting to happen.</a:t>
            </a:r>
          </a:p>
        </p:txBody>
      </p:sp>
    </p:spTree>
  </p:cSld>
  <p:clrMapOvr>
    <a:masterClrMapping/>
  </p:clrMapOvr>
  <p:transition spd="fast" advClick="1">
    <p:fade/>
  </p:transition>
</p:sld>
</file>

<file path=ppt/slides/slide8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1F6FEB"/>
                </a:solidFill>
                <a:latin typeface="Arial"/>
              </a:rPr>
              <a:t>LO4 · HUMAN AUTHORITY STAYS EXPLICIT</a:t>
            </a:r>
          </a:p>
        </p:txBody>
      </p:sp>
      <p:sp>
        <p:nvSpPr>
          <p:cNvPr id="5" name="TextBox 4"/>
          <p:cNvSpPr txBox="1"/>
          <p:nvPr/>
        </p:nvSpPr>
        <p:spPr>
          <a:xfrm>
            <a:off x="777240" y="804672"/>
            <a:ext cx="10881360" cy="713232"/>
          </a:xfrm>
          <a:prstGeom prst="rect">
            <a:avLst/>
          </a:prstGeom>
          <a:noFill/>
        </p:spPr>
        <p:txBody>
          <a:bodyPr wrap="square" anchor="ctr">
            <a:spAutoFit/>
          </a:bodyPr>
          <a:lstStyle/>
          <a:p>
            <a:pPr algn="l">
              <a:spcAft>
                <a:spcPts val="400"/>
              </a:spcAft>
            </a:pPr>
            <a:r>
              <a:rPr sz="2900" b="1">
                <a:solidFill>
                  <a:srgbClr val="161B26"/>
                </a:solidFill>
                <a:latin typeface="Arial"/>
              </a:rPr>
              <a:t>The Approval and Audit Loop</a:t>
            </a:r>
          </a:p>
        </p:txBody>
      </p:sp>
      <p:sp>
        <p:nvSpPr>
          <p:cNvPr id="6" name="Rectangle 5"/>
          <p:cNvSpPr/>
          <p:nvPr/>
        </p:nvSpPr>
        <p:spPr>
          <a:xfrm>
            <a:off x="777240" y="155448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7" name="Picture 6" descr="diagram-approval-loop.png"/>
          <p:cNvPicPr>
            <a:picLocks noChangeAspect="1"/>
          </p:cNvPicPr>
          <p:nvPr/>
        </p:nvPicPr>
        <p:blipFill>
          <a:blip r:embed="rId2"/>
          <a:stretch>
            <a:fillRect/>
          </a:stretch>
        </p:blipFill>
        <p:spPr>
          <a:xfrm>
            <a:off x="777240" y="2581832"/>
            <a:ext cx="6812280" cy="2681887"/>
          </a:xfrm>
          <a:prstGeom prst="rect">
            <a:avLst/>
          </a:prstGeom>
        </p:spPr>
      </p:pic>
      <p:sp>
        <p:nvSpPr>
          <p:cNvPr id="8" name="Rectangle 7"/>
          <p:cNvSpPr/>
          <p:nvPr/>
        </p:nvSpPr>
        <p:spPr>
          <a:xfrm>
            <a:off x="7882127" y="1810512"/>
            <a:ext cx="3529584" cy="987552"/>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7882127" y="1810512"/>
            <a:ext cx="3529584" cy="82296"/>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8083295" y="1975104"/>
            <a:ext cx="3127248" cy="310896"/>
          </a:xfrm>
          <a:prstGeom prst="rect">
            <a:avLst/>
          </a:prstGeom>
          <a:noFill/>
        </p:spPr>
        <p:txBody>
          <a:bodyPr wrap="square" anchor="t">
            <a:spAutoFit/>
          </a:bodyPr>
          <a:lstStyle/>
          <a:p>
            <a:pPr algn="l">
              <a:spcAft>
                <a:spcPts val="400"/>
              </a:spcAft>
            </a:pPr>
            <a:r>
              <a:rPr sz="1350" b="1">
                <a:solidFill>
                  <a:srgbClr val="1F6FEB"/>
                </a:solidFill>
                <a:latin typeface="Arial"/>
              </a:rPr>
              <a:t>Propose, then hold</a:t>
            </a:r>
          </a:p>
        </p:txBody>
      </p:sp>
      <p:sp>
        <p:nvSpPr>
          <p:cNvPr id="11" name="TextBox 10"/>
          <p:cNvSpPr txBox="1"/>
          <p:nvPr/>
        </p:nvSpPr>
        <p:spPr>
          <a:xfrm>
            <a:off x="8083295" y="2322576"/>
            <a:ext cx="3127248" cy="384048"/>
          </a:xfrm>
          <a:prstGeom prst="rect">
            <a:avLst/>
          </a:prstGeom>
          <a:noFill/>
        </p:spPr>
        <p:txBody>
          <a:bodyPr wrap="square" anchor="t">
            <a:spAutoFit/>
          </a:bodyPr>
          <a:lstStyle/>
          <a:p>
            <a:pPr algn="l">
              <a:spcAft>
                <a:spcPts val="400"/>
              </a:spcAft>
            </a:pPr>
            <a:r>
              <a:rPr sz="900" b="0">
                <a:solidFill>
                  <a:srgbClr val="161B26"/>
                </a:solidFill>
                <a:latin typeface="Arial"/>
              </a:rPr>
              <a:t>The governed action does not execute while it is pending.</a:t>
            </a:r>
          </a:p>
        </p:txBody>
      </p:sp>
      <p:sp>
        <p:nvSpPr>
          <p:cNvPr id="12" name="Rectangle 11"/>
          <p:cNvSpPr/>
          <p:nvPr/>
        </p:nvSpPr>
        <p:spPr>
          <a:xfrm>
            <a:off x="7882127" y="2944368"/>
            <a:ext cx="3529584" cy="987552"/>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7882127" y="2944368"/>
            <a:ext cx="3529584" cy="82296"/>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8083295" y="3108960"/>
            <a:ext cx="3127248" cy="310896"/>
          </a:xfrm>
          <a:prstGeom prst="rect">
            <a:avLst/>
          </a:prstGeom>
          <a:noFill/>
        </p:spPr>
        <p:txBody>
          <a:bodyPr wrap="square" anchor="t">
            <a:spAutoFit/>
          </a:bodyPr>
          <a:lstStyle/>
          <a:p>
            <a:pPr algn="l">
              <a:spcAft>
                <a:spcPts val="400"/>
              </a:spcAft>
            </a:pPr>
            <a:r>
              <a:rPr sz="1350" b="1">
                <a:solidFill>
                  <a:srgbClr val="10B981"/>
                </a:solidFill>
                <a:latin typeface="Arial"/>
              </a:rPr>
              <a:t>A human decides</a:t>
            </a:r>
          </a:p>
        </p:txBody>
      </p:sp>
      <p:sp>
        <p:nvSpPr>
          <p:cNvPr id="15" name="TextBox 14"/>
          <p:cNvSpPr txBox="1"/>
          <p:nvPr/>
        </p:nvSpPr>
        <p:spPr>
          <a:xfrm>
            <a:off x="8083295" y="3456432"/>
            <a:ext cx="3127248" cy="384048"/>
          </a:xfrm>
          <a:prstGeom prst="rect">
            <a:avLst/>
          </a:prstGeom>
          <a:noFill/>
        </p:spPr>
        <p:txBody>
          <a:bodyPr wrap="square" anchor="t">
            <a:spAutoFit/>
          </a:bodyPr>
          <a:lstStyle/>
          <a:p>
            <a:pPr algn="l">
              <a:spcAft>
                <a:spcPts val="400"/>
              </a:spcAft>
            </a:pPr>
            <a:r>
              <a:rPr sz="900" b="0">
                <a:solidFill>
                  <a:srgbClr val="161B26"/>
                </a:solidFill>
                <a:latin typeface="Arial"/>
              </a:rPr>
              <a:t>With a RECORDED rationale — that sentence is the audit.</a:t>
            </a:r>
          </a:p>
        </p:txBody>
      </p:sp>
      <p:sp>
        <p:nvSpPr>
          <p:cNvPr id="16" name="Rectangle 15"/>
          <p:cNvSpPr/>
          <p:nvPr/>
        </p:nvSpPr>
        <p:spPr>
          <a:xfrm>
            <a:off x="7882127" y="4078224"/>
            <a:ext cx="3529584" cy="987552"/>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7882127" y="4078224"/>
            <a:ext cx="3529584" cy="82296"/>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8083295" y="4242816"/>
            <a:ext cx="3127248" cy="310896"/>
          </a:xfrm>
          <a:prstGeom prst="rect">
            <a:avLst/>
          </a:prstGeom>
          <a:noFill/>
        </p:spPr>
        <p:txBody>
          <a:bodyPr wrap="square" anchor="t">
            <a:spAutoFit/>
          </a:bodyPr>
          <a:lstStyle/>
          <a:p>
            <a:pPr algn="l">
              <a:spcAft>
                <a:spcPts val="400"/>
              </a:spcAft>
            </a:pPr>
            <a:r>
              <a:rPr sz="1350" b="1">
                <a:solidFill>
                  <a:srgbClr val="7C3AED"/>
                </a:solidFill>
                <a:latin typeface="Arial"/>
              </a:rPr>
              <a:t>The log is durable</a:t>
            </a:r>
          </a:p>
        </p:txBody>
      </p:sp>
      <p:sp>
        <p:nvSpPr>
          <p:cNvPr id="19" name="TextBox 18"/>
          <p:cNvSpPr txBox="1"/>
          <p:nvPr/>
        </p:nvSpPr>
        <p:spPr>
          <a:xfrm>
            <a:off x="8083295" y="4590288"/>
            <a:ext cx="3127248" cy="384048"/>
          </a:xfrm>
          <a:prstGeom prst="rect">
            <a:avLst/>
          </a:prstGeom>
          <a:noFill/>
        </p:spPr>
        <p:txBody>
          <a:bodyPr wrap="square" anchor="t">
            <a:spAutoFit/>
          </a:bodyPr>
          <a:lstStyle/>
          <a:p>
            <a:pPr algn="l">
              <a:spcAft>
                <a:spcPts val="400"/>
              </a:spcAft>
            </a:pPr>
            <a:r>
              <a:rPr sz="900" b="0">
                <a:solidFill>
                  <a:srgbClr val="161B26"/>
                </a:solidFill>
                <a:latin typeface="Arial"/>
              </a:rPr>
              <a:t>Mutations, heartbeats, cost events and approvals all land in Activity.</a:t>
            </a:r>
          </a:p>
        </p:txBody>
      </p:sp>
      <p:sp>
        <p:nvSpPr>
          <p:cNvPr id="20" name="Rectangle 19"/>
          <p:cNvSpPr/>
          <p:nvPr/>
        </p:nvSpPr>
        <p:spPr>
          <a:xfrm>
            <a:off x="7882127" y="5212080"/>
            <a:ext cx="3529584" cy="987552"/>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ectangle 20"/>
          <p:cNvSpPr/>
          <p:nvPr/>
        </p:nvSpPr>
        <p:spPr>
          <a:xfrm>
            <a:off x="7882127" y="5212080"/>
            <a:ext cx="3529584" cy="82296"/>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8083295" y="5376672"/>
            <a:ext cx="3127248" cy="310896"/>
          </a:xfrm>
          <a:prstGeom prst="rect">
            <a:avLst/>
          </a:prstGeom>
          <a:noFill/>
        </p:spPr>
        <p:txBody>
          <a:bodyPr wrap="square" anchor="t">
            <a:spAutoFit/>
          </a:bodyPr>
          <a:lstStyle/>
          <a:p>
            <a:pPr algn="l">
              <a:spcAft>
                <a:spcPts val="400"/>
              </a:spcAft>
            </a:pPr>
            <a:r>
              <a:rPr sz="1350" b="1">
                <a:solidFill>
                  <a:srgbClr val="F59E0B"/>
                </a:solidFill>
                <a:latin typeface="Arial"/>
              </a:rPr>
              <a:t>The loop closes</a:t>
            </a:r>
          </a:p>
        </p:txBody>
      </p:sp>
      <p:sp>
        <p:nvSpPr>
          <p:cNvPr id="23" name="TextBox 22"/>
          <p:cNvSpPr txBox="1"/>
          <p:nvPr/>
        </p:nvSpPr>
        <p:spPr>
          <a:xfrm>
            <a:off x="8083295" y="5724144"/>
            <a:ext cx="3127248" cy="384048"/>
          </a:xfrm>
          <a:prstGeom prst="rect">
            <a:avLst/>
          </a:prstGeom>
          <a:noFill/>
        </p:spPr>
        <p:txBody>
          <a:bodyPr wrap="square" anchor="t">
            <a:spAutoFit/>
          </a:bodyPr>
          <a:lstStyle/>
          <a:p>
            <a:pPr algn="l">
              <a:spcAft>
                <a:spcPts val="400"/>
              </a:spcAft>
            </a:pPr>
            <a:r>
              <a:rPr sz="900" b="0">
                <a:solidFill>
                  <a:srgbClr val="161B26"/>
                </a:solidFill>
                <a:latin typeface="Arial"/>
              </a:rPr>
              <a:t>When the whole operation can be reconstructed from the log alone.</a:t>
            </a:r>
          </a:p>
        </p:txBody>
      </p:sp>
      <p:sp>
        <p:nvSpPr>
          <p:cNvPr id="24" name="TextBox 23"/>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Manage AI Agents with Paperclip (TGS-2023036646)  ·  TGS-2023036646</a:t>
            </a:r>
          </a:p>
        </p:txBody>
      </p:sp>
      <p:sp>
        <p:nvSpPr>
          <p:cNvPr id="25" name="TextBox 24"/>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26" name="TextBox 25"/>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85</a:t>
            </a:r>
          </a:p>
        </p:txBody>
      </p:sp>
    </p:spTree>
  </p:cSld>
  <p:clrMapOvr>
    <a:masterClrMapping/>
  </p:clrMapOvr>
  <p:transition spd="fast" advClick="1">
    <p:fade/>
  </p:transition>
</p:sld>
</file>

<file path=ppt/slides/slide8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F59E0B"/>
                </a:solidFill>
                <a:latin typeface="Arial"/>
              </a:rPr>
              <a:t>LO4 · USE THE LEAST IRREVERSIBLE CONTROL</a:t>
            </a:r>
          </a:p>
        </p:txBody>
      </p:sp>
      <p:sp>
        <p:nvSpPr>
          <p:cNvPr id="5" name="TextBox 4"/>
          <p:cNvSpPr txBox="1"/>
          <p:nvPr/>
        </p:nvSpPr>
        <p:spPr>
          <a:xfrm>
            <a:off x="777240" y="804672"/>
            <a:ext cx="10881360" cy="713232"/>
          </a:xfrm>
          <a:prstGeom prst="rect">
            <a:avLst/>
          </a:prstGeom>
          <a:noFill/>
        </p:spPr>
        <p:txBody>
          <a:bodyPr wrap="square" anchor="ctr">
            <a:spAutoFit/>
          </a:bodyPr>
          <a:lstStyle/>
          <a:p>
            <a:pPr algn="l">
              <a:spcAft>
                <a:spcPts val="400"/>
              </a:spcAft>
            </a:pPr>
            <a:r>
              <a:rPr sz="2900" b="1">
                <a:solidFill>
                  <a:srgbClr val="161B26"/>
                </a:solidFill>
                <a:latin typeface="Arial"/>
              </a:rPr>
              <a:t>The Operator Intervention Ladder</a:t>
            </a:r>
          </a:p>
        </p:txBody>
      </p:sp>
      <p:sp>
        <p:nvSpPr>
          <p:cNvPr id="6" name="Rectangle 5"/>
          <p:cNvSpPr/>
          <p:nvPr/>
        </p:nvSpPr>
        <p:spPr>
          <a:xfrm>
            <a:off x="777240" y="155448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7" name="Picture 6" descr="diagram-intervention-ladder.png"/>
          <p:cNvPicPr>
            <a:picLocks noChangeAspect="1"/>
          </p:cNvPicPr>
          <p:nvPr/>
        </p:nvPicPr>
        <p:blipFill>
          <a:blip r:embed="rId2"/>
          <a:stretch>
            <a:fillRect/>
          </a:stretch>
        </p:blipFill>
        <p:spPr>
          <a:xfrm>
            <a:off x="777240" y="2222310"/>
            <a:ext cx="6812280" cy="3400931"/>
          </a:xfrm>
          <a:prstGeom prst="rect">
            <a:avLst/>
          </a:prstGeom>
        </p:spPr>
      </p:pic>
      <p:sp>
        <p:nvSpPr>
          <p:cNvPr id="8" name="Rectangle 7"/>
          <p:cNvSpPr/>
          <p:nvPr/>
        </p:nvSpPr>
        <p:spPr>
          <a:xfrm>
            <a:off x="7882127" y="1810512"/>
            <a:ext cx="3529584" cy="1080516"/>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7882127" y="1810512"/>
            <a:ext cx="3529584" cy="82296"/>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8083295" y="1975104"/>
            <a:ext cx="3127248" cy="310896"/>
          </a:xfrm>
          <a:prstGeom prst="rect">
            <a:avLst/>
          </a:prstGeom>
          <a:noFill/>
        </p:spPr>
        <p:txBody>
          <a:bodyPr wrap="square" anchor="t">
            <a:spAutoFit/>
          </a:bodyPr>
          <a:lstStyle/>
          <a:p>
            <a:pPr algn="l">
              <a:spcAft>
                <a:spcPts val="400"/>
              </a:spcAft>
            </a:pPr>
            <a:r>
              <a:rPr sz="1350" b="1">
                <a:solidFill>
                  <a:srgbClr val="1F6FEB"/>
                </a:solidFill>
                <a:latin typeface="Arial"/>
              </a:rPr>
              <a:t>Inspect</a:t>
            </a:r>
          </a:p>
        </p:txBody>
      </p:sp>
      <p:sp>
        <p:nvSpPr>
          <p:cNvPr id="11" name="TextBox 10"/>
          <p:cNvSpPr txBox="1"/>
          <p:nvPr/>
        </p:nvSpPr>
        <p:spPr>
          <a:xfrm>
            <a:off x="8083295" y="2322576"/>
            <a:ext cx="3127248" cy="477012"/>
          </a:xfrm>
          <a:prstGeom prst="rect">
            <a:avLst/>
          </a:prstGeom>
          <a:noFill/>
        </p:spPr>
        <p:txBody>
          <a:bodyPr wrap="square" anchor="t">
            <a:spAutoFit/>
          </a:bodyPr>
          <a:lstStyle/>
          <a:p>
            <a:pPr algn="l">
              <a:spcAft>
                <a:spcPts val="400"/>
              </a:spcAft>
            </a:pPr>
            <a:r>
              <a:rPr sz="1100" b="0">
                <a:solidFill>
                  <a:srgbClr val="161B26"/>
                </a:solidFill>
                <a:latin typeface="Arial"/>
              </a:rPr>
              <a:t>Read task, run, cost and activity evidence BEFORE acting.</a:t>
            </a:r>
          </a:p>
        </p:txBody>
      </p:sp>
      <p:sp>
        <p:nvSpPr>
          <p:cNvPr id="12" name="Rectangle 11"/>
          <p:cNvSpPr/>
          <p:nvPr/>
        </p:nvSpPr>
        <p:spPr>
          <a:xfrm>
            <a:off x="7882127" y="3037332"/>
            <a:ext cx="3529584" cy="90170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7882127" y="3037332"/>
            <a:ext cx="3529584" cy="82296"/>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8083295" y="3201924"/>
            <a:ext cx="3127248" cy="310896"/>
          </a:xfrm>
          <a:prstGeom prst="rect">
            <a:avLst/>
          </a:prstGeom>
          <a:noFill/>
        </p:spPr>
        <p:txBody>
          <a:bodyPr wrap="square" anchor="t">
            <a:spAutoFit/>
          </a:bodyPr>
          <a:lstStyle/>
          <a:p>
            <a:pPr algn="l">
              <a:spcAft>
                <a:spcPts val="400"/>
              </a:spcAft>
            </a:pPr>
            <a:r>
              <a:rPr sz="1350" b="1">
                <a:solidFill>
                  <a:srgbClr val="10B981"/>
                </a:solidFill>
                <a:latin typeface="Arial"/>
              </a:rPr>
              <a:t>Pause</a:t>
            </a:r>
          </a:p>
        </p:txBody>
      </p:sp>
      <p:sp>
        <p:nvSpPr>
          <p:cNvPr id="15" name="TextBox 14"/>
          <p:cNvSpPr txBox="1"/>
          <p:nvPr/>
        </p:nvSpPr>
        <p:spPr>
          <a:xfrm>
            <a:off x="8083295" y="3549396"/>
            <a:ext cx="3127248" cy="298196"/>
          </a:xfrm>
          <a:prstGeom prst="rect">
            <a:avLst/>
          </a:prstGeom>
          <a:noFill/>
        </p:spPr>
        <p:txBody>
          <a:bodyPr wrap="square" anchor="t">
            <a:spAutoFit/>
          </a:bodyPr>
          <a:lstStyle/>
          <a:p>
            <a:pPr algn="l">
              <a:spcAft>
                <a:spcPts val="400"/>
              </a:spcAft>
            </a:pPr>
            <a:r>
              <a:rPr sz="1100" b="0">
                <a:solidFill>
                  <a:srgbClr val="161B26"/>
                </a:solidFill>
                <a:latin typeface="Arial"/>
              </a:rPr>
              <a:t>Stop new heartbeats while keeping all state.</a:t>
            </a:r>
          </a:p>
        </p:txBody>
      </p:sp>
      <p:sp>
        <p:nvSpPr>
          <p:cNvPr id="16" name="Rectangle 15"/>
          <p:cNvSpPr/>
          <p:nvPr/>
        </p:nvSpPr>
        <p:spPr>
          <a:xfrm>
            <a:off x="7882127" y="4085336"/>
            <a:ext cx="3529584" cy="90170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7882127" y="4085336"/>
            <a:ext cx="3529584" cy="82296"/>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8083295" y="4249928"/>
            <a:ext cx="3127248" cy="310896"/>
          </a:xfrm>
          <a:prstGeom prst="rect">
            <a:avLst/>
          </a:prstGeom>
          <a:noFill/>
        </p:spPr>
        <p:txBody>
          <a:bodyPr wrap="square" anchor="t">
            <a:spAutoFit/>
          </a:bodyPr>
          <a:lstStyle/>
          <a:p>
            <a:pPr algn="l">
              <a:spcAft>
                <a:spcPts val="400"/>
              </a:spcAft>
            </a:pPr>
            <a:r>
              <a:rPr sz="1350" b="1">
                <a:solidFill>
                  <a:srgbClr val="7C3AED"/>
                </a:solidFill>
                <a:latin typeface="Arial"/>
              </a:rPr>
              <a:t>Reassign</a:t>
            </a:r>
          </a:p>
        </p:txBody>
      </p:sp>
      <p:sp>
        <p:nvSpPr>
          <p:cNvPr id="19" name="TextBox 18"/>
          <p:cNvSpPr txBox="1"/>
          <p:nvPr/>
        </p:nvSpPr>
        <p:spPr>
          <a:xfrm>
            <a:off x="8083295" y="4597400"/>
            <a:ext cx="3127248" cy="298196"/>
          </a:xfrm>
          <a:prstGeom prst="rect">
            <a:avLst/>
          </a:prstGeom>
          <a:noFill/>
        </p:spPr>
        <p:txBody>
          <a:bodyPr wrap="square" anchor="t">
            <a:spAutoFit/>
          </a:bodyPr>
          <a:lstStyle/>
          <a:p>
            <a:pPr algn="l">
              <a:spcAft>
                <a:spcPts val="400"/>
              </a:spcAft>
            </a:pPr>
            <a:r>
              <a:rPr sz="1100" b="0">
                <a:solidFill>
                  <a:srgbClr val="161B26"/>
                </a:solidFill>
                <a:latin typeface="Arial"/>
              </a:rPr>
              <a:t>Move the work to another role.</a:t>
            </a:r>
          </a:p>
        </p:txBody>
      </p:sp>
      <p:sp>
        <p:nvSpPr>
          <p:cNvPr id="20" name="Rectangle 19"/>
          <p:cNvSpPr/>
          <p:nvPr/>
        </p:nvSpPr>
        <p:spPr>
          <a:xfrm>
            <a:off x="7882127" y="5133340"/>
            <a:ext cx="3529584" cy="90170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ectangle 20"/>
          <p:cNvSpPr/>
          <p:nvPr/>
        </p:nvSpPr>
        <p:spPr>
          <a:xfrm>
            <a:off x="7882127" y="5133340"/>
            <a:ext cx="3529584" cy="82296"/>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8083295" y="5297932"/>
            <a:ext cx="3127248" cy="310896"/>
          </a:xfrm>
          <a:prstGeom prst="rect">
            <a:avLst/>
          </a:prstGeom>
          <a:noFill/>
        </p:spPr>
        <p:txBody>
          <a:bodyPr wrap="square" anchor="t">
            <a:spAutoFit/>
          </a:bodyPr>
          <a:lstStyle/>
          <a:p>
            <a:pPr algn="l">
              <a:spcAft>
                <a:spcPts val="400"/>
              </a:spcAft>
            </a:pPr>
            <a:r>
              <a:rPr sz="1350" b="1">
                <a:solidFill>
                  <a:srgbClr val="F59E0B"/>
                </a:solidFill>
                <a:latin typeface="Arial"/>
              </a:rPr>
              <a:t>Terminate</a:t>
            </a:r>
          </a:p>
        </p:txBody>
      </p:sp>
      <p:sp>
        <p:nvSpPr>
          <p:cNvPr id="23" name="TextBox 22"/>
          <p:cNvSpPr txBox="1"/>
          <p:nvPr/>
        </p:nvSpPr>
        <p:spPr>
          <a:xfrm>
            <a:off x="8083295" y="5645404"/>
            <a:ext cx="3127248" cy="298196"/>
          </a:xfrm>
          <a:prstGeom prst="rect">
            <a:avLst/>
          </a:prstGeom>
          <a:noFill/>
        </p:spPr>
        <p:txBody>
          <a:bodyPr wrap="square" anchor="t">
            <a:spAutoFit/>
          </a:bodyPr>
          <a:lstStyle/>
          <a:p>
            <a:pPr algn="l">
              <a:spcAft>
                <a:spcPts val="400"/>
              </a:spcAft>
            </a:pPr>
            <a:r>
              <a:rPr sz="1100" b="0">
                <a:solidFill>
                  <a:srgbClr val="161B26"/>
                </a:solidFill>
                <a:latin typeface="Arial"/>
              </a:rPr>
              <a:t>The last rung — and it is not reversible.</a:t>
            </a:r>
          </a:p>
        </p:txBody>
      </p:sp>
      <p:sp>
        <p:nvSpPr>
          <p:cNvPr id="24" name="TextBox 23"/>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Manage AI Agents with Paperclip (TGS-2023036646)  ·  TGS-2023036646</a:t>
            </a:r>
          </a:p>
        </p:txBody>
      </p:sp>
      <p:sp>
        <p:nvSpPr>
          <p:cNvPr id="25" name="TextBox 24"/>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26" name="TextBox 25"/>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86</a:t>
            </a:r>
          </a:p>
        </p:txBody>
      </p:sp>
    </p:spTree>
  </p:cSld>
  <p:clrMapOvr>
    <a:masterClrMapping/>
  </p:clrMapOvr>
  <p:transition spd="fast" advClick="1">
    <p:fade/>
  </p:transition>
</p:sld>
</file>

<file path=ppt/slides/slide8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10B981"/>
                </a:solidFill>
                <a:latin typeface="Arial"/>
              </a:rPr>
              <a:t>LO4 · TAKING IT BEYOND THE LAPTOP</a:t>
            </a:r>
          </a:p>
        </p:txBody>
      </p:sp>
      <p:sp>
        <p:nvSpPr>
          <p:cNvPr id="5" name="TextBox 4"/>
          <p:cNvSpPr txBox="1"/>
          <p:nvPr/>
        </p:nvSpPr>
        <p:spPr>
          <a:xfrm>
            <a:off x="777240" y="804672"/>
            <a:ext cx="10881360" cy="713232"/>
          </a:xfrm>
          <a:prstGeom prst="rect">
            <a:avLst/>
          </a:prstGeom>
          <a:noFill/>
        </p:spPr>
        <p:txBody>
          <a:bodyPr wrap="square" anchor="ctr">
            <a:spAutoFit/>
          </a:bodyPr>
          <a:lstStyle/>
          <a:p>
            <a:pPr algn="l">
              <a:spcAft>
                <a:spcPts val="400"/>
              </a:spcAft>
            </a:pPr>
            <a:r>
              <a:rPr sz="2900" b="1">
                <a:solidFill>
                  <a:srgbClr val="161B26"/>
                </a:solidFill>
                <a:latin typeface="Arial"/>
              </a:rPr>
              <a:t>Deployment Options — Exposure Is a Decision</a:t>
            </a:r>
          </a:p>
        </p:txBody>
      </p:sp>
      <p:sp>
        <p:nvSpPr>
          <p:cNvPr id="6" name="Rectangle 5"/>
          <p:cNvSpPr/>
          <p:nvPr/>
        </p:nvSpPr>
        <p:spPr>
          <a:xfrm>
            <a:off x="777240" y="155448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7" name="Picture 6" descr="diagram-deployment.png"/>
          <p:cNvPicPr>
            <a:picLocks noChangeAspect="1"/>
          </p:cNvPicPr>
          <p:nvPr/>
        </p:nvPicPr>
        <p:blipFill>
          <a:blip r:embed="rId2"/>
          <a:stretch>
            <a:fillRect/>
          </a:stretch>
        </p:blipFill>
        <p:spPr>
          <a:xfrm>
            <a:off x="777240" y="2526856"/>
            <a:ext cx="6812280" cy="2791839"/>
          </a:xfrm>
          <a:prstGeom prst="rect">
            <a:avLst/>
          </a:prstGeom>
        </p:spPr>
      </p:pic>
      <p:sp>
        <p:nvSpPr>
          <p:cNvPr id="8" name="Rectangle 7"/>
          <p:cNvSpPr/>
          <p:nvPr/>
        </p:nvSpPr>
        <p:spPr>
          <a:xfrm>
            <a:off x="7882127" y="1810512"/>
            <a:ext cx="3529584" cy="84124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7882127" y="1810512"/>
            <a:ext cx="3529584" cy="82296"/>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8083295" y="1975104"/>
            <a:ext cx="3127248" cy="310896"/>
          </a:xfrm>
          <a:prstGeom prst="rect">
            <a:avLst/>
          </a:prstGeom>
          <a:noFill/>
        </p:spPr>
        <p:txBody>
          <a:bodyPr wrap="square" anchor="t">
            <a:spAutoFit/>
          </a:bodyPr>
          <a:lstStyle/>
          <a:p>
            <a:pPr algn="l">
              <a:spcAft>
                <a:spcPts val="400"/>
              </a:spcAft>
            </a:pPr>
            <a:r>
              <a:rPr sz="1350" b="1">
                <a:solidFill>
                  <a:srgbClr val="1F6FEB"/>
                </a:solidFill>
                <a:latin typeface="Arial"/>
              </a:rPr>
              <a:t>Loopback</a:t>
            </a:r>
          </a:p>
        </p:txBody>
      </p:sp>
      <p:sp>
        <p:nvSpPr>
          <p:cNvPr id="11" name="TextBox 10"/>
          <p:cNvSpPr txBox="1"/>
          <p:nvPr/>
        </p:nvSpPr>
        <p:spPr>
          <a:xfrm>
            <a:off x="8083295" y="2322576"/>
            <a:ext cx="3127248" cy="237744"/>
          </a:xfrm>
          <a:prstGeom prst="rect">
            <a:avLst/>
          </a:prstGeom>
          <a:noFill/>
        </p:spPr>
        <p:txBody>
          <a:bodyPr wrap="square" anchor="t">
            <a:spAutoFit/>
          </a:bodyPr>
          <a:lstStyle/>
          <a:p>
            <a:pPr algn="l">
              <a:spcAft>
                <a:spcPts val="400"/>
              </a:spcAft>
            </a:pPr>
            <a:r>
              <a:rPr sz="900" b="0">
                <a:solidFill>
                  <a:srgbClr val="161B26"/>
                </a:solidFill>
                <a:latin typeface="Arial"/>
              </a:rPr>
              <a:t>The default and least exposed — trusted local only.</a:t>
            </a:r>
          </a:p>
        </p:txBody>
      </p:sp>
      <p:sp>
        <p:nvSpPr>
          <p:cNvPr id="12" name="Rectangle 11"/>
          <p:cNvSpPr/>
          <p:nvPr/>
        </p:nvSpPr>
        <p:spPr>
          <a:xfrm>
            <a:off x="7882127" y="2798064"/>
            <a:ext cx="3529584" cy="987552"/>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7882127" y="2798064"/>
            <a:ext cx="3529584" cy="82296"/>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8083295" y="2962656"/>
            <a:ext cx="3127248" cy="310896"/>
          </a:xfrm>
          <a:prstGeom prst="rect">
            <a:avLst/>
          </a:prstGeom>
          <a:noFill/>
        </p:spPr>
        <p:txBody>
          <a:bodyPr wrap="square" anchor="t">
            <a:spAutoFit/>
          </a:bodyPr>
          <a:lstStyle/>
          <a:p>
            <a:pPr algn="l">
              <a:spcAft>
                <a:spcPts val="400"/>
              </a:spcAft>
            </a:pPr>
            <a:r>
              <a:rPr sz="1350" b="1">
                <a:solidFill>
                  <a:srgbClr val="10B981"/>
                </a:solidFill>
                <a:latin typeface="Arial"/>
              </a:rPr>
              <a:t>LAN / tailnet</a:t>
            </a:r>
          </a:p>
        </p:txBody>
      </p:sp>
      <p:sp>
        <p:nvSpPr>
          <p:cNvPr id="15" name="TextBox 14"/>
          <p:cNvSpPr txBox="1"/>
          <p:nvPr/>
        </p:nvSpPr>
        <p:spPr>
          <a:xfrm>
            <a:off x="8083295" y="3310128"/>
            <a:ext cx="3127248" cy="384048"/>
          </a:xfrm>
          <a:prstGeom prst="rect">
            <a:avLst/>
          </a:prstGeom>
          <a:noFill/>
        </p:spPr>
        <p:txBody>
          <a:bodyPr wrap="square" anchor="t">
            <a:spAutoFit/>
          </a:bodyPr>
          <a:lstStyle/>
          <a:p>
            <a:pPr algn="l">
              <a:spcAft>
                <a:spcPts val="400"/>
              </a:spcAft>
            </a:pPr>
            <a:r>
              <a:rPr sz="900" b="0">
                <a:solidFill>
                  <a:srgbClr val="161B26"/>
                </a:solidFill>
                <a:latin typeface="Arial"/>
              </a:rPr>
              <a:t>--bind lan or --bind tailnet widen reach and REQUIRE authentication.</a:t>
            </a:r>
          </a:p>
        </p:txBody>
      </p:sp>
      <p:sp>
        <p:nvSpPr>
          <p:cNvPr id="16" name="Rectangle 15"/>
          <p:cNvSpPr/>
          <p:nvPr/>
        </p:nvSpPr>
        <p:spPr>
          <a:xfrm>
            <a:off x="7882127" y="3931920"/>
            <a:ext cx="3529584" cy="1133856"/>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7882127" y="3931920"/>
            <a:ext cx="3529584" cy="82296"/>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8083295" y="4096512"/>
            <a:ext cx="3127248" cy="310896"/>
          </a:xfrm>
          <a:prstGeom prst="rect">
            <a:avLst/>
          </a:prstGeom>
          <a:noFill/>
        </p:spPr>
        <p:txBody>
          <a:bodyPr wrap="square" anchor="t">
            <a:spAutoFit/>
          </a:bodyPr>
          <a:lstStyle/>
          <a:p>
            <a:pPr algn="l">
              <a:spcAft>
                <a:spcPts val="400"/>
              </a:spcAft>
            </a:pPr>
            <a:r>
              <a:rPr sz="1350" b="1">
                <a:solidFill>
                  <a:srgbClr val="7C3AED"/>
                </a:solidFill>
                <a:latin typeface="Arial"/>
              </a:rPr>
              <a:t>Hosted</a:t>
            </a:r>
          </a:p>
        </p:txBody>
      </p:sp>
      <p:sp>
        <p:nvSpPr>
          <p:cNvPr id="19" name="TextBox 18"/>
          <p:cNvSpPr txBox="1"/>
          <p:nvPr/>
        </p:nvSpPr>
        <p:spPr>
          <a:xfrm>
            <a:off x="8083295" y="4443984"/>
            <a:ext cx="3127248" cy="530352"/>
          </a:xfrm>
          <a:prstGeom prst="rect">
            <a:avLst/>
          </a:prstGeom>
          <a:noFill/>
        </p:spPr>
        <p:txBody>
          <a:bodyPr wrap="square" anchor="t">
            <a:spAutoFit/>
          </a:bodyPr>
          <a:lstStyle/>
          <a:p>
            <a:pPr algn="l">
              <a:spcAft>
                <a:spcPts val="400"/>
              </a:spcAft>
            </a:pPr>
            <a:r>
              <a:rPr sz="900" b="0">
                <a:solidFill>
                  <a:srgbClr val="161B26"/>
                </a:solidFill>
                <a:latin typeface="Arial"/>
              </a:rPr>
              <a:t>Container plus external PostgreSQL, a persistent volume, a signing secret and an allowed-hostnames list.</a:t>
            </a:r>
          </a:p>
        </p:txBody>
      </p:sp>
      <p:sp>
        <p:nvSpPr>
          <p:cNvPr id="20" name="Rectangle 19"/>
          <p:cNvSpPr/>
          <p:nvPr/>
        </p:nvSpPr>
        <p:spPr>
          <a:xfrm>
            <a:off x="7882127" y="5212080"/>
            <a:ext cx="3529584" cy="987552"/>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ectangle 20"/>
          <p:cNvSpPr/>
          <p:nvPr/>
        </p:nvSpPr>
        <p:spPr>
          <a:xfrm>
            <a:off x="7882127" y="5212080"/>
            <a:ext cx="3529584" cy="82296"/>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8083295" y="5376672"/>
            <a:ext cx="3127248" cy="310896"/>
          </a:xfrm>
          <a:prstGeom prst="rect">
            <a:avLst/>
          </a:prstGeom>
          <a:noFill/>
        </p:spPr>
        <p:txBody>
          <a:bodyPr wrap="square" anchor="t">
            <a:spAutoFit/>
          </a:bodyPr>
          <a:lstStyle/>
          <a:p>
            <a:pPr algn="l">
              <a:spcAft>
                <a:spcPts val="400"/>
              </a:spcAft>
            </a:pPr>
            <a:r>
              <a:rPr sz="1350" b="1">
                <a:solidFill>
                  <a:srgbClr val="F59E0B"/>
                </a:solidFill>
                <a:latin typeface="Arial"/>
              </a:rPr>
              <a:t>Portability</a:t>
            </a:r>
          </a:p>
        </p:txBody>
      </p:sp>
      <p:sp>
        <p:nvSpPr>
          <p:cNvPr id="23" name="TextBox 22"/>
          <p:cNvSpPr txBox="1"/>
          <p:nvPr/>
        </p:nvSpPr>
        <p:spPr>
          <a:xfrm>
            <a:off x="8083295" y="5724144"/>
            <a:ext cx="3127248" cy="384048"/>
          </a:xfrm>
          <a:prstGeom prst="rect">
            <a:avLst/>
          </a:prstGeom>
          <a:noFill/>
        </p:spPr>
        <p:txBody>
          <a:bodyPr wrap="square" anchor="t">
            <a:spAutoFit/>
          </a:bodyPr>
          <a:lstStyle/>
          <a:p>
            <a:pPr algn="l">
              <a:spcAft>
                <a:spcPts val="400"/>
              </a:spcAft>
            </a:pPr>
            <a:r>
              <a:rPr sz="900" b="0">
                <a:solidFill>
                  <a:srgbClr val="161B26"/>
                </a:solidFill>
                <a:latin typeface="Arial"/>
              </a:rPr>
              <a:t>A whole company exports and imports with secrets scrubbed and collisions re-mapped.</a:t>
            </a:r>
          </a:p>
        </p:txBody>
      </p:sp>
      <p:sp>
        <p:nvSpPr>
          <p:cNvPr id="24" name="TextBox 23"/>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Manage AI Agents with Paperclip (TGS-2023036646)  ·  TGS-2023036646</a:t>
            </a:r>
          </a:p>
        </p:txBody>
      </p:sp>
      <p:sp>
        <p:nvSpPr>
          <p:cNvPr id="25" name="TextBox 24"/>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26" name="TextBox 25"/>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87</a:t>
            </a:r>
          </a:p>
        </p:txBody>
      </p:sp>
    </p:spTree>
  </p:cSld>
  <p:clrMapOvr>
    <a:masterClrMapping/>
  </p:clrMapOvr>
  <p:transition spd="fast" advClick="1">
    <p:fade/>
  </p:transition>
</p:sld>
</file>

<file path=ppt/slides/slide8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1F6FEB"/>
                </a:solidFill>
                <a:latin typeface="Arial"/>
              </a:rPr>
              <a:t>WHAT YOU'LL DO</a:t>
            </a:r>
          </a:p>
        </p:txBody>
      </p:sp>
      <p:sp>
        <p:nvSpPr>
          <p:cNvPr id="5" name="TextBox 4"/>
          <p:cNvSpPr txBox="1"/>
          <p:nvPr/>
        </p:nvSpPr>
        <p:spPr>
          <a:xfrm>
            <a:off x="777240" y="804672"/>
            <a:ext cx="10881360" cy="713232"/>
          </a:xfrm>
          <a:prstGeom prst="rect">
            <a:avLst/>
          </a:prstGeom>
          <a:noFill/>
        </p:spPr>
        <p:txBody>
          <a:bodyPr wrap="square" anchor="ctr">
            <a:spAutoFit/>
          </a:bodyPr>
          <a:lstStyle/>
          <a:p>
            <a:pPr algn="l">
              <a:spcAft>
                <a:spcPts val="400"/>
              </a:spcAft>
            </a:pPr>
            <a:r>
              <a:rPr sz="2900" b="1">
                <a:solidFill>
                  <a:srgbClr val="161B26"/>
                </a:solidFill>
                <a:latin typeface="Arial"/>
              </a:rPr>
              <a:t>Hands-On Labs — Deploying and Managing AI Agents</a:t>
            </a:r>
          </a:p>
        </p:txBody>
      </p:sp>
      <p:sp>
        <p:nvSpPr>
          <p:cNvPr id="6" name="Rectangle 5"/>
          <p:cNvSpPr/>
          <p:nvPr/>
        </p:nvSpPr>
        <p:spPr>
          <a:xfrm>
            <a:off x="777240" y="155448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77240" y="1783080"/>
            <a:ext cx="3337560" cy="429768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777240" y="1783080"/>
            <a:ext cx="3337560" cy="109728"/>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1005840" y="2011680"/>
            <a:ext cx="2926080" cy="548640"/>
          </a:xfrm>
          <a:prstGeom prst="rect">
            <a:avLst/>
          </a:prstGeom>
          <a:noFill/>
        </p:spPr>
        <p:txBody>
          <a:bodyPr wrap="square" anchor="t">
            <a:spAutoFit/>
          </a:bodyPr>
          <a:lstStyle/>
          <a:p>
            <a:pPr algn="l">
              <a:spcAft>
                <a:spcPts val="400"/>
              </a:spcAft>
            </a:pPr>
            <a:r>
              <a:rPr sz="1900" b="1">
                <a:solidFill>
                  <a:srgbClr val="1F6FEB"/>
                </a:solidFill>
                <a:latin typeface="Arial"/>
              </a:rPr>
              <a:t>Lab 6</a:t>
            </a:r>
          </a:p>
        </p:txBody>
      </p:sp>
      <p:sp>
        <p:nvSpPr>
          <p:cNvPr id="10" name="TextBox 9"/>
          <p:cNvSpPr txBox="1"/>
          <p:nvPr/>
        </p:nvSpPr>
        <p:spPr>
          <a:xfrm>
            <a:off x="1005840" y="2697480"/>
            <a:ext cx="2926080" cy="3108960"/>
          </a:xfrm>
          <a:prstGeom prst="rect">
            <a:avLst/>
          </a:prstGeom>
          <a:noFill/>
        </p:spPr>
        <p:txBody>
          <a:bodyPr wrap="square">
            <a:spAutoFit/>
          </a:bodyPr>
          <a:lstStyle/>
          <a:p>
            <a:pPr>
              <a:spcAft>
                <a:spcPts val="900"/>
              </a:spcAft>
            </a:pPr>
            <a:r>
              <a:rPr sz="1400" b="0">
                <a:solidFill>
                  <a:srgbClr val="161B26"/>
                </a:solidFill>
                <a:latin typeface="Arial"/>
              </a:rPr>
              <a:t>•  Run the Governed TalentBridge Operation and Close the Audit Loop (HR)</a:t>
            </a:r>
          </a:p>
          <a:p>
            <a:pPr>
              <a:spcAft>
                <a:spcPts val="900"/>
              </a:spcAft>
            </a:pPr>
            <a:r>
              <a:rPr sz="1400" b="0">
                <a:solidFill>
                  <a:srgbClr val="161B26"/>
                </a:solidFill>
                <a:latin typeface="Arial"/>
              </a:rPr>
              <a:t>•  TalentBridge People Ops (HR — sourcing, interview, policy, onboarding)</a:t>
            </a:r>
          </a:p>
        </p:txBody>
      </p:sp>
      <p:sp>
        <p:nvSpPr>
          <p:cNvPr id="11" name="Rectangle 10"/>
          <p:cNvSpPr/>
          <p:nvPr/>
        </p:nvSpPr>
        <p:spPr>
          <a:xfrm>
            <a:off x="4572000" y="1783080"/>
            <a:ext cx="3337560" cy="429768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ectangle 11"/>
          <p:cNvSpPr/>
          <p:nvPr/>
        </p:nvSpPr>
        <p:spPr>
          <a:xfrm>
            <a:off x="4572000" y="1783080"/>
            <a:ext cx="3337560" cy="109728"/>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4800600" y="2011680"/>
            <a:ext cx="2926080" cy="548640"/>
          </a:xfrm>
          <a:prstGeom prst="rect">
            <a:avLst/>
          </a:prstGeom>
          <a:noFill/>
        </p:spPr>
        <p:txBody>
          <a:bodyPr wrap="square" anchor="t">
            <a:spAutoFit/>
          </a:bodyPr>
          <a:lstStyle/>
          <a:p>
            <a:pPr algn="l">
              <a:spcAft>
                <a:spcPts val="400"/>
              </a:spcAft>
            </a:pPr>
            <a:r>
              <a:rPr sz="1900" b="1">
                <a:solidFill>
                  <a:srgbClr val="F59E0B"/>
                </a:solidFill>
                <a:latin typeface="Arial"/>
              </a:rPr>
              <a:t>—</a:t>
            </a:r>
          </a:p>
        </p:txBody>
      </p:sp>
      <p:sp>
        <p:nvSpPr>
          <p:cNvPr id="14" name="TextBox 13"/>
          <p:cNvSpPr txBox="1"/>
          <p:nvPr/>
        </p:nvSpPr>
        <p:spPr>
          <a:xfrm>
            <a:off x="4800600" y="2697480"/>
            <a:ext cx="2926080" cy="3108960"/>
          </a:xfrm>
          <a:prstGeom prst="rect">
            <a:avLst/>
          </a:prstGeom>
          <a:noFill/>
        </p:spPr>
        <p:txBody>
          <a:bodyPr wrap="square">
            <a:spAutoFit/>
          </a:bodyPr>
          <a:lstStyle/>
          <a:p>
            <a:pPr>
              <a:spcAft>
                <a:spcPts val="900"/>
              </a:spcAft>
            </a:pPr>
            <a:r>
              <a:rPr sz="1400" b="0">
                <a:solidFill>
                  <a:srgbClr val="161B26"/>
                </a:solidFill>
                <a:latin typeface="Arial"/>
              </a:rPr>
              <a:t>•  —</a:t>
            </a:r>
          </a:p>
        </p:txBody>
      </p:sp>
      <p:sp>
        <p:nvSpPr>
          <p:cNvPr id="15" name="Rectangle 14"/>
          <p:cNvSpPr/>
          <p:nvPr/>
        </p:nvSpPr>
        <p:spPr>
          <a:xfrm>
            <a:off x="8366760" y="1783080"/>
            <a:ext cx="3337560" cy="429768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ectangle 15"/>
          <p:cNvSpPr/>
          <p:nvPr/>
        </p:nvSpPr>
        <p:spPr>
          <a:xfrm>
            <a:off x="8366760" y="1783080"/>
            <a:ext cx="3337560" cy="109728"/>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8595360" y="2011680"/>
            <a:ext cx="2926080" cy="548640"/>
          </a:xfrm>
          <a:prstGeom prst="rect">
            <a:avLst/>
          </a:prstGeom>
          <a:noFill/>
        </p:spPr>
        <p:txBody>
          <a:bodyPr wrap="square" anchor="t">
            <a:spAutoFit/>
          </a:bodyPr>
          <a:lstStyle/>
          <a:p>
            <a:pPr algn="l">
              <a:spcAft>
                <a:spcPts val="400"/>
              </a:spcAft>
            </a:pPr>
            <a:r>
              <a:rPr sz="1900" b="1">
                <a:solidFill>
                  <a:srgbClr val="F59E0B"/>
                </a:solidFill>
                <a:latin typeface="Arial"/>
              </a:rPr>
              <a:t>—</a:t>
            </a:r>
          </a:p>
        </p:txBody>
      </p:sp>
      <p:sp>
        <p:nvSpPr>
          <p:cNvPr id="18" name="TextBox 17"/>
          <p:cNvSpPr txBox="1"/>
          <p:nvPr/>
        </p:nvSpPr>
        <p:spPr>
          <a:xfrm>
            <a:off x="8595360" y="2697480"/>
            <a:ext cx="2926080" cy="3108960"/>
          </a:xfrm>
          <a:prstGeom prst="rect">
            <a:avLst/>
          </a:prstGeom>
          <a:noFill/>
        </p:spPr>
        <p:txBody>
          <a:bodyPr wrap="square">
            <a:spAutoFit/>
          </a:bodyPr>
          <a:lstStyle/>
          <a:p>
            <a:pPr>
              <a:spcAft>
                <a:spcPts val="900"/>
              </a:spcAft>
            </a:pPr>
            <a:r>
              <a:rPr sz="1400" b="0">
                <a:solidFill>
                  <a:srgbClr val="161B26"/>
                </a:solidFill>
                <a:latin typeface="Arial"/>
              </a:rPr>
              <a:t>•  —</a:t>
            </a:r>
          </a:p>
        </p:txBody>
      </p:sp>
      <p:sp>
        <p:nvSpPr>
          <p:cNvPr id="19" name="TextBox 18"/>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Manage AI Agents with Paperclip (TGS-2023036646)  ·  TGS-2023036646</a:t>
            </a:r>
          </a:p>
        </p:txBody>
      </p:sp>
      <p:sp>
        <p:nvSpPr>
          <p:cNvPr id="20" name="TextBox 19"/>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21" name="TextBox 20"/>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88</a:t>
            </a:r>
          </a:p>
        </p:txBody>
      </p:sp>
    </p:spTree>
  </p:cSld>
  <p:clrMapOvr>
    <a:masterClrMapping/>
  </p:clrMapOvr>
  <p:transition spd="fast" advClick="1">
    <p:fade/>
  </p:transition>
</p:sld>
</file>

<file path=ppt/slides/slide8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10B981"/>
                </a:solidFill>
                <a:latin typeface="Arial"/>
              </a:rPr>
              <a:t>LAB 6  ·  HANDS-ON</a:t>
            </a:r>
          </a:p>
        </p:txBody>
      </p:sp>
      <p:sp>
        <p:nvSpPr>
          <p:cNvPr id="5" name="TextBox 4"/>
          <p:cNvSpPr txBox="1"/>
          <p:nvPr/>
        </p:nvSpPr>
        <p:spPr>
          <a:xfrm>
            <a:off x="777240" y="804672"/>
            <a:ext cx="10881360" cy="713232"/>
          </a:xfrm>
          <a:prstGeom prst="rect">
            <a:avLst/>
          </a:prstGeom>
          <a:noFill/>
        </p:spPr>
        <p:txBody>
          <a:bodyPr wrap="square" anchor="ctr">
            <a:spAutoFit/>
          </a:bodyPr>
          <a:lstStyle/>
          <a:p>
            <a:pPr algn="l">
              <a:spcAft>
                <a:spcPts val="400"/>
              </a:spcAft>
            </a:pPr>
            <a:r>
              <a:rPr sz="2200" b="1">
                <a:solidFill>
                  <a:srgbClr val="161B26"/>
                </a:solidFill>
                <a:latin typeface="Arial"/>
              </a:rPr>
              <a:t>Run the Governed TalentBridge Operation and Close the Audit Loop (HR)</a:t>
            </a:r>
          </a:p>
        </p:txBody>
      </p:sp>
      <p:sp>
        <p:nvSpPr>
          <p:cNvPr id="6" name="Rectangle 5"/>
          <p:cNvSpPr/>
          <p:nvPr/>
        </p:nvSpPr>
        <p:spPr>
          <a:xfrm>
            <a:off x="777240" y="155448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77240" y="1783080"/>
            <a:ext cx="10607040" cy="56692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777240" y="1783080"/>
            <a:ext cx="91440" cy="566928"/>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1051560" y="1783080"/>
            <a:ext cx="10241280" cy="566928"/>
          </a:xfrm>
          <a:prstGeom prst="rect">
            <a:avLst/>
          </a:prstGeom>
          <a:noFill/>
        </p:spPr>
        <p:txBody>
          <a:bodyPr wrap="square" anchor="ctr">
            <a:spAutoFit/>
          </a:bodyPr>
          <a:lstStyle/>
          <a:p>
            <a:pPr algn="l">
              <a:spcAft>
                <a:spcPts val="400"/>
              </a:spcAft>
            </a:pPr>
            <a:r>
              <a:rPr sz="1300" b="1">
                <a:solidFill>
                  <a:srgbClr val="7C3AED"/>
                </a:solidFill>
                <a:latin typeface="Arial"/>
              </a:rPr>
              <a:t>SIMULATED COMPANY  ·  TalentBridge People Ops (HR — sourcing, interview, policy, onboarding)</a:t>
            </a:r>
          </a:p>
        </p:txBody>
      </p:sp>
      <p:sp>
        <p:nvSpPr>
          <p:cNvPr id="10" name="TextBox 9"/>
          <p:cNvSpPr txBox="1"/>
          <p:nvPr/>
        </p:nvSpPr>
        <p:spPr>
          <a:xfrm>
            <a:off x="777240" y="2514600"/>
            <a:ext cx="10607040" cy="1298448"/>
          </a:xfrm>
          <a:prstGeom prst="rect">
            <a:avLst/>
          </a:prstGeom>
          <a:noFill/>
        </p:spPr>
        <p:txBody>
          <a:bodyPr wrap="square" anchor="t">
            <a:spAutoFit/>
          </a:bodyPr>
          <a:lstStyle/>
          <a:p>
            <a:pPr algn="l">
              <a:spcAft>
                <a:spcPts val="400"/>
              </a:spcAft>
            </a:pPr>
            <a:r>
              <a:rPr sz="1350" b="0">
                <a:solidFill>
                  <a:srgbClr val="161B26"/>
                </a:solidFill>
                <a:latin typeface="Arial"/>
              </a:rPr>
              <a:t>TalentBridge People Ops is the highest-stakes simulation in the course: hiring decisions affect real people, so every control you have learned is now mandatory rather than advisable. You complete the sourcing-to-onboarding operation, review the final synthesis against a workspace DIFF before the board closes it, process a bounded hire approval with a recorded rationale, practise the intervention ladder on a disposable role only, and finally reconstruct the entire operation from the activity log. The audit loop closes when the log alone tells the whole story.</a:t>
            </a:r>
          </a:p>
        </p:txBody>
      </p:sp>
      <p:sp>
        <p:nvSpPr>
          <p:cNvPr id="11" name="Rectangle 10"/>
          <p:cNvSpPr/>
          <p:nvPr/>
        </p:nvSpPr>
        <p:spPr>
          <a:xfrm>
            <a:off x="777240" y="3931920"/>
            <a:ext cx="6766560" cy="157276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ectangle 11"/>
          <p:cNvSpPr/>
          <p:nvPr/>
        </p:nvSpPr>
        <p:spPr>
          <a:xfrm>
            <a:off x="777240" y="3931920"/>
            <a:ext cx="6766560" cy="82296"/>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1005840" y="4069080"/>
            <a:ext cx="6309360" cy="329184"/>
          </a:xfrm>
          <a:prstGeom prst="rect">
            <a:avLst/>
          </a:prstGeom>
          <a:noFill/>
        </p:spPr>
        <p:txBody>
          <a:bodyPr wrap="square" anchor="t">
            <a:spAutoFit/>
          </a:bodyPr>
          <a:lstStyle/>
          <a:p>
            <a:pPr algn="l">
              <a:spcAft>
                <a:spcPts val="400"/>
              </a:spcAft>
            </a:pPr>
            <a:r>
              <a:rPr sz="1200" b="1">
                <a:solidFill>
                  <a:srgbClr val="10B981"/>
                </a:solidFill>
                <a:latin typeface="Arial"/>
              </a:rPr>
              <a:t>YOU'LL BUILD</a:t>
            </a:r>
          </a:p>
        </p:txBody>
      </p:sp>
      <p:sp>
        <p:nvSpPr>
          <p:cNvPr id="14" name="TextBox 13"/>
          <p:cNvSpPr txBox="1"/>
          <p:nvPr/>
        </p:nvSpPr>
        <p:spPr>
          <a:xfrm>
            <a:off x="1005840" y="4416552"/>
            <a:ext cx="6309360" cy="1005840"/>
          </a:xfrm>
          <a:prstGeom prst="rect">
            <a:avLst/>
          </a:prstGeom>
          <a:noFill/>
        </p:spPr>
        <p:txBody>
          <a:bodyPr wrap="square" anchor="t">
            <a:spAutoFit/>
          </a:bodyPr>
          <a:lstStyle/>
          <a:p>
            <a:pPr algn="l">
              <a:spcAft>
                <a:spcPts val="400"/>
              </a:spcAft>
            </a:pPr>
            <a:r>
              <a:rPr sz="1150" b="0">
                <a:solidFill>
                  <a:srgbClr val="161B26"/>
                </a:solidFill>
                <a:latin typeface="Arial"/>
              </a:rPr>
              <a:t>A diff-reviewed TalentBridge hiring brief, a separately confined reviewer with a recorded approval rationale, a lifecycle intervention record, and a mission-to-evidence audit map reconstructed from the activity log alone.</a:t>
            </a:r>
          </a:p>
        </p:txBody>
      </p:sp>
      <p:sp>
        <p:nvSpPr>
          <p:cNvPr id="15" name="Rectangle 14"/>
          <p:cNvSpPr/>
          <p:nvPr/>
        </p:nvSpPr>
        <p:spPr>
          <a:xfrm>
            <a:off x="7818120" y="3931920"/>
            <a:ext cx="3566160" cy="157276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ectangle 15"/>
          <p:cNvSpPr/>
          <p:nvPr/>
        </p:nvSpPr>
        <p:spPr>
          <a:xfrm>
            <a:off x="7818120" y="3931920"/>
            <a:ext cx="3566160" cy="82296"/>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8046720" y="4069080"/>
            <a:ext cx="3108960" cy="329184"/>
          </a:xfrm>
          <a:prstGeom prst="rect">
            <a:avLst/>
          </a:prstGeom>
          <a:noFill/>
        </p:spPr>
        <p:txBody>
          <a:bodyPr wrap="square" anchor="t">
            <a:spAutoFit/>
          </a:bodyPr>
          <a:lstStyle/>
          <a:p>
            <a:pPr algn="l">
              <a:spcAft>
                <a:spcPts val="400"/>
              </a:spcAft>
            </a:pPr>
            <a:r>
              <a:rPr sz="1200" b="1">
                <a:solidFill>
                  <a:srgbClr val="1F6FEB"/>
                </a:solidFill>
                <a:latin typeface="Arial"/>
              </a:rPr>
              <a:t>MAPS TO</a:t>
            </a:r>
          </a:p>
        </p:txBody>
      </p:sp>
      <p:sp>
        <p:nvSpPr>
          <p:cNvPr id="18" name="TextBox 17"/>
          <p:cNvSpPr txBox="1"/>
          <p:nvPr/>
        </p:nvSpPr>
        <p:spPr>
          <a:xfrm>
            <a:off x="8046720" y="4416552"/>
            <a:ext cx="3108960" cy="1005840"/>
          </a:xfrm>
          <a:prstGeom prst="rect">
            <a:avLst/>
          </a:prstGeom>
          <a:noFill/>
        </p:spPr>
        <p:txBody>
          <a:bodyPr wrap="square" anchor="t">
            <a:spAutoFit/>
          </a:bodyPr>
          <a:lstStyle/>
          <a:p>
            <a:pPr algn="l">
              <a:spcAft>
                <a:spcPts val="400"/>
              </a:spcAft>
            </a:pPr>
            <a:r>
              <a:rPr sz="1050" b="0">
                <a:solidFill>
                  <a:srgbClr val="161B26"/>
                </a:solidFill>
                <a:latin typeface="Arial"/>
              </a:rPr>
              <a:t>LO4: Resolve issues and modify a running agent company through approvals, the operator intervention ladder and a reconstructed audit trail.</a:t>
            </a:r>
          </a:p>
        </p:txBody>
      </p:sp>
      <p:sp>
        <p:nvSpPr>
          <p:cNvPr id="19" name="TextBox 18"/>
          <p:cNvSpPr txBox="1"/>
          <p:nvPr/>
        </p:nvSpPr>
        <p:spPr>
          <a:xfrm>
            <a:off x="777240" y="5669280"/>
            <a:ext cx="10607040" cy="640080"/>
          </a:xfrm>
          <a:prstGeom prst="rect">
            <a:avLst/>
          </a:prstGeom>
          <a:noFill/>
        </p:spPr>
        <p:txBody>
          <a:bodyPr wrap="square" anchor="t">
            <a:spAutoFit/>
          </a:bodyPr>
          <a:lstStyle/>
          <a:p>
            <a:pPr algn="l">
              <a:spcAft>
                <a:spcPts val="300"/>
              </a:spcAft>
            </a:pPr>
            <a:r>
              <a:rPr sz="1100" b="0">
                <a:solidFill>
                  <a:srgbClr val="5B6372"/>
                </a:solidFill>
                <a:latin typeface="Arial"/>
              </a:rPr>
              <a:t>Tools:  Paperclip Issues, Agents, Runs, Approvals, Activity, Costs and local Markdown artifacts</a:t>
            </a:r>
          </a:p>
          <a:p>
            <a:pPr algn="l">
              <a:spcAft>
                <a:spcPts val="300"/>
              </a:spcAft>
            </a:pPr>
            <a:r>
              <a:rPr sz="1100" b="0">
                <a:solidFill>
                  <a:srgbClr val="5B6372"/>
                </a:solidFill>
                <a:latin typeface="Arial"/>
              </a:rPr>
              <a:t>Full step-by-step procedure: Learner Guide, Lab 6  ·  labs/ folder</a:t>
            </a:r>
          </a:p>
        </p:txBody>
      </p:sp>
      <p:sp>
        <p:nvSpPr>
          <p:cNvPr id="20" name="TextBox 19"/>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Manage AI Agents with Paperclip (TGS-2023036646)  ·  TGS-2023036646</a:t>
            </a:r>
          </a:p>
        </p:txBody>
      </p:sp>
      <p:sp>
        <p:nvSpPr>
          <p:cNvPr id="21" name="TextBox 20"/>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22" name="TextBox 21"/>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89</a:t>
            </a:r>
          </a:p>
        </p:txBody>
      </p:sp>
    </p:spTree>
  </p:cSld>
  <p:clrMapOvr>
    <a:masterClrMapping/>
  </p:clrMapOvr>
  <p:transition spd="fast" advClick="1">
    <p:fade/>
  </p:transition>
</p:sld>
</file>

<file path=ppt/slides/slide9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10B981"/>
                </a:solidFill>
                <a:latin typeface="Arial"/>
              </a:rPr>
              <a:t>LAB 6 · PROCESS MAP</a:t>
            </a:r>
          </a:p>
        </p:txBody>
      </p:sp>
      <p:sp>
        <p:nvSpPr>
          <p:cNvPr id="5" name="TextBox 4"/>
          <p:cNvSpPr txBox="1"/>
          <p:nvPr/>
        </p:nvSpPr>
        <p:spPr>
          <a:xfrm>
            <a:off x="777240" y="804672"/>
            <a:ext cx="10881360" cy="713232"/>
          </a:xfrm>
          <a:prstGeom prst="rect">
            <a:avLst/>
          </a:prstGeom>
          <a:noFill/>
        </p:spPr>
        <p:txBody>
          <a:bodyPr wrap="square" anchor="ctr">
            <a:spAutoFit/>
          </a:bodyPr>
          <a:lstStyle/>
          <a:p>
            <a:pPr algn="l">
              <a:spcAft>
                <a:spcPts val="400"/>
              </a:spcAft>
            </a:pPr>
            <a:r>
              <a:rPr sz="2900" b="1">
                <a:solidFill>
                  <a:srgbClr val="161B26"/>
                </a:solidFill>
                <a:latin typeface="Arial"/>
              </a:rPr>
              <a:t>How Lab 6 Runs</a:t>
            </a:r>
          </a:p>
        </p:txBody>
      </p:sp>
      <p:sp>
        <p:nvSpPr>
          <p:cNvPr id="6" name="Rectangle 5"/>
          <p:cNvSpPr/>
          <p:nvPr/>
        </p:nvSpPr>
        <p:spPr>
          <a:xfrm>
            <a:off x="777240" y="155448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ounded Rectangle 6"/>
          <p:cNvSpPr/>
          <p:nvPr/>
        </p:nvSpPr>
        <p:spPr>
          <a:xfrm>
            <a:off x="777240" y="2148840"/>
            <a:ext cx="1819656" cy="2148840"/>
          </a:xfrm>
          <a:prstGeom prst="roundRect">
            <a:avLst>
              <a:gd name="adj" fmla="val 10000"/>
            </a:avLst>
          </a:prstGeom>
          <a:solidFill>
            <a:srgbClr val="F5F8FC"/>
          </a:solidFill>
          <a:ln w="1587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777240" y="2148840"/>
            <a:ext cx="1819656" cy="100584"/>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Oval 8"/>
          <p:cNvSpPr/>
          <p:nvPr/>
        </p:nvSpPr>
        <p:spPr>
          <a:xfrm>
            <a:off x="1403604" y="2459736"/>
            <a:ext cx="566928" cy="566928"/>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1403604" y="2459736"/>
            <a:ext cx="566928" cy="566928"/>
          </a:xfrm>
          <a:prstGeom prst="rect">
            <a:avLst/>
          </a:prstGeom>
          <a:noFill/>
        </p:spPr>
        <p:txBody>
          <a:bodyPr wrap="square" anchor="ctr">
            <a:spAutoFit/>
          </a:bodyPr>
          <a:lstStyle/>
          <a:p>
            <a:pPr algn="ctr">
              <a:spcAft>
                <a:spcPts val="400"/>
              </a:spcAft>
            </a:pPr>
            <a:r>
              <a:rPr sz="2400" b="1">
                <a:solidFill>
                  <a:srgbClr val="FFFFFF"/>
                </a:solidFill>
                <a:latin typeface="Arial"/>
              </a:rPr>
              <a:t>1</a:t>
            </a:r>
          </a:p>
        </p:txBody>
      </p:sp>
      <p:sp>
        <p:nvSpPr>
          <p:cNvPr id="11" name="TextBox 10"/>
          <p:cNvSpPr txBox="1"/>
          <p:nvPr/>
        </p:nvSpPr>
        <p:spPr>
          <a:xfrm>
            <a:off x="905256" y="3081528"/>
            <a:ext cx="1563624" cy="786384"/>
          </a:xfrm>
          <a:prstGeom prst="rect">
            <a:avLst/>
          </a:prstGeom>
          <a:noFill/>
        </p:spPr>
        <p:txBody>
          <a:bodyPr wrap="square" anchor="ctr">
            <a:spAutoFit/>
          </a:bodyPr>
          <a:lstStyle/>
          <a:p>
            <a:pPr algn="ctr">
              <a:spcAft>
                <a:spcPts val="0"/>
              </a:spcAft>
            </a:pPr>
            <a:r>
              <a:rPr sz="1300" b="1">
                <a:solidFill>
                  <a:srgbClr val="161B26"/>
                </a:solidFill>
                <a:latin typeface="Arial"/>
              </a:rPr>
              <a:t>Create TalentBridge</a:t>
            </a:r>
          </a:p>
        </p:txBody>
      </p:sp>
      <p:sp>
        <p:nvSpPr>
          <p:cNvPr id="12" name="TextBox 11"/>
          <p:cNvSpPr txBox="1"/>
          <p:nvPr/>
        </p:nvSpPr>
        <p:spPr>
          <a:xfrm>
            <a:off x="850392" y="3584448"/>
            <a:ext cx="1673352" cy="603504"/>
          </a:xfrm>
          <a:prstGeom prst="rect">
            <a:avLst/>
          </a:prstGeom>
          <a:noFill/>
        </p:spPr>
        <p:txBody>
          <a:bodyPr wrap="square" anchor="ctr">
            <a:spAutoFit/>
          </a:bodyPr>
          <a:lstStyle/>
          <a:p>
            <a:pPr algn="ctr">
              <a:spcAft>
                <a:spcPts val="0"/>
              </a:spcAft>
            </a:pPr>
            <a:r>
              <a:rPr sz="900" b="0">
                <a:solidFill>
                  <a:srgbClr val="5B6372"/>
                </a:solidFill>
                <a:latin typeface="Arial"/>
              </a:rPr>
              <a:t>synthetic candidates only</a:t>
            </a:r>
          </a:p>
        </p:txBody>
      </p:sp>
      <p:cxnSp>
        <p:nvCxnSpPr>
          <p:cNvPr id="13" name="Connector 12"/>
          <p:cNvCxnSpPr/>
          <p:nvPr/>
        </p:nvCxnSpPr>
        <p:spPr>
          <a:xfrm>
            <a:off x="2651760" y="3223260"/>
            <a:ext cx="274320" cy="0"/>
          </a:xfrm>
          <a:prstGeom prst="line">
            <a:avLst/>
          </a:prstGeom>
          <a:ln w="25400">
            <a:solidFill>
              <a:srgbClr val="10B981"/>
            </a:solidFill>
            <a:tailEnd type="triangle" w="med" len="med"/>
          </a:ln>
        </p:spPr>
        <p:style>
          <a:lnRef idx="2">
            <a:schemeClr val="accent1"/>
          </a:lnRef>
          <a:fillRef idx="0">
            <a:schemeClr val="accent1"/>
          </a:fillRef>
          <a:effectRef idx="1">
            <a:schemeClr val="accent1"/>
          </a:effectRef>
          <a:fontRef idx="minor">
            <a:schemeClr val="tx1"/>
          </a:fontRef>
        </p:style>
      </p:cxnSp>
      <p:sp>
        <p:nvSpPr>
          <p:cNvPr id="14" name="Rounded Rectangle 13"/>
          <p:cNvSpPr/>
          <p:nvPr/>
        </p:nvSpPr>
        <p:spPr>
          <a:xfrm>
            <a:off x="2980944" y="2148840"/>
            <a:ext cx="1819656" cy="2148840"/>
          </a:xfrm>
          <a:prstGeom prst="roundRect">
            <a:avLst>
              <a:gd name="adj" fmla="val 10000"/>
            </a:avLst>
          </a:prstGeom>
          <a:solidFill>
            <a:srgbClr val="F5F8FC"/>
          </a:solidFill>
          <a:ln w="1587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2980944" y="2148840"/>
            <a:ext cx="1819656" cy="100584"/>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Oval 15"/>
          <p:cNvSpPr/>
          <p:nvPr/>
        </p:nvSpPr>
        <p:spPr>
          <a:xfrm>
            <a:off x="3607308" y="2459736"/>
            <a:ext cx="566928" cy="566928"/>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3607308" y="2459736"/>
            <a:ext cx="566928" cy="566928"/>
          </a:xfrm>
          <a:prstGeom prst="rect">
            <a:avLst/>
          </a:prstGeom>
          <a:noFill/>
        </p:spPr>
        <p:txBody>
          <a:bodyPr wrap="square" anchor="ctr">
            <a:spAutoFit/>
          </a:bodyPr>
          <a:lstStyle/>
          <a:p>
            <a:pPr algn="ctr">
              <a:spcAft>
                <a:spcPts val="400"/>
              </a:spcAft>
            </a:pPr>
            <a:r>
              <a:rPr sz="2400" b="1">
                <a:solidFill>
                  <a:srgbClr val="FFFFFF"/>
                </a:solidFill>
                <a:latin typeface="Arial"/>
              </a:rPr>
              <a:t>2</a:t>
            </a:r>
          </a:p>
        </p:txBody>
      </p:sp>
      <p:sp>
        <p:nvSpPr>
          <p:cNvPr id="18" name="TextBox 17"/>
          <p:cNvSpPr txBox="1"/>
          <p:nvPr/>
        </p:nvSpPr>
        <p:spPr>
          <a:xfrm>
            <a:off x="3108960" y="3081528"/>
            <a:ext cx="1563624" cy="786384"/>
          </a:xfrm>
          <a:prstGeom prst="rect">
            <a:avLst/>
          </a:prstGeom>
          <a:noFill/>
        </p:spPr>
        <p:txBody>
          <a:bodyPr wrap="square" anchor="ctr">
            <a:spAutoFit/>
          </a:bodyPr>
          <a:lstStyle/>
          <a:p>
            <a:pPr algn="ctr">
              <a:spcAft>
                <a:spcPts val="0"/>
              </a:spcAft>
            </a:pPr>
            <a:r>
              <a:rPr sz="1300" b="1">
                <a:solidFill>
                  <a:srgbClr val="161B26"/>
                </a:solidFill>
                <a:latin typeface="Arial"/>
              </a:rPr>
              <a:t>Run the issue tree</a:t>
            </a:r>
          </a:p>
        </p:txBody>
      </p:sp>
      <p:sp>
        <p:nvSpPr>
          <p:cNvPr id="19" name="TextBox 18"/>
          <p:cNvSpPr txBox="1"/>
          <p:nvPr/>
        </p:nvSpPr>
        <p:spPr>
          <a:xfrm>
            <a:off x="3054096" y="3584448"/>
            <a:ext cx="1673352" cy="603504"/>
          </a:xfrm>
          <a:prstGeom prst="rect">
            <a:avLst/>
          </a:prstGeom>
          <a:noFill/>
        </p:spPr>
        <p:txBody>
          <a:bodyPr wrap="square" anchor="ctr">
            <a:spAutoFit/>
          </a:bodyPr>
          <a:lstStyle/>
          <a:p>
            <a:pPr algn="ctr">
              <a:spcAft>
                <a:spcPts val="0"/>
              </a:spcAft>
            </a:pPr>
            <a:r>
              <a:rPr sz="900" b="0">
                <a:solidFill>
                  <a:srgbClr val="5B6372"/>
                </a:solidFill>
                <a:latin typeface="Arial"/>
              </a:rPr>
              <a:t>children accepted before the parent</a:t>
            </a:r>
          </a:p>
        </p:txBody>
      </p:sp>
      <p:cxnSp>
        <p:nvCxnSpPr>
          <p:cNvPr id="20" name="Connector 19"/>
          <p:cNvCxnSpPr/>
          <p:nvPr/>
        </p:nvCxnSpPr>
        <p:spPr>
          <a:xfrm>
            <a:off x="4855464" y="3223260"/>
            <a:ext cx="274320" cy="0"/>
          </a:xfrm>
          <a:prstGeom prst="line">
            <a:avLst/>
          </a:prstGeom>
          <a:ln w="25400">
            <a:solidFill>
              <a:srgbClr val="10B981"/>
            </a:solidFill>
            <a:tailEnd type="triangle" w="med" len="med"/>
          </a:ln>
        </p:spPr>
        <p:style>
          <a:lnRef idx="2">
            <a:schemeClr val="accent1"/>
          </a:lnRef>
          <a:fillRef idx="0">
            <a:schemeClr val="accent1"/>
          </a:fillRef>
          <a:effectRef idx="1">
            <a:schemeClr val="accent1"/>
          </a:effectRef>
          <a:fontRef idx="minor">
            <a:schemeClr val="tx1"/>
          </a:fontRef>
        </p:style>
      </p:cxnSp>
      <p:sp>
        <p:nvSpPr>
          <p:cNvPr id="21" name="Rounded Rectangle 20"/>
          <p:cNvSpPr/>
          <p:nvPr/>
        </p:nvSpPr>
        <p:spPr>
          <a:xfrm>
            <a:off x="5184648" y="2148840"/>
            <a:ext cx="1819656" cy="2148840"/>
          </a:xfrm>
          <a:prstGeom prst="roundRect">
            <a:avLst>
              <a:gd name="adj" fmla="val 10000"/>
            </a:avLst>
          </a:prstGeom>
          <a:solidFill>
            <a:srgbClr val="F5F8FC"/>
          </a:solidFill>
          <a:ln w="1587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Rectangle 21"/>
          <p:cNvSpPr/>
          <p:nvPr/>
        </p:nvSpPr>
        <p:spPr>
          <a:xfrm>
            <a:off x="5184648" y="2148840"/>
            <a:ext cx="1819656" cy="100584"/>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Oval 22"/>
          <p:cNvSpPr/>
          <p:nvPr/>
        </p:nvSpPr>
        <p:spPr>
          <a:xfrm>
            <a:off x="5811012" y="2459736"/>
            <a:ext cx="566928" cy="566928"/>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5811012" y="2459736"/>
            <a:ext cx="566928" cy="566928"/>
          </a:xfrm>
          <a:prstGeom prst="rect">
            <a:avLst/>
          </a:prstGeom>
          <a:noFill/>
        </p:spPr>
        <p:txBody>
          <a:bodyPr wrap="square" anchor="ctr">
            <a:spAutoFit/>
          </a:bodyPr>
          <a:lstStyle/>
          <a:p>
            <a:pPr algn="ctr">
              <a:spcAft>
                <a:spcPts val="400"/>
              </a:spcAft>
            </a:pPr>
            <a:r>
              <a:rPr sz="2400" b="1">
                <a:solidFill>
                  <a:srgbClr val="FFFFFF"/>
                </a:solidFill>
                <a:latin typeface="Arial"/>
              </a:rPr>
              <a:t>3</a:t>
            </a:r>
          </a:p>
        </p:txBody>
      </p:sp>
      <p:sp>
        <p:nvSpPr>
          <p:cNvPr id="25" name="TextBox 24"/>
          <p:cNvSpPr txBox="1"/>
          <p:nvPr/>
        </p:nvSpPr>
        <p:spPr>
          <a:xfrm>
            <a:off x="5312664" y="3081528"/>
            <a:ext cx="1563624" cy="786384"/>
          </a:xfrm>
          <a:prstGeom prst="rect">
            <a:avLst/>
          </a:prstGeom>
          <a:noFill/>
        </p:spPr>
        <p:txBody>
          <a:bodyPr wrap="square" anchor="ctr">
            <a:spAutoFit/>
          </a:bodyPr>
          <a:lstStyle/>
          <a:p>
            <a:pPr algn="ctr">
              <a:spcAft>
                <a:spcPts val="0"/>
              </a:spcAft>
            </a:pPr>
            <a:r>
              <a:rPr sz="1300" b="1">
                <a:solidFill>
                  <a:srgbClr val="161B26"/>
                </a:solidFill>
                <a:latin typeface="Arial"/>
              </a:rPr>
              <a:t>Review the workspace diff</a:t>
            </a:r>
          </a:p>
        </p:txBody>
      </p:sp>
      <p:sp>
        <p:nvSpPr>
          <p:cNvPr id="26" name="TextBox 25"/>
          <p:cNvSpPr txBox="1"/>
          <p:nvPr/>
        </p:nvSpPr>
        <p:spPr>
          <a:xfrm>
            <a:off x="5257800" y="3584448"/>
            <a:ext cx="1673352" cy="603504"/>
          </a:xfrm>
          <a:prstGeom prst="rect">
            <a:avLst/>
          </a:prstGeom>
          <a:noFill/>
        </p:spPr>
        <p:txBody>
          <a:bodyPr wrap="square" anchor="ctr">
            <a:spAutoFit/>
          </a:bodyPr>
          <a:lstStyle/>
          <a:p>
            <a:pPr algn="ctr">
              <a:spcAft>
                <a:spcPts val="0"/>
              </a:spcAft>
            </a:pPr>
            <a:r>
              <a:rPr sz="900" b="0">
                <a:solidFill>
                  <a:srgbClr val="5B6372"/>
                </a:solidFill>
                <a:latin typeface="Arial"/>
              </a:rPr>
              <a:t>not the agent's own summary</a:t>
            </a:r>
          </a:p>
        </p:txBody>
      </p:sp>
      <p:cxnSp>
        <p:nvCxnSpPr>
          <p:cNvPr id="27" name="Connector 26"/>
          <p:cNvCxnSpPr/>
          <p:nvPr/>
        </p:nvCxnSpPr>
        <p:spPr>
          <a:xfrm>
            <a:off x="7059168" y="3223260"/>
            <a:ext cx="274320" cy="0"/>
          </a:xfrm>
          <a:prstGeom prst="line">
            <a:avLst/>
          </a:prstGeom>
          <a:ln w="25400">
            <a:solidFill>
              <a:srgbClr val="10B981"/>
            </a:solidFill>
            <a:tailEnd type="triangle" w="med" len="med"/>
          </a:ln>
        </p:spPr>
        <p:style>
          <a:lnRef idx="2">
            <a:schemeClr val="accent1"/>
          </a:lnRef>
          <a:fillRef idx="0">
            <a:schemeClr val="accent1"/>
          </a:fillRef>
          <a:effectRef idx="1">
            <a:schemeClr val="accent1"/>
          </a:effectRef>
          <a:fontRef idx="minor">
            <a:schemeClr val="tx1"/>
          </a:fontRef>
        </p:style>
      </p:cxnSp>
      <p:sp>
        <p:nvSpPr>
          <p:cNvPr id="28" name="Rounded Rectangle 27"/>
          <p:cNvSpPr/>
          <p:nvPr/>
        </p:nvSpPr>
        <p:spPr>
          <a:xfrm>
            <a:off x="7388352" y="2148840"/>
            <a:ext cx="1819656" cy="2148840"/>
          </a:xfrm>
          <a:prstGeom prst="roundRect">
            <a:avLst>
              <a:gd name="adj" fmla="val 10000"/>
            </a:avLst>
          </a:prstGeom>
          <a:solidFill>
            <a:srgbClr val="F5F8FC"/>
          </a:solidFill>
          <a:ln w="1587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Rectangle 28"/>
          <p:cNvSpPr/>
          <p:nvPr/>
        </p:nvSpPr>
        <p:spPr>
          <a:xfrm>
            <a:off x="7388352" y="2148840"/>
            <a:ext cx="1819656" cy="100584"/>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Oval 29"/>
          <p:cNvSpPr/>
          <p:nvPr/>
        </p:nvSpPr>
        <p:spPr>
          <a:xfrm>
            <a:off x="8014716" y="2459736"/>
            <a:ext cx="566928" cy="566928"/>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TextBox 30"/>
          <p:cNvSpPr txBox="1"/>
          <p:nvPr/>
        </p:nvSpPr>
        <p:spPr>
          <a:xfrm>
            <a:off x="8014716" y="2459736"/>
            <a:ext cx="566928" cy="566928"/>
          </a:xfrm>
          <a:prstGeom prst="rect">
            <a:avLst/>
          </a:prstGeom>
          <a:noFill/>
        </p:spPr>
        <p:txBody>
          <a:bodyPr wrap="square" anchor="ctr">
            <a:spAutoFit/>
          </a:bodyPr>
          <a:lstStyle/>
          <a:p>
            <a:pPr algn="ctr">
              <a:spcAft>
                <a:spcPts val="400"/>
              </a:spcAft>
            </a:pPr>
            <a:r>
              <a:rPr sz="2400" b="1">
                <a:solidFill>
                  <a:srgbClr val="FFFFFF"/>
                </a:solidFill>
                <a:latin typeface="Arial"/>
              </a:rPr>
              <a:t>4</a:t>
            </a:r>
          </a:p>
        </p:txBody>
      </p:sp>
      <p:sp>
        <p:nvSpPr>
          <p:cNvPr id="32" name="TextBox 31"/>
          <p:cNvSpPr txBox="1"/>
          <p:nvPr/>
        </p:nvSpPr>
        <p:spPr>
          <a:xfrm>
            <a:off x="7516368" y="3081528"/>
            <a:ext cx="1563624" cy="786384"/>
          </a:xfrm>
          <a:prstGeom prst="rect">
            <a:avLst/>
          </a:prstGeom>
          <a:noFill/>
        </p:spPr>
        <p:txBody>
          <a:bodyPr wrap="square" anchor="ctr">
            <a:spAutoFit/>
          </a:bodyPr>
          <a:lstStyle/>
          <a:p>
            <a:pPr algn="ctr">
              <a:spcAft>
                <a:spcPts val="0"/>
              </a:spcAft>
            </a:pPr>
            <a:r>
              <a:rPr sz="1300" b="1">
                <a:solidFill>
                  <a:srgbClr val="161B26"/>
                </a:solidFill>
                <a:latin typeface="Arial"/>
              </a:rPr>
              <a:t>Decide the approval</a:t>
            </a:r>
          </a:p>
        </p:txBody>
      </p:sp>
      <p:sp>
        <p:nvSpPr>
          <p:cNvPr id="33" name="TextBox 32"/>
          <p:cNvSpPr txBox="1"/>
          <p:nvPr/>
        </p:nvSpPr>
        <p:spPr>
          <a:xfrm>
            <a:off x="7461504" y="3584448"/>
            <a:ext cx="1673352" cy="603504"/>
          </a:xfrm>
          <a:prstGeom prst="rect">
            <a:avLst/>
          </a:prstGeom>
          <a:noFill/>
        </p:spPr>
        <p:txBody>
          <a:bodyPr wrap="square" anchor="ctr">
            <a:spAutoFit/>
          </a:bodyPr>
          <a:lstStyle/>
          <a:p>
            <a:pPr algn="ctr">
              <a:spcAft>
                <a:spcPts val="0"/>
              </a:spcAft>
            </a:pPr>
            <a:r>
              <a:rPr sz="900" b="0">
                <a:solidFill>
                  <a:srgbClr val="5B6372"/>
                </a:solidFill>
                <a:latin typeface="Arial"/>
              </a:rPr>
              <a:t>record the rationale</a:t>
            </a:r>
          </a:p>
        </p:txBody>
      </p:sp>
      <p:cxnSp>
        <p:nvCxnSpPr>
          <p:cNvPr id="34" name="Connector 33"/>
          <p:cNvCxnSpPr/>
          <p:nvPr/>
        </p:nvCxnSpPr>
        <p:spPr>
          <a:xfrm>
            <a:off x="9262872" y="3223260"/>
            <a:ext cx="274320" cy="0"/>
          </a:xfrm>
          <a:prstGeom prst="line">
            <a:avLst/>
          </a:prstGeom>
          <a:ln w="25400">
            <a:solidFill>
              <a:srgbClr val="10B981"/>
            </a:solidFill>
            <a:tailEnd type="triangle" w="med" len="med"/>
          </a:ln>
        </p:spPr>
        <p:style>
          <a:lnRef idx="2">
            <a:schemeClr val="accent1"/>
          </a:lnRef>
          <a:fillRef idx="0">
            <a:schemeClr val="accent1"/>
          </a:fillRef>
          <a:effectRef idx="1">
            <a:schemeClr val="accent1"/>
          </a:effectRef>
          <a:fontRef idx="minor">
            <a:schemeClr val="tx1"/>
          </a:fontRef>
        </p:style>
      </p:cxnSp>
      <p:sp>
        <p:nvSpPr>
          <p:cNvPr id="35" name="Rounded Rectangle 34"/>
          <p:cNvSpPr/>
          <p:nvPr/>
        </p:nvSpPr>
        <p:spPr>
          <a:xfrm>
            <a:off x="9592056" y="2148840"/>
            <a:ext cx="1819656" cy="2148840"/>
          </a:xfrm>
          <a:prstGeom prst="roundRect">
            <a:avLst>
              <a:gd name="adj" fmla="val 10000"/>
            </a:avLst>
          </a:prstGeom>
          <a:solidFill>
            <a:srgbClr val="F5F8FC"/>
          </a:solidFill>
          <a:ln w="1587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 name="Rectangle 35"/>
          <p:cNvSpPr/>
          <p:nvPr/>
        </p:nvSpPr>
        <p:spPr>
          <a:xfrm>
            <a:off x="9592056" y="2148840"/>
            <a:ext cx="1819656" cy="100584"/>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 name="Oval 36"/>
          <p:cNvSpPr/>
          <p:nvPr/>
        </p:nvSpPr>
        <p:spPr>
          <a:xfrm>
            <a:off x="10218420" y="2459736"/>
            <a:ext cx="566928" cy="566928"/>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 name="TextBox 37"/>
          <p:cNvSpPr txBox="1"/>
          <p:nvPr/>
        </p:nvSpPr>
        <p:spPr>
          <a:xfrm>
            <a:off x="10218420" y="2459736"/>
            <a:ext cx="566928" cy="566928"/>
          </a:xfrm>
          <a:prstGeom prst="rect">
            <a:avLst/>
          </a:prstGeom>
          <a:noFill/>
        </p:spPr>
        <p:txBody>
          <a:bodyPr wrap="square" anchor="ctr">
            <a:spAutoFit/>
          </a:bodyPr>
          <a:lstStyle/>
          <a:p>
            <a:pPr algn="ctr">
              <a:spcAft>
                <a:spcPts val="400"/>
              </a:spcAft>
            </a:pPr>
            <a:r>
              <a:rPr sz="2400" b="1">
                <a:solidFill>
                  <a:srgbClr val="FFFFFF"/>
                </a:solidFill>
                <a:latin typeface="Arial"/>
              </a:rPr>
              <a:t>5</a:t>
            </a:r>
          </a:p>
        </p:txBody>
      </p:sp>
      <p:sp>
        <p:nvSpPr>
          <p:cNvPr id="39" name="TextBox 38"/>
          <p:cNvSpPr txBox="1"/>
          <p:nvPr/>
        </p:nvSpPr>
        <p:spPr>
          <a:xfrm>
            <a:off x="9720072" y="3081528"/>
            <a:ext cx="1563624" cy="786384"/>
          </a:xfrm>
          <a:prstGeom prst="rect">
            <a:avLst/>
          </a:prstGeom>
          <a:noFill/>
        </p:spPr>
        <p:txBody>
          <a:bodyPr wrap="square" anchor="ctr">
            <a:spAutoFit/>
          </a:bodyPr>
          <a:lstStyle/>
          <a:p>
            <a:pPr algn="ctr">
              <a:spcAft>
                <a:spcPts val="0"/>
              </a:spcAft>
            </a:pPr>
            <a:r>
              <a:rPr sz="1300" b="1">
                <a:solidFill>
                  <a:srgbClr val="161B26"/>
                </a:solidFill>
                <a:latin typeface="Arial"/>
              </a:rPr>
              <a:t>Close the audit loop</a:t>
            </a:r>
          </a:p>
        </p:txBody>
      </p:sp>
      <p:sp>
        <p:nvSpPr>
          <p:cNvPr id="40" name="TextBox 39"/>
          <p:cNvSpPr txBox="1"/>
          <p:nvPr/>
        </p:nvSpPr>
        <p:spPr>
          <a:xfrm>
            <a:off x="9665208" y="3584448"/>
            <a:ext cx="1673352" cy="603504"/>
          </a:xfrm>
          <a:prstGeom prst="rect">
            <a:avLst/>
          </a:prstGeom>
          <a:noFill/>
        </p:spPr>
        <p:txBody>
          <a:bodyPr wrap="square" anchor="ctr">
            <a:spAutoFit/>
          </a:bodyPr>
          <a:lstStyle/>
          <a:p>
            <a:pPr algn="ctr">
              <a:spcAft>
                <a:spcPts val="0"/>
              </a:spcAft>
            </a:pPr>
            <a:r>
              <a:rPr sz="900" b="0">
                <a:solidFill>
                  <a:srgbClr val="5B6372"/>
                </a:solidFill>
                <a:latin typeface="Arial"/>
              </a:rPr>
              <a:t>reconstruct from Activity alone</a:t>
            </a:r>
          </a:p>
        </p:txBody>
      </p:sp>
      <p:sp>
        <p:nvSpPr>
          <p:cNvPr id="41" name="Rectangle 40"/>
          <p:cNvSpPr/>
          <p:nvPr/>
        </p:nvSpPr>
        <p:spPr>
          <a:xfrm>
            <a:off x="777240" y="4608576"/>
            <a:ext cx="10634472" cy="105156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2" name="Rectangle 41"/>
          <p:cNvSpPr/>
          <p:nvPr/>
        </p:nvSpPr>
        <p:spPr>
          <a:xfrm>
            <a:off x="777240" y="4608576"/>
            <a:ext cx="100584" cy="105156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3" name="TextBox 42"/>
          <p:cNvSpPr txBox="1"/>
          <p:nvPr/>
        </p:nvSpPr>
        <p:spPr>
          <a:xfrm>
            <a:off x="1051560" y="4718304"/>
            <a:ext cx="10149840" cy="292608"/>
          </a:xfrm>
          <a:prstGeom prst="rect">
            <a:avLst/>
          </a:prstGeom>
          <a:noFill/>
        </p:spPr>
        <p:txBody>
          <a:bodyPr wrap="square" anchor="t">
            <a:spAutoFit/>
          </a:bodyPr>
          <a:lstStyle/>
          <a:p>
            <a:pPr algn="l">
              <a:spcAft>
                <a:spcPts val="400"/>
              </a:spcAft>
            </a:pPr>
            <a:r>
              <a:rPr sz="1100" b="1">
                <a:solidFill>
                  <a:srgbClr val="10B981"/>
                </a:solidFill>
                <a:latin typeface="Arial"/>
              </a:rPr>
              <a:t>THE POINT</a:t>
            </a:r>
          </a:p>
        </p:txBody>
      </p:sp>
      <p:sp>
        <p:nvSpPr>
          <p:cNvPr id="44" name="TextBox 43"/>
          <p:cNvSpPr txBox="1"/>
          <p:nvPr/>
        </p:nvSpPr>
        <p:spPr>
          <a:xfrm>
            <a:off x="1051560" y="5029200"/>
            <a:ext cx="10149840" cy="566928"/>
          </a:xfrm>
          <a:prstGeom prst="rect">
            <a:avLst/>
          </a:prstGeom>
          <a:noFill/>
        </p:spPr>
        <p:txBody>
          <a:bodyPr wrap="square" anchor="t">
            <a:spAutoFit/>
          </a:bodyPr>
          <a:lstStyle/>
          <a:p>
            <a:pPr algn="l">
              <a:spcAft>
                <a:spcPts val="400"/>
              </a:spcAft>
            </a:pPr>
            <a:r>
              <a:rPr sz="1300" b="0">
                <a:solidFill>
                  <a:srgbClr val="161B26"/>
                </a:solidFill>
                <a:latin typeface="Arial"/>
              </a:rPr>
              <a:t>LO4: Resolve issues and modify a running agent company through approvals, the operator intervention ladder and a reconstructed audit trail.</a:t>
            </a:r>
          </a:p>
        </p:txBody>
      </p:sp>
      <p:sp>
        <p:nvSpPr>
          <p:cNvPr id="95" name="TextBox 94"/>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Manage AI Agents with Paperclip (TGS-2023036646)  ·  TGS-2023036646</a:t>
            </a:r>
          </a:p>
        </p:txBody>
      </p:sp>
      <p:sp>
        <p:nvSpPr>
          <p:cNvPr id="96" name="TextBox 95"/>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97" name="TextBox 96"/>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90</a:t>
            </a:r>
          </a:p>
        </p:txBody>
      </p:sp>
    </p:spTree>
  </p:cSld>
  <p:clrMapOvr>
    <a:masterClrMapping/>
  </p:clrMapOvr>
  <p:timing>
    <p:tnLst>
      <p:par>
        <p:cTn id="1" dur="indefinite" restart="never" nodeType="tmRoot">
          <p:childTnLst>
            <p:seq concurrent="1" nextAc="seek">
              <p:cTn id="2" dur="indefinite" nodeType="mainSeq">
                <p:childTnLst>
                  <p:par>
                    <p:cTn id="10" fill="hold">
                      <p:stCondLst>
                        <p:cond delay="indefinite"/>
                      </p:stCondLst>
                      <p:childTnLst>
                        <p:par>
                          <p:cTn id="11" fill="hold">
                            <p:stCondLst>
                              <p:cond delay="0"/>
                            </p:stCondLst>
                            <p:childTnLst>
                              <p:par>
                                <p:cTn id="12" presetID="1" presetClass="entr" presetSubtype="0" fill="hold" nodeType="clickEffect">
                                  <p:stCondLst>
                                    <p:cond delay="0"/>
                                  </p:stCondLst>
                                  <p:childTnLst>
                                    <p:set>
                                      <p:cBhvr>
                                        <p:cTn id="13" dur="1" fill="hold">
                                          <p:stCondLst>
                                            <p:cond delay="0"/>
                                          </p:stCondLst>
                                        </p:cTn>
                                        <p:tgtEl>
                                          <p:spTgt spid="7"/>
                                        </p:tgtEl>
                                        <p:attrNameLst>
                                          <p:attrName>style.visibility</p:attrName>
                                        </p:attrNameLst>
                                      </p:cBhvr>
                                      <p:to>
                                        <p:strVal val="visible"/>
                                      </p:to>
                                    </p:set>
                                    <p:animEffect transition="in" filter="fade">
                                      <p:cBhvr>
                                        <p:cTn id="14" dur="400"/>
                                        <p:tgtEl>
                                          <p:spTgt spid="7"/>
                                        </p:tgtEl>
                                      </p:cBhvr>
                                    </p:animEffect>
                                  </p:childTnLst>
                                </p:cTn>
                              </p:par>
                            </p:childTnLst>
                          </p:cTn>
                        </p:par>
                      </p:childTnLst>
                    </p:cTn>
                  </p:par>
                  <p:par>
                    <p:cTn id="20" fill="hold">
                      <p:stCondLst>
                        <p:cond delay="indefinite"/>
                      </p:stCondLst>
                      <p:childTnLst>
                        <p:par>
                          <p:cTn id="21" fill="hold">
                            <p:stCondLst>
                              <p:cond delay="0"/>
                            </p:stCondLst>
                            <p:childTnLst>
                              <p:par>
                                <p:cTn id="22" presetID="1" presetClass="entr" presetSubtype="0" fill="hold" nodeType="afterEffect">
                                  <p:stCondLst>
                                    <p:cond delay="0"/>
                                  </p:stCondLst>
                                  <p:childTnLst>
                                    <p:set>
                                      <p:cBhvr>
                                        <p:cTn id="23" dur="1" fill="hold">
                                          <p:stCondLst>
                                            <p:cond delay="0"/>
                                          </p:stCondLst>
                                        </p:cTn>
                                        <p:tgtEl>
                                          <p:spTgt spid="13"/>
                                        </p:tgtEl>
                                        <p:attrNameLst>
                                          <p:attrName>style.visibility</p:attrName>
                                        </p:attrNameLst>
                                      </p:cBhvr>
                                      <p:to>
                                        <p:strVal val="visible"/>
                                      </p:to>
                                    </p:set>
                                    <p:animEffect transition="in" filter="fade">
                                      <p:cBhvr>
                                        <p:cTn id="24" dur="400"/>
                                        <p:tgtEl>
                                          <p:spTgt spid="13"/>
                                        </p:tgtEl>
                                      </p:cBhvr>
                                    </p:animEffect>
                                  </p:childTnLst>
                                </p:cTn>
                              </p:par>
                            </p:childTnLst>
                          </p:cTn>
                        </p:par>
                      </p:childTnLst>
                    </p:cTn>
                  </p:par>
                  <p:par>
                    <p:cTn id="30" fill="hold">
                      <p:stCondLst>
                        <p:cond delay="indefinite"/>
                      </p:stCondLst>
                      <p:childTnLst>
                        <p:par>
                          <p:cTn id="31" fill="hold">
                            <p:stCondLst>
                              <p:cond delay="0"/>
                            </p:stCondLst>
                            <p:childTnLst>
                              <p:par>
                                <p:cTn id="32" presetID="1" presetClass="entr" presetSubtype="0" fill="hold" nodeType="afterEffect">
                                  <p:stCondLst>
                                    <p:cond delay="0"/>
                                  </p:stCondLst>
                                  <p:childTnLst>
                                    <p:set>
                                      <p:cBhvr>
                                        <p:cTn id="33" dur="1" fill="hold">
                                          <p:stCondLst>
                                            <p:cond delay="0"/>
                                          </p:stCondLst>
                                        </p:cTn>
                                        <p:tgtEl>
                                          <p:spTgt spid="14"/>
                                        </p:tgtEl>
                                        <p:attrNameLst>
                                          <p:attrName>style.visibility</p:attrName>
                                        </p:attrNameLst>
                                      </p:cBhvr>
                                      <p:to>
                                        <p:strVal val="visible"/>
                                      </p:to>
                                    </p:set>
                                    <p:animEffect transition="in" filter="fade">
                                      <p:cBhvr>
                                        <p:cTn id="34" dur="400"/>
                                        <p:tgtEl>
                                          <p:spTgt spid="14"/>
                                        </p:tgtEl>
                                      </p:cBhvr>
                                    </p:animEffect>
                                  </p:childTnLst>
                                </p:cTn>
                              </p:par>
                            </p:childTnLst>
                          </p:cTn>
                        </p:par>
                      </p:childTnLst>
                    </p:cTn>
                  </p:par>
                  <p:par>
                    <p:cTn id="40" fill="hold">
                      <p:stCondLst>
                        <p:cond delay="indefinite"/>
                      </p:stCondLst>
                      <p:childTnLst>
                        <p:par>
                          <p:cTn id="41" fill="hold">
                            <p:stCondLst>
                              <p:cond delay="0"/>
                            </p:stCondLst>
                            <p:childTnLst>
                              <p:par>
                                <p:cTn id="42" presetID="1" presetClass="entr" presetSubtype="0" fill="hold" nodeType="afterEffect">
                                  <p:stCondLst>
                                    <p:cond delay="0"/>
                                  </p:stCondLst>
                                  <p:childTnLst>
                                    <p:set>
                                      <p:cBhvr>
                                        <p:cTn id="43" dur="1" fill="hold">
                                          <p:stCondLst>
                                            <p:cond delay="0"/>
                                          </p:stCondLst>
                                        </p:cTn>
                                        <p:tgtEl>
                                          <p:spTgt spid="20"/>
                                        </p:tgtEl>
                                        <p:attrNameLst>
                                          <p:attrName>style.visibility</p:attrName>
                                        </p:attrNameLst>
                                      </p:cBhvr>
                                      <p:to>
                                        <p:strVal val="visible"/>
                                      </p:to>
                                    </p:set>
                                    <p:animEffect transition="in" filter="fade">
                                      <p:cBhvr>
                                        <p:cTn id="44" dur="400"/>
                                        <p:tgtEl>
                                          <p:spTgt spid="20"/>
                                        </p:tgtEl>
                                      </p:cBhvr>
                                    </p:animEffect>
                                  </p:childTnLst>
                                </p:cTn>
                              </p:par>
                            </p:childTnLst>
                          </p:cTn>
                        </p:par>
                      </p:childTnLst>
                    </p:cTn>
                  </p:par>
                  <p:par>
                    <p:cTn id="50" fill="hold">
                      <p:stCondLst>
                        <p:cond delay="indefinite"/>
                      </p:stCondLst>
                      <p:childTnLst>
                        <p:par>
                          <p:cTn id="51" fill="hold">
                            <p:stCondLst>
                              <p:cond delay="0"/>
                            </p:stCondLst>
                            <p:childTnLst>
                              <p:par>
                                <p:cTn id="52" presetID="1" presetClass="entr" presetSubtype="0" fill="hold" nodeType="afterEffect">
                                  <p:stCondLst>
                                    <p:cond delay="0"/>
                                  </p:stCondLst>
                                  <p:childTnLst>
                                    <p:set>
                                      <p:cBhvr>
                                        <p:cTn id="53" dur="1" fill="hold">
                                          <p:stCondLst>
                                            <p:cond delay="0"/>
                                          </p:stCondLst>
                                        </p:cTn>
                                        <p:tgtEl>
                                          <p:spTgt spid="21"/>
                                        </p:tgtEl>
                                        <p:attrNameLst>
                                          <p:attrName>style.visibility</p:attrName>
                                        </p:attrNameLst>
                                      </p:cBhvr>
                                      <p:to>
                                        <p:strVal val="visible"/>
                                      </p:to>
                                    </p:set>
                                    <p:animEffect transition="in" filter="fade">
                                      <p:cBhvr>
                                        <p:cTn id="54" dur="400"/>
                                        <p:tgtEl>
                                          <p:spTgt spid="21"/>
                                        </p:tgtEl>
                                      </p:cBhvr>
                                    </p:animEffect>
                                  </p:childTnLst>
                                </p:cTn>
                              </p:par>
                            </p:childTnLst>
                          </p:cTn>
                        </p:par>
                      </p:childTnLst>
                    </p:cTn>
                  </p:par>
                  <p:par>
                    <p:cTn id="60" fill="hold">
                      <p:stCondLst>
                        <p:cond delay="indefinite"/>
                      </p:stCondLst>
                      <p:childTnLst>
                        <p:par>
                          <p:cTn id="61" fill="hold">
                            <p:stCondLst>
                              <p:cond delay="0"/>
                            </p:stCondLst>
                            <p:childTnLst>
                              <p:par>
                                <p:cTn id="62" presetID="1" presetClass="entr" presetSubtype="0" fill="hold" nodeType="afterEffect">
                                  <p:stCondLst>
                                    <p:cond delay="0"/>
                                  </p:stCondLst>
                                  <p:childTnLst>
                                    <p:set>
                                      <p:cBhvr>
                                        <p:cTn id="63" dur="1" fill="hold">
                                          <p:stCondLst>
                                            <p:cond delay="0"/>
                                          </p:stCondLst>
                                        </p:cTn>
                                        <p:tgtEl>
                                          <p:spTgt spid="27"/>
                                        </p:tgtEl>
                                        <p:attrNameLst>
                                          <p:attrName>style.visibility</p:attrName>
                                        </p:attrNameLst>
                                      </p:cBhvr>
                                      <p:to>
                                        <p:strVal val="visible"/>
                                      </p:to>
                                    </p:set>
                                    <p:animEffect transition="in" filter="fade">
                                      <p:cBhvr>
                                        <p:cTn id="64" dur="400"/>
                                        <p:tgtEl>
                                          <p:spTgt spid="27"/>
                                        </p:tgtEl>
                                      </p:cBhvr>
                                    </p:animEffect>
                                  </p:childTnLst>
                                </p:cTn>
                              </p:par>
                            </p:childTnLst>
                          </p:cTn>
                        </p:par>
                      </p:childTnLst>
                    </p:cTn>
                  </p:par>
                  <p:par>
                    <p:cTn id="70" fill="hold">
                      <p:stCondLst>
                        <p:cond delay="indefinite"/>
                      </p:stCondLst>
                      <p:childTnLst>
                        <p:par>
                          <p:cTn id="71" fill="hold">
                            <p:stCondLst>
                              <p:cond delay="0"/>
                            </p:stCondLst>
                            <p:childTnLst>
                              <p:par>
                                <p:cTn id="72" presetID="1" presetClass="entr" presetSubtype="0" fill="hold" nodeType="afterEffect">
                                  <p:stCondLst>
                                    <p:cond delay="0"/>
                                  </p:stCondLst>
                                  <p:childTnLst>
                                    <p:set>
                                      <p:cBhvr>
                                        <p:cTn id="73" dur="1" fill="hold">
                                          <p:stCondLst>
                                            <p:cond delay="0"/>
                                          </p:stCondLst>
                                        </p:cTn>
                                        <p:tgtEl>
                                          <p:spTgt spid="28"/>
                                        </p:tgtEl>
                                        <p:attrNameLst>
                                          <p:attrName>style.visibility</p:attrName>
                                        </p:attrNameLst>
                                      </p:cBhvr>
                                      <p:to>
                                        <p:strVal val="visible"/>
                                      </p:to>
                                    </p:set>
                                    <p:animEffect transition="in" filter="fade">
                                      <p:cBhvr>
                                        <p:cTn id="74" dur="400"/>
                                        <p:tgtEl>
                                          <p:spTgt spid="28"/>
                                        </p:tgtEl>
                                      </p:cBhvr>
                                    </p:animEffect>
                                  </p:childTnLst>
                                </p:cTn>
                              </p:par>
                            </p:childTnLst>
                          </p:cTn>
                        </p:par>
                      </p:childTnLst>
                    </p:cTn>
                  </p:par>
                  <p:par>
                    <p:cTn id="80" fill="hold">
                      <p:stCondLst>
                        <p:cond delay="indefinite"/>
                      </p:stCondLst>
                      <p:childTnLst>
                        <p:par>
                          <p:cTn id="81" fill="hold">
                            <p:stCondLst>
                              <p:cond delay="0"/>
                            </p:stCondLst>
                            <p:childTnLst>
                              <p:par>
                                <p:cTn id="82" presetID="1" presetClass="entr" presetSubtype="0" fill="hold" nodeType="afterEffect">
                                  <p:stCondLst>
                                    <p:cond delay="0"/>
                                  </p:stCondLst>
                                  <p:childTnLst>
                                    <p:set>
                                      <p:cBhvr>
                                        <p:cTn id="83" dur="1" fill="hold">
                                          <p:stCondLst>
                                            <p:cond delay="0"/>
                                          </p:stCondLst>
                                        </p:cTn>
                                        <p:tgtEl>
                                          <p:spTgt spid="34"/>
                                        </p:tgtEl>
                                        <p:attrNameLst>
                                          <p:attrName>style.visibility</p:attrName>
                                        </p:attrNameLst>
                                      </p:cBhvr>
                                      <p:to>
                                        <p:strVal val="visible"/>
                                      </p:to>
                                    </p:set>
                                    <p:animEffect transition="in" filter="fade">
                                      <p:cBhvr>
                                        <p:cTn id="84" dur="400"/>
                                        <p:tgtEl>
                                          <p:spTgt spid="34"/>
                                        </p:tgtEl>
                                      </p:cBhvr>
                                    </p:animEffect>
                                  </p:childTnLst>
                                </p:cTn>
                              </p:par>
                            </p:childTnLst>
                          </p:cTn>
                        </p:par>
                      </p:childTnLst>
                    </p:cTn>
                  </p:par>
                  <p:par>
                    <p:cTn id="90" fill="hold">
                      <p:stCondLst>
                        <p:cond delay="indefinite"/>
                      </p:stCondLst>
                      <p:childTnLst>
                        <p:par>
                          <p:cTn id="91" fill="hold">
                            <p:stCondLst>
                              <p:cond delay="0"/>
                            </p:stCondLst>
                            <p:childTnLst>
                              <p:par>
                                <p:cTn id="92" presetID="1" presetClass="entr" presetSubtype="0" fill="hold" nodeType="afterEffect">
                                  <p:stCondLst>
                                    <p:cond delay="0"/>
                                  </p:stCondLst>
                                  <p:childTnLst>
                                    <p:set>
                                      <p:cBhvr>
                                        <p:cTn id="93" dur="1" fill="hold">
                                          <p:stCondLst>
                                            <p:cond delay="0"/>
                                          </p:stCondLst>
                                        </p:cTn>
                                        <p:tgtEl>
                                          <p:spTgt spid="35"/>
                                        </p:tgtEl>
                                        <p:attrNameLst>
                                          <p:attrName>style.visibility</p:attrName>
                                        </p:attrNameLst>
                                      </p:cBhvr>
                                      <p:to>
                                        <p:strVal val="visible"/>
                                      </p:to>
                                    </p:set>
                                    <p:animEffect transition="in" filter="fade">
                                      <p:cBhvr>
                                        <p:cTn id="94" dur="400"/>
                                        <p:tgtEl>
                                          <p:spTgt spid="35"/>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transition spd="fast" advClick="1">
    <p:fade/>
  </p:transition>
</p:sld>
</file>

<file path=ppt/slides/slide9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10B981"/>
                </a:solidFill>
                <a:latin typeface="Arial"/>
              </a:rPr>
              <a:t>LAB 6 · VERIFY</a:t>
            </a:r>
          </a:p>
        </p:txBody>
      </p:sp>
      <p:sp>
        <p:nvSpPr>
          <p:cNvPr id="5" name="TextBox 4"/>
          <p:cNvSpPr txBox="1"/>
          <p:nvPr/>
        </p:nvSpPr>
        <p:spPr>
          <a:xfrm>
            <a:off x="777240" y="804672"/>
            <a:ext cx="10881360" cy="713232"/>
          </a:xfrm>
          <a:prstGeom prst="rect">
            <a:avLst/>
          </a:prstGeom>
          <a:noFill/>
        </p:spPr>
        <p:txBody>
          <a:bodyPr wrap="square" anchor="ctr">
            <a:spAutoFit/>
          </a:bodyPr>
          <a:lstStyle/>
          <a:p>
            <a:pPr algn="l">
              <a:spcAft>
                <a:spcPts val="400"/>
              </a:spcAft>
            </a:pPr>
            <a:r>
              <a:rPr sz="2200" b="1">
                <a:solidFill>
                  <a:srgbClr val="161B26"/>
                </a:solidFill>
                <a:latin typeface="Arial"/>
              </a:rPr>
              <a:t>Run the Governed TalentBridge Operation and Close the Audit Loop (HR)</a:t>
            </a:r>
          </a:p>
        </p:txBody>
      </p:sp>
      <p:sp>
        <p:nvSpPr>
          <p:cNvPr id="6" name="Rectangle 5"/>
          <p:cNvSpPr/>
          <p:nvPr/>
        </p:nvSpPr>
        <p:spPr>
          <a:xfrm>
            <a:off x="777240" y="155448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77240" y="1783080"/>
            <a:ext cx="10634472" cy="1965960"/>
          </a:xfrm>
          <a:prstGeom prst="rect">
            <a:avLst/>
          </a:prstGeom>
          <a:solidFill>
            <a:srgbClr val="E8F7E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777240" y="1783080"/>
            <a:ext cx="100584" cy="1965960"/>
          </a:xfrm>
          <a:prstGeom prst="rect">
            <a:avLst/>
          </a:prstGeom>
          <a:solidFill>
            <a:srgbClr val="127A3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1097280" y="1938528"/>
            <a:ext cx="10058400" cy="402336"/>
          </a:xfrm>
          <a:prstGeom prst="rect">
            <a:avLst/>
          </a:prstGeom>
          <a:noFill/>
        </p:spPr>
        <p:txBody>
          <a:bodyPr wrap="square" anchor="t">
            <a:spAutoFit/>
          </a:bodyPr>
          <a:lstStyle/>
          <a:p>
            <a:pPr algn="l">
              <a:spcAft>
                <a:spcPts val="400"/>
              </a:spcAft>
            </a:pPr>
            <a:r>
              <a:rPr sz="1700" b="1">
                <a:solidFill>
                  <a:srgbClr val="127A3E"/>
                </a:solidFill>
                <a:latin typeface="Arial"/>
              </a:rPr>
              <a:t>✅  Expected result</a:t>
            </a:r>
          </a:p>
        </p:txBody>
      </p:sp>
      <p:sp>
        <p:nvSpPr>
          <p:cNvPr id="10" name="TextBox 9"/>
          <p:cNvSpPr txBox="1"/>
          <p:nvPr/>
        </p:nvSpPr>
        <p:spPr>
          <a:xfrm>
            <a:off x="1097280" y="2395728"/>
            <a:ext cx="10058400" cy="1234440"/>
          </a:xfrm>
          <a:prstGeom prst="rect">
            <a:avLst/>
          </a:prstGeom>
          <a:noFill/>
        </p:spPr>
        <p:txBody>
          <a:bodyPr wrap="square" anchor="t">
            <a:spAutoFit/>
          </a:bodyPr>
          <a:lstStyle/>
          <a:p>
            <a:pPr algn="l">
              <a:spcAft>
                <a:spcPts val="400"/>
              </a:spcAft>
            </a:pPr>
            <a:r>
              <a:rPr sz="1500" b="0">
                <a:solidFill>
                  <a:srgbClr val="161B26"/>
                </a:solidFill>
                <a:latin typeface="Arial"/>
              </a:rPr>
              <a:t>The hiring brief is the only later People Ops Lead workspace change and its diff passes the rubric-traceability and fairness checks; the approval carries a recorded rationale; the intervention ladder was applied to the disposable role only and in order; and the audit map reconstructs every mission claim from activity-log entries with no gap.</a:t>
            </a:r>
          </a:p>
        </p:txBody>
      </p:sp>
      <p:sp>
        <p:nvSpPr>
          <p:cNvPr id="11" name="TextBox 10"/>
          <p:cNvSpPr txBox="1"/>
          <p:nvPr/>
        </p:nvSpPr>
        <p:spPr>
          <a:xfrm>
            <a:off x="777240" y="3950208"/>
            <a:ext cx="10634472" cy="310896"/>
          </a:xfrm>
          <a:prstGeom prst="rect">
            <a:avLst/>
          </a:prstGeom>
          <a:noFill/>
        </p:spPr>
        <p:txBody>
          <a:bodyPr wrap="square" anchor="t">
            <a:spAutoFit/>
          </a:bodyPr>
          <a:lstStyle/>
          <a:p>
            <a:pPr algn="l">
              <a:spcAft>
                <a:spcPts val="400"/>
              </a:spcAft>
            </a:pPr>
            <a:r>
              <a:rPr sz="1100" b="1">
                <a:solidFill>
                  <a:srgbClr val="F59E0B"/>
                </a:solidFill>
                <a:latin typeface="Arial"/>
              </a:rPr>
              <a:t>IF IT DOESN'T WORK</a:t>
            </a:r>
          </a:p>
        </p:txBody>
      </p:sp>
      <p:sp>
        <p:nvSpPr>
          <p:cNvPr id="12" name="Rectangle 11"/>
          <p:cNvSpPr/>
          <p:nvPr/>
        </p:nvSpPr>
        <p:spPr>
          <a:xfrm>
            <a:off x="777240" y="4297680"/>
            <a:ext cx="3392424" cy="157276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777240" y="4297680"/>
            <a:ext cx="3392424" cy="82296"/>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996696" y="4453128"/>
            <a:ext cx="2980944" cy="329184"/>
          </a:xfrm>
          <a:prstGeom prst="rect">
            <a:avLst/>
          </a:prstGeom>
          <a:noFill/>
        </p:spPr>
        <p:txBody>
          <a:bodyPr wrap="square" anchor="t">
            <a:spAutoFit/>
          </a:bodyPr>
          <a:lstStyle/>
          <a:p>
            <a:pPr algn="l">
              <a:spcAft>
                <a:spcPts val="400"/>
              </a:spcAft>
            </a:pPr>
            <a:r>
              <a:rPr sz="1250" b="1">
                <a:solidFill>
                  <a:srgbClr val="161B26"/>
                </a:solidFill>
                <a:latin typeface="Arial"/>
              </a:rPr>
              <a:t>The CEO synthesises incomplete work</a:t>
            </a:r>
          </a:p>
        </p:txBody>
      </p:sp>
      <p:sp>
        <p:nvSpPr>
          <p:cNvPr id="15" name="TextBox 14"/>
          <p:cNvSpPr txBox="1"/>
          <p:nvPr/>
        </p:nvSpPr>
        <p:spPr>
          <a:xfrm>
            <a:off x="996696" y="4809744"/>
            <a:ext cx="2980944" cy="960120"/>
          </a:xfrm>
          <a:prstGeom prst="rect">
            <a:avLst/>
          </a:prstGeom>
          <a:noFill/>
        </p:spPr>
        <p:txBody>
          <a:bodyPr wrap="square" anchor="t">
            <a:spAutoFit/>
          </a:bodyPr>
          <a:lstStyle/>
          <a:p>
            <a:pPr algn="l">
              <a:spcAft>
                <a:spcPts val="400"/>
              </a:spcAft>
            </a:pPr>
            <a:r>
              <a:rPr sz="1100" b="0">
                <a:solidFill>
                  <a:srgbClr val="5B6372"/>
                </a:solidFill>
                <a:latin typeface="Arial"/>
              </a:rPr>
              <a:t>The parent was assigned before both children were accepted. Reopen the parent, accept the outstanding child on named evidence, then re-assign.</a:t>
            </a:r>
          </a:p>
        </p:txBody>
      </p:sp>
      <p:sp>
        <p:nvSpPr>
          <p:cNvPr id="16" name="Rectangle 15"/>
          <p:cNvSpPr/>
          <p:nvPr/>
        </p:nvSpPr>
        <p:spPr>
          <a:xfrm>
            <a:off x="4398264" y="4297680"/>
            <a:ext cx="3392424" cy="157276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4398264" y="4297680"/>
            <a:ext cx="3392424" cy="82296"/>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4617720" y="4453128"/>
            <a:ext cx="2980944" cy="329184"/>
          </a:xfrm>
          <a:prstGeom prst="rect">
            <a:avLst/>
          </a:prstGeom>
          <a:noFill/>
        </p:spPr>
        <p:txBody>
          <a:bodyPr wrap="square" anchor="t">
            <a:spAutoFit/>
          </a:bodyPr>
          <a:lstStyle/>
          <a:p>
            <a:pPr algn="l">
              <a:spcAft>
                <a:spcPts val="400"/>
              </a:spcAft>
            </a:pPr>
            <a:r>
              <a:rPr sz="1250" b="1">
                <a:solidFill>
                  <a:srgbClr val="161B26"/>
                </a:solidFill>
                <a:latin typeface="Arial"/>
              </a:rPr>
              <a:t>The approval cannot be decided</a:t>
            </a:r>
          </a:p>
        </p:txBody>
      </p:sp>
      <p:sp>
        <p:nvSpPr>
          <p:cNvPr id="19" name="TextBox 18"/>
          <p:cNvSpPr txBox="1"/>
          <p:nvPr/>
        </p:nvSpPr>
        <p:spPr>
          <a:xfrm>
            <a:off x="4617720" y="4809744"/>
            <a:ext cx="2980944" cy="960120"/>
          </a:xfrm>
          <a:prstGeom prst="rect">
            <a:avLst/>
          </a:prstGeom>
          <a:noFill/>
        </p:spPr>
        <p:txBody>
          <a:bodyPr wrap="square" anchor="t">
            <a:spAutoFit/>
          </a:bodyPr>
          <a:lstStyle/>
          <a:p>
            <a:pPr algn="l">
              <a:spcAft>
                <a:spcPts val="400"/>
              </a:spcAft>
            </a:pPr>
            <a:r>
              <a:rPr sz="1100" b="0">
                <a:solidFill>
                  <a:srgbClr val="5B6372"/>
                </a:solidFill>
                <a:latin typeface="Arial"/>
              </a:rPr>
              <a:t>Approvals do not expire on their own — an undecided approval simply waits, and any agent blocked on it waits too. Open Approvals and approve, reject or request revision.</a:t>
            </a:r>
          </a:p>
        </p:txBody>
      </p:sp>
      <p:sp>
        <p:nvSpPr>
          <p:cNvPr id="20" name="Rectangle 19"/>
          <p:cNvSpPr/>
          <p:nvPr/>
        </p:nvSpPr>
        <p:spPr>
          <a:xfrm>
            <a:off x="8019288" y="4297680"/>
            <a:ext cx="3392424" cy="157276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ectangle 20"/>
          <p:cNvSpPr/>
          <p:nvPr/>
        </p:nvSpPr>
        <p:spPr>
          <a:xfrm>
            <a:off x="8019288" y="4297680"/>
            <a:ext cx="3392424" cy="82296"/>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8238744" y="4453128"/>
            <a:ext cx="2980944" cy="329184"/>
          </a:xfrm>
          <a:prstGeom prst="rect">
            <a:avLst/>
          </a:prstGeom>
          <a:noFill/>
        </p:spPr>
        <p:txBody>
          <a:bodyPr wrap="square" anchor="t">
            <a:spAutoFit/>
          </a:bodyPr>
          <a:lstStyle/>
          <a:p>
            <a:pPr algn="l">
              <a:spcAft>
                <a:spcPts val="400"/>
              </a:spcAft>
            </a:pPr>
            <a:r>
              <a:rPr sz="1250" b="1">
                <a:solidFill>
                  <a:srgbClr val="161B26"/>
                </a:solidFill>
                <a:latin typeface="Arial"/>
              </a:rPr>
              <a:t>Terminate removes more than intended</a:t>
            </a:r>
          </a:p>
        </p:txBody>
      </p:sp>
      <p:sp>
        <p:nvSpPr>
          <p:cNvPr id="23" name="TextBox 22"/>
          <p:cNvSpPr txBox="1"/>
          <p:nvPr/>
        </p:nvSpPr>
        <p:spPr>
          <a:xfrm>
            <a:off x="8238744" y="4809744"/>
            <a:ext cx="2980944" cy="960120"/>
          </a:xfrm>
          <a:prstGeom prst="rect">
            <a:avLst/>
          </a:prstGeom>
          <a:noFill/>
        </p:spPr>
        <p:txBody>
          <a:bodyPr wrap="square" anchor="t">
            <a:spAutoFit/>
          </a:bodyPr>
          <a:lstStyle/>
          <a:p>
            <a:pPr algn="l">
              <a:spcAft>
                <a:spcPts val="400"/>
              </a:spcAft>
            </a:pPr>
            <a:r>
              <a:rPr sz="1100" b="0">
                <a:solidFill>
                  <a:srgbClr val="5B6372"/>
                </a:solidFill>
                <a:latin typeface="Arial"/>
              </a:rPr>
              <a:t>Terminate is the LAST rung and is not reversible. Pause and reassign first; only terminate the role you deliberately created as disposable.</a:t>
            </a:r>
          </a:p>
        </p:txBody>
      </p:sp>
      <p:sp>
        <p:nvSpPr>
          <p:cNvPr id="24" name="TextBox 23"/>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Manage AI Agents with Paperclip (TGS-2023036646)  ·  TGS-2023036646</a:t>
            </a:r>
          </a:p>
        </p:txBody>
      </p:sp>
      <p:sp>
        <p:nvSpPr>
          <p:cNvPr id="25" name="TextBox 24"/>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26" name="TextBox 25"/>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91</a:t>
            </a:r>
          </a:p>
        </p:txBody>
      </p:sp>
    </p:spTree>
  </p:cSld>
  <p:clrMapOvr>
    <a:masterClrMapping/>
  </p:clrMapOvr>
  <p:transition spd="fast" advClick="1">
    <p:fade/>
  </p:transition>
</p:sld>
</file>

<file path=ppt/slides/slide9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F59E0B"/>
                </a:solidFill>
                <a:latin typeface="Arial"/>
              </a:rPr>
              <a:t>LAB 6  ·  TROUBLESHOOTING</a:t>
            </a:r>
          </a:p>
        </p:txBody>
      </p:sp>
      <p:sp>
        <p:nvSpPr>
          <p:cNvPr id="5" name="TextBox 4"/>
          <p:cNvSpPr txBox="1"/>
          <p:nvPr/>
        </p:nvSpPr>
        <p:spPr>
          <a:xfrm>
            <a:off x="777240" y="804672"/>
            <a:ext cx="10881360" cy="713232"/>
          </a:xfrm>
          <a:prstGeom prst="rect">
            <a:avLst/>
          </a:prstGeom>
          <a:noFill/>
        </p:spPr>
        <p:txBody>
          <a:bodyPr wrap="square" anchor="ctr">
            <a:spAutoFit/>
          </a:bodyPr>
          <a:lstStyle/>
          <a:p>
            <a:pPr algn="l">
              <a:spcAft>
                <a:spcPts val="400"/>
              </a:spcAft>
            </a:pPr>
            <a:r>
              <a:rPr sz="2200" b="1">
                <a:solidFill>
                  <a:srgbClr val="161B26"/>
                </a:solidFill>
                <a:latin typeface="Arial"/>
              </a:rPr>
              <a:t>Run the Governed TalentBridge Operation and Close the Audit Loop (HR)</a:t>
            </a:r>
          </a:p>
        </p:txBody>
      </p:sp>
      <p:sp>
        <p:nvSpPr>
          <p:cNvPr id="6" name="Rectangle 5"/>
          <p:cNvSpPr/>
          <p:nvPr/>
        </p:nvSpPr>
        <p:spPr>
          <a:xfrm>
            <a:off x="777240" y="155448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77240" y="1810512"/>
            <a:ext cx="10607040" cy="66294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777240" y="1810512"/>
            <a:ext cx="91440" cy="662940"/>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1051560" y="1938528"/>
            <a:ext cx="10149840" cy="329184"/>
          </a:xfrm>
          <a:prstGeom prst="rect">
            <a:avLst/>
          </a:prstGeom>
          <a:noFill/>
        </p:spPr>
        <p:txBody>
          <a:bodyPr wrap="square" anchor="t">
            <a:spAutoFit/>
          </a:bodyPr>
          <a:lstStyle/>
          <a:p>
            <a:pPr algn="l">
              <a:spcAft>
                <a:spcPts val="400"/>
              </a:spcAft>
            </a:pPr>
            <a:r>
              <a:rPr sz="1300" b="1">
                <a:solidFill>
                  <a:srgbClr val="161B26"/>
                </a:solidFill>
                <a:latin typeface="Arial"/>
              </a:rPr>
              <a:t>⚠  The CEO synthesises incomplete work</a:t>
            </a:r>
          </a:p>
        </p:txBody>
      </p:sp>
      <p:sp>
        <p:nvSpPr>
          <p:cNvPr id="10" name="TextBox 9"/>
          <p:cNvSpPr txBox="1"/>
          <p:nvPr/>
        </p:nvSpPr>
        <p:spPr>
          <a:xfrm>
            <a:off x="1051560" y="2304288"/>
            <a:ext cx="10149840" cy="59436"/>
          </a:xfrm>
          <a:prstGeom prst="rect">
            <a:avLst/>
          </a:prstGeom>
          <a:noFill/>
        </p:spPr>
        <p:txBody>
          <a:bodyPr wrap="square" anchor="t">
            <a:spAutoFit/>
          </a:bodyPr>
          <a:lstStyle/>
          <a:p>
            <a:pPr algn="l">
              <a:spcAft>
                <a:spcPts val="400"/>
              </a:spcAft>
            </a:pPr>
            <a:r>
              <a:rPr sz="1150" b="0">
                <a:solidFill>
                  <a:srgbClr val="5B6372"/>
                </a:solidFill>
                <a:latin typeface="Arial"/>
              </a:rPr>
              <a:t>The parent was assigned before both children were accepted. Reopen the parent, accept the outstanding child on named evidence, then re-assign.</a:t>
            </a:r>
          </a:p>
        </p:txBody>
      </p:sp>
      <p:sp>
        <p:nvSpPr>
          <p:cNvPr id="11" name="Rectangle 10"/>
          <p:cNvSpPr/>
          <p:nvPr/>
        </p:nvSpPr>
        <p:spPr>
          <a:xfrm>
            <a:off x="777240" y="2656332"/>
            <a:ext cx="10607040" cy="66294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ectangle 11"/>
          <p:cNvSpPr/>
          <p:nvPr/>
        </p:nvSpPr>
        <p:spPr>
          <a:xfrm>
            <a:off x="777240" y="2656332"/>
            <a:ext cx="91440" cy="662940"/>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1051560" y="2784348"/>
            <a:ext cx="10149840" cy="329184"/>
          </a:xfrm>
          <a:prstGeom prst="rect">
            <a:avLst/>
          </a:prstGeom>
          <a:noFill/>
        </p:spPr>
        <p:txBody>
          <a:bodyPr wrap="square" anchor="t">
            <a:spAutoFit/>
          </a:bodyPr>
          <a:lstStyle/>
          <a:p>
            <a:pPr algn="l">
              <a:spcAft>
                <a:spcPts val="400"/>
              </a:spcAft>
            </a:pPr>
            <a:r>
              <a:rPr sz="1300" b="1">
                <a:solidFill>
                  <a:srgbClr val="161B26"/>
                </a:solidFill>
                <a:latin typeface="Arial"/>
              </a:rPr>
              <a:t>⚠  The approval cannot be decided</a:t>
            </a:r>
          </a:p>
        </p:txBody>
      </p:sp>
      <p:sp>
        <p:nvSpPr>
          <p:cNvPr id="14" name="TextBox 13"/>
          <p:cNvSpPr txBox="1"/>
          <p:nvPr/>
        </p:nvSpPr>
        <p:spPr>
          <a:xfrm>
            <a:off x="1051560" y="3150108"/>
            <a:ext cx="10149840" cy="59436"/>
          </a:xfrm>
          <a:prstGeom prst="rect">
            <a:avLst/>
          </a:prstGeom>
          <a:noFill/>
        </p:spPr>
        <p:txBody>
          <a:bodyPr wrap="square" anchor="t">
            <a:spAutoFit/>
          </a:bodyPr>
          <a:lstStyle/>
          <a:p>
            <a:pPr algn="l">
              <a:spcAft>
                <a:spcPts val="400"/>
              </a:spcAft>
            </a:pPr>
            <a:r>
              <a:rPr sz="1150" b="0">
                <a:solidFill>
                  <a:srgbClr val="5B6372"/>
                </a:solidFill>
                <a:latin typeface="Arial"/>
              </a:rPr>
              <a:t>Approvals do not expire on their own — an undecided approval simply waits, and any agent blocked on it waits too. Open Approvals and approve, reject or request revision.</a:t>
            </a:r>
          </a:p>
        </p:txBody>
      </p:sp>
      <p:sp>
        <p:nvSpPr>
          <p:cNvPr id="15" name="Rectangle 14"/>
          <p:cNvSpPr/>
          <p:nvPr/>
        </p:nvSpPr>
        <p:spPr>
          <a:xfrm>
            <a:off x="777240" y="3502152"/>
            <a:ext cx="10607040" cy="66294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ectangle 15"/>
          <p:cNvSpPr/>
          <p:nvPr/>
        </p:nvSpPr>
        <p:spPr>
          <a:xfrm>
            <a:off x="777240" y="3502152"/>
            <a:ext cx="91440" cy="662940"/>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1051560" y="3630168"/>
            <a:ext cx="10149840" cy="329184"/>
          </a:xfrm>
          <a:prstGeom prst="rect">
            <a:avLst/>
          </a:prstGeom>
          <a:noFill/>
        </p:spPr>
        <p:txBody>
          <a:bodyPr wrap="square" anchor="t">
            <a:spAutoFit/>
          </a:bodyPr>
          <a:lstStyle/>
          <a:p>
            <a:pPr algn="l">
              <a:spcAft>
                <a:spcPts val="400"/>
              </a:spcAft>
            </a:pPr>
            <a:r>
              <a:rPr sz="1300" b="1">
                <a:solidFill>
                  <a:srgbClr val="161B26"/>
                </a:solidFill>
                <a:latin typeface="Arial"/>
              </a:rPr>
              <a:t>⚠  Terminate removes more than intended</a:t>
            </a:r>
          </a:p>
        </p:txBody>
      </p:sp>
      <p:sp>
        <p:nvSpPr>
          <p:cNvPr id="18" name="TextBox 17"/>
          <p:cNvSpPr txBox="1"/>
          <p:nvPr/>
        </p:nvSpPr>
        <p:spPr>
          <a:xfrm>
            <a:off x="1051560" y="3995928"/>
            <a:ext cx="10149840" cy="59436"/>
          </a:xfrm>
          <a:prstGeom prst="rect">
            <a:avLst/>
          </a:prstGeom>
          <a:noFill/>
        </p:spPr>
        <p:txBody>
          <a:bodyPr wrap="square" anchor="t">
            <a:spAutoFit/>
          </a:bodyPr>
          <a:lstStyle/>
          <a:p>
            <a:pPr algn="l">
              <a:spcAft>
                <a:spcPts val="400"/>
              </a:spcAft>
            </a:pPr>
            <a:r>
              <a:rPr sz="1150" b="0">
                <a:solidFill>
                  <a:srgbClr val="5B6372"/>
                </a:solidFill>
                <a:latin typeface="Arial"/>
              </a:rPr>
              <a:t>Terminate is the LAST rung and is not reversible. Pause and reassign first; only terminate the role you deliberately created as disposable.</a:t>
            </a:r>
          </a:p>
        </p:txBody>
      </p:sp>
      <p:sp>
        <p:nvSpPr>
          <p:cNvPr id="19" name="Rectangle 18"/>
          <p:cNvSpPr/>
          <p:nvPr/>
        </p:nvSpPr>
        <p:spPr>
          <a:xfrm>
            <a:off x="777240" y="4347972"/>
            <a:ext cx="10607040" cy="66294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ectangle 19"/>
          <p:cNvSpPr/>
          <p:nvPr/>
        </p:nvSpPr>
        <p:spPr>
          <a:xfrm>
            <a:off x="777240" y="4347972"/>
            <a:ext cx="91440" cy="662940"/>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1051560" y="4475988"/>
            <a:ext cx="10149840" cy="329184"/>
          </a:xfrm>
          <a:prstGeom prst="rect">
            <a:avLst/>
          </a:prstGeom>
          <a:noFill/>
        </p:spPr>
        <p:txBody>
          <a:bodyPr wrap="square" anchor="t">
            <a:spAutoFit/>
          </a:bodyPr>
          <a:lstStyle/>
          <a:p>
            <a:pPr algn="l">
              <a:spcAft>
                <a:spcPts val="400"/>
              </a:spcAft>
            </a:pPr>
            <a:r>
              <a:rPr sz="1300" b="1">
                <a:solidFill>
                  <a:srgbClr val="161B26"/>
                </a:solidFill>
                <a:latin typeface="Arial"/>
              </a:rPr>
              <a:t>⚠  The activity log has a gap</a:t>
            </a:r>
          </a:p>
        </p:txBody>
      </p:sp>
      <p:sp>
        <p:nvSpPr>
          <p:cNvPr id="22" name="TextBox 21"/>
          <p:cNvSpPr txBox="1"/>
          <p:nvPr/>
        </p:nvSpPr>
        <p:spPr>
          <a:xfrm>
            <a:off x="1051560" y="4841748"/>
            <a:ext cx="10149840" cy="59436"/>
          </a:xfrm>
          <a:prstGeom prst="rect">
            <a:avLst/>
          </a:prstGeom>
          <a:noFill/>
        </p:spPr>
        <p:txBody>
          <a:bodyPr wrap="square" anchor="t">
            <a:spAutoFit/>
          </a:bodyPr>
          <a:lstStyle/>
          <a:p>
            <a:pPr algn="l">
              <a:spcAft>
                <a:spcPts val="400"/>
              </a:spcAft>
            </a:pPr>
            <a:r>
              <a:rPr sz="1150" b="0">
                <a:solidFill>
                  <a:srgbClr val="5B6372"/>
                </a:solidFill>
                <a:latin typeface="Arial"/>
              </a:rPr>
              <a:t>Work was done outside a run — for example hand-edited in the workspace. Note it honestly in the audit map; an unexplained gap is itself an audit finding.</a:t>
            </a:r>
          </a:p>
        </p:txBody>
      </p:sp>
      <p:sp>
        <p:nvSpPr>
          <p:cNvPr id="23" name="Rectangle 22"/>
          <p:cNvSpPr/>
          <p:nvPr/>
        </p:nvSpPr>
        <p:spPr>
          <a:xfrm>
            <a:off x="777240" y="5230368"/>
            <a:ext cx="5212080" cy="100584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Rectangle 23"/>
          <p:cNvSpPr/>
          <p:nvPr/>
        </p:nvSpPr>
        <p:spPr>
          <a:xfrm>
            <a:off x="777240" y="5230368"/>
            <a:ext cx="91440" cy="1005840"/>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1051560" y="5321808"/>
            <a:ext cx="4846320" cy="292608"/>
          </a:xfrm>
          <a:prstGeom prst="rect">
            <a:avLst/>
          </a:prstGeom>
          <a:noFill/>
        </p:spPr>
        <p:txBody>
          <a:bodyPr wrap="square" anchor="t">
            <a:spAutoFit/>
          </a:bodyPr>
          <a:lstStyle/>
          <a:p>
            <a:pPr algn="l">
              <a:spcAft>
                <a:spcPts val="400"/>
              </a:spcAft>
            </a:pPr>
            <a:r>
              <a:rPr sz="1150" b="1">
                <a:solidFill>
                  <a:srgbClr val="7C3AED"/>
                </a:solidFill>
                <a:latin typeface="Arial"/>
              </a:rPr>
              <a:t>CHALLENGE</a:t>
            </a:r>
          </a:p>
        </p:txBody>
      </p:sp>
      <p:sp>
        <p:nvSpPr>
          <p:cNvPr id="26" name="TextBox 25"/>
          <p:cNvSpPr txBox="1"/>
          <p:nvPr/>
        </p:nvSpPr>
        <p:spPr>
          <a:xfrm>
            <a:off x="1051560" y="5632704"/>
            <a:ext cx="4846320" cy="548640"/>
          </a:xfrm>
          <a:prstGeom prst="rect">
            <a:avLst/>
          </a:prstGeom>
          <a:noFill/>
        </p:spPr>
        <p:txBody>
          <a:bodyPr wrap="square" anchor="t">
            <a:spAutoFit/>
          </a:bodyPr>
          <a:lstStyle/>
          <a:p>
            <a:pPr algn="l">
              <a:spcAft>
                <a:spcPts val="400"/>
              </a:spcAft>
            </a:pPr>
            <a:r>
              <a:rPr sz="1050" b="0">
                <a:solidFill>
                  <a:srgbClr val="161B26"/>
                </a:solidFill>
                <a:latin typeface="Arial"/>
              </a:rPr>
              <a:t>Export the TalentBridge company, confirm the export scrubs secrets, then import it as a second company and record which identifiers Paperclip had to re-map on collision.</a:t>
            </a:r>
          </a:p>
        </p:txBody>
      </p:sp>
      <p:sp>
        <p:nvSpPr>
          <p:cNvPr id="27" name="Rectangle 26"/>
          <p:cNvSpPr/>
          <p:nvPr/>
        </p:nvSpPr>
        <p:spPr>
          <a:xfrm>
            <a:off x="6172200" y="5230368"/>
            <a:ext cx="5212080" cy="100584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Rectangle 27"/>
          <p:cNvSpPr/>
          <p:nvPr/>
        </p:nvSpPr>
        <p:spPr>
          <a:xfrm>
            <a:off x="6172200" y="5230368"/>
            <a:ext cx="91440" cy="100584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TextBox 28"/>
          <p:cNvSpPr txBox="1"/>
          <p:nvPr/>
        </p:nvSpPr>
        <p:spPr>
          <a:xfrm>
            <a:off x="6446520" y="5321808"/>
            <a:ext cx="4846320" cy="292608"/>
          </a:xfrm>
          <a:prstGeom prst="rect">
            <a:avLst/>
          </a:prstGeom>
          <a:noFill/>
        </p:spPr>
        <p:txBody>
          <a:bodyPr wrap="square" anchor="t">
            <a:spAutoFit/>
          </a:bodyPr>
          <a:lstStyle/>
          <a:p>
            <a:pPr algn="l">
              <a:spcAft>
                <a:spcPts val="400"/>
              </a:spcAft>
            </a:pPr>
            <a:r>
              <a:rPr sz="1150" b="1">
                <a:solidFill>
                  <a:srgbClr val="1F6FEB"/>
                </a:solidFill>
                <a:latin typeface="Arial"/>
              </a:rPr>
              <a:t>REFLECTION</a:t>
            </a:r>
          </a:p>
        </p:txBody>
      </p:sp>
      <p:sp>
        <p:nvSpPr>
          <p:cNvPr id="30" name="TextBox 29"/>
          <p:cNvSpPr txBox="1"/>
          <p:nvPr/>
        </p:nvSpPr>
        <p:spPr>
          <a:xfrm>
            <a:off x="6446520" y="5632704"/>
            <a:ext cx="4846320" cy="548640"/>
          </a:xfrm>
          <a:prstGeom prst="rect">
            <a:avLst/>
          </a:prstGeom>
          <a:noFill/>
        </p:spPr>
        <p:txBody>
          <a:bodyPr wrap="square" anchor="t">
            <a:spAutoFit/>
          </a:bodyPr>
          <a:lstStyle/>
          <a:p>
            <a:pPr algn="l">
              <a:spcAft>
                <a:spcPts val="400"/>
              </a:spcAft>
            </a:pPr>
            <a:r>
              <a:rPr sz="1050" b="0">
                <a:solidFill>
                  <a:srgbClr val="161B26"/>
                </a:solidFill>
                <a:latin typeface="Arial"/>
              </a:rPr>
              <a:t>Your audit map is the deliverable a regulator would actually ask for. Which single row in it is the weakest, and what evidence would strengthen it?</a:t>
            </a:r>
          </a:p>
        </p:txBody>
      </p:sp>
      <p:sp>
        <p:nvSpPr>
          <p:cNvPr id="31" name="TextBox 30"/>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Manage AI Agents with Paperclip (TGS-2023036646)  ·  TGS-2023036646</a:t>
            </a:r>
          </a:p>
        </p:txBody>
      </p:sp>
      <p:sp>
        <p:nvSpPr>
          <p:cNvPr id="32" name="TextBox 31"/>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33" name="TextBox 32"/>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92</a:t>
            </a:r>
          </a:p>
        </p:txBody>
      </p:sp>
    </p:spTree>
  </p:cSld>
  <p:clrMapOvr>
    <a:masterClrMapping/>
  </p:clrMapOvr>
  <p:transition spd="fast" advClick="1">
    <p:fade/>
  </p:transition>
</p:sld>
</file>

<file path=ppt/slides/slide9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1F6FEB"/>
                </a:solidFill>
                <a:latin typeface="Arial"/>
              </a:rPr>
              <a:t>TOPIC RECAP</a:t>
            </a:r>
          </a:p>
        </p:txBody>
      </p:sp>
      <p:sp>
        <p:nvSpPr>
          <p:cNvPr id="5" name="TextBox 4"/>
          <p:cNvSpPr txBox="1"/>
          <p:nvPr/>
        </p:nvSpPr>
        <p:spPr>
          <a:xfrm>
            <a:off x="777240" y="804672"/>
            <a:ext cx="10881360" cy="713232"/>
          </a:xfrm>
          <a:prstGeom prst="rect">
            <a:avLst/>
          </a:prstGeom>
          <a:noFill/>
        </p:spPr>
        <p:txBody>
          <a:bodyPr wrap="square" anchor="ctr">
            <a:spAutoFit/>
          </a:bodyPr>
          <a:lstStyle/>
          <a:p>
            <a:pPr algn="l">
              <a:spcAft>
                <a:spcPts val="400"/>
              </a:spcAft>
            </a:pPr>
            <a:r>
              <a:rPr sz="2900" b="1">
                <a:solidFill>
                  <a:srgbClr val="161B26"/>
                </a:solidFill>
                <a:latin typeface="Arial"/>
              </a:rPr>
              <a:t>Recap — Deploying and Managing AI Agents</a:t>
            </a:r>
          </a:p>
        </p:txBody>
      </p:sp>
      <p:sp>
        <p:nvSpPr>
          <p:cNvPr id="6" name="Rectangle 5"/>
          <p:cNvSpPr/>
          <p:nvPr/>
        </p:nvSpPr>
        <p:spPr>
          <a:xfrm>
            <a:off x="777240" y="155448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77240" y="1783080"/>
            <a:ext cx="10607040" cy="4480560"/>
          </a:xfrm>
          <a:prstGeom prst="rect">
            <a:avLst/>
          </a:prstGeom>
          <a:noFill/>
        </p:spPr>
        <p:txBody>
          <a:bodyPr wrap="square">
            <a:spAutoFit/>
          </a:bodyPr>
          <a:lstStyle/>
          <a:p>
            <a:pPr>
              <a:spcAft>
                <a:spcPts val="1000"/>
              </a:spcAft>
            </a:pPr>
            <a:r>
              <a:rPr sz="1500" b="0">
                <a:solidFill>
                  <a:srgbClr val="161B26"/>
                </a:solidFill>
                <a:latin typeface="Arial"/>
              </a:rPr>
              <a:t>•  You can now: LO4: Resolve issues and modify a running agent company through approvals, the operator intervention ladder and a reconstructed audit trail.</a:t>
            </a:r>
          </a:p>
          <a:p>
            <a:pPr>
              <a:spcAft>
                <a:spcPts val="1000"/>
              </a:spcAft>
            </a:pPr>
            <a:r>
              <a:rPr sz="1500" b="0">
                <a:solidFill>
                  <a:srgbClr val="161B26"/>
                </a:solidFill>
                <a:latin typeface="Arial"/>
              </a:rPr>
              <a:t>•  A routine is recurring work triggered by cron, webhook or API. Create it paused, prove it once by hand, and only then let the schedule own it.</a:t>
            </a:r>
          </a:p>
          <a:p>
            <a:pPr>
              <a:spcAft>
                <a:spcPts val="1000"/>
              </a:spcAft>
            </a:pPr>
            <a:r>
              <a:rPr sz="1500" b="0">
                <a:solidFill>
                  <a:srgbClr val="161B26"/>
                </a:solidFill>
                <a:latin typeface="Arial"/>
              </a:rPr>
              <a:t>•  A schedule trigger is explicit — 30 16 * * * with an IANA timezone such as Asia/Singapore. An implicit timezone is a production incident waiting to happen.</a:t>
            </a:r>
          </a:p>
          <a:p>
            <a:pPr>
              <a:spcAft>
                <a:spcPts val="1000"/>
              </a:spcAft>
            </a:pPr>
            <a:r>
              <a:rPr sz="1500" b="0">
                <a:solidFill>
                  <a:srgbClr val="161B26"/>
                </a:solidFill>
                <a:latin typeface="Arial"/>
              </a:rPr>
              <a:t>•  Budgets have three scopes enforced in PARALLEL: company (monthly), agent (monthly) and project (lifetime). An agent can be paused by its own cap even when the company has budget left.</a:t>
            </a:r>
          </a:p>
        </p:txBody>
      </p:sp>
      <p:sp>
        <p:nvSpPr>
          <p:cNvPr id="8" name="TextBox 7"/>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Manage AI Agents with Paperclip (TGS-2023036646)  ·  TGS-2023036646</a:t>
            </a:r>
          </a:p>
        </p:txBody>
      </p:sp>
      <p:sp>
        <p:nvSpPr>
          <p:cNvPr id="9" name="TextBox 8"/>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10" name="TextBox 9"/>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93</a:t>
            </a:r>
          </a:p>
        </p:txBody>
      </p:sp>
    </p:spTree>
  </p:cSld>
  <p:clrMapOvr>
    <a:masterClrMapping/>
  </p:clrMapOvr>
  <p:transition spd="fast" advClick="1">
    <p:fade/>
  </p:transition>
</p:sld>
</file>

<file path=ppt/slides/slide9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685800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777240" y="2286000"/>
            <a:ext cx="128016" cy="182880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1143000" y="2331720"/>
            <a:ext cx="10058400" cy="548640"/>
          </a:xfrm>
          <a:prstGeom prst="rect">
            <a:avLst/>
          </a:prstGeom>
          <a:noFill/>
        </p:spPr>
        <p:txBody>
          <a:bodyPr wrap="square" anchor="t">
            <a:spAutoFit/>
          </a:bodyPr>
          <a:lstStyle/>
          <a:p>
            <a:pPr algn="l">
              <a:spcAft>
                <a:spcPts val="400"/>
              </a:spcAft>
            </a:pPr>
            <a:r>
              <a:rPr sz="1800" b="1">
                <a:solidFill>
                  <a:srgbClr val="1F6FEB"/>
                </a:solidFill>
                <a:latin typeface="Arial"/>
              </a:rPr>
              <a:t>WRAP-UP</a:t>
            </a:r>
          </a:p>
        </p:txBody>
      </p:sp>
      <p:sp>
        <p:nvSpPr>
          <p:cNvPr id="6" name="TextBox 5"/>
          <p:cNvSpPr txBox="1"/>
          <p:nvPr/>
        </p:nvSpPr>
        <p:spPr>
          <a:xfrm>
            <a:off x="1143000" y="2743200"/>
            <a:ext cx="10424160" cy="1463040"/>
          </a:xfrm>
          <a:prstGeom prst="rect">
            <a:avLst/>
          </a:prstGeom>
          <a:noFill/>
        </p:spPr>
        <p:txBody>
          <a:bodyPr wrap="square" anchor="t">
            <a:spAutoFit/>
          </a:bodyPr>
          <a:lstStyle/>
          <a:p>
            <a:pPr algn="l">
              <a:spcAft>
                <a:spcPts val="400"/>
              </a:spcAft>
            </a:pPr>
            <a:r>
              <a:rPr sz="4000" b="1">
                <a:solidFill>
                  <a:srgbClr val="161B26"/>
                </a:solidFill>
                <a:latin typeface="Arial"/>
              </a:rPr>
              <a:t>Course Summary &amp; Next Steps</a:t>
            </a:r>
          </a:p>
        </p:txBody>
      </p:sp>
      <p:sp>
        <p:nvSpPr>
          <p:cNvPr id="7" name="TextBox 6"/>
          <p:cNvSpPr txBox="1"/>
          <p:nvPr/>
        </p:nvSpPr>
        <p:spPr>
          <a:xfrm>
            <a:off x="9144000" y="640080"/>
            <a:ext cx="2560320" cy="1463040"/>
          </a:xfrm>
          <a:prstGeom prst="rect">
            <a:avLst/>
          </a:prstGeom>
          <a:noFill/>
        </p:spPr>
        <p:txBody>
          <a:bodyPr wrap="square" anchor="t">
            <a:spAutoFit/>
          </a:bodyPr>
          <a:lstStyle/>
          <a:p>
            <a:pPr algn="r">
              <a:spcAft>
                <a:spcPts val="400"/>
              </a:spcAft>
            </a:pPr>
            <a:r>
              <a:rPr sz="7200" b="1">
                <a:solidFill>
                  <a:srgbClr val="E2E8F0"/>
                </a:solidFill>
                <a:latin typeface="Arial"/>
              </a:rPr>
              <a:t/>
            </a:r>
          </a:p>
        </p:txBody>
      </p:sp>
      <p:sp>
        <p:nvSpPr>
          <p:cNvPr id="8" name="TextBox 7"/>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Manage AI Agents with Paperclip (TGS-2023036646)  ·  TGS-2023036646</a:t>
            </a:r>
          </a:p>
        </p:txBody>
      </p:sp>
      <p:sp>
        <p:nvSpPr>
          <p:cNvPr id="9" name="TextBox 8"/>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10" name="TextBox 9"/>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94</a:t>
            </a:r>
          </a:p>
        </p:txBody>
      </p:sp>
    </p:spTree>
  </p:cSld>
  <p:clrMapOvr>
    <a:masterClrMapping/>
  </p:clrMapOvr>
  <p:transition spd="med" advClick="1">
    <p:push dir="l"/>
  </p:transition>
</p:sld>
</file>

<file path=ppt/slides/slide9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1F6FEB"/>
                </a:solidFill>
                <a:latin typeface="Arial"/>
              </a:rPr>
              <a:t>LEARNING OUTCOMES</a:t>
            </a:r>
          </a:p>
        </p:txBody>
      </p:sp>
      <p:sp>
        <p:nvSpPr>
          <p:cNvPr id="5" name="TextBox 4"/>
          <p:cNvSpPr txBox="1"/>
          <p:nvPr/>
        </p:nvSpPr>
        <p:spPr>
          <a:xfrm>
            <a:off x="777240" y="804672"/>
            <a:ext cx="10881360" cy="713232"/>
          </a:xfrm>
          <a:prstGeom prst="rect">
            <a:avLst/>
          </a:prstGeom>
          <a:noFill/>
        </p:spPr>
        <p:txBody>
          <a:bodyPr wrap="square" anchor="ctr">
            <a:spAutoFit/>
          </a:bodyPr>
          <a:lstStyle/>
          <a:p>
            <a:pPr algn="l">
              <a:spcAft>
                <a:spcPts val="400"/>
              </a:spcAft>
            </a:pPr>
            <a:r>
              <a:rPr sz="2900" b="1">
                <a:solidFill>
                  <a:srgbClr val="161B26"/>
                </a:solidFill>
                <a:latin typeface="Arial"/>
              </a:rPr>
              <a:t>What You Achieved</a:t>
            </a:r>
          </a:p>
        </p:txBody>
      </p:sp>
      <p:sp>
        <p:nvSpPr>
          <p:cNvPr id="6" name="Rectangle 5"/>
          <p:cNvSpPr/>
          <p:nvPr/>
        </p:nvSpPr>
        <p:spPr>
          <a:xfrm>
            <a:off x="777240" y="155448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77240" y="1783080"/>
            <a:ext cx="5180076" cy="2066544"/>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777240" y="1783080"/>
            <a:ext cx="91440" cy="2066544"/>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Oval 8"/>
          <p:cNvSpPr/>
          <p:nvPr/>
        </p:nvSpPr>
        <p:spPr>
          <a:xfrm>
            <a:off x="1033272" y="2542032"/>
            <a:ext cx="548640" cy="548640"/>
          </a:xfrm>
          <a:prstGeom prst="ellipse">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1033272" y="2542032"/>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1</a:t>
            </a:r>
          </a:p>
        </p:txBody>
      </p:sp>
      <p:sp>
        <p:nvSpPr>
          <p:cNvPr id="11" name="TextBox 10"/>
          <p:cNvSpPr txBox="1"/>
          <p:nvPr/>
        </p:nvSpPr>
        <p:spPr>
          <a:xfrm>
            <a:off x="1764792" y="1911096"/>
            <a:ext cx="3973068" cy="1883664"/>
          </a:xfrm>
          <a:prstGeom prst="rect">
            <a:avLst/>
          </a:prstGeom>
          <a:noFill/>
        </p:spPr>
        <p:txBody>
          <a:bodyPr wrap="square" anchor="ctr">
            <a:spAutoFit/>
          </a:bodyPr>
          <a:lstStyle/>
          <a:p>
            <a:pPr algn="l">
              <a:spcAft>
                <a:spcPts val="300"/>
              </a:spcAft>
            </a:pPr>
            <a:r>
              <a:rPr sz="1600" b="1">
                <a:solidFill>
                  <a:srgbClr val="161B26"/>
                </a:solidFill>
                <a:latin typeface="Arial"/>
              </a:rPr>
              <a:t>LO1 · Identify &amp; scan feasibility</a:t>
            </a:r>
          </a:p>
          <a:p>
            <a:pPr algn="l">
              <a:spcAft>
                <a:spcPts val="300"/>
              </a:spcAft>
            </a:pPr>
            <a:r>
              <a:rPr sz="1200" b="0">
                <a:solidFill>
                  <a:srgbClr val="5B6372"/>
                </a:solidFill>
                <a:latin typeface="Arial"/>
              </a:rPr>
              <a:t>Explain the Paperclip control-plane model and judge when a managed multi-agent company earns its coordination cost.</a:t>
            </a:r>
          </a:p>
        </p:txBody>
      </p:sp>
      <p:sp>
        <p:nvSpPr>
          <p:cNvPr id="12" name="Rectangle 11"/>
          <p:cNvSpPr/>
          <p:nvPr/>
        </p:nvSpPr>
        <p:spPr>
          <a:xfrm>
            <a:off x="6231636" y="1783080"/>
            <a:ext cx="5180076" cy="2066544"/>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6231636" y="1783080"/>
            <a:ext cx="91440" cy="2066544"/>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Oval 13"/>
          <p:cNvSpPr/>
          <p:nvPr/>
        </p:nvSpPr>
        <p:spPr>
          <a:xfrm>
            <a:off x="6487668" y="2542032"/>
            <a:ext cx="548640" cy="548640"/>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487668" y="2542032"/>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2</a:t>
            </a:r>
          </a:p>
        </p:txBody>
      </p:sp>
      <p:sp>
        <p:nvSpPr>
          <p:cNvPr id="16" name="TextBox 15"/>
          <p:cNvSpPr txBox="1"/>
          <p:nvPr/>
        </p:nvSpPr>
        <p:spPr>
          <a:xfrm>
            <a:off x="7219188" y="1911096"/>
            <a:ext cx="3973068" cy="1883664"/>
          </a:xfrm>
          <a:prstGeom prst="rect">
            <a:avLst/>
          </a:prstGeom>
          <a:noFill/>
        </p:spPr>
        <p:txBody>
          <a:bodyPr wrap="square" anchor="ctr">
            <a:spAutoFit/>
          </a:bodyPr>
          <a:lstStyle/>
          <a:p>
            <a:pPr algn="l">
              <a:spcAft>
                <a:spcPts val="300"/>
              </a:spcAft>
            </a:pPr>
            <a:r>
              <a:rPr sz="1600" b="1">
                <a:solidFill>
                  <a:srgbClr val="161B26"/>
                </a:solidFill>
                <a:latin typeface="Arial"/>
              </a:rPr>
              <a:t>LO2 · Integrate &amp; develop</a:t>
            </a:r>
          </a:p>
          <a:p>
            <a:pPr algn="l">
              <a:spcAft>
                <a:spcPts val="300"/>
              </a:spcAft>
            </a:pPr>
            <a:r>
              <a:rPr sz="1200" b="0">
                <a:solidFill>
                  <a:srgbClr val="5B6372"/>
                </a:solidFill>
                <a:latin typeface="Arial"/>
              </a:rPr>
              <a:t>Install Paperclip, create a goal-aligned company, build the reporting tree and connect agent runtimes, skills and workspaces safely.</a:t>
            </a:r>
          </a:p>
        </p:txBody>
      </p:sp>
      <p:sp>
        <p:nvSpPr>
          <p:cNvPr id="17" name="Rectangle 16"/>
          <p:cNvSpPr/>
          <p:nvPr/>
        </p:nvSpPr>
        <p:spPr>
          <a:xfrm>
            <a:off x="777240" y="4087368"/>
            <a:ext cx="5180076" cy="2066544"/>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777240" y="4087368"/>
            <a:ext cx="91440" cy="2066544"/>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Oval 18"/>
          <p:cNvSpPr/>
          <p:nvPr/>
        </p:nvSpPr>
        <p:spPr>
          <a:xfrm>
            <a:off x="1033272" y="4846320"/>
            <a:ext cx="548640" cy="548640"/>
          </a:xfrm>
          <a:prstGeom prst="ellipse">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1033272" y="4846320"/>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3</a:t>
            </a:r>
          </a:p>
        </p:txBody>
      </p:sp>
      <p:sp>
        <p:nvSpPr>
          <p:cNvPr id="21" name="TextBox 20"/>
          <p:cNvSpPr txBox="1"/>
          <p:nvPr/>
        </p:nvSpPr>
        <p:spPr>
          <a:xfrm>
            <a:off x="1764792" y="4215384"/>
            <a:ext cx="3973068" cy="1883664"/>
          </a:xfrm>
          <a:prstGeom prst="rect">
            <a:avLst/>
          </a:prstGeom>
          <a:noFill/>
        </p:spPr>
        <p:txBody>
          <a:bodyPr wrap="square" anchor="ctr">
            <a:spAutoFit/>
          </a:bodyPr>
          <a:lstStyle/>
          <a:p>
            <a:pPr algn="l">
              <a:spcAft>
                <a:spcPts val="300"/>
              </a:spcAft>
            </a:pPr>
            <a:r>
              <a:rPr sz="1600" b="1">
                <a:solidFill>
                  <a:srgbClr val="161B26"/>
                </a:solidFill>
                <a:latin typeface="Arial"/>
              </a:rPr>
              <a:t>LO3 · Test &amp; verify</a:t>
            </a:r>
          </a:p>
          <a:p>
            <a:pPr algn="l">
              <a:spcAft>
                <a:spcPts val="300"/>
              </a:spcAft>
            </a:pPr>
            <a:r>
              <a:rPr sz="1200" b="0">
                <a:solidFill>
                  <a:srgbClr val="5B6372"/>
                </a:solidFill>
                <a:latin typeface="Arial"/>
              </a:rPr>
              <a:t>Decompose a mission into issues, run bounded heartbeats and verify hand-offs through runs, comments, artifacts and the activity log.</a:t>
            </a:r>
          </a:p>
        </p:txBody>
      </p:sp>
      <p:sp>
        <p:nvSpPr>
          <p:cNvPr id="22" name="Rectangle 21"/>
          <p:cNvSpPr/>
          <p:nvPr/>
        </p:nvSpPr>
        <p:spPr>
          <a:xfrm>
            <a:off x="6231636" y="4087368"/>
            <a:ext cx="5180076" cy="2066544"/>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ectangle 22"/>
          <p:cNvSpPr/>
          <p:nvPr/>
        </p:nvSpPr>
        <p:spPr>
          <a:xfrm>
            <a:off x="6231636" y="4087368"/>
            <a:ext cx="91440" cy="2066544"/>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Oval 23"/>
          <p:cNvSpPr/>
          <p:nvPr/>
        </p:nvSpPr>
        <p:spPr>
          <a:xfrm>
            <a:off x="6487668" y="4846320"/>
            <a:ext cx="548640" cy="548640"/>
          </a:xfrm>
          <a:prstGeom prst="ellipse">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6487668" y="4846320"/>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4</a:t>
            </a:r>
          </a:p>
        </p:txBody>
      </p:sp>
      <p:sp>
        <p:nvSpPr>
          <p:cNvPr id="26" name="TextBox 25"/>
          <p:cNvSpPr txBox="1"/>
          <p:nvPr/>
        </p:nvSpPr>
        <p:spPr>
          <a:xfrm>
            <a:off x="7219188" y="4215384"/>
            <a:ext cx="3973068" cy="1883664"/>
          </a:xfrm>
          <a:prstGeom prst="rect">
            <a:avLst/>
          </a:prstGeom>
          <a:noFill/>
        </p:spPr>
        <p:txBody>
          <a:bodyPr wrap="square" anchor="ctr">
            <a:spAutoFit/>
          </a:bodyPr>
          <a:lstStyle/>
          <a:p>
            <a:pPr algn="l">
              <a:spcAft>
                <a:spcPts val="300"/>
              </a:spcAft>
            </a:pPr>
            <a:r>
              <a:rPr sz="1600" b="1">
                <a:solidFill>
                  <a:srgbClr val="161B26"/>
                </a:solidFill>
                <a:latin typeface="Arial"/>
              </a:rPr>
              <a:t>LO4 · Resolve &amp; modify</a:t>
            </a:r>
          </a:p>
          <a:p>
            <a:pPr algn="l">
              <a:spcAft>
                <a:spcPts val="300"/>
              </a:spcAft>
            </a:pPr>
            <a:r>
              <a:rPr sz="1200" b="0">
                <a:solidFill>
                  <a:srgbClr val="5B6372"/>
                </a:solidFill>
                <a:latin typeface="Arial"/>
              </a:rPr>
              <a:t>Diagnose adapter, budget and routine failures, and modify governance, approvals and cost boundaries to keep the operation safe.</a:t>
            </a:r>
          </a:p>
        </p:txBody>
      </p:sp>
      <p:sp>
        <p:nvSpPr>
          <p:cNvPr id="27" name="TextBox 26"/>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Manage AI Agents with Paperclip (TGS-2023036646)  ·  TGS-2023036646</a:t>
            </a:r>
          </a:p>
        </p:txBody>
      </p:sp>
      <p:sp>
        <p:nvSpPr>
          <p:cNvPr id="28" name="TextBox 27"/>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29" name="TextBox 28"/>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95</a:t>
            </a:r>
          </a:p>
        </p:txBody>
      </p:sp>
    </p:spTree>
  </p:cSld>
  <p:clrMapOvr>
    <a:masterClrMapping/>
  </p:clrMapOvr>
  <p:transition spd="fast" advClick="1">
    <p:fade/>
  </p:transition>
</p:sld>
</file>

<file path=ppt/slides/slide9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10B981"/>
                </a:solidFill>
                <a:latin typeface="Arial"/>
              </a:rPr>
              <a:t>TAKE THIS BACK TO WORK</a:t>
            </a:r>
          </a:p>
        </p:txBody>
      </p:sp>
      <p:sp>
        <p:nvSpPr>
          <p:cNvPr id="5" name="TextBox 4"/>
          <p:cNvSpPr txBox="1"/>
          <p:nvPr/>
        </p:nvSpPr>
        <p:spPr>
          <a:xfrm>
            <a:off x="777240" y="804672"/>
            <a:ext cx="10881360" cy="713232"/>
          </a:xfrm>
          <a:prstGeom prst="rect">
            <a:avLst/>
          </a:prstGeom>
          <a:noFill/>
        </p:spPr>
        <p:txBody>
          <a:bodyPr wrap="square" anchor="ctr">
            <a:spAutoFit/>
          </a:bodyPr>
          <a:lstStyle/>
          <a:p>
            <a:pPr algn="l">
              <a:spcAft>
                <a:spcPts val="400"/>
              </a:spcAft>
            </a:pPr>
            <a:r>
              <a:rPr sz="2900" b="1">
                <a:solidFill>
                  <a:srgbClr val="161B26"/>
                </a:solidFill>
                <a:latin typeface="Arial"/>
              </a:rPr>
              <a:t>A Governed Multi-Agent Operating Checklist</a:t>
            </a:r>
          </a:p>
        </p:txBody>
      </p:sp>
      <p:sp>
        <p:nvSpPr>
          <p:cNvPr id="6" name="Rectangle 5"/>
          <p:cNvSpPr/>
          <p:nvPr/>
        </p:nvSpPr>
        <p:spPr>
          <a:xfrm>
            <a:off x="777240" y="155448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77240" y="1783080"/>
            <a:ext cx="5180076" cy="129844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777240" y="1783080"/>
            <a:ext cx="91440" cy="1298448"/>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Oval 8"/>
          <p:cNvSpPr/>
          <p:nvPr/>
        </p:nvSpPr>
        <p:spPr>
          <a:xfrm>
            <a:off x="1033272" y="2157984"/>
            <a:ext cx="548640" cy="548640"/>
          </a:xfrm>
          <a:prstGeom prst="ellipse">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1033272" y="2157984"/>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1</a:t>
            </a:r>
          </a:p>
        </p:txBody>
      </p:sp>
      <p:sp>
        <p:nvSpPr>
          <p:cNvPr id="11" name="TextBox 10"/>
          <p:cNvSpPr txBox="1"/>
          <p:nvPr/>
        </p:nvSpPr>
        <p:spPr>
          <a:xfrm>
            <a:off x="1764792" y="1911096"/>
            <a:ext cx="3973068" cy="1115568"/>
          </a:xfrm>
          <a:prstGeom prst="rect">
            <a:avLst/>
          </a:prstGeom>
          <a:noFill/>
        </p:spPr>
        <p:txBody>
          <a:bodyPr wrap="square" anchor="ctr">
            <a:spAutoFit/>
          </a:bodyPr>
          <a:lstStyle/>
          <a:p>
            <a:pPr algn="l">
              <a:spcAft>
                <a:spcPts val="300"/>
              </a:spcAft>
            </a:pPr>
            <a:r>
              <a:rPr sz="1600" b="1">
                <a:solidFill>
                  <a:srgbClr val="161B26"/>
                </a:solidFill>
                <a:latin typeface="Arial"/>
              </a:rPr>
              <a:t>Mission is measurable</a:t>
            </a:r>
          </a:p>
          <a:p>
            <a:pPr algn="l">
              <a:spcAft>
                <a:spcPts val="300"/>
              </a:spcAft>
            </a:pPr>
            <a:r>
              <a:rPr sz="1200" b="0">
                <a:solidFill>
                  <a:srgbClr val="5B6372"/>
                </a:solidFill>
                <a:latin typeface="Arial"/>
              </a:rPr>
              <a:t>A target, a metric and a boundary — or it cannot be verified.</a:t>
            </a:r>
          </a:p>
        </p:txBody>
      </p:sp>
      <p:sp>
        <p:nvSpPr>
          <p:cNvPr id="12" name="Rectangle 11"/>
          <p:cNvSpPr/>
          <p:nvPr/>
        </p:nvSpPr>
        <p:spPr>
          <a:xfrm>
            <a:off x="6231636" y="1783080"/>
            <a:ext cx="5180076" cy="129844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6231636" y="1783080"/>
            <a:ext cx="91440" cy="1298448"/>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Oval 13"/>
          <p:cNvSpPr/>
          <p:nvPr/>
        </p:nvSpPr>
        <p:spPr>
          <a:xfrm>
            <a:off x="6487668" y="2157984"/>
            <a:ext cx="548640" cy="548640"/>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487668" y="2157984"/>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2</a:t>
            </a:r>
          </a:p>
        </p:txBody>
      </p:sp>
      <p:sp>
        <p:nvSpPr>
          <p:cNvPr id="16" name="TextBox 15"/>
          <p:cNvSpPr txBox="1"/>
          <p:nvPr/>
        </p:nvSpPr>
        <p:spPr>
          <a:xfrm>
            <a:off x="7219188" y="1911096"/>
            <a:ext cx="3973068" cy="1115568"/>
          </a:xfrm>
          <a:prstGeom prst="rect">
            <a:avLst/>
          </a:prstGeom>
          <a:noFill/>
        </p:spPr>
        <p:txBody>
          <a:bodyPr wrap="square" anchor="ctr">
            <a:spAutoFit/>
          </a:bodyPr>
          <a:lstStyle/>
          <a:p>
            <a:pPr algn="l">
              <a:spcAft>
                <a:spcPts val="300"/>
              </a:spcAft>
            </a:pPr>
            <a:r>
              <a:rPr sz="1600" b="1">
                <a:solidFill>
                  <a:srgbClr val="161B26"/>
                </a:solidFill>
                <a:latin typeface="Arial"/>
              </a:rPr>
              <a:t>Caps exist before runtimes</a:t>
            </a:r>
          </a:p>
          <a:p>
            <a:pPr algn="l">
              <a:spcAft>
                <a:spcPts val="300"/>
              </a:spcAft>
            </a:pPr>
            <a:r>
              <a:rPr sz="1200" b="0">
                <a:solidFill>
                  <a:srgbClr val="5B6372"/>
                </a:solidFill>
                <a:latin typeface="Arial"/>
              </a:rPr>
              <a:t>Company, then project, then agent — set before anything runs.</a:t>
            </a:r>
          </a:p>
        </p:txBody>
      </p:sp>
      <p:sp>
        <p:nvSpPr>
          <p:cNvPr id="17" name="Rectangle 16"/>
          <p:cNvSpPr/>
          <p:nvPr/>
        </p:nvSpPr>
        <p:spPr>
          <a:xfrm>
            <a:off x="777240" y="3319272"/>
            <a:ext cx="5180076" cy="129844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777240" y="3319272"/>
            <a:ext cx="91440" cy="1298448"/>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Oval 18"/>
          <p:cNvSpPr/>
          <p:nvPr/>
        </p:nvSpPr>
        <p:spPr>
          <a:xfrm>
            <a:off x="1033272" y="3694176"/>
            <a:ext cx="548640" cy="548640"/>
          </a:xfrm>
          <a:prstGeom prst="ellipse">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1033272" y="3694176"/>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3</a:t>
            </a:r>
          </a:p>
        </p:txBody>
      </p:sp>
      <p:sp>
        <p:nvSpPr>
          <p:cNvPr id="21" name="TextBox 20"/>
          <p:cNvSpPr txBox="1"/>
          <p:nvPr/>
        </p:nvSpPr>
        <p:spPr>
          <a:xfrm>
            <a:off x="1764792" y="3447288"/>
            <a:ext cx="3973068" cy="1115568"/>
          </a:xfrm>
          <a:prstGeom prst="rect">
            <a:avLst/>
          </a:prstGeom>
          <a:noFill/>
        </p:spPr>
        <p:txBody>
          <a:bodyPr wrap="square" anchor="ctr">
            <a:spAutoFit/>
          </a:bodyPr>
          <a:lstStyle/>
          <a:p>
            <a:pPr algn="l">
              <a:spcAft>
                <a:spcPts val="300"/>
              </a:spcAft>
            </a:pPr>
            <a:r>
              <a:rPr sz="1600" b="1">
                <a:solidFill>
                  <a:srgbClr val="161B26"/>
                </a:solidFill>
                <a:latin typeface="Arial"/>
              </a:rPr>
              <a:t>Every role is confined</a:t>
            </a:r>
          </a:p>
          <a:p>
            <a:pPr algn="l">
              <a:spcAft>
                <a:spcPts val="300"/>
              </a:spcAft>
            </a:pPr>
            <a:r>
              <a:rPr sz="1200" b="0">
                <a:solidFill>
                  <a:srgbClr val="5B6372"/>
                </a:solidFill>
                <a:latin typeface="Arial"/>
              </a:rPr>
              <a:t>Its own workspace, instruction file, adapter and budget.</a:t>
            </a:r>
          </a:p>
        </p:txBody>
      </p:sp>
      <p:sp>
        <p:nvSpPr>
          <p:cNvPr id="22" name="Rectangle 21"/>
          <p:cNvSpPr/>
          <p:nvPr/>
        </p:nvSpPr>
        <p:spPr>
          <a:xfrm>
            <a:off x="6231636" y="3319272"/>
            <a:ext cx="5180076" cy="129844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ectangle 22"/>
          <p:cNvSpPr/>
          <p:nvPr/>
        </p:nvSpPr>
        <p:spPr>
          <a:xfrm>
            <a:off x="6231636" y="3319272"/>
            <a:ext cx="91440" cy="1298448"/>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Oval 23"/>
          <p:cNvSpPr/>
          <p:nvPr/>
        </p:nvSpPr>
        <p:spPr>
          <a:xfrm>
            <a:off x="6487668" y="3694176"/>
            <a:ext cx="548640" cy="548640"/>
          </a:xfrm>
          <a:prstGeom prst="ellipse">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6487668" y="3694176"/>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4</a:t>
            </a:r>
          </a:p>
        </p:txBody>
      </p:sp>
      <p:sp>
        <p:nvSpPr>
          <p:cNvPr id="26" name="TextBox 25"/>
          <p:cNvSpPr txBox="1"/>
          <p:nvPr/>
        </p:nvSpPr>
        <p:spPr>
          <a:xfrm>
            <a:off x="7219188" y="3447288"/>
            <a:ext cx="3973068" cy="1115568"/>
          </a:xfrm>
          <a:prstGeom prst="rect">
            <a:avLst/>
          </a:prstGeom>
          <a:noFill/>
        </p:spPr>
        <p:txBody>
          <a:bodyPr wrap="square" anchor="ctr">
            <a:spAutoFit/>
          </a:bodyPr>
          <a:lstStyle/>
          <a:p>
            <a:pPr algn="l">
              <a:spcAft>
                <a:spcPts val="300"/>
              </a:spcAft>
            </a:pPr>
            <a:r>
              <a:rPr sz="1600" b="1">
                <a:solidFill>
                  <a:srgbClr val="161B26"/>
                </a:solidFill>
                <a:latin typeface="Arial"/>
              </a:rPr>
              <a:t>Issues are created unassigned</a:t>
            </a:r>
          </a:p>
          <a:p>
            <a:pPr algn="l">
              <a:spcAft>
                <a:spcPts val="300"/>
              </a:spcAft>
            </a:pPr>
            <a:r>
              <a:rPr sz="1200" b="0">
                <a:solidFill>
                  <a:srgbClr val="5B6372"/>
                </a:solidFill>
                <a:latin typeface="Arial"/>
              </a:rPr>
              <a:t>Assignment is the trigger; assign one at a time.</a:t>
            </a:r>
          </a:p>
        </p:txBody>
      </p:sp>
      <p:sp>
        <p:nvSpPr>
          <p:cNvPr id="27" name="Rectangle 26"/>
          <p:cNvSpPr/>
          <p:nvPr/>
        </p:nvSpPr>
        <p:spPr>
          <a:xfrm>
            <a:off x="777240" y="4855464"/>
            <a:ext cx="5180076" cy="129844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Rectangle 27"/>
          <p:cNvSpPr/>
          <p:nvPr/>
        </p:nvSpPr>
        <p:spPr>
          <a:xfrm>
            <a:off x="777240" y="4855464"/>
            <a:ext cx="91440" cy="1298448"/>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Oval 28"/>
          <p:cNvSpPr/>
          <p:nvPr/>
        </p:nvSpPr>
        <p:spPr>
          <a:xfrm>
            <a:off x="1033272" y="5230368"/>
            <a:ext cx="548640" cy="548640"/>
          </a:xfrm>
          <a:prstGeom prst="ellipse">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TextBox 29"/>
          <p:cNvSpPr txBox="1"/>
          <p:nvPr/>
        </p:nvSpPr>
        <p:spPr>
          <a:xfrm>
            <a:off x="1033272" y="5230368"/>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5</a:t>
            </a:r>
          </a:p>
        </p:txBody>
      </p:sp>
      <p:sp>
        <p:nvSpPr>
          <p:cNvPr id="31" name="TextBox 30"/>
          <p:cNvSpPr txBox="1"/>
          <p:nvPr/>
        </p:nvSpPr>
        <p:spPr>
          <a:xfrm>
            <a:off x="1764792" y="4983480"/>
            <a:ext cx="3973068" cy="1115568"/>
          </a:xfrm>
          <a:prstGeom prst="rect">
            <a:avLst/>
          </a:prstGeom>
          <a:noFill/>
        </p:spPr>
        <p:txBody>
          <a:bodyPr wrap="square" anchor="ctr">
            <a:spAutoFit/>
          </a:bodyPr>
          <a:lstStyle/>
          <a:p>
            <a:pPr algn="l">
              <a:spcAft>
                <a:spcPts val="300"/>
              </a:spcAft>
            </a:pPr>
            <a:r>
              <a:rPr sz="1600" b="1">
                <a:solidFill>
                  <a:srgbClr val="161B26"/>
                </a:solidFill>
                <a:latin typeface="Arial"/>
              </a:rPr>
              <a:t>Acceptance names the evidence</a:t>
            </a:r>
          </a:p>
          <a:p>
            <a:pPr algn="l">
              <a:spcAft>
                <a:spcPts val="300"/>
              </a:spcAft>
            </a:pPr>
            <a:r>
              <a:rPr sz="1200" b="0">
                <a:solidFill>
                  <a:srgbClr val="5B6372"/>
                </a:solidFill>
                <a:latin typeface="Arial"/>
              </a:rPr>
              <a:t>The artifact, its path and its required fields.</a:t>
            </a:r>
          </a:p>
        </p:txBody>
      </p:sp>
      <p:sp>
        <p:nvSpPr>
          <p:cNvPr id="32" name="Rectangle 31"/>
          <p:cNvSpPr/>
          <p:nvPr/>
        </p:nvSpPr>
        <p:spPr>
          <a:xfrm>
            <a:off x="6231636" y="4855464"/>
            <a:ext cx="5180076" cy="129844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Rectangle 32"/>
          <p:cNvSpPr/>
          <p:nvPr/>
        </p:nvSpPr>
        <p:spPr>
          <a:xfrm>
            <a:off x="6231636" y="4855464"/>
            <a:ext cx="91440" cy="1298448"/>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Oval 33"/>
          <p:cNvSpPr/>
          <p:nvPr/>
        </p:nvSpPr>
        <p:spPr>
          <a:xfrm>
            <a:off x="6487668" y="5230368"/>
            <a:ext cx="548640" cy="548640"/>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TextBox 34"/>
          <p:cNvSpPr txBox="1"/>
          <p:nvPr/>
        </p:nvSpPr>
        <p:spPr>
          <a:xfrm>
            <a:off x="6487668" y="5230368"/>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6</a:t>
            </a:r>
          </a:p>
        </p:txBody>
      </p:sp>
      <p:sp>
        <p:nvSpPr>
          <p:cNvPr id="36" name="TextBox 35"/>
          <p:cNvSpPr txBox="1"/>
          <p:nvPr/>
        </p:nvSpPr>
        <p:spPr>
          <a:xfrm>
            <a:off x="7219188" y="4983480"/>
            <a:ext cx="3973068" cy="1115568"/>
          </a:xfrm>
          <a:prstGeom prst="rect">
            <a:avLst/>
          </a:prstGeom>
          <a:noFill/>
        </p:spPr>
        <p:txBody>
          <a:bodyPr wrap="square" anchor="ctr">
            <a:spAutoFit/>
          </a:bodyPr>
          <a:lstStyle/>
          <a:p>
            <a:pPr algn="l">
              <a:spcAft>
                <a:spcPts val="300"/>
              </a:spcAft>
            </a:pPr>
            <a:r>
              <a:rPr sz="1600" b="1">
                <a:solidFill>
                  <a:srgbClr val="161B26"/>
                </a:solidFill>
                <a:latin typeface="Arial"/>
              </a:rPr>
              <a:t>The audit reconstructs</a:t>
            </a:r>
          </a:p>
          <a:p>
            <a:pPr algn="l">
              <a:spcAft>
                <a:spcPts val="300"/>
              </a:spcAft>
            </a:pPr>
            <a:r>
              <a:rPr sz="1200" b="0">
                <a:solidFill>
                  <a:srgbClr val="5B6372"/>
                </a:solidFill>
                <a:latin typeface="Arial"/>
              </a:rPr>
              <a:t>Activity alone tells the whole story, with no unexplained gap.</a:t>
            </a:r>
          </a:p>
        </p:txBody>
      </p:sp>
      <p:sp>
        <p:nvSpPr>
          <p:cNvPr id="37" name="TextBox 36"/>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Manage AI Agents with Paperclip (TGS-2023036646)  ·  TGS-2023036646</a:t>
            </a:r>
          </a:p>
        </p:txBody>
      </p:sp>
      <p:sp>
        <p:nvSpPr>
          <p:cNvPr id="38" name="TextBox 37"/>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39" name="TextBox 38"/>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96</a:t>
            </a:r>
          </a:p>
        </p:txBody>
      </p:sp>
    </p:spTree>
  </p:cSld>
  <p:clrMapOvr>
    <a:masterClrMapping/>
  </p:clrMapOvr>
  <p:transition spd="fast" advClick="1">
    <p:fade/>
  </p:transition>
</p:sld>
</file>

<file path=ppt/slides/slide9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1F6FEB"/>
                </a:solidFill>
                <a:latin typeface="Arial"/>
              </a:rPr>
              <a:t>NEXT STEPS</a:t>
            </a:r>
          </a:p>
        </p:txBody>
      </p:sp>
      <p:sp>
        <p:nvSpPr>
          <p:cNvPr id="5" name="TextBox 4"/>
          <p:cNvSpPr txBox="1"/>
          <p:nvPr/>
        </p:nvSpPr>
        <p:spPr>
          <a:xfrm>
            <a:off x="777240" y="804672"/>
            <a:ext cx="10881360" cy="713232"/>
          </a:xfrm>
          <a:prstGeom prst="rect">
            <a:avLst/>
          </a:prstGeom>
          <a:noFill/>
        </p:spPr>
        <p:txBody>
          <a:bodyPr wrap="square" anchor="ctr">
            <a:spAutoFit/>
          </a:bodyPr>
          <a:lstStyle/>
          <a:p>
            <a:pPr algn="l">
              <a:spcAft>
                <a:spcPts val="400"/>
              </a:spcAft>
            </a:pPr>
            <a:r>
              <a:rPr sz="2900" b="1">
                <a:solidFill>
                  <a:srgbClr val="161B26"/>
                </a:solidFill>
                <a:latin typeface="Arial"/>
              </a:rPr>
              <a:t>Continue Your Learning</a:t>
            </a:r>
          </a:p>
        </p:txBody>
      </p:sp>
      <p:sp>
        <p:nvSpPr>
          <p:cNvPr id="6" name="Rectangle 5"/>
          <p:cNvSpPr/>
          <p:nvPr/>
        </p:nvSpPr>
        <p:spPr>
          <a:xfrm>
            <a:off x="777240" y="155448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77240" y="1783080"/>
            <a:ext cx="5180076" cy="129844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777240" y="1783080"/>
            <a:ext cx="91440" cy="1298448"/>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Oval 8"/>
          <p:cNvSpPr/>
          <p:nvPr/>
        </p:nvSpPr>
        <p:spPr>
          <a:xfrm>
            <a:off x="1033272" y="2157984"/>
            <a:ext cx="548640" cy="548640"/>
          </a:xfrm>
          <a:prstGeom prst="ellipse">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1033272" y="2157984"/>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1</a:t>
            </a:r>
          </a:p>
        </p:txBody>
      </p:sp>
      <p:sp>
        <p:nvSpPr>
          <p:cNvPr id="11" name="TextBox 10"/>
          <p:cNvSpPr txBox="1"/>
          <p:nvPr/>
        </p:nvSpPr>
        <p:spPr>
          <a:xfrm>
            <a:off x="1764792" y="1911096"/>
            <a:ext cx="3973068" cy="1115568"/>
          </a:xfrm>
          <a:prstGeom prst="rect">
            <a:avLst/>
          </a:prstGeom>
          <a:noFill/>
        </p:spPr>
        <p:txBody>
          <a:bodyPr wrap="square" anchor="ctr">
            <a:spAutoFit/>
          </a:bodyPr>
          <a:lstStyle/>
          <a:p>
            <a:pPr algn="l">
              <a:spcAft>
                <a:spcPts val="300"/>
              </a:spcAft>
            </a:pPr>
            <a:r>
              <a:rPr sz="1600" b="1">
                <a:solidFill>
                  <a:srgbClr val="161B26"/>
                </a:solidFill>
                <a:latin typeface="Arial"/>
              </a:rPr>
              <a:t>Official project</a:t>
            </a:r>
          </a:p>
          <a:p>
            <a:pPr algn="l">
              <a:spcAft>
                <a:spcPts val="300"/>
              </a:spcAft>
            </a:pPr>
            <a:r>
              <a:rPr sz="1200" b="0">
                <a:solidFill>
                  <a:srgbClr val="5B6372"/>
                </a:solidFill>
                <a:latin typeface="Arial"/>
              </a:rPr>
              <a:t>https://github.com/paperclipai/paperclip — the source, the docs and the release notes.</a:t>
            </a:r>
          </a:p>
        </p:txBody>
      </p:sp>
      <p:sp>
        <p:nvSpPr>
          <p:cNvPr id="12" name="Rectangle 11"/>
          <p:cNvSpPr/>
          <p:nvPr/>
        </p:nvSpPr>
        <p:spPr>
          <a:xfrm>
            <a:off x="6231636" y="1783080"/>
            <a:ext cx="5180076" cy="129844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6231636" y="1783080"/>
            <a:ext cx="91440" cy="1298448"/>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Oval 13"/>
          <p:cNvSpPr/>
          <p:nvPr/>
        </p:nvSpPr>
        <p:spPr>
          <a:xfrm>
            <a:off x="6487668" y="2157984"/>
            <a:ext cx="548640" cy="548640"/>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487668" y="2157984"/>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2</a:t>
            </a:r>
          </a:p>
        </p:txBody>
      </p:sp>
      <p:sp>
        <p:nvSpPr>
          <p:cNvPr id="16" name="TextBox 15"/>
          <p:cNvSpPr txBox="1"/>
          <p:nvPr/>
        </p:nvSpPr>
        <p:spPr>
          <a:xfrm>
            <a:off x="7219188" y="1911096"/>
            <a:ext cx="3973068" cy="1115568"/>
          </a:xfrm>
          <a:prstGeom prst="rect">
            <a:avLst/>
          </a:prstGeom>
          <a:noFill/>
        </p:spPr>
        <p:txBody>
          <a:bodyPr wrap="square" anchor="ctr">
            <a:spAutoFit/>
          </a:bodyPr>
          <a:lstStyle/>
          <a:p>
            <a:pPr algn="l">
              <a:spcAft>
                <a:spcPts val="300"/>
              </a:spcAft>
            </a:pPr>
            <a:r>
              <a:rPr sz="1600" b="1">
                <a:solidFill>
                  <a:srgbClr val="161B26"/>
                </a:solidFill>
                <a:latin typeface="Arial"/>
              </a:rPr>
              <a:t>Hosted Paperclip</a:t>
            </a:r>
          </a:p>
          <a:p>
            <a:pPr algn="l">
              <a:spcAft>
                <a:spcPts val="300"/>
              </a:spcAft>
            </a:pPr>
            <a:r>
              <a:rPr sz="1200" b="0">
                <a:solidFill>
                  <a:srgbClr val="5B6372"/>
                </a:solidFill>
                <a:latin typeface="Arial"/>
              </a:rPr>
              <a:t>https://paperclip.inc — the managed control plane if you do not want to self-host.</a:t>
            </a:r>
          </a:p>
        </p:txBody>
      </p:sp>
      <p:sp>
        <p:nvSpPr>
          <p:cNvPr id="17" name="Rectangle 16"/>
          <p:cNvSpPr/>
          <p:nvPr/>
        </p:nvSpPr>
        <p:spPr>
          <a:xfrm>
            <a:off x="777240" y="3319272"/>
            <a:ext cx="5180076" cy="129844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777240" y="3319272"/>
            <a:ext cx="91440" cy="1298448"/>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Oval 18"/>
          <p:cNvSpPr/>
          <p:nvPr/>
        </p:nvSpPr>
        <p:spPr>
          <a:xfrm>
            <a:off x="1033272" y="3694176"/>
            <a:ext cx="548640" cy="548640"/>
          </a:xfrm>
          <a:prstGeom prst="ellipse">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1033272" y="3694176"/>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3</a:t>
            </a:r>
          </a:p>
        </p:txBody>
      </p:sp>
      <p:sp>
        <p:nvSpPr>
          <p:cNvPr id="21" name="TextBox 20"/>
          <p:cNvSpPr txBox="1"/>
          <p:nvPr/>
        </p:nvSpPr>
        <p:spPr>
          <a:xfrm>
            <a:off x="1764792" y="3447288"/>
            <a:ext cx="3973068" cy="1115568"/>
          </a:xfrm>
          <a:prstGeom prst="rect">
            <a:avLst/>
          </a:prstGeom>
          <a:noFill/>
        </p:spPr>
        <p:txBody>
          <a:bodyPr wrap="square" anchor="ctr">
            <a:spAutoFit/>
          </a:bodyPr>
          <a:lstStyle/>
          <a:p>
            <a:pPr algn="l">
              <a:spcAft>
                <a:spcPts val="300"/>
              </a:spcAft>
            </a:pPr>
            <a:r>
              <a:rPr sz="1600" b="1">
                <a:solidFill>
                  <a:srgbClr val="161B26"/>
                </a:solidFill>
                <a:latin typeface="Arial"/>
              </a:rPr>
              <a:t>Rebuild the labs</a:t>
            </a:r>
          </a:p>
          <a:p>
            <a:pPr algn="l">
              <a:spcAft>
                <a:spcPts val="300"/>
              </a:spcAft>
            </a:pPr>
            <a:r>
              <a:rPr sz="1200" b="0">
                <a:solidFill>
                  <a:srgbClr val="5B6372"/>
                </a:solidFill>
                <a:latin typeface="Arial"/>
              </a:rPr>
              <a:t>Redo each of the six companies from scratch until the control sequence is automatic.</a:t>
            </a:r>
          </a:p>
        </p:txBody>
      </p:sp>
      <p:sp>
        <p:nvSpPr>
          <p:cNvPr id="22" name="Rectangle 21"/>
          <p:cNvSpPr/>
          <p:nvPr/>
        </p:nvSpPr>
        <p:spPr>
          <a:xfrm>
            <a:off x="6231636" y="3319272"/>
            <a:ext cx="5180076" cy="129844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ectangle 22"/>
          <p:cNvSpPr/>
          <p:nvPr/>
        </p:nvSpPr>
        <p:spPr>
          <a:xfrm>
            <a:off x="6231636" y="3319272"/>
            <a:ext cx="91440" cy="1298448"/>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Oval 23"/>
          <p:cNvSpPr/>
          <p:nvPr/>
        </p:nvSpPr>
        <p:spPr>
          <a:xfrm>
            <a:off x="6487668" y="3694176"/>
            <a:ext cx="548640" cy="548640"/>
          </a:xfrm>
          <a:prstGeom prst="ellipse">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6487668" y="3694176"/>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4</a:t>
            </a:r>
          </a:p>
        </p:txBody>
      </p:sp>
      <p:sp>
        <p:nvSpPr>
          <p:cNvPr id="26" name="TextBox 25"/>
          <p:cNvSpPr txBox="1"/>
          <p:nvPr/>
        </p:nvSpPr>
        <p:spPr>
          <a:xfrm>
            <a:off x="7219188" y="3447288"/>
            <a:ext cx="3973068" cy="1115568"/>
          </a:xfrm>
          <a:prstGeom prst="rect">
            <a:avLst/>
          </a:prstGeom>
          <a:noFill/>
        </p:spPr>
        <p:txBody>
          <a:bodyPr wrap="square" anchor="ctr">
            <a:spAutoFit/>
          </a:bodyPr>
          <a:lstStyle/>
          <a:p>
            <a:pPr algn="l">
              <a:spcAft>
                <a:spcPts val="300"/>
              </a:spcAft>
            </a:pPr>
            <a:r>
              <a:rPr sz="1600" b="1">
                <a:solidFill>
                  <a:srgbClr val="161B26"/>
                </a:solidFill>
                <a:latin typeface="Arial"/>
              </a:rPr>
              <a:t>Start with one real workflow</a:t>
            </a:r>
          </a:p>
          <a:p>
            <a:pPr algn="l">
              <a:spcAft>
                <a:spcPts val="300"/>
              </a:spcAft>
            </a:pPr>
            <a:r>
              <a:rPr sz="1200" b="0">
                <a:solidFill>
                  <a:srgbClr val="5B6372"/>
                </a:solidFill>
                <a:latin typeface="Arial"/>
              </a:rPr>
              <a:t>Choose an internal task whose inputs and outputs are already observable.</a:t>
            </a:r>
          </a:p>
        </p:txBody>
      </p:sp>
      <p:sp>
        <p:nvSpPr>
          <p:cNvPr id="27" name="Rectangle 26"/>
          <p:cNvSpPr/>
          <p:nvPr/>
        </p:nvSpPr>
        <p:spPr>
          <a:xfrm>
            <a:off x="777240" y="4855464"/>
            <a:ext cx="5180076" cy="129844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Rectangle 27"/>
          <p:cNvSpPr/>
          <p:nvPr/>
        </p:nvSpPr>
        <p:spPr>
          <a:xfrm>
            <a:off x="777240" y="4855464"/>
            <a:ext cx="91440" cy="1298448"/>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Oval 28"/>
          <p:cNvSpPr/>
          <p:nvPr/>
        </p:nvSpPr>
        <p:spPr>
          <a:xfrm>
            <a:off x="1033272" y="5230368"/>
            <a:ext cx="548640" cy="548640"/>
          </a:xfrm>
          <a:prstGeom prst="ellipse">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TextBox 29"/>
          <p:cNvSpPr txBox="1"/>
          <p:nvPr/>
        </p:nvSpPr>
        <p:spPr>
          <a:xfrm>
            <a:off x="1033272" y="5230368"/>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5</a:t>
            </a:r>
          </a:p>
        </p:txBody>
      </p:sp>
      <p:sp>
        <p:nvSpPr>
          <p:cNvPr id="31" name="TextBox 30"/>
          <p:cNvSpPr txBox="1"/>
          <p:nvPr/>
        </p:nvSpPr>
        <p:spPr>
          <a:xfrm>
            <a:off x="1764792" y="4983480"/>
            <a:ext cx="3973068" cy="1115568"/>
          </a:xfrm>
          <a:prstGeom prst="rect">
            <a:avLst/>
          </a:prstGeom>
          <a:noFill/>
        </p:spPr>
        <p:txBody>
          <a:bodyPr wrap="square" anchor="ctr">
            <a:spAutoFit/>
          </a:bodyPr>
          <a:lstStyle/>
          <a:p>
            <a:pPr algn="l">
              <a:spcAft>
                <a:spcPts val="300"/>
              </a:spcAft>
            </a:pPr>
            <a:r>
              <a:rPr sz="1600" b="1">
                <a:solidFill>
                  <a:srgbClr val="161B26"/>
                </a:solidFill>
                <a:latin typeface="Arial"/>
              </a:rPr>
              <a:t>Keep the caps low</a:t>
            </a:r>
          </a:p>
          <a:p>
            <a:pPr algn="l">
              <a:spcAft>
                <a:spcPts val="300"/>
              </a:spcAft>
            </a:pPr>
            <a:r>
              <a:rPr sz="1200" b="0">
                <a:solidFill>
                  <a:srgbClr val="5B6372"/>
                </a:solidFill>
                <a:latin typeface="Arial"/>
              </a:rPr>
              <a:t>Your first real company should be capped far below what you would be willing to pay.</a:t>
            </a:r>
          </a:p>
        </p:txBody>
      </p:sp>
      <p:sp>
        <p:nvSpPr>
          <p:cNvPr id="32" name="Rectangle 31"/>
          <p:cNvSpPr/>
          <p:nvPr/>
        </p:nvSpPr>
        <p:spPr>
          <a:xfrm>
            <a:off x="6231636" y="4855464"/>
            <a:ext cx="5180076" cy="129844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Rectangle 32"/>
          <p:cNvSpPr/>
          <p:nvPr/>
        </p:nvSpPr>
        <p:spPr>
          <a:xfrm>
            <a:off x="6231636" y="4855464"/>
            <a:ext cx="91440" cy="1298448"/>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Oval 33"/>
          <p:cNvSpPr/>
          <p:nvPr/>
        </p:nvSpPr>
        <p:spPr>
          <a:xfrm>
            <a:off x="6487668" y="5230368"/>
            <a:ext cx="548640" cy="548640"/>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TextBox 34"/>
          <p:cNvSpPr txBox="1"/>
          <p:nvPr/>
        </p:nvSpPr>
        <p:spPr>
          <a:xfrm>
            <a:off x="6487668" y="5230368"/>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6</a:t>
            </a:r>
          </a:p>
        </p:txBody>
      </p:sp>
      <p:sp>
        <p:nvSpPr>
          <p:cNvPr id="36" name="TextBox 35"/>
          <p:cNvSpPr txBox="1"/>
          <p:nvPr/>
        </p:nvSpPr>
        <p:spPr>
          <a:xfrm>
            <a:off x="7219188" y="4983480"/>
            <a:ext cx="3973068" cy="1115568"/>
          </a:xfrm>
          <a:prstGeom prst="rect">
            <a:avLst/>
          </a:prstGeom>
          <a:noFill/>
        </p:spPr>
        <p:txBody>
          <a:bodyPr wrap="square" anchor="ctr">
            <a:spAutoFit/>
          </a:bodyPr>
          <a:lstStyle/>
          <a:p>
            <a:pPr algn="l">
              <a:spcAft>
                <a:spcPts val="300"/>
              </a:spcAft>
            </a:pPr>
            <a:r>
              <a:rPr sz="1600" b="1">
                <a:solidFill>
                  <a:srgbClr val="161B26"/>
                </a:solidFill>
                <a:latin typeface="Arial"/>
              </a:rPr>
              <a:t>Audit before you scale</a:t>
            </a:r>
          </a:p>
          <a:p>
            <a:pPr algn="l">
              <a:spcAft>
                <a:spcPts val="300"/>
              </a:spcAft>
            </a:pPr>
            <a:r>
              <a:rPr sz="1200" b="0">
                <a:solidFill>
                  <a:srgbClr val="5B6372"/>
                </a:solidFill>
                <a:latin typeface="Arial"/>
              </a:rPr>
              <a:t>Prove you can reconstruct one operation before you run two.</a:t>
            </a:r>
          </a:p>
        </p:txBody>
      </p:sp>
      <p:sp>
        <p:nvSpPr>
          <p:cNvPr id="37" name="TextBox 36"/>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Manage AI Agents with Paperclip (TGS-2023036646)  ·  TGS-2023036646</a:t>
            </a:r>
          </a:p>
        </p:txBody>
      </p:sp>
      <p:sp>
        <p:nvSpPr>
          <p:cNvPr id="38" name="TextBox 37"/>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39" name="TextBox 38"/>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97</a:t>
            </a:r>
          </a:p>
        </p:txBody>
      </p:sp>
    </p:spTree>
  </p:cSld>
  <p:clrMapOvr>
    <a:masterClrMapping/>
  </p:clrMapOvr>
  <p:transition spd="fast" advClick="1">
    <p:fade/>
  </p:transition>
</p:sld>
</file>

<file path=ppt/slides/slide9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1F6FEB"/>
                </a:solidFill>
                <a:latin typeface="Arial"/>
              </a:rPr>
              <a:t>CONTINUE WITH TERTIARY INFOTECH</a:t>
            </a:r>
          </a:p>
        </p:txBody>
      </p:sp>
      <p:sp>
        <p:nvSpPr>
          <p:cNvPr id="5" name="TextBox 4"/>
          <p:cNvSpPr txBox="1"/>
          <p:nvPr/>
        </p:nvSpPr>
        <p:spPr>
          <a:xfrm>
            <a:off x="777240" y="804672"/>
            <a:ext cx="10881360" cy="713232"/>
          </a:xfrm>
          <a:prstGeom prst="rect">
            <a:avLst/>
          </a:prstGeom>
          <a:noFill/>
        </p:spPr>
        <p:txBody>
          <a:bodyPr wrap="square" anchor="ctr">
            <a:spAutoFit/>
          </a:bodyPr>
          <a:lstStyle/>
          <a:p>
            <a:pPr algn="l">
              <a:spcAft>
                <a:spcPts val="400"/>
              </a:spcAft>
            </a:pPr>
            <a:r>
              <a:rPr sz="2900" b="1">
                <a:solidFill>
                  <a:srgbClr val="161B26"/>
                </a:solidFill>
                <a:latin typeface="Arial"/>
              </a:rPr>
              <a:t>Recommended Courses</a:t>
            </a:r>
          </a:p>
        </p:txBody>
      </p:sp>
      <p:sp>
        <p:nvSpPr>
          <p:cNvPr id="6" name="Rectangle 5"/>
          <p:cNvSpPr/>
          <p:nvPr/>
        </p:nvSpPr>
        <p:spPr>
          <a:xfrm>
            <a:off x="777240" y="155448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77240" y="1783080"/>
            <a:ext cx="10634472" cy="91440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777240" y="1783080"/>
            <a:ext cx="91440" cy="91440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Oval 8"/>
          <p:cNvSpPr/>
          <p:nvPr/>
        </p:nvSpPr>
        <p:spPr>
          <a:xfrm>
            <a:off x="1033272" y="1965960"/>
            <a:ext cx="548640" cy="548640"/>
          </a:xfrm>
          <a:prstGeom prst="ellipse">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1033272" y="1965960"/>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1</a:t>
            </a:r>
          </a:p>
        </p:txBody>
      </p:sp>
      <p:sp>
        <p:nvSpPr>
          <p:cNvPr id="11" name="TextBox 10"/>
          <p:cNvSpPr txBox="1"/>
          <p:nvPr/>
        </p:nvSpPr>
        <p:spPr>
          <a:xfrm>
            <a:off x="1764792" y="1911096"/>
            <a:ext cx="9427464" cy="731520"/>
          </a:xfrm>
          <a:prstGeom prst="rect">
            <a:avLst/>
          </a:prstGeom>
          <a:noFill/>
        </p:spPr>
        <p:txBody>
          <a:bodyPr wrap="square" anchor="ctr">
            <a:spAutoFit/>
          </a:bodyPr>
          <a:lstStyle/>
          <a:p>
            <a:pPr algn="l">
              <a:spcAft>
                <a:spcPts val="300"/>
              </a:spcAft>
            </a:pPr>
            <a:r>
              <a:rPr sz="1700" b="1">
                <a:solidFill>
                  <a:srgbClr val="161B26"/>
                </a:solidFill>
                <a:latin typeface="Arial"/>
              </a:rPr>
              <a:t>WSQ - Develop Multi AI Agent Applications with Gemini Agent ADK</a:t>
            </a:r>
          </a:p>
          <a:p>
            <a:pPr algn="l">
              <a:spcAft>
                <a:spcPts val="300"/>
              </a:spcAft>
            </a:pPr>
            <a:r>
              <a:rPr sz="1300" b="0">
                <a:solidFill>
                  <a:srgbClr val="5B6372"/>
                </a:solidFill>
                <a:latin typeface="Arial"/>
              </a:rPr>
              <a:t/>
            </a:r>
          </a:p>
        </p:txBody>
      </p:sp>
      <p:sp>
        <p:nvSpPr>
          <p:cNvPr id="12" name="Rectangle 11"/>
          <p:cNvSpPr/>
          <p:nvPr/>
        </p:nvSpPr>
        <p:spPr>
          <a:xfrm>
            <a:off x="777240" y="2935224"/>
            <a:ext cx="10634472" cy="91440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777240" y="2935224"/>
            <a:ext cx="91440" cy="91440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Oval 13"/>
          <p:cNvSpPr/>
          <p:nvPr/>
        </p:nvSpPr>
        <p:spPr>
          <a:xfrm>
            <a:off x="1033272" y="3118104"/>
            <a:ext cx="548640" cy="548640"/>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1033272" y="3118104"/>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2</a:t>
            </a:r>
          </a:p>
        </p:txBody>
      </p:sp>
      <p:sp>
        <p:nvSpPr>
          <p:cNvPr id="16" name="TextBox 15"/>
          <p:cNvSpPr txBox="1"/>
          <p:nvPr/>
        </p:nvSpPr>
        <p:spPr>
          <a:xfrm>
            <a:off x="1764792" y="3063240"/>
            <a:ext cx="9427464" cy="731520"/>
          </a:xfrm>
          <a:prstGeom prst="rect">
            <a:avLst/>
          </a:prstGeom>
          <a:noFill/>
        </p:spPr>
        <p:txBody>
          <a:bodyPr wrap="square" anchor="ctr">
            <a:spAutoFit/>
          </a:bodyPr>
          <a:lstStyle/>
          <a:p>
            <a:pPr algn="l">
              <a:spcAft>
                <a:spcPts val="300"/>
              </a:spcAft>
            </a:pPr>
            <a:r>
              <a:rPr sz="1700" b="1">
                <a:solidFill>
                  <a:srgbClr val="161B26"/>
                </a:solidFill>
                <a:latin typeface="Arial"/>
              </a:rPr>
              <a:t>WSQ - Build LLM Applications Using Flowise and LangChain</a:t>
            </a:r>
          </a:p>
          <a:p>
            <a:pPr algn="l">
              <a:spcAft>
                <a:spcPts val="300"/>
              </a:spcAft>
            </a:pPr>
            <a:r>
              <a:rPr sz="1300" b="0">
                <a:solidFill>
                  <a:srgbClr val="5B6372"/>
                </a:solidFill>
                <a:latin typeface="Arial"/>
              </a:rPr>
              <a:t/>
            </a:r>
          </a:p>
        </p:txBody>
      </p:sp>
      <p:sp>
        <p:nvSpPr>
          <p:cNvPr id="17" name="Rectangle 16"/>
          <p:cNvSpPr/>
          <p:nvPr/>
        </p:nvSpPr>
        <p:spPr>
          <a:xfrm>
            <a:off x="777240" y="4087368"/>
            <a:ext cx="10634472" cy="91440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777240" y="4087368"/>
            <a:ext cx="91440" cy="914400"/>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Oval 18"/>
          <p:cNvSpPr/>
          <p:nvPr/>
        </p:nvSpPr>
        <p:spPr>
          <a:xfrm>
            <a:off x="1033272" y="4270248"/>
            <a:ext cx="548640" cy="548640"/>
          </a:xfrm>
          <a:prstGeom prst="ellipse">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1033272" y="4270248"/>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3</a:t>
            </a:r>
          </a:p>
        </p:txBody>
      </p:sp>
      <p:sp>
        <p:nvSpPr>
          <p:cNvPr id="21" name="TextBox 20"/>
          <p:cNvSpPr txBox="1"/>
          <p:nvPr/>
        </p:nvSpPr>
        <p:spPr>
          <a:xfrm>
            <a:off x="1764792" y="4215384"/>
            <a:ext cx="9427464" cy="731520"/>
          </a:xfrm>
          <a:prstGeom prst="rect">
            <a:avLst/>
          </a:prstGeom>
          <a:noFill/>
        </p:spPr>
        <p:txBody>
          <a:bodyPr wrap="square" anchor="ctr">
            <a:spAutoFit/>
          </a:bodyPr>
          <a:lstStyle/>
          <a:p>
            <a:pPr algn="l">
              <a:spcAft>
                <a:spcPts val="300"/>
              </a:spcAft>
            </a:pPr>
            <a:r>
              <a:rPr sz="1700" b="1">
                <a:solidFill>
                  <a:srgbClr val="161B26"/>
                </a:solidFill>
                <a:latin typeface="Arial"/>
              </a:rPr>
              <a:t>WSQ - Generative AI for Productivity</a:t>
            </a:r>
          </a:p>
          <a:p>
            <a:pPr algn="l">
              <a:spcAft>
                <a:spcPts val="300"/>
              </a:spcAft>
            </a:pPr>
            <a:r>
              <a:rPr sz="1300" b="0">
                <a:solidFill>
                  <a:srgbClr val="5B6372"/>
                </a:solidFill>
                <a:latin typeface="Arial"/>
              </a:rPr>
              <a:t/>
            </a:r>
          </a:p>
        </p:txBody>
      </p:sp>
      <p:sp>
        <p:nvSpPr>
          <p:cNvPr id="22" name="Rectangle 21"/>
          <p:cNvSpPr/>
          <p:nvPr/>
        </p:nvSpPr>
        <p:spPr>
          <a:xfrm>
            <a:off x="777240" y="5239512"/>
            <a:ext cx="10634472" cy="91440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ectangle 22"/>
          <p:cNvSpPr/>
          <p:nvPr/>
        </p:nvSpPr>
        <p:spPr>
          <a:xfrm>
            <a:off x="777240" y="5239512"/>
            <a:ext cx="91440" cy="914400"/>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Oval 23"/>
          <p:cNvSpPr/>
          <p:nvPr/>
        </p:nvSpPr>
        <p:spPr>
          <a:xfrm>
            <a:off x="1033272" y="5422392"/>
            <a:ext cx="548640" cy="548640"/>
          </a:xfrm>
          <a:prstGeom prst="ellipse">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1033272" y="5422392"/>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4</a:t>
            </a:r>
          </a:p>
        </p:txBody>
      </p:sp>
      <p:sp>
        <p:nvSpPr>
          <p:cNvPr id="26" name="TextBox 25"/>
          <p:cNvSpPr txBox="1"/>
          <p:nvPr/>
        </p:nvSpPr>
        <p:spPr>
          <a:xfrm>
            <a:off x="1764792" y="5367528"/>
            <a:ext cx="9427464" cy="731520"/>
          </a:xfrm>
          <a:prstGeom prst="rect">
            <a:avLst/>
          </a:prstGeom>
          <a:noFill/>
        </p:spPr>
        <p:txBody>
          <a:bodyPr wrap="square" anchor="ctr">
            <a:spAutoFit/>
          </a:bodyPr>
          <a:lstStyle/>
          <a:p>
            <a:pPr algn="l">
              <a:spcAft>
                <a:spcPts val="300"/>
              </a:spcAft>
            </a:pPr>
            <a:r>
              <a:rPr sz="1700" b="1">
                <a:solidFill>
                  <a:srgbClr val="161B26"/>
                </a:solidFill>
                <a:latin typeface="Arial"/>
              </a:rPr>
              <a:t>WSQ - Prompt Engineering for Business</a:t>
            </a:r>
          </a:p>
          <a:p>
            <a:pPr algn="l">
              <a:spcAft>
                <a:spcPts val="300"/>
              </a:spcAft>
            </a:pPr>
            <a:r>
              <a:rPr sz="1300" b="0">
                <a:solidFill>
                  <a:srgbClr val="5B6372"/>
                </a:solidFill>
                <a:latin typeface="Arial"/>
              </a:rPr>
              <a:t/>
            </a:r>
          </a:p>
        </p:txBody>
      </p:sp>
      <p:sp>
        <p:nvSpPr>
          <p:cNvPr id="27" name="TextBox 26"/>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Manage AI Agents with Paperclip (TGS-2023036646)  ·  TGS-2023036646</a:t>
            </a:r>
          </a:p>
        </p:txBody>
      </p:sp>
      <p:sp>
        <p:nvSpPr>
          <p:cNvPr id="28" name="TextBox 27"/>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29" name="TextBox 28"/>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98</a:t>
            </a:r>
          </a:p>
        </p:txBody>
      </p:sp>
    </p:spTree>
  </p:cSld>
  <p:clrMapOvr>
    <a:masterClrMapping/>
  </p:clrMapOvr>
  <p:transition spd="fast" advClick="1">
    <p:fade/>
  </p:transition>
</p:sld>
</file>

<file path=ppt/slides/slide9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1F6FEB"/>
                </a:solidFill>
                <a:latin typeface="Arial"/>
              </a:rPr>
              <a:t>WE'RE HERE TO HELP — DURING AND AFTER THE CLASS</a:t>
            </a:r>
          </a:p>
        </p:txBody>
      </p:sp>
      <p:sp>
        <p:nvSpPr>
          <p:cNvPr id="5" name="TextBox 4"/>
          <p:cNvSpPr txBox="1"/>
          <p:nvPr/>
        </p:nvSpPr>
        <p:spPr>
          <a:xfrm>
            <a:off x="777240" y="804672"/>
            <a:ext cx="10881360" cy="713232"/>
          </a:xfrm>
          <a:prstGeom prst="rect">
            <a:avLst/>
          </a:prstGeom>
          <a:noFill/>
        </p:spPr>
        <p:txBody>
          <a:bodyPr wrap="square" anchor="ctr">
            <a:spAutoFit/>
          </a:bodyPr>
          <a:lstStyle/>
          <a:p>
            <a:pPr algn="l">
              <a:spcAft>
                <a:spcPts val="400"/>
              </a:spcAft>
            </a:pPr>
            <a:r>
              <a:rPr sz="2900" b="1">
                <a:solidFill>
                  <a:srgbClr val="161B26"/>
                </a:solidFill>
                <a:latin typeface="Arial"/>
              </a:rPr>
              <a:t>Support</a:t>
            </a:r>
          </a:p>
        </p:txBody>
      </p:sp>
      <p:sp>
        <p:nvSpPr>
          <p:cNvPr id="6" name="Rectangle 5"/>
          <p:cNvSpPr/>
          <p:nvPr/>
        </p:nvSpPr>
        <p:spPr>
          <a:xfrm>
            <a:off x="777240" y="155448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77240" y="1783080"/>
            <a:ext cx="5180076" cy="129844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777240" y="1783080"/>
            <a:ext cx="91440" cy="1298448"/>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Oval 8"/>
          <p:cNvSpPr/>
          <p:nvPr/>
        </p:nvSpPr>
        <p:spPr>
          <a:xfrm>
            <a:off x="1033272" y="2157984"/>
            <a:ext cx="548640" cy="548640"/>
          </a:xfrm>
          <a:prstGeom prst="ellipse">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1033272" y="2157984"/>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1</a:t>
            </a:r>
          </a:p>
        </p:txBody>
      </p:sp>
      <p:sp>
        <p:nvSpPr>
          <p:cNvPr id="11" name="TextBox 10"/>
          <p:cNvSpPr txBox="1"/>
          <p:nvPr/>
        </p:nvSpPr>
        <p:spPr>
          <a:xfrm>
            <a:off x="1764792" y="1911096"/>
            <a:ext cx="3973068" cy="1115568"/>
          </a:xfrm>
          <a:prstGeom prst="rect">
            <a:avLst/>
          </a:prstGeom>
          <a:noFill/>
        </p:spPr>
        <p:txBody>
          <a:bodyPr wrap="square" anchor="ctr">
            <a:spAutoFit/>
          </a:bodyPr>
          <a:lstStyle/>
          <a:p>
            <a:pPr algn="l">
              <a:spcAft>
                <a:spcPts val="300"/>
              </a:spcAft>
            </a:pPr>
            <a:r>
              <a:rPr sz="1600" b="1">
                <a:solidFill>
                  <a:srgbClr val="161B26"/>
                </a:solidFill>
                <a:latin typeface="Arial"/>
              </a:rPr>
              <a:t>Email</a:t>
            </a:r>
          </a:p>
          <a:p>
            <a:pPr algn="l">
              <a:spcAft>
                <a:spcPts val="300"/>
              </a:spcAft>
            </a:pPr>
            <a:r>
              <a:rPr sz="1200" b="0">
                <a:solidFill>
                  <a:srgbClr val="5B6372"/>
                </a:solidFill>
                <a:latin typeface="Arial"/>
              </a:rPr>
              <a:t>enquiry@tertiaryinfotech.com</a:t>
            </a:r>
          </a:p>
        </p:txBody>
      </p:sp>
      <p:sp>
        <p:nvSpPr>
          <p:cNvPr id="12" name="Rectangle 11"/>
          <p:cNvSpPr/>
          <p:nvPr/>
        </p:nvSpPr>
        <p:spPr>
          <a:xfrm>
            <a:off x="6231636" y="1783080"/>
            <a:ext cx="5180076" cy="129844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6231636" y="1783080"/>
            <a:ext cx="91440" cy="1298448"/>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Oval 13"/>
          <p:cNvSpPr/>
          <p:nvPr/>
        </p:nvSpPr>
        <p:spPr>
          <a:xfrm>
            <a:off x="6487668" y="2157984"/>
            <a:ext cx="548640" cy="548640"/>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487668" y="2157984"/>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2</a:t>
            </a:r>
          </a:p>
        </p:txBody>
      </p:sp>
      <p:sp>
        <p:nvSpPr>
          <p:cNvPr id="16" name="TextBox 15"/>
          <p:cNvSpPr txBox="1"/>
          <p:nvPr/>
        </p:nvSpPr>
        <p:spPr>
          <a:xfrm>
            <a:off x="7219188" y="1911096"/>
            <a:ext cx="3973068" cy="1115568"/>
          </a:xfrm>
          <a:prstGeom prst="rect">
            <a:avLst/>
          </a:prstGeom>
          <a:noFill/>
        </p:spPr>
        <p:txBody>
          <a:bodyPr wrap="square" anchor="ctr">
            <a:spAutoFit/>
          </a:bodyPr>
          <a:lstStyle/>
          <a:p>
            <a:pPr algn="l">
              <a:spcAft>
                <a:spcPts val="300"/>
              </a:spcAft>
            </a:pPr>
            <a:r>
              <a:rPr sz="1600" b="1">
                <a:solidFill>
                  <a:srgbClr val="161B26"/>
                </a:solidFill>
                <a:latin typeface="Arial"/>
              </a:rPr>
              <a:t>Telephone</a:t>
            </a:r>
          </a:p>
          <a:p>
            <a:pPr algn="l">
              <a:spcAft>
                <a:spcPts val="300"/>
              </a:spcAft>
            </a:pPr>
            <a:r>
              <a:rPr sz="1200" b="0">
                <a:solidFill>
                  <a:srgbClr val="5B6372"/>
                </a:solidFill>
                <a:latin typeface="Arial"/>
              </a:rPr>
              <a:t>+65 6100 0613</a:t>
            </a:r>
          </a:p>
        </p:txBody>
      </p:sp>
      <p:sp>
        <p:nvSpPr>
          <p:cNvPr id="17" name="Rectangle 16"/>
          <p:cNvSpPr/>
          <p:nvPr/>
        </p:nvSpPr>
        <p:spPr>
          <a:xfrm>
            <a:off x="777240" y="3319272"/>
            <a:ext cx="5180076" cy="129844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777240" y="3319272"/>
            <a:ext cx="91440" cy="1298448"/>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Oval 18"/>
          <p:cNvSpPr/>
          <p:nvPr/>
        </p:nvSpPr>
        <p:spPr>
          <a:xfrm>
            <a:off x="1033272" y="3694176"/>
            <a:ext cx="548640" cy="548640"/>
          </a:xfrm>
          <a:prstGeom prst="ellipse">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1033272" y="3694176"/>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3</a:t>
            </a:r>
          </a:p>
        </p:txBody>
      </p:sp>
      <p:sp>
        <p:nvSpPr>
          <p:cNvPr id="21" name="TextBox 20"/>
          <p:cNvSpPr txBox="1"/>
          <p:nvPr/>
        </p:nvSpPr>
        <p:spPr>
          <a:xfrm>
            <a:off x="1764792" y="3447288"/>
            <a:ext cx="3973068" cy="1115568"/>
          </a:xfrm>
          <a:prstGeom prst="rect">
            <a:avLst/>
          </a:prstGeom>
          <a:noFill/>
        </p:spPr>
        <p:txBody>
          <a:bodyPr wrap="square" anchor="ctr">
            <a:spAutoFit/>
          </a:bodyPr>
          <a:lstStyle/>
          <a:p>
            <a:pPr algn="l">
              <a:spcAft>
                <a:spcPts val="300"/>
              </a:spcAft>
            </a:pPr>
            <a:r>
              <a:rPr sz="1600" b="1">
                <a:solidFill>
                  <a:srgbClr val="161B26"/>
                </a:solidFill>
                <a:latin typeface="Arial"/>
              </a:rPr>
              <a:t>Website</a:t>
            </a:r>
          </a:p>
          <a:p>
            <a:pPr algn="l">
              <a:spcAft>
                <a:spcPts val="300"/>
              </a:spcAft>
            </a:pPr>
            <a:r>
              <a:rPr sz="1200" b="0">
                <a:solidFill>
                  <a:srgbClr val="5B6372"/>
                </a:solidFill>
                <a:latin typeface="Arial"/>
              </a:rPr>
              <a:t>www.tertiarycourses.com.sg</a:t>
            </a:r>
          </a:p>
        </p:txBody>
      </p:sp>
      <p:sp>
        <p:nvSpPr>
          <p:cNvPr id="22" name="Rectangle 21"/>
          <p:cNvSpPr/>
          <p:nvPr/>
        </p:nvSpPr>
        <p:spPr>
          <a:xfrm>
            <a:off x="6231636" y="3319272"/>
            <a:ext cx="5180076" cy="129844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ectangle 22"/>
          <p:cNvSpPr/>
          <p:nvPr/>
        </p:nvSpPr>
        <p:spPr>
          <a:xfrm>
            <a:off x="6231636" y="3319272"/>
            <a:ext cx="91440" cy="1298448"/>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Oval 23"/>
          <p:cNvSpPr/>
          <p:nvPr/>
        </p:nvSpPr>
        <p:spPr>
          <a:xfrm>
            <a:off x="6487668" y="3694176"/>
            <a:ext cx="548640" cy="548640"/>
          </a:xfrm>
          <a:prstGeom prst="ellipse">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6487668" y="3694176"/>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4</a:t>
            </a:r>
          </a:p>
        </p:txBody>
      </p:sp>
      <p:sp>
        <p:nvSpPr>
          <p:cNvPr id="26" name="TextBox 25"/>
          <p:cNvSpPr txBox="1"/>
          <p:nvPr/>
        </p:nvSpPr>
        <p:spPr>
          <a:xfrm>
            <a:off x="7219188" y="3447288"/>
            <a:ext cx="3973068" cy="1115568"/>
          </a:xfrm>
          <a:prstGeom prst="rect">
            <a:avLst/>
          </a:prstGeom>
          <a:noFill/>
        </p:spPr>
        <p:txBody>
          <a:bodyPr wrap="square" anchor="ctr">
            <a:spAutoFit/>
          </a:bodyPr>
          <a:lstStyle/>
          <a:p>
            <a:pPr algn="l">
              <a:spcAft>
                <a:spcPts val="300"/>
              </a:spcAft>
            </a:pPr>
            <a:r>
              <a:rPr sz="1600" b="1">
                <a:solidFill>
                  <a:srgbClr val="161B26"/>
                </a:solidFill>
                <a:latin typeface="Arial"/>
              </a:rPr>
              <a:t>LMS / TMS</a:t>
            </a:r>
          </a:p>
          <a:p>
            <a:pPr algn="l">
              <a:spcAft>
                <a:spcPts val="300"/>
              </a:spcAft>
            </a:pPr>
            <a:r>
              <a:rPr sz="1200" b="0">
                <a:solidFill>
                  <a:srgbClr val="5B6372"/>
                </a:solidFill>
                <a:latin typeface="Arial"/>
              </a:rPr>
              <a:t>https://lms-tms.tertiaryinfotech.com</a:t>
            </a:r>
          </a:p>
        </p:txBody>
      </p:sp>
      <p:sp>
        <p:nvSpPr>
          <p:cNvPr id="27" name="Rectangle 26"/>
          <p:cNvSpPr/>
          <p:nvPr/>
        </p:nvSpPr>
        <p:spPr>
          <a:xfrm>
            <a:off x="777240" y="4855464"/>
            <a:ext cx="5180076" cy="129844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Rectangle 27"/>
          <p:cNvSpPr/>
          <p:nvPr/>
        </p:nvSpPr>
        <p:spPr>
          <a:xfrm>
            <a:off x="777240" y="4855464"/>
            <a:ext cx="91440" cy="1298448"/>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Oval 28"/>
          <p:cNvSpPr/>
          <p:nvPr/>
        </p:nvSpPr>
        <p:spPr>
          <a:xfrm>
            <a:off x="1033272" y="5230368"/>
            <a:ext cx="548640" cy="548640"/>
          </a:xfrm>
          <a:prstGeom prst="ellipse">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TextBox 29"/>
          <p:cNvSpPr txBox="1"/>
          <p:nvPr/>
        </p:nvSpPr>
        <p:spPr>
          <a:xfrm>
            <a:off x="1033272" y="5230368"/>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5</a:t>
            </a:r>
          </a:p>
        </p:txBody>
      </p:sp>
      <p:sp>
        <p:nvSpPr>
          <p:cNvPr id="31" name="TextBox 30"/>
          <p:cNvSpPr txBox="1"/>
          <p:nvPr/>
        </p:nvSpPr>
        <p:spPr>
          <a:xfrm>
            <a:off x="1764792" y="4983480"/>
            <a:ext cx="3973068" cy="1115568"/>
          </a:xfrm>
          <a:prstGeom prst="rect">
            <a:avLst/>
          </a:prstGeom>
          <a:noFill/>
        </p:spPr>
        <p:txBody>
          <a:bodyPr wrap="square" anchor="ctr">
            <a:spAutoFit/>
          </a:bodyPr>
          <a:lstStyle/>
          <a:p>
            <a:pPr algn="l">
              <a:spcAft>
                <a:spcPts val="300"/>
              </a:spcAft>
            </a:pPr>
            <a:r>
              <a:rPr sz="1600" b="1">
                <a:solidFill>
                  <a:srgbClr val="161B26"/>
                </a:solidFill>
                <a:latin typeface="Arial"/>
              </a:rPr>
              <a:t>Practice exam</a:t>
            </a:r>
          </a:p>
          <a:p>
            <a:pPr algn="l">
              <a:spcAft>
                <a:spcPts val="300"/>
              </a:spcAft>
            </a:pPr>
            <a:r>
              <a:rPr sz="1200" b="0">
                <a:solidFill>
                  <a:srgbClr val="5B6372"/>
                </a:solidFill>
                <a:latin typeface="Arial"/>
              </a:rPr>
              <a:t>https://exams.tertiaryinfotech.com</a:t>
            </a:r>
          </a:p>
        </p:txBody>
      </p:sp>
      <p:sp>
        <p:nvSpPr>
          <p:cNvPr id="32" name="Rectangle 31"/>
          <p:cNvSpPr/>
          <p:nvPr/>
        </p:nvSpPr>
        <p:spPr>
          <a:xfrm>
            <a:off x="6231636" y="4855464"/>
            <a:ext cx="5180076" cy="129844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Rectangle 32"/>
          <p:cNvSpPr/>
          <p:nvPr/>
        </p:nvSpPr>
        <p:spPr>
          <a:xfrm>
            <a:off x="6231636" y="4855464"/>
            <a:ext cx="91440" cy="1298448"/>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Oval 33"/>
          <p:cNvSpPr/>
          <p:nvPr/>
        </p:nvSpPr>
        <p:spPr>
          <a:xfrm>
            <a:off x="6487668" y="5230368"/>
            <a:ext cx="548640" cy="548640"/>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TextBox 34"/>
          <p:cNvSpPr txBox="1"/>
          <p:nvPr/>
        </p:nvSpPr>
        <p:spPr>
          <a:xfrm>
            <a:off x="6487668" y="5230368"/>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6</a:t>
            </a:r>
          </a:p>
        </p:txBody>
      </p:sp>
      <p:sp>
        <p:nvSpPr>
          <p:cNvPr id="36" name="TextBox 35"/>
          <p:cNvSpPr txBox="1"/>
          <p:nvPr/>
        </p:nvSpPr>
        <p:spPr>
          <a:xfrm>
            <a:off x="7219188" y="4983480"/>
            <a:ext cx="3973068" cy="1115568"/>
          </a:xfrm>
          <a:prstGeom prst="rect">
            <a:avLst/>
          </a:prstGeom>
          <a:noFill/>
        </p:spPr>
        <p:txBody>
          <a:bodyPr wrap="square" anchor="ctr">
            <a:spAutoFit/>
          </a:bodyPr>
          <a:lstStyle/>
          <a:p>
            <a:pPr algn="l">
              <a:spcAft>
                <a:spcPts val="300"/>
              </a:spcAft>
            </a:pPr>
            <a:r>
              <a:rPr sz="1600" b="1">
                <a:solidFill>
                  <a:srgbClr val="161B26"/>
                </a:solidFill>
                <a:latin typeface="Arial"/>
              </a:rPr>
              <a:t>Course page</a:t>
            </a:r>
          </a:p>
          <a:p>
            <a:pPr algn="l">
              <a:spcAft>
                <a:spcPts val="300"/>
              </a:spcAft>
            </a:pPr>
            <a:r>
              <a:rPr sz="1200" b="0">
                <a:solidFill>
                  <a:srgbClr val="5B6372"/>
                </a:solidFill>
                <a:latin typeface="Arial"/>
              </a:rPr>
              <a:t>www.tertiarycourses.com.sg/wsq-manage-ai-agents-with-paperclip.html</a:t>
            </a:r>
          </a:p>
        </p:txBody>
      </p:sp>
      <p:sp>
        <p:nvSpPr>
          <p:cNvPr id="37" name="TextBox 36"/>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Manage AI Agents with Paperclip (TGS-2023036646)  ·  TGS-2023036646</a:t>
            </a:r>
          </a:p>
        </p:txBody>
      </p:sp>
      <p:sp>
        <p:nvSpPr>
          <p:cNvPr id="38" name="TextBox 37"/>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39" name="TextBox 38"/>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99</a:t>
            </a:r>
          </a:p>
        </p:txBody>
      </p:sp>
    </p:spTree>
  </p:cSld>
  <p:clrMapOvr>
    <a:masterClrMapping/>
  </p:clrMapOvr>
  <p:transition spd="fast" advClick="1">
    <p:fade/>
  </p:transition>
</p:sld>
</file>

<file path=ppt/slides/slide10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F59E0B"/>
                </a:solidFill>
                <a:latin typeface="Arial"/>
              </a:rPr>
              <a:t>BEFORE YOU START</a:t>
            </a:r>
          </a:p>
        </p:txBody>
      </p:sp>
      <p:sp>
        <p:nvSpPr>
          <p:cNvPr id="5" name="TextBox 4"/>
          <p:cNvSpPr txBox="1"/>
          <p:nvPr/>
        </p:nvSpPr>
        <p:spPr>
          <a:xfrm>
            <a:off x="777240" y="804672"/>
            <a:ext cx="10881360" cy="713232"/>
          </a:xfrm>
          <a:prstGeom prst="rect">
            <a:avLst/>
          </a:prstGeom>
          <a:noFill/>
        </p:spPr>
        <p:txBody>
          <a:bodyPr wrap="square" anchor="ctr">
            <a:spAutoFit/>
          </a:bodyPr>
          <a:lstStyle/>
          <a:p>
            <a:pPr algn="l">
              <a:spcAft>
                <a:spcPts val="400"/>
              </a:spcAft>
            </a:pPr>
            <a:r>
              <a:rPr sz="2900" b="1">
                <a:solidFill>
                  <a:srgbClr val="161B26"/>
                </a:solidFill>
                <a:latin typeface="Arial"/>
              </a:rPr>
              <a:t>Briefing for Assessment</a:t>
            </a:r>
          </a:p>
        </p:txBody>
      </p:sp>
      <p:sp>
        <p:nvSpPr>
          <p:cNvPr id="6" name="Rectangle 5"/>
          <p:cNvSpPr/>
          <p:nvPr/>
        </p:nvSpPr>
        <p:spPr>
          <a:xfrm>
            <a:off x="777240" y="155448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77240" y="1783080"/>
            <a:ext cx="5180076" cy="129844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777240" y="1783080"/>
            <a:ext cx="91440" cy="1298448"/>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Oval 8"/>
          <p:cNvSpPr/>
          <p:nvPr/>
        </p:nvSpPr>
        <p:spPr>
          <a:xfrm>
            <a:off x="1033272" y="2157984"/>
            <a:ext cx="548640" cy="548640"/>
          </a:xfrm>
          <a:prstGeom prst="ellipse">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1033272" y="2157984"/>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1</a:t>
            </a:r>
          </a:p>
        </p:txBody>
      </p:sp>
      <p:sp>
        <p:nvSpPr>
          <p:cNvPr id="11" name="TextBox 10"/>
          <p:cNvSpPr txBox="1"/>
          <p:nvPr/>
        </p:nvSpPr>
        <p:spPr>
          <a:xfrm>
            <a:off x="1764792" y="1911096"/>
            <a:ext cx="3973068" cy="1115568"/>
          </a:xfrm>
          <a:prstGeom prst="rect">
            <a:avLst/>
          </a:prstGeom>
          <a:noFill/>
        </p:spPr>
        <p:txBody>
          <a:bodyPr wrap="square" anchor="ctr">
            <a:spAutoFit/>
          </a:bodyPr>
          <a:lstStyle/>
          <a:p>
            <a:pPr algn="l">
              <a:spcAft>
                <a:spcPts val="300"/>
              </a:spcAft>
            </a:pPr>
            <a:r>
              <a:rPr sz="1600" b="1">
                <a:solidFill>
                  <a:srgbClr val="161B26"/>
                </a:solidFill>
                <a:latin typeface="Arial"/>
              </a:rPr>
              <a:t>Do · Clear your desk</a:t>
            </a:r>
          </a:p>
          <a:p>
            <a:pPr algn="l">
              <a:spcAft>
                <a:spcPts val="300"/>
              </a:spcAft>
            </a:pPr>
            <a:r>
              <a:rPr sz="1200" b="0">
                <a:solidFill>
                  <a:srgbClr val="5B6372"/>
                </a:solidFill>
                <a:latin typeface="Arial"/>
              </a:rPr>
              <a:t>Place phones and other materials under the table or on the floor.</a:t>
            </a:r>
          </a:p>
        </p:txBody>
      </p:sp>
      <p:sp>
        <p:nvSpPr>
          <p:cNvPr id="12" name="Rectangle 11"/>
          <p:cNvSpPr/>
          <p:nvPr/>
        </p:nvSpPr>
        <p:spPr>
          <a:xfrm>
            <a:off x="6231636" y="1783080"/>
            <a:ext cx="5180076" cy="129844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6231636" y="1783080"/>
            <a:ext cx="91440" cy="1298448"/>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Oval 13"/>
          <p:cNvSpPr/>
          <p:nvPr/>
        </p:nvSpPr>
        <p:spPr>
          <a:xfrm>
            <a:off x="6487668" y="2157984"/>
            <a:ext cx="548640" cy="548640"/>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487668" y="2157984"/>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2</a:t>
            </a:r>
          </a:p>
        </p:txBody>
      </p:sp>
      <p:sp>
        <p:nvSpPr>
          <p:cNvPr id="16" name="TextBox 15"/>
          <p:cNvSpPr txBox="1"/>
          <p:nvPr/>
        </p:nvSpPr>
        <p:spPr>
          <a:xfrm>
            <a:off x="7219188" y="1911096"/>
            <a:ext cx="3973068" cy="1115568"/>
          </a:xfrm>
          <a:prstGeom prst="rect">
            <a:avLst/>
          </a:prstGeom>
          <a:noFill/>
        </p:spPr>
        <p:txBody>
          <a:bodyPr wrap="square" anchor="ctr">
            <a:spAutoFit/>
          </a:bodyPr>
          <a:lstStyle/>
          <a:p>
            <a:pPr algn="l">
              <a:spcAft>
                <a:spcPts val="300"/>
              </a:spcAft>
            </a:pPr>
            <a:r>
              <a:rPr sz="1600" b="1">
                <a:solidFill>
                  <a:srgbClr val="161B26"/>
                </a:solidFill>
                <a:latin typeface="Arial"/>
              </a:rPr>
              <a:t>Don't · No recording</a:t>
            </a:r>
          </a:p>
          <a:p>
            <a:pPr algn="l">
              <a:spcAft>
                <a:spcPts val="300"/>
              </a:spcAft>
            </a:pPr>
            <a:r>
              <a:rPr sz="1200" b="0">
                <a:solidFill>
                  <a:srgbClr val="5B6372"/>
                </a:solidFill>
                <a:latin typeface="Arial"/>
              </a:rPr>
              <a:t>No photos or recording of assessment scripts.</a:t>
            </a:r>
          </a:p>
        </p:txBody>
      </p:sp>
      <p:sp>
        <p:nvSpPr>
          <p:cNvPr id="17" name="Rectangle 16"/>
          <p:cNvSpPr/>
          <p:nvPr/>
        </p:nvSpPr>
        <p:spPr>
          <a:xfrm>
            <a:off x="777240" y="3319272"/>
            <a:ext cx="5180076" cy="129844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777240" y="3319272"/>
            <a:ext cx="91440" cy="1298448"/>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Oval 18"/>
          <p:cNvSpPr/>
          <p:nvPr/>
        </p:nvSpPr>
        <p:spPr>
          <a:xfrm>
            <a:off x="1033272" y="3694176"/>
            <a:ext cx="548640" cy="548640"/>
          </a:xfrm>
          <a:prstGeom prst="ellipse">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1033272" y="3694176"/>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3</a:t>
            </a:r>
          </a:p>
        </p:txBody>
      </p:sp>
      <p:sp>
        <p:nvSpPr>
          <p:cNvPr id="21" name="TextBox 20"/>
          <p:cNvSpPr txBox="1"/>
          <p:nvPr/>
        </p:nvSpPr>
        <p:spPr>
          <a:xfrm>
            <a:off x="1764792" y="3447288"/>
            <a:ext cx="3973068" cy="1115568"/>
          </a:xfrm>
          <a:prstGeom prst="rect">
            <a:avLst/>
          </a:prstGeom>
          <a:noFill/>
        </p:spPr>
        <p:txBody>
          <a:bodyPr wrap="square" anchor="ctr">
            <a:spAutoFit/>
          </a:bodyPr>
          <a:lstStyle/>
          <a:p>
            <a:pPr algn="l">
              <a:spcAft>
                <a:spcPts val="300"/>
              </a:spcAft>
            </a:pPr>
            <a:r>
              <a:rPr sz="1600" b="1">
                <a:solidFill>
                  <a:srgbClr val="161B26"/>
                </a:solidFill>
                <a:latin typeface="Arial"/>
              </a:rPr>
              <a:t>Don't · No discussion</a:t>
            </a:r>
          </a:p>
          <a:p>
            <a:pPr algn="l">
              <a:spcAft>
                <a:spcPts val="300"/>
              </a:spcAft>
            </a:pPr>
            <a:r>
              <a:rPr sz="1200" b="0">
                <a:solidFill>
                  <a:srgbClr val="5B6372"/>
                </a:solidFill>
                <a:latin typeface="Arial"/>
              </a:rPr>
              <a:t>Work individually — no discussion during the assessment.</a:t>
            </a:r>
          </a:p>
        </p:txBody>
      </p:sp>
      <p:sp>
        <p:nvSpPr>
          <p:cNvPr id="22" name="Rectangle 21"/>
          <p:cNvSpPr/>
          <p:nvPr/>
        </p:nvSpPr>
        <p:spPr>
          <a:xfrm>
            <a:off x="6231636" y="3319272"/>
            <a:ext cx="5180076" cy="129844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ectangle 22"/>
          <p:cNvSpPr/>
          <p:nvPr/>
        </p:nvSpPr>
        <p:spPr>
          <a:xfrm>
            <a:off x="6231636" y="3319272"/>
            <a:ext cx="91440" cy="1298448"/>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Oval 23"/>
          <p:cNvSpPr/>
          <p:nvPr/>
        </p:nvSpPr>
        <p:spPr>
          <a:xfrm>
            <a:off x="6487668" y="3694176"/>
            <a:ext cx="548640" cy="548640"/>
          </a:xfrm>
          <a:prstGeom prst="ellipse">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6487668" y="3694176"/>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4</a:t>
            </a:r>
          </a:p>
        </p:txBody>
      </p:sp>
      <p:sp>
        <p:nvSpPr>
          <p:cNvPr id="26" name="TextBox 25"/>
          <p:cNvSpPr txBox="1"/>
          <p:nvPr/>
        </p:nvSpPr>
        <p:spPr>
          <a:xfrm>
            <a:off x="7219188" y="3447288"/>
            <a:ext cx="3973068" cy="1115568"/>
          </a:xfrm>
          <a:prstGeom prst="rect">
            <a:avLst/>
          </a:prstGeom>
          <a:noFill/>
        </p:spPr>
        <p:txBody>
          <a:bodyPr wrap="square" anchor="ctr">
            <a:spAutoFit/>
          </a:bodyPr>
          <a:lstStyle/>
          <a:p>
            <a:pPr algn="l">
              <a:spcAft>
                <a:spcPts val="300"/>
              </a:spcAft>
            </a:pPr>
            <a:r>
              <a:rPr sz="1600" b="1">
                <a:solidFill>
                  <a:srgbClr val="161B26"/>
                </a:solidFill>
                <a:latin typeface="Arial"/>
              </a:rPr>
              <a:t>Do · Black or blue pen</a:t>
            </a:r>
          </a:p>
          <a:p>
            <a:pPr algn="l">
              <a:spcAft>
                <a:spcPts val="300"/>
              </a:spcAft>
            </a:pPr>
            <a:r>
              <a:rPr sz="1200" b="0">
                <a:solidFill>
                  <a:srgbClr val="5B6372"/>
                </a:solidFill>
                <a:latin typeface="Arial"/>
              </a:rPr>
              <a:t>Use a black or blue pen for hard-copy assessments.</a:t>
            </a:r>
          </a:p>
        </p:txBody>
      </p:sp>
      <p:sp>
        <p:nvSpPr>
          <p:cNvPr id="27" name="Rectangle 26"/>
          <p:cNvSpPr/>
          <p:nvPr/>
        </p:nvSpPr>
        <p:spPr>
          <a:xfrm>
            <a:off x="777240" y="4855464"/>
            <a:ext cx="5180076" cy="129844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Rectangle 27"/>
          <p:cNvSpPr/>
          <p:nvPr/>
        </p:nvSpPr>
        <p:spPr>
          <a:xfrm>
            <a:off x="777240" y="4855464"/>
            <a:ext cx="91440" cy="1298448"/>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Oval 28"/>
          <p:cNvSpPr/>
          <p:nvPr/>
        </p:nvSpPr>
        <p:spPr>
          <a:xfrm>
            <a:off x="1033272" y="5230368"/>
            <a:ext cx="548640" cy="548640"/>
          </a:xfrm>
          <a:prstGeom prst="ellipse">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TextBox 29"/>
          <p:cNvSpPr txBox="1"/>
          <p:nvPr/>
        </p:nvSpPr>
        <p:spPr>
          <a:xfrm>
            <a:off x="1033272" y="5230368"/>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5</a:t>
            </a:r>
          </a:p>
        </p:txBody>
      </p:sp>
      <p:sp>
        <p:nvSpPr>
          <p:cNvPr id="31" name="TextBox 30"/>
          <p:cNvSpPr txBox="1"/>
          <p:nvPr/>
        </p:nvSpPr>
        <p:spPr>
          <a:xfrm>
            <a:off x="1764792" y="4983480"/>
            <a:ext cx="3973068" cy="1115568"/>
          </a:xfrm>
          <a:prstGeom prst="rect">
            <a:avLst/>
          </a:prstGeom>
          <a:noFill/>
        </p:spPr>
        <p:txBody>
          <a:bodyPr wrap="square" anchor="ctr">
            <a:spAutoFit/>
          </a:bodyPr>
          <a:lstStyle/>
          <a:p>
            <a:pPr algn="l">
              <a:spcAft>
                <a:spcPts val="300"/>
              </a:spcAft>
            </a:pPr>
            <a:r>
              <a:rPr sz="1600" b="1">
                <a:solidFill>
                  <a:srgbClr val="161B26"/>
                </a:solidFill>
                <a:latin typeface="Arial"/>
              </a:rPr>
              <a:t>Don't · No correction fluid</a:t>
            </a:r>
          </a:p>
          <a:p>
            <a:pPr algn="l">
              <a:spcAft>
                <a:spcPts val="300"/>
              </a:spcAft>
            </a:pPr>
            <a:r>
              <a:rPr sz="1200" b="0">
                <a:solidFill>
                  <a:srgbClr val="5B6372"/>
                </a:solidFill>
                <a:latin typeface="Arial"/>
              </a:rPr>
              <a:t>No liquid paper or correction tape may be used.</a:t>
            </a:r>
          </a:p>
        </p:txBody>
      </p:sp>
      <p:sp>
        <p:nvSpPr>
          <p:cNvPr id="32" name="Rectangle 31"/>
          <p:cNvSpPr/>
          <p:nvPr/>
        </p:nvSpPr>
        <p:spPr>
          <a:xfrm>
            <a:off x="6231636" y="4855464"/>
            <a:ext cx="5180076" cy="129844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Rectangle 32"/>
          <p:cNvSpPr/>
          <p:nvPr/>
        </p:nvSpPr>
        <p:spPr>
          <a:xfrm>
            <a:off x="6231636" y="4855464"/>
            <a:ext cx="91440" cy="1298448"/>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Oval 33"/>
          <p:cNvSpPr/>
          <p:nvPr/>
        </p:nvSpPr>
        <p:spPr>
          <a:xfrm>
            <a:off x="6487668" y="5230368"/>
            <a:ext cx="548640" cy="548640"/>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TextBox 34"/>
          <p:cNvSpPr txBox="1"/>
          <p:nvPr/>
        </p:nvSpPr>
        <p:spPr>
          <a:xfrm>
            <a:off x="6487668" y="5230368"/>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6</a:t>
            </a:r>
          </a:p>
        </p:txBody>
      </p:sp>
      <p:sp>
        <p:nvSpPr>
          <p:cNvPr id="36" name="TextBox 35"/>
          <p:cNvSpPr txBox="1"/>
          <p:nvPr/>
        </p:nvSpPr>
        <p:spPr>
          <a:xfrm>
            <a:off x="7219188" y="4983480"/>
            <a:ext cx="3973068" cy="1115568"/>
          </a:xfrm>
          <a:prstGeom prst="rect">
            <a:avLst/>
          </a:prstGeom>
          <a:noFill/>
        </p:spPr>
        <p:txBody>
          <a:bodyPr wrap="square" anchor="ctr">
            <a:spAutoFit/>
          </a:bodyPr>
          <a:lstStyle/>
          <a:p>
            <a:pPr algn="l">
              <a:spcAft>
                <a:spcPts val="300"/>
              </a:spcAft>
            </a:pPr>
            <a:r>
              <a:rPr sz="1600" b="1">
                <a:solidFill>
                  <a:srgbClr val="161B26"/>
                </a:solidFill>
                <a:latin typeface="Arial"/>
              </a:rPr>
              <a:t>Do · Stop on time</a:t>
            </a:r>
          </a:p>
          <a:p>
            <a:pPr algn="l">
              <a:spcAft>
                <a:spcPts val="300"/>
              </a:spcAft>
            </a:pPr>
            <a:r>
              <a:rPr sz="1200" b="0">
                <a:solidFill>
                  <a:srgbClr val="5B6372"/>
                </a:solidFill>
                <a:latin typeface="Arial"/>
              </a:rPr>
              <a:t>Scripts are collected when time is up.</a:t>
            </a:r>
          </a:p>
        </p:txBody>
      </p:sp>
      <p:sp>
        <p:nvSpPr>
          <p:cNvPr id="37" name="TextBox 36"/>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Manage AI Agents with Paperclip (TGS-2023036646)  ·  TGS-2023036646</a:t>
            </a:r>
          </a:p>
        </p:txBody>
      </p:sp>
      <p:sp>
        <p:nvSpPr>
          <p:cNvPr id="38" name="TextBox 37"/>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39" name="TextBox 38"/>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100</a:t>
            </a:r>
          </a:p>
        </p:txBody>
      </p:sp>
    </p:spTree>
  </p:cSld>
  <p:clrMapOvr>
    <a:masterClrMapping/>
  </p:clrMapOvr>
  <p:transition spd="fast" advClick="1">
    <p:fade/>
  </p:transition>
</p:sld>
</file>

<file path=ppt/slides/slide10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1F6FEB"/>
                </a:solidFill>
                <a:latin typeface="Arial"/>
              </a:rPr>
              <a:t>WRAP-UP</a:t>
            </a:r>
          </a:p>
        </p:txBody>
      </p:sp>
      <p:sp>
        <p:nvSpPr>
          <p:cNvPr id="5" name="TextBox 4"/>
          <p:cNvSpPr txBox="1"/>
          <p:nvPr/>
        </p:nvSpPr>
        <p:spPr>
          <a:xfrm>
            <a:off x="777240" y="804672"/>
            <a:ext cx="10881360" cy="713232"/>
          </a:xfrm>
          <a:prstGeom prst="rect">
            <a:avLst/>
          </a:prstGeom>
          <a:noFill/>
        </p:spPr>
        <p:txBody>
          <a:bodyPr wrap="square" anchor="ctr">
            <a:spAutoFit/>
          </a:bodyPr>
          <a:lstStyle/>
          <a:p>
            <a:pPr algn="l">
              <a:spcAft>
                <a:spcPts val="400"/>
              </a:spcAft>
            </a:pPr>
            <a:r>
              <a:rPr sz="2900" b="1">
                <a:solidFill>
                  <a:srgbClr val="161B26"/>
                </a:solidFill>
                <a:latin typeface="Arial"/>
              </a:rPr>
              <a:t>Assessment</a:t>
            </a:r>
          </a:p>
        </p:txBody>
      </p:sp>
      <p:sp>
        <p:nvSpPr>
          <p:cNvPr id="6" name="Rectangle 5"/>
          <p:cNvSpPr/>
          <p:nvPr/>
        </p:nvSpPr>
        <p:spPr>
          <a:xfrm>
            <a:off x="777240" y="155448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77240" y="1783080"/>
            <a:ext cx="5180076" cy="2066544"/>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777240" y="1783080"/>
            <a:ext cx="91440" cy="2066544"/>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Oval 8"/>
          <p:cNvSpPr/>
          <p:nvPr/>
        </p:nvSpPr>
        <p:spPr>
          <a:xfrm>
            <a:off x="1033272" y="2542032"/>
            <a:ext cx="548640" cy="548640"/>
          </a:xfrm>
          <a:prstGeom prst="ellipse">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1033272" y="2542032"/>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1</a:t>
            </a:r>
          </a:p>
        </p:txBody>
      </p:sp>
      <p:sp>
        <p:nvSpPr>
          <p:cNvPr id="11" name="TextBox 10"/>
          <p:cNvSpPr txBox="1"/>
          <p:nvPr/>
        </p:nvSpPr>
        <p:spPr>
          <a:xfrm>
            <a:off x="1764792" y="1911096"/>
            <a:ext cx="3973068" cy="1883664"/>
          </a:xfrm>
          <a:prstGeom prst="rect">
            <a:avLst/>
          </a:prstGeom>
          <a:noFill/>
        </p:spPr>
        <p:txBody>
          <a:bodyPr wrap="square" anchor="ctr">
            <a:spAutoFit/>
          </a:bodyPr>
          <a:lstStyle/>
          <a:p>
            <a:pPr algn="l">
              <a:spcAft>
                <a:spcPts val="300"/>
              </a:spcAft>
            </a:pPr>
            <a:r>
              <a:rPr sz="1700" b="1">
                <a:solidFill>
                  <a:srgbClr val="161B26"/>
                </a:solidFill>
                <a:latin typeface="Arial"/>
              </a:rPr>
              <a:t>Written Assessment (SAQ)</a:t>
            </a:r>
          </a:p>
          <a:p>
            <a:pPr algn="l">
              <a:spcAft>
                <a:spcPts val="300"/>
              </a:spcAft>
            </a:pPr>
            <a:r>
              <a:rPr sz="1300" b="0">
                <a:solidFill>
                  <a:srgbClr val="5B6372"/>
                </a:solidFill>
                <a:latin typeface="Arial"/>
              </a:rPr>
              <a:t>5 short-answer knowledge questions · 1 hour · open book.</a:t>
            </a:r>
          </a:p>
        </p:txBody>
      </p:sp>
      <p:sp>
        <p:nvSpPr>
          <p:cNvPr id="12" name="Rectangle 11"/>
          <p:cNvSpPr/>
          <p:nvPr/>
        </p:nvSpPr>
        <p:spPr>
          <a:xfrm>
            <a:off x="6231636" y="1783080"/>
            <a:ext cx="5180076" cy="2066544"/>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6231636" y="1783080"/>
            <a:ext cx="91440" cy="2066544"/>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Oval 13"/>
          <p:cNvSpPr/>
          <p:nvPr/>
        </p:nvSpPr>
        <p:spPr>
          <a:xfrm>
            <a:off x="6487668" y="2542032"/>
            <a:ext cx="548640" cy="548640"/>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487668" y="2542032"/>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2</a:t>
            </a:r>
          </a:p>
        </p:txBody>
      </p:sp>
      <p:sp>
        <p:nvSpPr>
          <p:cNvPr id="16" name="TextBox 15"/>
          <p:cNvSpPr txBox="1"/>
          <p:nvPr/>
        </p:nvSpPr>
        <p:spPr>
          <a:xfrm>
            <a:off x="7219188" y="1911096"/>
            <a:ext cx="3973068" cy="1883664"/>
          </a:xfrm>
          <a:prstGeom prst="rect">
            <a:avLst/>
          </a:prstGeom>
          <a:noFill/>
        </p:spPr>
        <p:txBody>
          <a:bodyPr wrap="square" anchor="ctr">
            <a:spAutoFit/>
          </a:bodyPr>
          <a:lstStyle/>
          <a:p>
            <a:pPr algn="l">
              <a:spcAft>
                <a:spcPts val="300"/>
              </a:spcAft>
            </a:pPr>
            <a:r>
              <a:rPr sz="1700" b="1">
                <a:solidFill>
                  <a:srgbClr val="161B26"/>
                </a:solidFill>
                <a:latin typeface="Arial"/>
              </a:rPr>
              <a:t>Practical Performance (PP)</a:t>
            </a:r>
          </a:p>
          <a:p>
            <a:pPr algn="l">
              <a:spcAft>
                <a:spcPts val="300"/>
              </a:spcAft>
            </a:pPr>
            <a:r>
              <a:rPr sz="1300" b="0">
                <a:solidFill>
                  <a:srgbClr val="5B6372"/>
                </a:solidFill>
                <a:latin typeface="Arial"/>
              </a:rPr>
              <a:t>4 hands-on Paperclip tasks · 1 hour · open book.</a:t>
            </a:r>
          </a:p>
        </p:txBody>
      </p:sp>
      <p:sp>
        <p:nvSpPr>
          <p:cNvPr id="17" name="Rectangle 16"/>
          <p:cNvSpPr/>
          <p:nvPr/>
        </p:nvSpPr>
        <p:spPr>
          <a:xfrm>
            <a:off x="777240" y="4087368"/>
            <a:ext cx="5180076" cy="2066544"/>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777240" y="4087368"/>
            <a:ext cx="91440" cy="2066544"/>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Oval 18"/>
          <p:cNvSpPr/>
          <p:nvPr/>
        </p:nvSpPr>
        <p:spPr>
          <a:xfrm>
            <a:off x="1033272" y="4846320"/>
            <a:ext cx="548640" cy="548640"/>
          </a:xfrm>
          <a:prstGeom prst="ellipse">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1033272" y="4846320"/>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3</a:t>
            </a:r>
          </a:p>
        </p:txBody>
      </p:sp>
      <p:sp>
        <p:nvSpPr>
          <p:cNvPr id="21" name="TextBox 20"/>
          <p:cNvSpPr txBox="1"/>
          <p:nvPr/>
        </p:nvSpPr>
        <p:spPr>
          <a:xfrm>
            <a:off x="1764792" y="4215384"/>
            <a:ext cx="3973068" cy="1883664"/>
          </a:xfrm>
          <a:prstGeom prst="rect">
            <a:avLst/>
          </a:prstGeom>
          <a:noFill/>
        </p:spPr>
        <p:txBody>
          <a:bodyPr wrap="square" anchor="ctr">
            <a:spAutoFit/>
          </a:bodyPr>
          <a:lstStyle/>
          <a:p>
            <a:pPr algn="l">
              <a:spcAft>
                <a:spcPts val="300"/>
              </a:spcAft>
            </a:pPr>
            <a:r>
              <a:rPr sz="1700" b="1">
                <a:solidFill>
                  <a:srgbClr val="161B26"/>
                </a:solidFill>
                <a:latin typeface="Arial"/>
              </a:rPr>
              <a:t>Digital attendance</a:t>
            </a:r>
          </a:p>
          <a:p>
            <a:pPr algn="l">
              <a:spcAft>
                <a:spcPts val="300"/>
              </a:spcAft>
            </a:pPr>
            <a:r>
              <a:rPr sz="1300" b="0">
                <a:solidFill>
                  <a:srgbClr val="5B6372"/>
                </a:solidFill>
                <a:latin typeface="Arial"/>
              </a:rPr>
              <a:t>Remember to take the Assessment digital attendance before you start.</a:t>
            </a:r>
          </a:p>
        </p:txBody>
      </p:sp>
      <p:sp>
        <p:nvSpPr>
          <p:cNvPr id="22" name="Rectangle 21"/>
          <p:cNvSpPr/>
          <p:nvPr/>
        </p:nvSpPr>
        <p:spPr>
          <a:xfrm>
            <a:off x="6231636" y="4087368"/>
            <a:ext cx="5180076" cy="2066544"/>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ectangle 22"/>
          <p:cNvSpPr/>
          <p:nvPr/>
        </p:nvSpPr>
        <p:spPr>
          <a:xfrm>
            <a:off x="6231636" y="4087368"/>
            <a:ext cx="91440" cy="2066544"/>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Oval 23"/>
          <p:cNvSpPr/>
          <p:nvPr/>
        </p:nvSpPr>
        <p:spPr>
          <a:xfrm>
            <a:off x="6487668" y="4846320"/>
            <a:ext cx="548640" cy="548640"/>
          </a:xfrm>
          <a:prstGeom prst="ellipse">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6487668" y="4846320"/>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4</a:t>
            </a:r>
          </a:p>
        </p:txBody>
      </p:sp>
      <p:sp>
        <p:nvSpPr>
          <p:cNvPr id="26" name="TextBox 25"/>
          <p:cNvSpPr txBox="1"/>
          <p:nvPr/>
        </p:nvSpPr>
        <p:spPr>
          <a:xfrm>
            <a:off x="7219188" y="4215384"/>
            <a:ext cx="3973068" cy="1883664"/>
          </a:xfrm>
          <a:prstGeom prst="rect">
            <a:avLst/>
          </a:prstGeom>
          <a:noFill/>
        </p:spPr>
        <p:txBody>
          <a:bodyPr wrap="square" anchor="ctr">
            <a:spAutoFit/>
          </a:bodyPr>
          <a:lstStyle/>
          <a:p>
            <a:pPr algn="l">
              <a:spcAft>
                <a:spcPts val="300"/>
              </a:spcAft>
            </a:pPr>
            <a:r>
              <a:rPr sz="1700" b="1">
                <a:solidFill>
                  <a:srgbClr val="161B26"/>
                </a:solidFill>
                <a:latin typeface="Arial"/>
              </a:rPr>
              <a:t>Submit on the LMS</a:t>
            </a:r>
          </a:p>
          <a:p>
            <a:pPr algn="l">
              <a:spcAft>
                <a:spcPts val="300"/>
              </a:spcAft>
            </a:pPr>
            <a:r>
              <a:rPr sz="1300" b="0">
                <a:solidFill>
                  <a:srgbClr val="5B6372"/>
                </a:solidFill>
                <a:latin typeface="Arial"/>
              </a:rPr>
              <a:t>Upload your completed answers at https://lms-tms.tertiaryinfotech.com/</a:t>
            </a:r>
          </a:p>
        </p:txBody>
      </p:sp>
      <p:sp>
        <p:nvSpPr>
          <p:cNvPr id="27" name="TextBox 26"/>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Manage AI Agents with Paperclip (TGS-2023036646)  ·  TGS-2023036646</a:t>
            </a:r>
          </a:p>
        </p:txBody>
      </p:sp>
      <p:sp>
        <p:nvSpPr>
          <p:cNvPr id="28" name="TextBox 27"/>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29" name="TextBox 28"/>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101</a:t>
            </a:r>
          </a:p>
        </p:txBody>
      </p:sp>
    </p:spTree>
  </p:cSld>
  <p:clrMapOvr>
    <a:masterClrMapping/>
  </p:clrMapOvr>
  <p:transition spd="med" advClick="1">
    <p:push dir="l"/>
  </p:transition>
</p:sld>
</file>

<file path=ppt/slides/slide10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1F6FEB"/>
                </a:solidFill>
                <a:latin typeface="Arial"/>
              </a:rPr>
              <a:t>ON ASSESSMENT DAY</a:t>
            </a:r>
          </a:p>
        </p:txBody>
      </p:sp>
      <p:sp>
        <p:nvSpPr>
          <p:cNvPr id="5" name="TextBox 4"/>
          <p:cNvSpPr txBox="1"/>
          <p:nvPr/>
        </p:nvSpPr>
        <p:spPr>
          <a:xfrm>
            <a:off x="777240" y="804672"/>
            <a:ext cx="10881360" cy="713232"/>
          </a:xfrm>
          <a:prstGeom prst="rect">
            <a:avLst/>
          </a:prstGeom>
          <a:noFill/>
        </p:spPr>
        <p:txBody>
          <a:bodyPr wrap="square" anchor="ctr">
            <a:spAutoFit/>
          </a:bodyPr>
          <a:lstStyle/>
          <a:p>
            <a:pPr algn="l">
              <a:spcAft>
                <a:spcPts val="400"/>
              </a:spcAft>
            </a:pPr>
            <a:r>
              <a:rPr sz="2900" b="1">
                <a:solidFill>
                  <a:srgbClr val="161B26"/>
                </a:solidFill>
                <a:latin typeface="Arial"/>
              </a:rPr>
              <a:t>Assessment Flow</a:t>
            </a:r>
          </a:p>
        </p:txBody>
      </p:sp>
      <p:sp>
        <p:nvSpPr>
          <p:cNvPr id="6" name="Rectangle 5"/>
          <p:cNvSpPr/>
          <p:nvPr/>
        </p:nvSpPr>
        <p:spPr>
          <a:xfrm>
            <a:off x="777240" y="155448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ounded Rectangle 6"/>
          <p:cNvSpPr/>
          <p:nvPr/>
        </p:nvSpPr>
        <p:spPr>
          <a:xfrm>
            <a:off x="777240" y="2148840"/>
            <a:ext cx="1819656" cy="2148840"/>
          </a:xfrm>
          <a:prstGeom prst="roundRect">
            <a:avLst>
              <a:gd name="adj" fmla="val 10000"/>
            </a:avLst>
          </a:prstGeom>
          <a:solidFill>
            <a:srgbClr val="F5F8FC"/>
          </a:solidFill>
          <a:ln w="1587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777240" y="2148840"/>
            <a:ext cx="1819656" cy="100584"/>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Oval 8"/>
          <p:cNvSpPr/>
          <p:nvPr/>
        </p:nvSpPr>
        <p:spPr>
          <a:xfrm>
            <a:off x="1403604" y="2459736"/>
            <a:ext cx="566928" cy="566928"/>
          </a:xfrm>
          <a:prstGeom prst="ellipse">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1403604" y="2459736"/>
            <a:ext cx="566928" cy="566928"/>
          </a:xfrm>
          <a:prstGeom prst="rect">
            <a:avLst/>
          </a:prstGeom>
          <a:noFill/>
        </p:spPr>
        <p:txBody>
          <a:bodyPr wrap="square" anchor="ctr">
            <a:spAutoFit/>
          </a:bodyPr>
          <a:lstStyle/>
          <a:p>
            <a:pPr algn="ctr">
              <a:spcAft>
                <a:spcPts val="400"/>
              </a:spcAft>
            </a:pPr>
            <a:r>
              <a:rPr sz="2400" b="1">
                <a:solidFill>
                  <a:srgbClr val="FFFFFF"/>
                </a:solidFill>
                <a:latin typeface="Arial"/>
              </a:rPr>
              <a:t>1</a:t>
            </a:r>
          </a:p>
        </p:txBody>
      </p:sp>
      <p:sp>
        <p:nvSpPr>
          <p:cNvPr id="11" name="TextBox 10"/>
          <p:cNvSpPr txBox="1"/>
          <p:nvPr/>
        </p:nvSpPr>
        <p:spPr>
          <a:xfrm>
            <a:off x="905256" y="3081528"/>
            <a:ext cx="1563624" cy="786384"/>
          </a:xfrm>
          <a:prstGeom prst="rect">
            <a:avLst/>
          </a:prstGeom>
          <a:noFill/>
        </p:spPr>
        <p:txBody>
          <a:bodyPr wrap="square" anchor="ctr">
            <a:spAutoFit/>
          </a:bodyPr>
          <a:lstStyle/>
          <a:p>
            <a:pPr algn="ctr">
              <a:spcAft>
                <a:spcPts val="0"/>
              </a:spcAft>
            </a:pPr>
            <a:r>
              <a:rPr sz="1300" b="1">
                <a:solidFill>
                  <a:srgbClr val="161B26"/>
                </a:solidFill>
                <a:latin typeface="Arial"/>
              </a:rPr>
              <a:t>TRAQOM survey</a:t>
            </a:r>
          </a:p>
        </p:txBody>
      </p:sp>
      <p:sp>
        <p:nvSpPr>
          <p:cNvPr id="12" name="TextBox 11"/>
          <p:cNvSpPr txBox="1"/>
          <p:nvPr/>
        </p:nvSpPr>
        <p:spPr>
          <a:xfrm>
            <a:off x="850392" y="3584448"/>
            <a:ext cx="1673352" cy="603504"/>
          </a:xfrm>
          <a:prstGeom prst="rect">
            <a:avLst/>
          </a:prstGeom>
          <a:noFill/>
        </p:spPr>
        <p:txBody>
          <a:bodyPr wrap="square" anchor="ctr">
            <a:spAutoFit/>
          </a:bodyPr>
          <a:lstStyle/>
          <a:p>
            <a:pPr algn="ctr">
              <a:spcAft>
                <a:spcPts val="0"/>
              </a:spcAft>
            </a:pPr>
            <a:r>
              <a:rPr sz="900" b="0">
                <a:solidFill>
                  <a:srgbClr val="5B6372"/>
                </a:solidFill>
                <a:latin typeface="Arial"/>
              </a:rPr>
              <a:t>Scan the QR code on the LMS</a:t>
            </a:r>
          </a:p>
        </p:txBody>
      </p:sp>
      <p:cxnSp>
        <p:nvCxnSpPr>
          <p:cNvPr id="13" name="Connector 12"/>
          <p:cNvCxnSpPr/>
          <p:nvPr/>
        </p:nvCxnSpPr>
        <p:spPr>
          <a:xfrm>
            <a:off x="2651760" y="3223260"/>
            <a:ext cx="274320" cy="0"/>
          </a:xfrm>
          <a:prstGeom prst="line">
            <a:avLst/>
          </a:prstGeom>
          <a:ln w="25400">
            <a:solidFill>
              <a:srgbClr val="1F6FEB"/>
            </a:solidFill>
            <a:tailEnd type="triangle" w="med" len="med"/>
          </a:ln>
        </p:spPr>
        <p:style>
          <a:lnRef idx="2">
            <a:schemeClr val="accent1"/>
          </a:lnRef>
          <a:fillRef idx="0">
            <a:schemeClr val="accent1"/>
          </a:fillRef>
          <a:effectRef idx="1">
            <a:schemeClr val="accent1"/>
          </a:effectRef>
          <a:fontRef idx="minor">
            <a:schemeClr val="tx1"/>
          </a:fontRef>
        </p:style>
      </p:cxnSp>
      <p:sp>
        <p:nvSpPr>
          <p:cNvPr id="14" name="Rounded Rectangle 13"/>
          <p:cNvSpPr/>
          <p:nvPr/>
        </p:nvSpPr>
        <p:spPr>
          <a:xfrm>
            <a:off x="2980944" y="2148840"/>
            <a:ext cx="1819656" cy="2148840"/>
          </a:xfrm>
          <a:prstGeom prst="roundRect">
            <a:avLst>
              <a:gd name="adj" fmla="val 10000"/>
            </a:avLst>
          </a:prstGeom>
          <a:solidFill>
            <a:srgbClr val="F5F8FC"/>
          </a:solidFill>
          <a:ln w="1587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2980944" y="2148840"/>
            <a:ext cx="1819656" cy="100584"/>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Oval 15"/>
          <p:cNvSpPr/>
          <p:nvPr/>
        </p:nvSpPr>
        <p:spPr>
          <a:xfrm>
            <a:off x="3607308" y="2459736"/>
            <a:ext cx="566928" cy="566928"/>
          </a:xfrm>
          <a:prstGeom prst="ellipse">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3607308" y="2459736"/>
            <a:ext cx="566928" cy="566928"/>
          </a:xfrm>
          <a:prstGeom prst="rect">
            <a:avLst/>
          </a:prstGeom>
          <a:noFill/>
        </p:spPr>
        <p:txBody>
          <a:bodyPr wrap="square" anchor="ctr">
            <a:spAutoFit/>
          </a:bodyPr>
          <a:lstStyle/>
          <a:p>
            <a:pPr algn="ctr">
              <a:spcAft>
                <a:spcPts val="400"/>
              </a:spcAft>
            </a:pPr>
            <a:r>
              <a:rPr sz="2400" b="1">
                <a:solidFill>
                  <a:srgbClr val="FFFFFF"/>
                </a:solidFill>
                <a:latin typeface="Arial"/>
              </a:rPr>
              <a:t>2</a:t>
            </a:r>
          </a:p>
        </p:txBody>
      </p:sp>
      <p:sp>
        <p:nvSpPr>
          <p:cNvPr id="18" name="TextBox 17"/>
          <p:cNvSpPr txBox="1"/>
          <p:nvPr/>
        </p:nvSpPr>
        <p:spPr>
          <a:xfrm>
            <a:off x="3108960" y="3081528"/>
            <a:ext cx="1563624" cy="786384"/>
          </a:xfrm>
          <a:prstGeom prst="rect">
            <a:avLst/>
          </a:prstGeom>
          <a:noFill/>
        </p:spPr>
        <p:txBody>
          <a:bodyPr wrap="square" anchor="ctr">
            <a:spAutoFit/>
          </a:bodyPr>
          <a:lstStyle/>
          <a:p>
            <a:pPr algn="ctr">
              <a:spcAft>
                <a:spcPts val="0"/>
              </a:spcAft>
            </a:pPr>
            <a:r>
              <a:rPr sz="1300" b="1">
                <a:solidFill>
                  <a:srgbClr val="161B26"/>
                </a:solidFill>
                <a:latin typeface="Arial"/>
              </a:rPr>
              <a:t>Digital attendance</a:t>
            </a:r>
          </a:p>
        </p:txBody>
      </p:sp>
      <p:sp>
        <p:nvSpPr>
          <p:cNvPr id="19" name="TextBox 18"/>
          <p:cNvSpPr txBox="1"/>
          <p:nvPr/>
        </p:nvSpPr>
        <p:spPr>
          <a:xfrm>
            <a:off x="3054096" y="3584448"/>
            <a:ext cx="1673352" cy="603504"/>
          </a:xfrm>
          <a:prstGeom prst="rect">
            <a:avLst/>
          </a:prstGeom>
          <a:noFill/>
        </p:spPr>
        <p:txBody>
          <a:bodyPr wrap="square" anchor="ctr">
            <a:spAutoFit/>
          </a:bodyPr>
          <a:lstStyle/>
          <a:p>
            <a:pPr algn="ctr">
              <a:spcAft>
                <a:spcPts val="0"/>
              </a:spcAft>
            </a:pPr>
            <a:r>
              <a:rPr sz="900" b="0">
                <a:solidFill>
                  <a:srgbClr val="5B6372"/>
                </a:solidFill>
                <a:latin typeface="Arial"/>
              </a:rPr>
              <a:t>Scan the SSG assessment QR</a:t>
            </a:r>
          </a:p>
        </p:txBody>
      </p:sp>
      <p:cxnSp>
        <p:nvCxnSpPr>
          <p:cNvPr id="20" name="Connector 19"/>
          <p:cNvCxnSpPr/>
          <p:nvPr/>
        </p:nvCxnSpPr>
        <p:spPr>
          <a:xfrm>
            <a:off x="4855464" y="3223260"/>
            <a:ext cx="274320" cy="0"/>
          </a:xfrm>
          <a:prstGeom prst="line">
            <a:avLst/>
          </a:prstGeom>
          <a:ln w="25400">
            <a:solidFill>
              <a:srgbClr val="1F6FEB"/>
            </a:solidFill>
            <a:tailEnd type="triangle" w="med" len="med"/>
          </a:ln>
        </p:spPr>
        <p:style>
          <a:lnRef idx="2">
            <a:schemeClr val="accent1"/>
          </a:lnRef>
          <a:fillRef idx="0">
            <a:schemeClr val="accent1"/>
          </a:fillRef>
          <a:effectRef idx="1">
            <a:schemeClr val="accent1"/>
          </a:effectRef>
          <a:fontRef idx="minor">
            <a:schemeClr val="tx1"/>
          </a:fontRef>
        </p:style>
      </p:cxnSp>
      <p:sp>
        <p:nvSpPr>
          <p:cNvPr id="21" name="Rounded Rectangle 20"/>
          <p:cNvSpPr/>
          <p:nvPr/>
        </p:nvSpPr>
        <p:spPr>
          <a:xfrm>
            <a:off x="5184648" y="2148840"/>
            <a:ext cx="1819656" cy="2148840"/>
          </a:xfrm>
          <a:prstGeom prst="roundRect">
            <a:avLst>
              <a:gd name="adj" fmla="val 10000"/>
            </a:avLst>
          </a:prstGeom>
          <a:solidFill>
            <a:srgbClr val="F5F8FC"/>
          </a:solidFill>
          <a:ln w="1587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Rectangle 21"/>
          <p:cNvSpPr/>
          <p:nvPr/>
        </p:nvSpPr>
        <p:spPr>
          <a:xfrm>
            <a:off x="5184648" y="2148840"/>
            <a:ext cx="1819656" cy="100584"/>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Oval 22"/>
          <p:cNvSpPr/>
          <p:nvPr/>
        </p:nvSpPr>
        <p:spPr>
          <a:xfrm>
            <a:off x="5811012" y="2459736"/>
            <a:ext cx="566928" cy="566928"/>
          </a:xfrm>
          <a:prstGeom prst="ellipse">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5811012" y="2459736"/>
            <a:ext cx="566928" cy="566928"/>
          </a:xfrm>
          <a:prstGeom prst="rect">
            <a:avLst/>
          </a:prstGeom>
          <a:noFill/>
        </p:spPr>
        <p:txBody>
          <a:bodyPr wrap="square" anchor="ctr">
            <a:spAutoFit/>
          </a:bodyPr>
          <a:lstStyle/>
          <a:p>
            <a:pPr algn="ctr">
              <a:spcAft>
                <a:spcPts val="400"/>
              </a:spcAft>
            </a:pPr>
            <a:r>
              <a:rPr sz="2400" b="1">
                <a:solidFill>
                  <a:srgbClr val="FFFFFF"/>
                </a:solidFill>
                <a:latin typeface="Arial"/>
              </a:rPr>
              <a:t>3</a:t>
            </a:r>
          </a:p>
        </p:txBody>
      </p:sp>
      <p:sp>
        <p:nvSpPr>
          <p:cNvPr id="25" name="TextBox 24"/>
          <p:cNvSpPr txBox="1"/>
          <p:nvPr/>
        </p:nvSpPr>
        <p:spPr>
          <a:xfrm>
            <a:off x="5312664" y="3081528"/>
            <a:ext cx="1563624" cy="786384"/>
          </a:xfrm>
          <a:prstGeom prst="rect">
            <a:avLst/>
          </a:prstGeom>
          <a:noFill/>
        </p:spPr>
        <p:txBody>
          <a:bodyPr wrap="square" anchor="ctr">
            <a:spAutoFit/>
          </a:bodyPr>
          <a:lstStyle/>
          <a:p>
            <a:pPr algn="ctr">
              <a:spcAft>
                <a:spcPts val="0"/>
              </a:spcAft>
            </a:pPr>
            <a:r>
              <a:rPr sz="1300" b="1">
                <a:solidFill>
                  <a:srgbClr val="161B26"/>
                </a:solidFill>
                <a:latin typeface="Arial"/>
              </a:rPr>
              <a:t>Sit WA then PP</a:t>
            </a:r>
          </a:p>
        </p:txBody>
      </p:sp>
      <p:sp>
        <p:nvSpPr>
          <p:cNvPr id="26" name="TextBox 25"/>
          <p:cNvSpPr txBox="1"/>
          <p:nvPr/>
        </p:nvSpPr>
        <p:spPr>
          <a:xfrm>
            <a:off x="5257800" y="3584448"/>
            <a:ext cx="1673352" cy="603504"/>
          </a:xfrm>
          <a:prstGeom prst="rect">
            <a:avLst/>
          </a:prstGeom>
          <a:noFill/>
        </p:spPr>
        <p:txBody>
          <a:bodyPr wrap="square" anchor="ctr">
            <a:spAutoFit/>
          </a:bodyPr>
          <a:lstStyle/>
          <a:p>
            <a:pPr algn="ctr">
              <a:spcAft>
                <a:spcPts val="0"/>
              </a:spcAft>
            </a:pPr>
            <a:r>
              <a:rPr sz="900" b="0">
                <a:solidFill>
                  <a:srgbClr val="5B6372"/>
                </a:solidFill>
                <a:latin typeface="Arial"/>
              </a:rPr>
              <a:t>Open book · 1 hour each</a:t>
            </a:r>
          </a:p>
        </p:txBody>
      </p:sp>
      <p:cxnSp>
        <p:nvCxnSpPr>
          <p:cNvPr id="27" name="Connector 26"/>
          <p:cNvCxnSpPr/>
          <p:nvPr/>
        </p:nvCxnSpPr>
        <p:spPr>
          <a:xfrm>
            <a:off x="7059168" y="3223260"/>
            <a:ext cx="274320" cy="0"/>
          </a:xfrm>
          <a:prstGeom prst="line">
            <a:avLst/>
          </a:prstGeom>
          <a:ln w="25400">
            <a:solidFill>
              <a:srgbClr val="1F6FEB"/>
            </a:solidFill>
            <a:tailEnd type="triangle" w="med" len="med"/>
          </a:ln>
        </p:spPr>
        <p:style>
          <a:lnRef idx="2">
            <a:schemeClr val="accent1"/>
          </a:lnRef>
          <a:fillRef idx="0">
            <a:schemeClr val="accent1"/>
          </a:fillRef>
          <a:effectRef idx="1">
            <a:schemeClr val="accent1"/>
          </a:effectRef>
          <a:fontRef idx="minor">
            <a:schemeClr val="tx1"/>
          </a:fontRef>
        </p:style>
      </p:cxnSp>
      <p:sp>
        <p:nvSpPr>
          <p:cNvPr id="28" name="Rounded Rectangle 27"/>
          <p:cNvSpPr/>
          <p:nvPr/>
        </p:nvSpPr>
        <p:spPr>
          <a:xfrm>
            <a:off x="7388352" y="2148840"/>
            <a:ext cx="1819656" cy="2148840"/>
          </a:xfrm>
          <a:prstGeom prst="roundRect">
            <a:avLst>
              <a:gd name="adj" fmla="val 10000"/>
            </a:avLst>
          </a:prstGeom>
          <a:solidFill>
            <a:srgbClr val="F5F8FC"/>
          </a:solidFill>
          <a:ln w="1587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Rectangle 28"/>
          <p:cNvSpPr/>
          <p:nvPr/>
        </p:nvSpPr>
        <p:spPr>
          <a:xfrm>
            <a:off x="7388352" y="2148840"/>
            <a:ext cx="1819656" cy="100584"/>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Oval 29"/>
          <p:cNvSpPr/>
          <p:nvPr/>
        </p:nvSpPr>
        <p:spPr>
          <a:xfrm>
            <a:off x="8014716" y="2459736"/>
            <a:ext cx="566928" cy="566928"/>
          </a:xfrm>
          <a:prstGeom prst="ellipse">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TextBox 30"/>
          <p:cNvSpPr txBox="1"/>
          <p:nvPr/>
        </p:nvSpPr>
        <p:spPr>
          <a:xfrm>
            <a:off x="8014716" y="2459736"/>
            <a:ext cx="566928" cy="566928"/>
          </a:xfrm>
          <a:prstGeom prst="rect">
            <a:avLst/>
          </a:prstGeom>
          <a:noFill/>
        </p:spPr>
        <p:txBody>
          <a:bodyPr wrap="square" anchor="ctr">
            <a:spAutoFit/>
          </a:bodyPr>
          <a:lstStyle/>
          <a:p>
            <a:pPr algn="ctr">
              <a:spcAft>
                <a:spcPts val="400"/>
              </a:spcAft>
            </a:pPr>
            <a:r>
              <a:rPr sz="2400" b="1">
                <a:solidFill>
                  <a:srgbClr val="FFFFFF"/>
                </a:solidFill>
                <a:latin typeface="Arial"/>
              </a:rPr>
              <a:t>4</a:t>
            </a:r>
          </a:p>
        </p:txBody>
      </p:sp>
      <p:sp>
        <p:nvSpPr>
          <p:cNvPr id="32" name="TextBox 31"/>
          <p:cNvSpPr txBox="1"/>
          <p:nvPr/>
        </p:nvSpPr>
        <p:spPr>
          <a:xfrm>
            <a:off x="7516368" y="3081528"/>
            <a:ext cx="1563624" cy="786384"/>
          </a:xfrm>
          <a:prstGeom prst="rect">
            <a:avLst/>
          </a:prstGeom>
          <a:noFill/>
        </p:spPr>
        <p:txBody>
          <a:bodyPr wrap="square" anchor="ctr">
            <a:spAutoFit/>
          </a:bodyPr>
          <a:lstStyle/>
          <a:p>
            <a:pPr algn="ctr">
              <a:spcAft>
                <a:spcPts val="0"/>
              </a:spcAft>
            </a:pPr>
            <a:r>
              <a:rPr sz="1300" b="1">
                <a:solidFill>
                  <a:srgbClr val="161B26"/>
                </a:solidFill>
                <a:latin typeface="Arial"/>
              </a:rPr>
              <a:t>Submit on the LMS</a:t>
            </a:r>
          </a:p>
        </p:txBody>
      </p:sp>
      <p:sp>
        <p:nvSpPr>
          <p:cNvPr id="33" name="TextBox 32"/>
          <p:cNvSpPr txBox="1"/>
          <p:nvPr/>
        </p:nvSpPr>
        <p:spPr>
          <a:xfrm>
            <a:off x="7461504" y="3584448"/>
            <a:ext cx="1673352" cy="603504"/>
          </a:xfrm>
          <a:prstGeom prst="rect">
            <a:avLst/>
          </a:prstGeom>
          <a:noFill/>
        </p:spPr>
        <p:txBody>
          <a:bodyPr wrap="square" anchor="ctr">
            <a:spAutoFit/>
          </a:bodyPr>
          <a:lstStyle/>
          <a:p>
            <a:pPr algn="ctr">
              <a:spcAft>
                <a:spcPts val="0"/>
              </a:spcAft>
            </a:pPr>
            <a:r>
              <a:rPr sz="900" b="0">
                <a:solidFill>
                  <a:srgbClr val="5B6372"/>
                </a:solidFill>
                <a:latin typeface="Arial"/>
              </a:rPr>
              <a:t>Upload your completed answers</a:t>
            </a:r>
          </a:p>
        </p:txBody>
      </p:sp>
      <p:cxnSp>
        <p:nvCxnSpPr>
          <p:cNvPr id="34" name="Connector 33"/>
          <p:cNvCxnSpPr/>
          <p:nvPr/>
        </p:nvCxnSpPr>
        <p:spPr>
          <a:xfrm>
            <a:off x="9262872" y="3223260"/>
            <a:ext cx="274320" cy="0"/>
          </a:xfrm>
          <a:prstGeom prst="line">
            <a:avLst/>
          </a:prstGeom>
          <a:ln w="25400">
            <a:solidFill>
              <a:srgbClr val="1F6FEB"/>
            </a:solidFill>
            <a:tailEnd type="triangle" w="med" len="med"/>
          </a:ln>
        </p:spPr>
        <p:style>
          <a:lnRef idx="2">
            <a:schemeClr val="accent1"/>
          </a:lnRef>
          <a:fillRef idx="0">
            <a:schemeClr val="accent1"/>
          </a:fillRef>
          <a:effectRef idx="1">
            <a:schemeClr val="accent1"/>
          </a:effectRef>
          <a:fontRef idx="minor">
            <a:schemeClr val="tx1"/>
          </a:fontRef>
        </p:style>
      </p:cxnSp>
      <p:sp>
        <p:nvSpPr>
          <p:cNvPr id="35" name="Rounded Rectangle 34"/>
          <p:cNvSpPr/>
          <p:nvPr/>
        </p:nvSpPr>
        <p:spPr>
          <a:xfrm>
            <a:off x="9592056" y="2148840"/>
            <a:ext cx="1819656" cy="2148840"/>
          </a:xfrm>
          <a:prstGeom prst="roundRect">
            <a:avLst>
              <a:gd name="adj" fmla="val 10000"/>
            </a:avLst>
          </a:prstGeom>
          <a:solidFill>
            <a:srgbClr val="F5F8FC"/>
          </a:solidFill>
          <a:ln w="1587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 name="Rectangle 35"/>
          <p:cNvSpPr/>
          <p:nvPr/>
        </p:nvSpPr>
        <p:spPr>
          <a:xfrm>
            <a:off x="9592056" y="2148840"/>
            <a:ext cx="1819656" cy="100584"/>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 name="Oval 36"/>
          <p:cNvSpPr/>
          <p:nvPr/>
        </p:nvSpPr>
        <p:spPr>
          <a:xfrm>
            <a:off x="10218420" y="2459736"/>
            <a:ext cx="566928" cy="566928"/>
          </a:xfrm>
          <a:prstGeom prst="ellipse">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 name="TextBox 37"/>
          <p:cNvSpPr txBox="1"/>
          <p:nvPr/>
        </p:nvSpPr>
        <p:spPr>
          <a:xfrm>
            <a:off x="10218420" y="2459736"/>
            <a:ext cx="566928" cy="566928"/>
          </a:xfrm>
          <a:prstGeom prst="rect">
            <a:avLst/>
          </a:prstGeom>
          <a:noFill/>
        </p:spPr>
        <p:txBody>
          <a:bodyPr wrap="square" anchor="ctr">
            <a:spAutoFit/>
          </a:bodyPr>
          <a:lstStyle/>
          <a:p>
            <a:pPr algn="ctr">
              <a:spcAft>
                <a:spcPts val="400"/>
              </a:spcAft>
            </a:pPr>
            <a:r>
              <a:rPr sz="2400" b="1">
                <a:solidFill>
                  <a:srgbClr val="FFFFFF"/>
                </a:solidFill>
                <a:latin typeface="Arial"/>
              </a:rPr>
              <a:t>5</a:t>
            </a:r>
          </a:p>
        </p:txBody>
      </p:sp>
      <p:sp>
        <p:nvSpPr>
          <p:cNvPr id="39" name="TextBox 38"/>
          <p:cNvSpPr txBox="1"/>
          <p:nvPr/>
        </p:nvSpPr>
        <p:spPr>
          <a:xfrm>
            <a:off x="9720072" y="3081528"/>
            <a:ext cx="1563624" cy="786384"/>
          </a:xfrm>
          <a:prstGeom prst="rect">
            <a:avLst/>
          </a:prstGeom>
          <a:noFill/>
        </p:spPr>
        <p:txBody>
          <a:bodyPr wrap="square" anchor="ctr">
            <a:spAutoFit/>
          </a:bodyPr>
          <a:lstStyle/>
          <a:p>
            <a:pPr algn="ctr">
              <a:spcAft>
                <a:spcPts val="0"/>
              </a:spcAft>
            </a:pPr>
            <a:r>
              <a:rPr sz="1300" b="1">
                <a:solidFill>
                  <a:srgbClr val="161B26"/>
                </a:solidFill>
                <a:latin typeface="Arial"/>
              </a:rPr>
              <a:t>Sign the record</a:t>
            </a:r>
          </a:p>
        </p:txBody>
      </p:sp>
      <p:sp>
        <p:nvSpPr>
          <p:cNvPr id="40" name="TextBox 39"/>
          <p:cNvSpPr txBox="1"/>
          <p:nvPr/>
        </p:nvSpPr>
        <p:spPr>
          <a:xfrm>
            <a:off x="9665208" y="3584448"/>
            <a:ext cx="1673352" cy="603504"/>
          </a:xfrm>
          <a:prstGeom prst="rect">
            <a:avLst/>
          </a:prstGeom>
          <a:noFill/>
        </p:spPr>
        <p:txBody>
          <a:bodyPr wrap="square" anchor="ctr">
            <a:spAutoFit/>
          </a:bodyPr>
          <a:lstStyle/>
          <a:p>
            <a:pPr algn="ctr">
              <a:spcAft>
                <a:spcPts val="0"/>
              </a:spcAft>
            </a:pPr>
            <a:r>
              <a:rPr sz="900" b="0">
                <a:solidFill>
                  <a:srgbClr val="5B6372"/>
                </a:solidFill>
                <a:latin typeface="Arial"/>
              </a:rPr>
              <a:t>Sign the Assessment Summary Record</a:t>
            </a:r>
          </a:p>
        </p:txBody>
      </p:sp>
      <p:sp>
        <p:nvSpPr>
          <p:cNvPr id="41" name="Rectangle 40"/>
          <p:cNvSpPr/>
          <p:nvPr/>
        </p:nvSpPr>
        <p:spPr>
          <a:xfrm>
            <a:off x="777240" y="4608576"/>
            <a:ext cx="10634472" cy="105156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2" name="Rectangle 41"/>
          <p:cNvSpPr/>
          <p:nvPr/>
        </p:nvSpPr>
        <p:spPr>
          <a:xfrm>
            <a:off x="777240" y="4608576"/>
            <a:ext cx="100584" cy="105156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3" name="TextBox 42"/>
          <p:cNvSpPr txBox="1"/>
          <p:nvPr/>
        </p:nvSpPr>
        <p:spPr>
          <a:xfrm>
            <a:off x="1051560" y="4718304"/>
            <a:ext cx="10149840" cy="292608"/>
          </a:xfrm>
          <a:prstGeom prst="rect">
            <a:avLst/>
          </a:prstGeom>
          <a:noFill/>
        </p:spPr>
        <p:txBody>
          <a:bodyPr wrap="square" anchor="t">
            <a:spAutoFit/>
          </a:bodyPr>
          <a:lstStyle/>
          <a:p>
            <a:pPr algn="l">
              <a:spcAft>
                <a:spcPts val="400"/>
              </a:spcAft>
            </a:pPr>
            <a:r>
              <a:rPr sz="1100" b="1">
                <a:solidFill>
                  <a:srgbClr val="1F6FEB"/>
                </a:solidFill>
                <a:latin typeface="Arial"/>
              </a:rPr>
              <a:t>REMEMBER</a:t>
            </a:r>
          </a:p>
        </p:txBody>
      </p:sp>
      <p:sp>
        <p:nvSpPr>
          <p:cNvPr id="44" name="TextBox 43"/>
          <p:cNvSpPr txBox="1"/>
          <p:nvPr/>
        </p:nvSpPr>
        <p:spPr>
          <a:xfrm>
            <a:off x="1051560" y="5029200"/>
            <a:ext cx="10149840" cy="566928"/>
          </a:xfrm>
          <a:prstGeom prst="rect">
            <a:avLst/>
          </a:prstGeom>
          <a:noFill/>
        </p:spPr>
        <p:txBody>
          <a:bodyPr wrap="square" anchor="t">
            <a:spAutoFit/>
          </a:bodyPr>
          <a:lstStyle/>
          <a:p>
            <a:pPr algn="l">
              <a:spcAft>
                <a:spcPts val="400"/>
              </a:spcAft>
            </a:pPr>
            <a:r>
              <a:rPr sz="1300" b="0">
                <a:solidFill>
                  <a:srgbClr val="161B26"/>
                </a:solidFill>
                <a:latin typeface="Arial"/>
              </a:rPr>
              <a:t>All five steps are mandatory for WSQ funding — missing the digital attendance or the TRAQOM survey can invalidate your claim.</a:t>
            </a:r>
          </a:p>
        </p:txBody>
      </p:sp>
      <p:sp>
        <p:nvSpPr>
          <p:cNvPr id="95" name="TextBox 94"/>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Manage AI Agents with Paperclip (TGS-2023036646)  ·  TGS-2023036646</a:t>
            </a:r>
          </a:p>
        </p:txBody>
      </p:sp>
      <p:sp>
        <p:nvSpPr>
          <p:cNvPr id="96" name="TextBox 95"/>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97" name="TextBox 96"/>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102</a:t>
            </a:r>
          </a:p>
        </p:txBody>
      </p:sp>
    </p:spTree>
  </p:cSld>
  <p:clrMapOvr>
    <a:masterClrMapping/>
  </p:clrMapOvr>
  <p:timing>
    <p:tnLst>
      <p:par>
        <p:cTn id="1" dur="indefinite" restart="never" nodeType="tmRoot">
          <p:childTnLst>
            <p:seq concurrent="1" nextAc="seek">
              <p:cTn id="2" dur="indefinite" nodeType="mainSeq">
                <p:childTnLst>
                  <p:par>
                    <p:cTn id="10" fill="hold">
                      <p:stCondLst>
                        <p:cond delay="indefinite"/>
                      </p:stCondLst>
                      <p:childTnLst>
                        <p:par>
                          <p:cTn id="11" fill="hold">
                            <p:stCondLst>
                              <p:cond delay="0"/>
                            </p:stCondLst>
                            <p:childTnLst>
                              <p:par>
                                <p:cTn id="12" presetID="1" presetClass="entr" presetSubtype="0" fill="hold" nodeType="clickEffect">
                                  <p:stCondLst>
                                    <p:cond delay="0"/>
                                  </p:stCondLst>
                                  <p:childTnLst>
                                    <p:set>
                                      <p:cBhvr>
                                        <p:cTn id="13" dur="1" fill="hold">
                                          <p:stCondLst>
                                            <p:cond delay="0"/>
                                          </p:stCondLst>
                                        </p:cTn>
                                        <p:tgtEl>
                                          <p:spTgt spid="7"/>
                                        </p:tgtEl>
                                        <p:attrNameLst>
                                          <p:attrName>style.visibility</p:attrName>
                                        </p:attrNameLst>
                                      </p:cBhvr>
                                      <p:to>
                                        <p:strVal val="visible"/>
                                      </p:to>
                                    </p:set>
                                    <p:animEffect transition="in" filter="fade">
                                      <p:cBhvr>
                                        <p:cTn id="14" dur="400"/>
                                        <p:tgtEl>
                                          <p:spTgt spid="7"/>
                                        </p:tgtEl>
                                      </p:cBhvr>
                                    </p:animEffect>
                                  </p:childTnLst>
                                </p:cTn>
                              </p:par>
                            </p:childTnLst>
                          </p:cTn>
                        </p:par>
                      </p:childTnLst>
                    </p:cTn>
                  </p:par>
                  <p:par>
                    <p:cTn id="20" fill="hold">
                      <p:stCondLst>
                        <p:cond delay="indefinite"/>
                      </p:stCondLst>
                      <p:childTnLst>
                        <p:par>
                          <p:cTn id="21" fill="hold">
                            <p:stCondLst>
                              <p:cond delay="0"/>
                            </p:stCondLst>
                            <p:childTnLst>
                              <p:par>
                                <p:cTn id="22" presetID="1" presetClass="entr" presetSubtype="0" fill="hold" nodeType="afterEffect">
                                  <p:stCondLst>
                                    <p:cond delay="0"/>
                                  </p:stCondLst>
                                  <p:childTnLst>
                                    <p:set>
                                      <p:cBhvr>
                                        <p:cTn id="23" dur="1" fill="hold">
                                          <p:stCondLst>
                                            <p:cond delay="0"/>
                                          </p:stCondLst>
                                        </p:cTn>
                                        <p:tgtEl>
                                          <p:spTgt spid="13"/>
                                        </p:tgtEl>
                                        <p:attrNameLst>
                                          <p:attrName>style.visibility</p:attrName>
                                        </p:attrNameLst>
                                      </p:cBhvr>
                                      <p:to>
                                        <p:strVal val="visible"/>
                                      </p:to>
                                    </p:set>
                                    <p:animEffect transition="in" filter="fade">
                                      <p:cBhvr>
                                        <p:cTn id="24" dur="400"/>
                                        <p:tgtEl>
                                          <p:spTgt spid="13"/>
                                        </p:tgtEl>
                                      </p:cBhvr>
                                    </p:animEffect>
                                  </p:childTnLst>
                                </p:cTn>
                              </p:par>
                            </p:childTnLst>
                          </p:cTn>
                        </p:par>
                      </p:childTnLst>
                    </p:cTn>
                  </p:par>
                  <p:par>
                    <p:cTn id="30" fill="hold">
                      <p:stCondLst>
                        <p:cond delay="indefinite"/>
                      </p:stCondLst>
                      <p:childTnLst>
                        <p:par>
                          <p:cTn id="31" fill="hold">
                            <p:stCondLst>
                              <p:cond delay="0"/>
                            </p:stCondLst>
                            <p:childTnLst>
                              <p:par>
                                <p:cTn id="32" presetID="1" presetClass="entr" presetSubtype="0" fill="hold" nodeType="afterEffect">
                                  <p:stCondLst>
                                    <p:cond delay="0"/>
                                  </p:stCondLst>
                                  <p:childTnLst>
                                    <p:set>
                                      <p:cBhvr>
                                        <p:cTn id="33" dur="1" fill="hold">
                                          <p:stCondLst>
                                            <p:cond delay="0"/>
                                          </p:stCondLst>
                                        </p:cTn>
                                        <p:tgtEl>
                                          <p:spTgt spid="14"/>
                                        </p:tgtEl>
                                        <p:attrNameLst>
                                          <p:attrName>style.visibility</p:attrName>
                                        </p:attrNameLst>
                                      </p:cBhvr>
                                      <p:to>
                                        <p:strVal val="visible"/>
                                      </p:to>
                                    </p:set>
                                    <p:animEffect transition="in" filter="fade">
                                      <p:cBhvr>
                                        <p:cTn id="34" dur="400"/>
                                        <p:tgtEl>
                                          <p:spTgt spid="14"/>
                                        </p:tgtEl>
                                      </p:cBhvr>
                                    </p:animEffect>
                                  </p:childTnLst>
                                </p:cTn>
                              </p:par>
                            </p:childTnLst>
                          </p:cTn>
                        </p:par>
                      </p:childTnLst>
                    </p:cTn>
                  </p:par>
                  <p:par>
                    <p:cTn id="40" fill="hold">
                      <p:stCondLst>
                        <p:cond delay="indefinite"/>
                      </p:stCondLst>
                      <p:childTnLst>
                        <p:par>
                          <p:cTn id="41" fill="hold">
                            <p:stCondLst>
                              <p:cond delay="0"/>
                            </p:stCondLst>
                            <p:childTnLst>
                              <p:par>
                                <p:cTn id="42" presetID="1" presetClass="entr" presetSubtype="0" fill="hold" nodeType="afterEffect">
                                  <p:stCondLst>
                                    <p:cond delay="0"/>
                                  </p:stCondLst>
                                  <p:childTnLst>
                                    <p:set>
                                      <p:cBhvr>
                                        <p:cTn id="43" dur="1" fill="hold">
                                          <p:stCondLst>
                                            <p:cond delay="0"/>
                                          </p:stCondLst>
                                        </p:cTn>
                                        <p:tgtEl>
                                          <p:spTgt spid="20"/>
                                        </p:tgtEl>
                                        <p:attrNameLst>
                                          <p:attrName>style.visibility</p:attrName>
                                        </p:attrNameLst>
                                      </p:cBhvr>
                                      <p:to>
                                        <p:strVal val="visible"/>
                                      </p:to>
                                    </p:set>
                                    <p:animEffect transition="in" filter="fade">
                                      <p:cBhvr>
                                        <p:cTn id="44" dur="400"/>
                                        <p:tgtEl>
                                          <p:spTgt spid="20"/>
                                        </p:tgtEl>
                                      </p:cBhvr>
                                    </p:animEffect>
                                  </p:childTnLst>
                                </p:cTn>
                              </p:par>
                            </p:childTnLst>
                          </p:cTn>
                        </p:par>
                      </p:childTnLst>
                    </p:cTn>
                  </p:par>
                  <p:par>
                    <p:cTn id="50" fill="hold">
                      <p:stCondLst>
                        <p:cond delay="indefinite"/>
                      </p:stCondLst>
                      <p:childTnLst>
                        <p:par>
                          <p:cTn id="51" fill="hold">
                            <p:stCondLst>
                              <p:cond delay="0"/>
                            </p:stCondLst>
                            <p:childTnLst>
                              <p:par>
                                <p:cTn id="52" presetID="1" presetClass="entr" presetSubtype="0" fill="hold" nodeType="afterEffect">
                                  <p:stCondLst>
                                    <p:cond delay="0"/>
                                  </p:stCondLst>
                                  <p:childTnLst>
                                    <p:set>
                                      <p:cBhvr>
                                        <p:cTn id="53" dur="1" fill="hold">
                                          <p:stCondLst>
                                            <p:cond delay="0"/>
                                          </p:stCondLst>
                                        </p:cTn>
                                        <p:tgtEl>
                                          <p:spTgt spid="21"/>
                                        </p:tgtEl>
                                        <p:attrNameLst>
                                          <p:attrName>style.visibility</p:attrName>
                                        </p:attrNameLst>
                                      </p:cBhvr>
                                      <p:to>
                                        <p:strVal val="visible"/>
                                      </p:to>
                                    </p:set>
                                    <p:animEffect transition="in" filter="fade">
                                      <p:cBhvr>
                                        <p:cTn id="54" dur="400"/>
                                        <p:tgtEl>
                                          <p:spTgt spid="21"/>
                                        </p:tgtEl>
                                      </p:cBhvr>
                                    </p:animEffect>
                                  </p:childTnLst>
                                </p:cTn>
                              </p:par>
                            </p:childTnLst>
                          </p:cTn>
                        </p:par>
                      </p:childTnLst>
                    </p:cTn>
                  </p:par>
                  <p:par>
                    <p:cTn id="60" fill="hold">
                      <p:stCondLst>
                        <p:cond delay="indefinite"/>
                      </p:stCondLst>
                      <p:childTnLst>
                        <p:par>
                          <p:cTn id="61" fill="hold">
                            <p:stCondLst>
                              <p:cond delay="0"/>
                            </p:stCondLst>
                            <p:childTnLst>
                              <p:par>
                                <p:cTn id="62" presetID="1" presetClass="entr" presetSubtype="0" fill="hold" nodeType="afterEffect">
                                  <p:stCondLst>
                                    <p:cond delay="0"/>
                                  </p:stCondLst>
                                  <p:childTnLst>
                                    <p:set>
                                      <p:cBhvr>
                                        <p:cTn id="63" dur="1" fill="hold">
                                          <p:stCondLst>
                                            <p:cond delay="0"/>
                                          </p:stCondLst>
                                        </p:cTn>
                                        <p:tgtEl>
                                          <p:spTgt spid="27"/>
                                        </p:tgtEl>
                                        <p:attrNameLst>
                                          <p:attrName>style.visibility</p:attrName>
                                        </p:attrNameLst>
                                      </p:cBhvr>
                                      <p:to>
                                        <p:strVal val="visible"/>
                                      </p:to>
                                    </p:set>
                                    <p:animEffect transition="in" filter="fade">
                                      <p:cBhvr>
                                        <p:cTn id="64" dur="400"/>
                                        <p:tgtEl>
                                          <p:spTgt spid="27"/>
                                        </p:tgtEl>
                                      </p:cBhvr>
                                    </p:animEffect>
                                  </p:childTnLst>
                                </p:cTn>
                              </p:par>
                            </p:childTnLst>
                          </p:cTn>
                        </p:par>
                      </p:childTnLst>
                    </p:cTn>
                  </p:par>
                  <p:par>
                    <p:cTn id="70" fill="hold">
                      <p:stCondLst>
                        <p:cond delay="indefinite"/>
                      </p:stCondLst>
                      <p:childTnLst>
                        <p:par>
                          <p:cTn id="71" fill="hold">
                            <p:stCondLst>
                              <p:cond delay="0"/>
                            </p:stCondLst>
                            <p:childTnLst>
                              <p:par>
                                <p:cTn id="72" presetID="1" presetClass="entr" presetSubtype="0" fill="hold" nodeType="afterEffect">
                                  <p:stCondLst>
                                    <p:cond delay="0"/>
                                  </p:stCondLst>
                                  <p:childTnLst>
                                    <p:set>
                                      <p:cBhvr>
                                        <p:cTn id="73" dur="1" fill="hold">
                                          <p:stCondLst>
                                            <p:cond delay="0"/>
                                          </p:stCondLst>
                                        </p:cTn>
                                        <p:tgtEl>
                                          <p:spTgt spid="28"/>
                                        </p:tgtEl>
                                        <p:attrNameLst>
                                          <p:attrName>style.visibility</p:attrName>
                                        </p:attrNameLst>
                                      </p:cBhvr>
                                      <p:to>
                                        <p:strVal val="visible"/>
                                      </p:to>
                                    </p:set>
                                    <p:animEffect transition="in" filter="fade">
                                      <p:cBhvr>
                                        <p:cTn id="74" dur="400"/>
                                        <p:tgtEl>
                                          <p:spTgt spid="28"/>
                                        </p:tgtEl>
                                      </p:cBhvr>
                                    </p:animEffect>
                                  </p:childTnLst>
                                </p:cTn>
                              </p:par>
                            </p:childTnLst>
                          </p:cTn>
                        </p:par>
                      </p:childTnLst>
                    </p:cTn>
                  </p:par>
                  <p:par>
                    <p:cTn id="80" fill="hold">
                      <p:stCondLst>
                        <p:cond delay="indefinite"/>
                      </p:stCondLst>
                      <p:childTnLst>
                        <p:par>
                          <p:cTn id="81" fill="hold">
                            <p:stCondLst>
                              <p:cond delay="0"/>
                            </p:stCondLst>
                            <p:childTnLst>
                              <p:par>
                                <p:cTn id="82" presetID="1" presetClass="entr" presetSubtype="0" fill="hold" nodeType="afterEffect">
                                  <p:stCondLst>
                                    <p:cond delay="0"/>
                                  </p:stCondLst>
                                  <p:childTnLst>
                                    <p:set>
                                      <p:cBhvr>
                                        <p:cTn id="83" dur="1" fill="hold">
                                          <p:stCondLst>
                                            <p:cond delay="0"/>
                                          </p:stCondLst>
                                        </p:cTn>
                                        <p:tgtEl>
                                          <p:spTgt spid="34"/>
                                        </p:tgtEl>
                                        <p:attrNameLst>
                                          <p:attrName>style.visibility</p:attrName>
                                        </p:attrNameLst>
                                      </p:cBhvr>
                                      <p:to>
                                        <p:strVal val="visible"/>
                                      </p:to>
                                    </p:set>
                                    <p:animEffect transition="in" filter="fade">
                                      <p:cBhvr>
                                        <p:cTn id="84" dur="400"/>
                                        <p:tgtEl>
                                          <p:spTgt spid="34"/>
                                        </p:tgtEl>
                                      </p:cBhvr>
                                    </p:animEffect>
                                  </p:childTnLst>
                                </p:cTn>
                              </p:par>
                            </p:childTnLst>
                          </p:cTn>
                        </p:par>
                      </p:childTnLst>
                    </p:cTn>
                  </p:par>
                  <p:par>
                    <p:cTn id="90" fill="hold">
                      <p:stCondLst>
                        <p:cond delay="indefinite"/>
                      </p:stCondLst>
                      <p:childTnLst>
                        <p:par>
                          <p:cTn id="91" fill="hold">
                            <p:stCondLst>
                              <p:cond delay="0"/>
                            </p:stCondLst>
                            <p:childTnLst>
                              <p:par>
                                <p:cTn id="92" presetID="1" presetClass="entr" presetSubtype="0" fill="hold" nodeType="afterEffect">
                                  <p:stCondLst>
                                    <p:cond delay="0"/>
                                  </p:stCondLst>
                                  <p:childTnLst>
                                    <p:set>
                                      <p:cBhvr>
                                        <p:cTn id="93" dur="1" fill="hold">
                                          <p:stCondLst>
                                            <p:cond delay="0"/>
                                          </p:stCondLst>
                                        </p:cTn>
                                        <p:tgtEl>
                                          <p:spTgt spid="35"/>
                                        </p:tgtEl>
                                        <p:attrNameLst>
                                          <p:attrName>style.visibility</p:attrName>
                                        </p:attrNameLst>
                                      </p:cBhvr>
                                      <p:to>
                                        <p:strVal val="visible"/>
                                      </p:to>
                                    </p:set>
                                    <p:animEffect transition="in" filter="fade">
                                      <p:cBhvr>
                                        <p:cTn id="94" dur="400"/>
                                        <p:tgtEl>
                                          <p:spTgt spid="35"/>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transition spd="fast" advClick="1">
    <p:fade/>
  </p:transition>
</p:sld>
</file>

<file path=ppt/slides/slide10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1F6FEB"/>
                </a:solidFill>
                <a:latin typeface="Arial"/>
              </a:rPr>
              <a:t>TRAQOM · SSG DIGITAL ATTENDANCE</a:t>
            </a:r>
          </a:p>
        </p:txBody>
      </p:sp>
      <p:sp>
        <p:nvSpPr>
          <p:cNvPr id="5" name="TextBox 4"/>
          <p:cNvSpPr txBox="1"/>
          <p:nvPr/>
        </p:nvSpPr>
        <p:spPr>
          <a:xfrm>
            <a:off x="777240" y="804672"/>
            <a:ext cx="10881360" cy="713232"/>
          </a:xfrm>
          <a:prstGeom prst="rect">
            <a:avLst/>
          </a:prstGeom>
          <a:noFill/>
        </p:spPr>
        <p:txBody>
          <a:bodyPr wrap="square" anchor="ctr">
            <a:spAutoFit/>
          </a:bodyPr>
          <a:lstStyle/>
          <a:p>
            <a:pPr algn="l">
              <a:spcAft>
                <a:spcPts val="400"/>
              </a:spcAft>
            </a:pPr>
            <a:r>
              <a:rPr sz="2900" b="1">
                <a:solidFill>
                  <a:srgbClr val="161B26"/>
                </a:solidFill>
                <a:latin typeface="Arial"/>
              </a:rPr>
              <a:t>Digital Attendance (Mandatory)</a:t>
            </a:r>
          </a:p>
        </p:txBody>
      </p:sp>
      <p:sp>
        <p:nvSpPr>
          <p:cNvPr id="6" name="Rectangle 5"/>
          <p:cNvSpPr/>
          <p:nvPr/>
        </p:nvSpPr>
        <p:spPr>
          <a:xfrm>
            <a:off x="777240" y="155448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77240" y="1783080"/>
            <a:ext cx="5180076" cy="2066544"/>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777240" y="1783080"/>
            <a:ext cx="91440" cy="2066544"/>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Oval 8"/>
          <p:cNvSpPr/>
          <p:nvPr/>
        </p:nvSpPr>
        <p:spPr>
          <a:xfrm>
            <a:off x="1033272" y="2542032"/>
            <a:ext cx="548640" cy="548640"/>
          </a:xfrm>
          <a:prstGeom prst="ellipse">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1033272" y="2542032"/>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1</a:t>
            </a:r>
          </a:p>
        </p:txBody>
      </p:sp>
      <p:sp>
        <p:nvSpPr>
          <p:cNvPr id="11" name="TextBox 10"/>
          <p:cNvSpPr txBox="1"/>
          <p:nvPr/>
        </p:nvSpPr>
        <p:spPr>
          <a:xfrm>
            <a:off x="1764792" y="1911096"/>
            <a:ext cx="3973068" cy="1883664"/>
          </a:xfrm>
          <a:prstGeom prst="rect">
            <a:avLst/>
          </a:prstGeom>
          <a:noFill/>
        </p:spPr>
        <p:txBody>
          <a:bodyPr wrap="square" anchor="ctr">
            <a:spAutoFit/>
          </a:bodyPr>
          <a:lstStyle/>
          <a:p>
            <a:pPr algn="l">
              <a:spcAft>
                <a:spcPts val="300"/>
              </a:spcAft>
            </a:pPr>
            <a:r>
              <a:rPr sz="1700" b="1">
                <a:solidFill>
                  <a:srgbClr val="161B26"/>
                </a:solidFill>
                <a:latin typeface="Arial"/>
              </a:rPr>
              <a:t>Three times a day</a:t>
            </a:r>
          </a:p>
          <a:p>
            <a:pPr algn="l">
              <a:spcAft>
                <a:spcPts val="300"/>
              </a:spcAft>
            </a:pPr>
            <a:r>
              <a:rPr sz="1300" b="0">
                <a:solidFill>
                  <a:srgbClr val="5B6372"/>
                </a:solidFill>
                <a:latin typeface="Arial"/>
              </a:rPr>
              <a:t>Take the AM, PM and Assessment digital attendance — mandatory for every WSQ-funded course.</a:t>
            </a:r>
          </a:p>
        </p:txBody>
      </p:sp>
      <p:sp>
        <p:nvSpPr>
          <p:cNvPr id="12" name="Rectangle 11"/>
          <p:cNvSpPr/>
          <p:nvPr/>
        </p:nvSpPr>
        <p:spPr>
          <a:xfrm>
            <a:off x="6231636" y="1783080"/>
            <a:ext cx="5180076" cy="2066544"/>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6231636" y="1783080"/>
            <a:ext cx="91440" cy="2066544"/>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Oval 13"/>
          <p:cNvSpPr/>
          <p:nvPr/>
        </p:nvSpPr>
        <p:spPr>
          <a:xfrm>
            <a:off x="6487668" y="2542032"/>
            <a:ext cx="548640" cy="548640"/>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487668" y="2542032"/>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2</a:t>
            </a:r>
          </a:p>
        </p:txBody>
      </p:sp>
      <p:sp>
        <p:nvSpPr>
          <p:cNvPr id="16" name="TextBox 15"/>
          <p:cNvSpPr txBox="1"/>
          <p:nvPr/>
        </p:nvSpPr>
        <p:spPr>
          <a:xfrm>
            <a:off x="7219188" y="1911096"/>
            <a:ext cx="3973068" cy="1883664"/>
          </a:xfrm>
          <a:prstGeom prst="rect">
            <a:avLst/>
          </a:prstGeom>
          <a:noFill/>
        </p:spPr>
        <p:txBody>
          <a:bodyPr wrap="square" anchor="ctr">
            <a:spAutoFit/>
          </a:bodyPr>
          <a:lstStyle/>
          <a:p>
            <a:pPr algn="l">
              <a:spcAft>
                <a:spcPts val="300"/>
              </a:spcAft>
            </a:pPr>
            <a:r>
              <a:rPr sz="1700" b="1">
                <a:solidFill>
                  <a:srgbClr val="161B26"/>
                </a:solidFill>
                <a:latin typeface="Arial"/>
              </a:rPr>
              <a:t>Trainer shows the QR</a:t>
            </a:r>
          </a:p>
          <a:p>
            <a:pPr algn="l">
              <a:spcAft>
                <a:spcPts val="300"/>
              </a:spcAft>
            </a:pPr>
            <a:r>
              <a:rPr sz="1300" b="0">
                <a:solidFill>
                  <a:srgbClr val="5B6372"/>
                </a:solidFill>
                <a:latin typeface="Arial"/>
              </a:rPr>
              <a:t>The trainer or administrator displays the digital attendance QR code from the SSG portal.</a:t>
            </a:r>
          </a:p>
        </p:txBody>
      </p:sp>
      <p:sp>
        <p:nvSpPr>
          <p:cNvPr id="17" name="Rectangle 16"/>
          <p:cNvSpPr/>
          <p:nvPr/>
        </p:nvSpPr>
        <p:spPr>
          <a:xfrm>
            <a:off x="777240" y="4087368"/>
            <a:ext cx="5180076" cy="2066544"/>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777240" y="4087368"/>
            <a:ext cx="91440" cy="2066544"/>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Oval 18"/>
          <p:cNvSpPr/>
          <p:nvPr/>
        </p:nvSpPr>
        <p:spPr>
          <a:xfrm>
            <a:off x="1033272" y="4846320"/>
            <a:ext cx="548640" cy="548640"/>
          </a:xfrm>
          <a:prstGeom prst="ellipse">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1033272" y="4846320"/>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3</a:t>
            </a:r>
          </a:p>
        </p:txBody>
      </p:sp>
      <p:sp>
        <p:nvSpPr>
          <p:cNvPr id="21" name="TextBox 20"/>
          <p:cNvSpPr txBox="1"/>
          <p:nvPr/>
        </p:nvSpPr>
        <p:spPr>
          <a:xfrm>
            <a:off x="1764792" y="4215384"/>
            <a:ext cx="3973068" cy="1883664"/>
          </a:xfrm>
          <a:prstGeom prst="rect">
            <a:avLst/>
          </a:prstGeom>
          <a:noFill/>
        </p:spPr>
        <p:txBody>
          <a:bodyPr wrap="square" anchor="ctr">
            <a:spAutoFit/>
          </a:bodyPr>
          <a:lstStyle/>
          <a:p>
            <a:pPr algn="l">
              <a:spcAft>
                <a:spcPts val="300"/>
              </a:spcAft>
            </a:pPr>
            <a:r>
              <a:rPr sz="1700" b="1">
                <a:solidFill>
                  <a:srgbClr val="161B26"/>
                </a:solidFill>
                <a:latin typeface="Arial"/>
              </a:rPr>
              <a:t>Scan and submit</a:t>
            </a:r>
          </a:p>
          <a:p>
            <a:pPr algn="l">
              <a:spcAft>
                <a:spcPts val="300"/>
              </a:spcAft>
            </a:pPr>
            <a:r>
              <a:rPr sz="1300" b="0">
                <a:solidFill>
                  <a:srgbClr val="5B6372"/>
                </a:solidFill>
                <a:latin typeface="Arial"/>
              </a:rPr>
              <a:t>Scan the QR code with your mobile phone camera and submit your attendance.</a:t>
            </a:r>
          </a:p>
        </p:txBody>
      </p:sp>
      <p:sp>
        <p:nvSpPr>
          <p:cNvPr id="22" name="Rectangle 21"/>
          <p:cNvSpPr/>
          <p:nvPr/>
        </p:nvSpPr>
        <p:spPr>
          <a:xfrm>
            <a:off x="6231636" y="4087368"/>
            <a:ext cx="5180076" cy="2066544"/>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ectangle 22"/>
          <p:cNvSpPr/>
          <p:nvPr/>
        </p:nvSpPr>
        <p:spPr>
          <a:xfrm>
            <a:off x="6231636" y="4087368"/>
            <a:ext cx="91440" cy="2066544"/>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Oval 23"/>
          <p:cNvSpPr/>
          <p:nvPr/>
        </p:nvSpPr>
        <p:spPr>
          <a:xfrm>
            <a:off x="6487668" y="4846320"/>
            <a:ext cx="548640" cy="548640"/>
          </a:xfrm>
          <a:prstGeom prst="ellipse">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6487668" y="4846320"/>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4</a:t>
            </a:r>
          </a:p>
        </p:txBody>
      </p:sp>
      <p:sp>
        <p:nvSpPr>
          <p:cNvPr id="26" name="TextBox 25"/>
          <p:cNvSpPr txBox="1"/>
          <p:nvPr/>
        </p:nvSpPr>
        <p:spPr>
          <a:xfrm>
            <a:off x="7219188" y="4215384"/>
            <a:ext cx="3973068" cy="1883664"/>
          </a:xfrm>
          <a:prstGeom prst="rect">
            <a:avLst/>
          </a:prstGeom>
          <a:noFill/>
        </p:spPr>
        <p:txBody>
          <a:bodyPr wrap="square" anchor="ctr">
            <a:spAutoFit/>
          </a:bodyPr>
          <a:lstStyle/>
          <a:p>
            <a:pPr algn="l">
              <a:spcAft>
                <a:spcPts val="300"/>
              </a:spcAft>
            </a:pPr>
            <a:r>
              <a:rPr sz="1700" b="1">
                <a:solidFill>
                  <a:srgbClr val="161B26"/>
                </a:solidFill>
                <a:latin typeface="Arial"/>
              </a:rPr>
              <a:t>75% minimum</a:t>
            </a:r>
          </a:p>
          <a:p>
            <a:pPr algn="l">
              <a:spcAft>
                <a:spcPts val="300"/>
              </a:spcAft>
            </a:pPr>
            <a:r>
              <a:rPr sz="1300" b="0">
                <a:solidFill>
                  <a:srgbClr val="5B6372"/>
                </a:solidFill>
                <a:latin typeface="Arial"/>
              </a:rPr>
              <a:t>A minimum of 75% attendance is required to be eligible for assessment and funding.</a:t>
            </a:r>
          </a:p>
        </p:txBody>
      </p:sp>
      <p:sp>
        <p:nvSpPr>
          <p:cNvPr id="27" name="TextBox 26"/>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Manage AI Agents with Paperclip (TGS-2023036646)  ·  TGS-2023036646</a:t>
            </a:r>
          </a:p>
        </p:txBody>
      </p:sp>
      <p:sp>
        <p:nvSpPr>
          <p:cNvPr id="28" name="TextBox 27"/>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29" name="TextBox 28"/>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103</a:t>
            </a:r>
          </a:p>
        </p:txBody>
      </p:sp>
    </p:spTree>
  </p:cSld>
  <p:clrMapOvr>
    <a:masterClrMapping/>
  </p:clrMapOvr>
  <p:transition spd="fast" advClick="1">
    <p:fade/>
  </p:transition>
</p:sld>
</file>

<file path=ppt/slides/slide10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685800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1005840" y="2011680"/>
            <a:ext cx="10058400" cy="457200"/>
          </a:xfrm>
          <a:prstGeom prst="rect">
            <a:avLst/>
          </a:prstGeom>
          <a:noFill/>
        </p:spPr>
        <p:txBody>
          <a:bodyPr wrap="square" anchor="t">
            <a:spAutoFit/>
          </a:bodyPr>
          <a:lstStyle/>
          <a:p>
            <a:pPr algn="l">
              <a:spcAft>
                <a:spcPts val="400"/>
              </a:spcAft>
            </a:pPr>
            <a:r>
              <a:rPr sz="1600" b="1">
                <a:solidFill>
                  <a:srgbClr val="10B981"/>
                </a:solidFill>
                <a:latin typeface="Arial"/>
              </a:rPr>
              <a:t>HAPPY BUILDING</a:t>
            </a:r>
          </a:p>
        </p:txBody>
      </p:sp>
      <p:sp>
        <p:nvSpPr>
          <p:cNvPr id="5" name="TextBox 4"/>
          <p:cNvSpPr txBox="1"/>
          <p:nvPr/>
        </p:nvSpPr>
        <p:spPr>
          <a:xfrm>
            <a:off x="1005840" y="2560320"/>
            <a:ext cx="10332720" cy="2194560"/>
          </a:xfrm>
          <a:prstGeom prst="rect">
            <a:avLst/>
          </a:prstGeom>
          <a:noFill/>
        </p:spPr>
        <p:txBody>
          <a:bodyPr wrap="square" anchor="t">
            <a:spAutoFit/>
          </a:bodyPr>
          <a:lstStyle/>
          <a:p>
            <a:pPr algn="l">
              <a:spcAft>
                <a:spcPts val="400"/>
              </a:spcAft>
            </a:pPr>
            <a:r>
              <a:rPr sz="3800" b="1">
                <a:solidFill>
                  <a:srgbClr val="161B26"/>
                </a:solidFill>
                <a:latin typeface="Arial"/>
              </a:rPr>
              <a:t>Thank You!</a:t>
            </a:r>
          </a:p>
        </p:txBody>
      </p:sp>
      <p:sp>
        <p:nvSpPr>
          <p:cNvPr id="6" name="TextBox 5"/>
          <p:cNvSpPr txBox="1"/>
          <p:nvPr/>
        </p:nvSpPr>
        <p:spPr>
          <a:xfrm>
            <a:off x="1024128" y="4480560"/>
            <a:ext cx="10058400" cy="1097280"/>
          </a:xfrm>
          <a:prstGeom prst="rect">
            <a:avLst/>
          </a:prstGeom>
          <a:noFill/>
        </p:spPr>
        <p:txBody>
          <a:bodyPr wrap="square" anchor="t">
            <a:spAutoFit/>
          </a:bodyPr>
          <a:lstStyle/>
          <a:p>
            <a:pPr algn="l">
              <a:spcAft>
                <a:spcPts val="400"/>
              </a:spcAft>
            </a:pPr>
            <a:r>
              <a:rPr sz="2000" b="0">
                <a:solidFill>
                  <a:srgbClr val="5B6372"/>
                </a:solidFill>
                <a:latin typeface="Arial"/>
              </a:rPr>
              <a:t>You can now build, coordinate and govern a Paperclip AI agent company from mission to audited outcome.</a:t>
            </a:r>
          </a:p>
        </p:txBody>
      </p:sp>
      <p:sp>
        <p:nvSpPr>
          <p:cNvPr id="7" name="TextBox 6"/>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Manage AI Agents with Paperclip (TGS-2023036646)  ·  TGS-2023036646</a:t>
            </a:r>
          </a:p>
        </p:txBody>
      </p:sp>
      <p:sp>
        <p:nvSpPr>
          <p:cNvPr id="8" name="TextBox 7"/>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9" name="TextBox 8"/>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104</a:t>
            </a:r>
          </a:p>
        </p:txBody>
      </p:sp>
    </p:spTree>
  </p:cSld>
  <p:clrMapOvr>
    <a:masterClrMapping/>
  </p:clrMapOvr>
  <p:transition spd="fast" advClick="1">
    <p:fade/>
  </p:transition>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