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407" r:id="rId158"/>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Share of course (%)</c:v>
                </c:pt>
              </c:strCache>
            </c:strRef>
          </c:tx>
          <c:spPr>
            <a:solidFill>
              <a:srgbClr val="1F6FEB"/>
            </a:solidFill>
          </c:spPr>
          <c:cat>
            <c:strRef>
              <c:f>Sheet1!$A$2:$A$5</c:f>
              <c:strCache>
                <c:ptCount val="4"/>
                <c:pt idx="0">
                  <c:v>Topic 01</c:v>
                </c:pt>
                <c:pt idx="1">
                  <c:v>Topic 02</c:v>
                </c:pt>
                <c:pt idx="2">
                  <c:v>Topic 03</c:v>
                </c:pt>
                <c:pt idx="3">
                  <c:v>Topic 04</c:v>
                </c:pt>
              </c:strCache>
            </c:strRef>
          </c:cat>
          <c:val>
            <c:numRef>
              <c:f>Sheet1!$B$2:$B$5</c:f>
              <c:numCache>
                <c:formatCode>0"%"</c:formatCode>
                <c:ptCount val="4"/>
                <c:pt idx="0">
                  <c:v>25</c:v>
                </c:pt>
                <c:pt idx="1">
                  <c:v>25</c:v>
                </c:pt>
                <c:pt idx="2">
                  <c:v>25</c:v>
                </c:pt>
                <c:pt idx="3">
                  <c:v>25</c:v>
                </c:pt>
              </c:numCache>
            </c:numRef>
          </c:val>
        </c:ser>
        <c:dLbls>
          <c:numFmt formatCode="0&quot;%&quot;"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9692640" y="603504"/>
            <a:ext cx="1828800"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713232"/>
            <a:ext cx="1828800" cy="475488"/>
          </a:xfrm>
          <a:prstGeom prst="rect">
            <a:avLst/>
          </a:prstGeom>
          <a:noFill/>
        </p:spPr>
        <p:txBody>
          <a:bodyPr wrap="square" anchor="t">
            <a:spAutoFit/>
          </a:bodyPr>
          <a:lstStyle/>
          <a:p>
            <a:pPr algn="ctr">
              <a:spcAft>
                <a:spcPts val="400"/>
              </a:spcAft>
            </a:pPr>
            <a:r>
              <a:rPr sz="1700" b="1">
                <a:solidFill>
                  <a:srgbClr val="FFFFFF"/>
                </a:solidFill>
                <a:latin typeface="Arial"/>
              </a:rPr>
              <a:t>PAPERCLIP</a:t>
            </a:r>
          </a:p>
        </p:txBody>
      </p:sp>
      <p:sp>
        <p:nvSpPr>
          <p:cNvPr id="8" name="TextBox 7"/>
          <p:cNvSpPr txBox="1"/>
          <p:nvPr/>
        </p:nvSpPr>
        <p:spPr>
          <a:xfrm>
            <a:off x="9692640" y="1207008"/>
            <a:ext cx="1828800" cy="365760"/>
          </a:xfrm>
          <a:prstGeom prst="rect">
            <a:avLst/>
          </a:prstGeom>
          <a:noFill/>
        </p:spPr>
        <p:txBody>
          <a:bodyPr wrap="square" anchor="t">
            <a:spAutoFit/>
          </a:bodyPr>
          <a:lstStyle/>
          <a:p>
            <a:pPr algn="ctr">
              <a:spcAft>
                <a:spcPts val="400"/>
              </a:spcAft>
            </a:pPr>
            <a:r>
              <a:rPr sz="800" b="1">
                <a:solidFill>
                  <a:srgbClr val="FFFFFF"/>
                </a:solidFill>
                <a:latin typeface="Arial"/>
              </a:rPr>
              <a:t>AI AGENT COMPANY OS</a:t>
            </a:r>
          </a:p>
        </p:txBody>
      </p:sp>
      <p:sp>
        <p:nvSpPr>
          <p:cNvPr id="9" name="TextBox 8"/>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10" name="TextBox 9"/>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Manage AI Agents with Paperclip</a:t>
            </a:r>
          </a:p>
        </p:txBody>
      </p:sp>
      <p:sp>
        <p:nvSpPr>
          <p:cNvPr id="11" name="Rectangle 10"/>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TGS-2023036646</a:t>
            </a:r>
          </a:p>
          <a:p>
            <a:pPr algn="l">
              <a:spcAft>
                <a:spcPts val="600"/>
              </a:spcAft>
            </a:pPr>
            <a:r>
              <a:rPr sz="1300" b="0">
                <a:solidFill>
                  <a:srgbClr val="5B6372"/>
                </a:solidFill>
                <a:latin typeface="Arial"/>
              </a:rPr>
              <a:t>TSC: Applications Integration  ·  ICT-DIT-3003-1.1</a:t>
            </a:r>
          </a:p>
          <a:p>
            <a:pPr algn="l">
              <a:spcAft>
                <a:spcPts val="600"/>
              </a:spcAft>
            </a:pPr>
            <a:r>
              <a:rPr sz="1300" b="0">
                <a:solidFill>
                  <a:srgbClr val="5B6372"/>
                </a:solidFill>
                <a:latin typeface="Arial"/>
              </a:rPr>
              <a:t>Conducted by Tertiary Infotech Academy Pte Ltd  ·  UEN 201200696W</a:t>
            </a:r>
          </a:p>
        </p:txBody>
      </p:sp>
      <p:sp>
        <p:nvSpPr>
          <p:cNvPr id="13" name="TextBox 12"/>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v2.0  ·  28 August 2026</a:t>
            </a:r>
          </a:p>
        </p:txBody>
      </p:sp>
      <p:sp>
        <p:nvSpPr>
          <p:cNvPr id="14" name="TextBox 13"/>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fast"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advClick="1">
    <p:push dir="l"/>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Three times a day</a:t>
            </a:r>
          </a:p>
          <a:p>
            <a:pPr algn="l">
              <a:spcAft>
                <a:spcPts val="300"/>
              </a:spcAft>
            </a:pPr>
            <a:r>
              <a:rPr sz="1300" b="0">
                <a:solidFill>
                  <a:srgbClr val="5B6372"/>
                </a:solidFill>
                <a:latin typeface="Arial"/>
              </a:rPr>
              <a:t>Take the AM, PM and Assessment digital attendance — mandatory for every WSQ-funded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Trainer shows the QR</a:t>
            </a:r>
          </a:p>
          <a:p>
            <a:pPr algn="l">
              <a:spcAft>
                <a:spcPts val="300"/>
              </a:spcAft>
            </a:pPr>
            <a:r>
              <a:rPr sz="1300" b="0">
                <a:solidFill>
                  <a:srgbClr val="5B6372"/>
                </a:solidFill>
                <a:latin typeface="Arial"/>
              </a:rPr>
              <a:t>The trainer or administrator displays the digital attendance QR code from the SSG portal.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Scan and submit</a:t>
            </a:r>
          </a:p>
          <a:p>
            <a:pPr algn="l">
              <a:spcAft>
                <a:spcPts val="300"/>
              </a:spcAft>
            </a:pPr>
            <a:r>
              <a:rPr sz="1300" b="0">
                <a:solidFill>
                  <a:srgbClr val="5B6372"/>
                </a:solidFill>
                <a:latin typeface="Arial"/>
              </a:rPr>
              <a:t>Scan the QR code with your mobile phone camera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fast"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200"/>
              </a:spcAft>
            </a:pPr>
            <a:r>
              <a:rPr sz="1300" b="0">
                <a:solidFill>
                  <a:srgbClr val="5B6372"/>
                </a:solidFill>
                <a:latin typeface="Arial"/>
              </a:rPr>
              <a:t>General Trainer template —</a:t>
            </a:r>
          </a:p>
          <a:p>
            <a:pPr algn="ctr">
              <a:spcAft>
                <a:spcPts val="200"/>
              </a:spcAft>
            </a:pPr>
            <a:r>
              <a:rPr sz="1300" b="0">
                <a:solidFill>
                  <a:srgbClr val="5B6372"/>
                </a:solidFill>
                <a:latin typeface="Arial"/>
              </a:rPr>
              <a:t>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fast"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200"/>
              </a:spcAft>
            </a:pPr>
            <a:r>
              <a:rPr sz="1300" b="0">
                <a:solidFill>
                  <a:srgbClr val="5B6372"/>
                </a:solidFill>
                <a:latin typeface="Arial"/>
              </a:rPr>
              <a:t>Principal Trainer</a:t>
            </a:r>
          </a:p>
          <a:p>
            <a:pPr algn="ctr">
              <a:spcAft>
                <a:spcPts val="200"/>
              </a:spcAft>
            </a:pPr>
            <a:r>
              <a:rPr sz="1300" b="0">
                <a:solidFill>
                  <a:srgbClr val="5B6372"/>
                </a:solidFill>
                <a:latin typeface="Arial"/>
              </a:rPr>
              <a:t>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EXPERTISE</a:t>
            </a:r>
          </a:p>
          <a:p>
            <a:pPr algn="l">
              <a:spcAft>
                <a:spcPts val="300"/>
              </a:spcAft>
            </a:pPr>
            <a:r>
              <a:rPr sz="1400" b="0">
                <a:solidFill>
                  <a:srgbClr val="161B26"/>
                </a:solidFill>
                <a:latin typeface="Arial"/>
              </a:rPr>
              <a:t>Generative AI, large language models, agentic AI systems and applied machine learning.</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WSQ courses on AI, agentic AI, LLM application development, prompt engineering and data science.</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ICE-BREAKER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Who you are</a:t>
            </a:r>
          </a:p>
          <a:p>
            <a:pPr algn="l">
              <a:spcAft>
                <a:spcPts val="300"/>
              </a:spcAft>
            </a:pPr>
            <a:r>
              <a:rPr sz="1300" b="0">
                <a:solidFill>
                  <a:srgbClr val="5B6372"/>
                </a:solidFill>
                <a:latin typeface="Arial"/>
              </a:rPr>
              <a:t>Your name, your organisation and the role you play in it.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What you've used</a:t>
            </a:r>
          </a:p>
          <a:p>
            <a:pPr algn="l">
              <a:spcAft>
                <a:spcPts val="300"/>
              </a:spcAft>
            </a:pPr>
            <a:r>
              <a:rPr sz="1300" b="0">
                <a:solidFill>
                  <a:srgbClr val="5B6372"/>
                </a:solidFill>
                <a:latin typeface="Arial"/>
              </a:rPr>
              <a:t>Your experience with AI agents, automation or command-line tools — if any. No experience needed.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What you'd delegate</a:t>
            </a:r>
          </a:p>
          <a:p>
            <a:pPr algn="l">
              <a:spcAft>
                <a:spcPts val="300"/>
              </a:spcAft>
            </a:pPr>
            <a:r>
              <a:rPr sz="1300" b="0">
                <a:solidFill>
                  <a:srgbClr val="5B6372"/>
                </a:solidFill>
                <a:latin typeface="Arial"/>
              </a:rPr>
              <a:t>One task in your work you would hand to a team of AI agents.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What you wouldn't</a:t>
            </a:r>
          </a:p>
          <a:p>
            <a:pPr algn="l">
              <a:spcAft>
                <a:spcPts val="300"/>
              </a:spcAft>
            </a:pPr>
            <a:r>
              <a:rPr sz="1300" b="0">
                <a:solidFill>
                  <a:srgbClr val="5B6372"/>
                </a:solidFill>
                <a:latin typeface="Arial"/>
              </a:rPr>
              <a:t>One task you would NOT delegate — and the reason why. We come back to this in Topic 1.</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fast"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LMS / TMS  ·  lms-tms.tertiaryinfotech.com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Download Your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Go to the LMS portal</a:t>
            </a:r>
          </a:p>
          <a:p>
            <a:pPr algn="l">
              <a:spcAft>
                <a:spcPts val="300"/>
              </a:spcAft>
            </a:pPr>
            <a:r>
              <a:rPr sz="1200" b="0">
                <a:solidFill>
                  <a:srgbClr val="5B6372"/>
                </a:solidFill>
                <a:latin typeface="Arial"/>
              </a:rPr>
              <a:t>Open https://lms-tms.tertiaryinfotech.com in your browser.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Log in</a:t>
            </a:r>
          </a:p>
          <a:p>
            <a:pPr algn="l">
              <a:spcAft>
                <a:spcPts val="300"/>
              </a:spcAft>
            </a:pPr>
            <a:r>
              <a:rPr sz="1200" b="0">
                <a:solidFill>
                  <a:srgbClr val="5B6372"/>
                </a:solidFill>
                <a:latin typeface="Arial"/>
              </a:rPr>
              <a:t>Sign in with the account e-mail you used to register for this course.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Open this course</a:t>
            </a:r>
          </a:p>
          <a:p>
            <a:pPr algn="l">
              <a:spcAft>
                <a:spcPts val="300"/>
              </a:spcAft>
            </a:pPr>
            <a:r>
              <a:rPr sz="1200" b="0">
                <a:solidFill>
                  <a:srgbClr val="5B6372"/>
                </a:solidFill>
                <a:latin typeface="Arial"/>
              </a:rPr>
              <a:t>Select 'Manage AI Agents with Paperclip'.</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Download</a:t>
            </a:r>
          </a:p>
          <a:p>
            <a:pPr algn="l">
              <a:spcAft>
                <a:spcPts val="300"/>
              </a:spcAft>
            </a:pPr>
            <a:r>
              <a:rPr sz="1200" b="0">
                <a:solidFill>
                  <a:srgbClr val="5B6372"/>
                </a:solidFill>
                <a:latin typeface="Arial"/>
              </a:rPr>
              <a:t>Download the Trainer Slides, Learner Guide and Lesson Plan (PDF).</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Get the labs</a:t>
            </a:r>
          </a:p>
          <a:p>
            <a:pPr algn="l">
              <a:spcAft>
                <a:spcPts val="300"/>
              </a:spcAft>
            </a:pPr>
            <a:r>
              <a:rPr sz="1200" b="0">
                <a:solidFill>
                  <a:srgbClr val="5B6372"/>
                </a:solidFill>
                <a:latin typeface="Arial"/>
              </a:rPr>
              <a:t>Clone the lab repository from GitHub — the link is on the course page.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Keep them open</a:t>
            </a:r>
          </a:p>
          <a:p>
            <a:pPr algn="l">
              <a:spcAft>
                <a:spcPts val="300"/>
              </a:spcAft>
            </a:pPr>
            <a:r>
              <a:rPr sz="1200" b="0">
                <a:solidFill>
                  <a:srgbClr val="5B6372"/>
                </a:solidFill>
                <a:latin typeface="Arial"/>
              </a:rPr>
              <a:t>You may use these materials during the open-book assessment.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fast"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SKILLS FRAMEWORK  ·  TSC</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Skills Framework Alignment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TSC Title</a:t>
            </a:r>
          </a:p>
          <a:p>
            <a:pPr algn="l">
              <a:spcAft>
                <a:spcPts val="300"/>
              </a:spcAft>
            </a:pPr>
            <a:r>
              <a:rPr sz="1200" b="0">
                <a:solidFill>
                  <a:srgbClr val="5B6372"/>
                </a:solidFill>
                <a:latin typeface="Arial"/>
              </a:rPr>
              <a:t>Applications Integration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TSC Code</a:t>
            </a:r>
          </a:p>
          <a:p>
            <a:pPr algn="l">
              <a:spcAft>
                <a:spcPts val="300"/>
              </a:spcAft>
            </a:pPr>
            <a:r>
              <a:rPr sz="1200" b="0">
                <a:solidFill>
                  <a:srgbClr val="5B6372"/>
                </a:solidFill>
                <a:latin typeface="Arial"/>
              </a:rPr>
              <a:t>ICT-DIT-3003-1.1</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Training hours</a:t>
            </a:r>
          </a:p>
          <a:p>
            <a:pPr algn="l">
              <a:spcAft>
                <a:spcPts val="300"/>
              </a:spcAft>
            </a:pPr>
            <a:r>
              <a:rPr sz="1200" b="0">
                <a:solidFill>
                  <a:srgbClr val="5B6372"/>
                </a:solidFill>
                <a:latin typeface="Arial"/>
              </a:rPr>
              <a:t>14 hours across 2 days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Assessment hours</a:t>
            </a:r>
          </a:p>
          <a:p>
            <a:pPr algn="l">
              <a:spcAft>
                <a:spcPts val="300"/>
              </a:spcAft>
            </a:pPr>
            <a:r>
              <a:rPr sz="1200" b="0">
                <a:solidFill>
                  <a:srgbClr val="5B6372"/>
                </a:solidFill>
                <a:latin typeface="Arial"/>
              </a:rPr>
              <a:t>2 hours — Written Assessment + Practical Performance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Level</a:t>
            </a:r>
          </a:p>
          <a:p>
            <a:pPr algn="l">
              <a:spcAft>
                <a:spcPts val="300"/>
              </a:spcAft>
            </a:pPr>
            <a:r>
              <a:rPr sz="1200" b="0">
                <a:solidFill>
                  <a:srgbClr val="5B6372"/>
                </a:solidFill>
                <a:latin typeface="Arial"/>
              </a:rPr>
              <a:t>Beginner to Intermediate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Mode</a:t>
            </a:r>
          </a:p>
          <a:p>
            <a:pPr algn="l">
              <a:spcAft>
                <a:spcPts val="300"/>
              </a:spcAft>
            </a:pPr>
            <a:r>
              <a:rPr sz="1200" b="0">
                <a:solidFill>
                  <a:srgbClr val="5B6372"/>
                </a:solidFill>
                <a:latin typeface="Arial"/>
              </a:rPr>
              <a:t>Physical, instructor-led with hands-on labs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fast"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Lesson Plan — 2 Days, 8 hours/day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Agentic AI foundations, the Paperclip control plane, and building your first goal-aligned AI agent company</a:t>
            </a:r>
          </a:p>
          <a:p>
            <a:pPr>
              <a:spcAft>
                <a:spcPts val="1000"/>
              </a:spcAft>
            </a:pPr>
            <a:r>
              <a:rPr sz="1400" b="0">
                <a:solidFill>
                  <a:srgbClr val="5B6372"/>
                </a:solidFill>
                <a:latin typeface="Arial"/>
              </a:rPr>
              <a:t>–  Digital Attendance (AM) · Introductions · Learning Outcomes</a:t>
            </a:r>
          </a:p>
          <a:p>
            <a:pPr>
              <a:spcAft>
                <a:spcPts val="1000"/>
              </a:spcAft>
            </a:pPr>
            <a:r>
              <a:rPr sz="1400" b="0">
                <a:solidFill>
                  <a:srgbClr val="5B6372"/>
                </a:solidFill>
                <a:latin typeface="Arial"/>
              </a:rPr>
              <a:t>–  Topic 1: Fundamentals of Agentic AI and Paperclip (Lab 1)</a:t>
            </a:r>
          </a:p>
          <a:p>
            <a:pPr>
              <a:spcAft>
                <a:spcPts val="1000"/>
              </a:spcAft>
            </a:pPr>
            <a:r>
              <a:rPr sz="1400" b="0">
                <a:solidFill>
                  <a:srgbClr val="5B6372"/>
                </a:solidFill>
                <a:latin typeface="Arial"/>
              </a:rPr>
              <a:t>–  Lunch Break · Digital Attendance (PM)</a:t>
            </a:r>
          </a:p>
          <a:p>
            <a:pPr>
              <a:spcAft>
                <a:spcPts val="1000"/>
              </a:spcAft>
            </a:pPr>
            <a:r>
              <a:rPr sz="1400" b="0">
                <a:solidFill>
                  <a:srgbClr val="5B6372"/>
                </a:solidFill>
                <a:latin typeface="Arial"/>
              </a:rPr>
              <a:t>–  Topic 2: Building AI Agents with Paperclip (Labs 2–3)</a:t>
            </a:r>
          </a:p>
          <a:p>
            <a:pPr>
              <a:spcAft>
                <a:spcPts val="1000"/>
              </a:spcAft>
            </a:pPr>
            <a:r>
              <a:rPr sz="1400" b="0">
                <a:solidFill>
                  <a:srgbClr val="5B6372"/>
                </a:solidFill>
                <a:latin typeface="Arial"/>
              </a:rPr>
              <a:t>–  Day 1 recap</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2 — Multi-agent operations: decomposition, hand-offs, routines, budgets, approvals and the closed audit loop</a:t>
            </a:r>
          </a:p>
          <a:p>
            <a:pPr>
              <a:spcAft>
                <a:spcPts val="1000"/>
              </a:spcAft>
            </a:pPr>
            <a:r>
              <a:rPr sz="1400" b="0">
                <a:solidFill>
                  <a:srgbClr val="5B6372"/>
                </a:solidFill>
                <a:latin typeface="Arial"/>
              </a:rPr>
              <a:t>–  Digital Attendance (AM) · Day 1 recap</a:t>
            </a:r>
          </a:p>
          <a:p>
            <a:pPr>
              <a:spcAft>
                <a:spcPts val="1000"/>
              </a:spcAft>
            </a:pPr>
            <a:r>
              <a:rPr sz="1400" b="0">
                <a:solidFill>
                  <a:srgbClr val="5B6372"/>
                </a:solidFill>
                <a:latin typeface="Arial"/>
              </a:rPr>
              <a:t>–  Topic 3: Developing Intelligent Multi-Agent Systems (Labs 4–5)</a:t>
            </a:r>
          </a:p>
          <a:p>
            <a:pPr>
              <a:spcAft>
                <a:spcPts val="1000"/>
              </a:spcAft>
            </a:pPr>
            <a:r>
              <a:rPr sz="1400" b="0">
                <a:solidFill>
                  <a:srgbClr val="5B6372"/>
                </a:solidFill>
                <a:latin typeface="Arial"/>
              </a:rPr>
              <a:t>–  Lunch Break · Digital Attendance (PM)</a:t>
            </a:r>
          </a:p>
          <a:p>
            <a:pPr>
              <a:spcAft>
                <a:spcPts val="1000"/>
              </a:spcAft>
            </a:pPr>
            <a:r>
              <a:rPr sz="1400" b="0">
                <a:solidFill>
                  <a:srgbClr val="5B6372"/>
                </a:solidFill>
                <a:latin typeface="Arial"/>
              </a:rPr>
              <a:t>–  Topic 4: Deploying and Managing AI Agents (Lab 6)</a:t>
            </a:r>
          </a:p>
          <a:p>
            <a:pPr>
              <a:spcAft>
                <a:spcPts val="1000"/>
              </a:spcAft>
            </a:pPr>
            <a:r>
              <a:rPr sz="1400" b="0">
                <a:solidFill>
                  <a:srgbClr val="5B6372"/>
                </a:solidFill>
                <a:latin typeface="Arial"/>
              </a:rPr>
              <a:t>–  TRAQOM Survey · Digital Attendance (Assessment)</a:t>
            </a:r>
          </a:p>
          <a:p>
            <a:pPr>
              <a:spcAft>
                <a:spcPts val="1000"/>
              </a:spcAft>
            </a:pPr>
            <a:r>
              <a:rPr sz="1400" b="0">
                <a:solidFill>
                  <a:srgbClr val="5B6372"/>
                </a:solidFill>
                <a:latin typeface="Arial"/>
              </a:rPr>
              <a:t>–  Final Assessment (WA + PP) — 2 hours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fast"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LO1 · Identify &amp; scan feasibility</a:t>
            </a:r>
          </a:p>
          <a:p>
            <a:pPr algn="l">
              <a:spcAft>
                <a:spcPts val="300"/>
              </a:spcAft>
            </a:pPr>
            <a:r>
              <a:rPr sz="1300" b="0">
                <a:solidFill>
                  <a:srgbClr val="5B6372"/>
                </a:solidFill>
                <a:latin typeface="Arial"/>
              </a:rPr>
              <a:t>Explain the Paperclip control-plane model and judge when a managed multi-agent company earns its coordination cost.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LO2 · Integrate &amp; develop</a:t>
            </a:r>
          </a:p>
          <a:p>
            <a:pPr algn="l">
              <a:spcAft>
                <a:spcPts val="300"/>
              </a:spcAft>
            </a:pPr>
            <a:r>
              <a:rPr sz="1300" b="0">
                <a:solidFill>
                  <a:srgbClr val="5B6372"/>
                </a:solidFill>
                <a:latin typeface="Arial"/>
              </a:rPr>
              <a:t>Install Paperclip, create a goal-aligned company, build the reporting tree and connect agent runtimes, skills and workspaces safely.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LO3 · Test &amp; verify</a:t>
            </a:r>
          </a:p>
          <a:p>
            <a:pPr algn="l">
              <a:spcAft>
                <a:spcPts val="300"/>
              </a:spcAft>
            </a:pPr>
            <a:r>
              <a:rPr sz="1300" b="0">
                <a:solidFill>
                  <a:srgbClr val="5B6372"/>
                </a:solidFill>
                <a:latin typeface="Arial"/>
              </a:rPr>
              <a:t>Decompose a mission into issues, run bounded heartbeats and verify hand-offs through runs, comments, artifacts and the activity log.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LO4 · Resolve &amp; modify</a:t>
            </a:r>
          </a:p>
          <a:p>
            <a:pPr algn="l">
              <a:spcAft>
                <a:spcPts val="300"/>
              </a:spcAft>
            </a:pPr>
            <a:r>
              <a:rPr sz="1300" b="0">
                <a:solidFill>
                  <a:srgbClr val="5B6372"/>
                </a:solidFill>
                <a:latin typeface="Arial"/>
              </a:rPr>
              <a:t>Diagnose adapter, budget and routine failures, and modify governance, approvals and cost boundaries to keep the operation safe.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fast"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FOUR TOPICS  ·  6 HANDS-ON LABS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Course Outline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Topic 01 — Fundamentals of Agentic AI and Paperclip</a:t>
            </a:r>
          </a:p>
          <a:p>
            <a:pPr algn="l">
              <a:spcAft>
                <a:spcPts val="300"/>
              </a:spcAft>
            </a:pPr>
            <a:r>
              <a:rPr sz="1300" b="0">
                <a:solidFill>
                  <a:srgbClr val="5B6372"/>
                </a:solidFill>
                <a:latin typeface="Arial"/>
              </a:rPr>
              <a:t>Agentic AI foundations · the control-plane model · the twelve subsystems · feasibility and when NOT to use multi-agent</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Topic 02 — Building AI Agents with Paperclip</a:t>
            </a:r>
          </a:p>
          <a:p>
            <a:pPr algn="l">
              <a:spcAft>
                <a:spcPts val="300"/>
              </a:spcAft>
            </a:pPr>
            <a:r>
              <a:rPr sz="1300" b="0">
                <a:solidFill>
                  <a:srgbClr val="5B6372"/>
                </a:solidFill>
                <a:latin typeface="Arial"/>
              </a:rPr>
              <a:t>Install and verify · company and mission · the CEO · org chart · runtime adapters · workspaces, instructions and secrets</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Topic 03 — Developing Intelligent Multi-Agent Systems</a:t>
            </a:r>
          </a:p>
          <a:p>
            <a:pPr algn="l">
              <a:spcAft>
                <a:spcPts val="300"/>
              </a:spcAft>
            </a:pPr>
            <a:r>
              <a:rPr sz="1300" b="0">
                <a:solidFill>
                  <a:srgbClr val="5B6372"/>
                </a:solidFill>
                <a:latin typeface="Arial"/>
              </a:rPr>
              <a:t>Projects, goals and lineage · issue decomposition · assignment and hand-off · sequential specialists · verifying between disparate components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Topic 04 — Deploying and Managing AI Agents</a:t>
            </a:r>
          </a:p>
          <a:p>
            <a:pPr algn="l">
              <a:spcAft>
                <a:spcPts val="300"/>
              </a:spcAft>
            </a:pPr>
            <a:r>
              <a:rPr sz="1300" b="0">
                <a:solidFill>
                  <a:srgbClr val="5B6372"/>
                </a:solidFill>
                <a:latin typeface="Arial"/>
              </a:rPr>
              <a:t>Routines and schedules · layered budgets · approvals and audit · operator intervention · deployment, portability and troubleshooting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fast"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COURSE SIMULATION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Six One-Person AI Agent Companies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iagram-six-companies.png"/>
          <p:cNvPicPr>
            <a:picLocks noChangeAspect="1"/>
          </p:cNvPicPr>
          <p:nvPr/>
        </p:nvPicPr>
        <p:blipFill>
          <a:blip r:embed="rId2"/>
          <a:stretch>
            <a:fillRect/>
          </a:stretch>
        </p:blipFill>
        <p:spPr>
          <a:xfrm>
            <a:off x="1685653" y="1810512"/>
            <a:ext cx="8790214" cy="3886200"/>
          </a:xfrm>
          <a:prstGeom prst="rect">
            <a:avLst/>
          </a:prstGeom>
        </p:spPr>
      </p:pic>
      <p:sp>
        <p:nvSpPr>
          <p:cNvPr id="8" name="Rectangle 7"/>
          <p:cNvSpPr/>
          <p:nvPr/>
        </p:nvSpPr>
        <p:spPr>
          <a:xfrm>
            <a:off x="777240" y="5779008"/>
            <a:ext cx="10607040"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79008"/>
            <a:ext cx="914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779008"/>
            <a:ext cx="10241280" cy="566928"/>
          </a:xfrm>
          <a:prstGeom prst="rect">
            <a:avLst/>
          </a:prstGeom>
          <a:noFill/>
        </p:spPr>
        <p:txBody>
          <a:bodyPr wrap="square" anchor="ctr">
            <a:spAutoFit/>
          </a:bodyPr>
          <a:lstStyle/>
          <a:p>
            <a:pPr algn="l">
              <a:spcAft>
                <a:spcPts val="400"/>
              </a:spcAft>
            </a:pPr>
            <a:r>
              <a:rPr sz="1300" b="0">
                <a:solidFill>
                  <a:srgbClr val="161B26"/>
                </a:solidFill>
                <a:latin typeface="Arial"/>
              </a:rPr>
              <a:t>Each lab builds a different one-person company — so you see the same control model applied to six very different businesses.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fast"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BEFORE YOU START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Clear your desk</a:t>
            </a:r>
          </a:p>
          <a:p>
            <a:pPr algn="l">
              <a:spcAft>
                <a:spcPts val="300"/>
              </a:spcAft>
            </a:pPr>
            <a:r>
              <a:rPr sz="1200" b="0">
                <a:solidFill>
                  <a:srgbClr val="5B6372"/>
                </a:solidFill>
                <a:latin typeface="Arial"/>
              </a:rPr>
              <a:t>Place phones and other materials under the table or on the floor.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recording</a:t>
            </a:r>
          </a:p>
          <a:p>
            <a:pPr algn="l">
              <a:spcAft>
                <a:spcPts val="300"/>
              </a:spcAft>
            </a:pPr>
            <a:r>
              <a:rPr sz="1200" b="0">
                <a:solidFill>
                  <a:srgbClr val="5B6372"/>
                </a:solidFill>
                <a:latin typeface="Arial"/>
              </a:rPr>
              <a:t>No photos or recording of assessment scripts.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discussion</a:t>
            </a:r>
          </a:p>
          <a:p>
            <a:pPr algn="l">
              <a:spcAft>
                <a:spcPts val="300"/>
              </a:spcAft>
            </a:pPr>
            <a:r>
              <a:rPr sz="1200" b="0">
                <a:solidFill>
                  <a:srgbClr val="5B6372"/>
                </a:solidFill>
                <a:latin typeface="Arial"/>
              </a:rPr>
              <a:t>Work individually — no discussion during the assessment.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Black or blue pen</a:t>
            </a:r>
          </a:p>
          <a:p>
            <a:pPr algn="l">
              <a:spcAft>
                <a:spcPts val="300"/>
              </a:spcAft>
            </a:pPr>
            <a:r>
              <a:rPr sz="1200" b="0">
                <a:solidFill>
                  <a:srgbClr val="5B6372"/>
                </a:solidFill>
                <a:latin typeface="Arial"/>
              </a:rPr>
              <a:t>Use a black or blue pen for hard-copy assessments.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correction fluid</a:t>
            </a:r>
          </a:p>
          <a:p>
            <a:pPr algn="l">
              <a:spcAft>
                <a:spcPts val="300"/>
              </a:spcAft>
            </a:pPr>
            <a:r>
              <a:rPr sz="1200" b="0">
                <a:solidFill>
                  <a:srgbClr val="5B6372"/>
                </a:solidFill>
                <a:latin typeface="Arial"/>
              </a:rPr>
              <a:t>No liquid paper or correction tape may be used.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Stop on time</a:t>
            </a:r>
          </a:p>
          <a:p>
            <a:pPr algn="l">
              <a:spcAft>
                <a:spcPts val="300"/>
              </a:spcAft>
            </a:pPr>
            <a:r>
              <a:rPr sz="1200" b="0">
                <a:solidFill>
                  <a:srgbClr val="5B6372"/>
                </a:solidFill>
                <a:latin typeface="Arial"/>
              </a:rPr>
              <a:t>Scripts are collected when time is up.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fast"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Written Assessment (WA)</a:t>
            </a:r>
          </a:p>
          <a:p>
            <a:pPr algn="l">
              <a:spcAft>
                <a:spcPts val="300"/>
              </a:spcAft>
            </a:pPr>
            <a:r>
              <a:rPr sz="1200" b="0">
                <a:solidFill>
                  <a:srgbClr val="5B6372"/>
                </a:solidFill>
                <a:latin typeface="Arial"/>
              </a:rPr>
              <a:t>Short-Answer Questions (SAQ) · 5 questions · 1 hour · open book. Tests the underpinning knowledge (K1–K5).</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Practical Performance (PP)</a:t>
            </a:r>
          </a:p>
          <a:p>
            <a:pPr algn="l">
              <a:spcAft>
                <a:spcPts val="300"/>
              </a:spcAft>
            </a:pPr>
            <a:r>
              <a:rPr sz="1200" b="0">
                <a:solidFill>
                  <a:srgbClr val="5B6372"/>
                </a:solidFill>
                <a:latin typeface="Arial"/>
              </a:rPr>
              <a:t>4 hands-on Paperclip tasks · 1 hour · open book. Tests the ability you built in the labs (A1–A4).</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Open book</a:t>
            </a:r>
          </a:p>
          <a:p>
            <a:pPr algn="l">
              <a:spcAft>
                <a:spcPts val="300"/>
              </a:spcAft>
            </a:pPr>
            <a:r>
              <a:rPr sz="1200" b="0">
                <a:solidFill>
                  <a:srgbClr val="5B6372"/>
                </a:solidFill>
                <a:latin typeface="Arial"/>
              </a:rPr>
              <a:t>You may use the course slides, the Learner Guide and approved materials only.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Eligibility</a:t>
            </a:r>
          </a:p>
          <a:p>
            <a:pPr algn="l">
              <a:spcAft>
                <a:spcPts val="300"/>
              </a:spcAft>
            </a:pPr>
            <a:r>
              <a:rPr sz="1200" b="0">
                <a:solidFill>
                  <a:srgbClr val="5B6372"/>
                </a:solidFill>
                <a:latin typeface="Arial"/>
              </a:rPr>
              <a:t>A minimum of 75% attendance is required to be eligible for assessment and funding.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Result</a:t>
            </a:r>
          </a:p>
          <a:p>
            <a:pPr algn="l">
              <a:spcAft>
                <a:spcPts val="300"/>
              </a:spcAft>
            </a:pPr>
            <a:r>
              <a:rPr sz="1200" b="0">
                <a:solidFill>
                  <a:srgbClr val="5B6372"/>
                </a:solidFill>
                <a:latin typeface="Arial"/>
              </a:rPr>
              <a:t>You are assessed as Competent (C) or Not Yet Competent (NYC) on each instrument.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Appeals</a:t>
            </a:r>
          </a:p>
          <a:p>
            <a:pPr algn="l">
              <a:spcAft>
                <a:spcPts val="300"/>
              </a:spcAft>
            </a:pPr>
            <a:r>
              <a:rPr sz="1200" b="0">
                <a:solidFill>
                  <a:srgbClr val="5B6372"/>
                </a:solidFill>
                <a:latin typeface="Arial"/>
              </a:rPr>
              <a:t>An appeal process is available if you wish to contest an assessment outcome.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fast"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TRAQOM survey</a:t>
            </a:r>
          </a:p>
        </p:txBody>
      </p:sp>
      <p:sp>
        <p:nvSpPr>
          <p:cNvPr id="12" name="TextBox 11"/>
          <p:cNvSpPr txBox="1"/>
          <p:nvPr/>
        </p:nvSpPr>
        <p:spPr>
          <a:xfrm>
            <a:off x="850392"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Scan the QR code on the LMS</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Digital attendance</a:t>
            </a:r>
          </a:p>
        </p:txBody>
      </p:sp>
      <p:sp>
        <p:nvSpPr>
          <p:cNvPr id="19" name="TextBox 18"/>
          <p:cNvSpPr txBox="1"/>
          <p:nvPr/>
        </p:nvSpPr>
        <p:spPr>
          <a:xfrm>
            <a:off x="3054096"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Scan the SSG assessment QR</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Sit WA then PP</a:t>
            </a:r>
          </a:p>
        </p:txBody>
      </p:sp>
      <p:sp>
        <p:nvSpPr>
          <p:cNvPr id="26" name="TextBox 25"/>
          <p:cNvSpPr txBox="1"/>
          <p:nvPr/>
        </p:nvSpPr>
        <p:spPr>
          <a:xfrm>
            <a:off x="5257800"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Open book · 1 hour each</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Submit on the LMS</a:t>
            </a:r>
          </a:p>
        </p:txBody>
      </p:sp>
      <p:sp>
        <p:nvSpPr>
          <p:cNvPr id="33" name="TextBox 32"/>
          <p:cNvSpPr txBox="1"/>
          <p:nvPr/>
        </p:nvSpPr>
        <p:spPr>
          <a:xfrm>
            <a:off x="7461504"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Upload your completed answers</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Sign the record</a:t>
            </a:r>
          </a:p>
        </p:txBody>
      </p:sp>
      <p:sp>
        <p:nvSpPr>
          <p:cNvPr id="40" name="TextBox 39"/>
          <p:cNvSpPr txBox="1"/>
          <p:nvPr/>
        </p:nvSpPr>
        <p:spPr>
          <a:xfrm>
            <a:off x="9665208"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Sign the Assessment Summary Record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REMEMBER</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All five steps are mandatory for WSQ funding — missing the digital attendance or the TRAQOM survey can invalidate your claim.</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EXAMS.TERTIARYINFOTECH.COM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Practice Exam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Practise before the real thing</a:t>
            </a:r>
          </a:p>
          <a:p>
            <a:pPr algn="l">
              <a:spcAft>
                <a:spcPts val="300"/>
              </a:spcAft>
            </a:pPr>
            <a:r>
              <a:rPr sz="1300" b="0">
                <a:solidFill>
                  <a:srgbClr val="5B6372"/>
                </a:solidFill>
                <a:latin typeface="Arial"/>
              </a:rPr>
              <a:t>Try the practice questions at https://exams.tertiaryinfotech.com before the final assessment.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Same format</a:t>
            </a:r>
          </a:p>
          <a:p>
            <a:pPr algn="l">
              <a:spcAft>
                <a:spcPts val="300"/>
              </a:spcAft>
            </a:pPr>
            <a:r>
              <a:rPr sz="1300" b="0">
                <a:solidFill>
                  <a:srgbClr val="5B6372"/>
                </a:solidFill>
                <a:latin typeface="Arial"/>
              </a:rPr>
              <a:t>Short-answer knowledge questions in the same style as the Written Assessment.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Self-marked</a:t>
            </a:r>
          </a:p>
          <a:p>
            <a:pPr algn="l">
              <a:spcAft>
                <a:spcPts val="300"/>
              </a:spcAft>
            </a:pPr>
            <a:r>
              <a:rPr sz="1300" b="0">
                <a:solidFill>
                  <a:srgbClr val="5B6372"/>
                </a:solidFill>
                <a:latin typeface="Arial"/>
              </a:rPr>
              <a:t>Use it to find the topics you need to revisit, not to score yourself.</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Free and unlimited</a:t>
            </a:r>
          </a:p>
          <a:p>
            <a:pPr algn="l">
              <a:spcAft>
                <a:spcPts val="300"/>
              </a:spcAft>
            </a:pPr>
            <a:r>
              <a:rPr sz="1300" b="0">
                <a:solidFill>
                  <a:srgbClr val="5B6372"/>
                </a:solidFill>
                <a:latin typeface="Arial"/>
              </a:rPr>
              <a:t>Attempt it as many times as you like during the course.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fast"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WSQ FUNDING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Criteria for Funding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Attendance</a:t>
            </a:r>
          </a:p>
          <a:p>
            <a:pPr algn="l">
              <a:spcAft>
                <a:spcPts val="300"/>
              </a:spcAft>
            </a:pPr>
            <a:r>
              <a:rPr sz="1300" b="0">
                <a:solidFill>
                  <a:srgbClr val="5B6372"/>
                </a:solidFill>
                <a:latin typeface="Arial"/>
              </a:rPr>
              <a:t>A minimum attendance rate of 75%, based on the SSG Digital Attendance record.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Assessment</a:t>
            </a:r>
          </a:p>
          <a:p>
            <a:pPr algn="l">
              <a:spcAft>
                <a:spcPts val="300"/>
              </a:spcAft>
            </a:pPr>
            <a:r>
              <a:rPr sz="1300" b="0">
                <a:solidFill>
                  <a:srgbClr val="5B6372"/>
                </a:solidFill>
                <a:latin typeface="Arial"/>
              </a:rPr>
              <a:t>Complete both assessment components and be assessed as 'Competent'.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Digital attendance</a:t>
            </a:r>
          </a:p>
          <a:p>
            <a:pPr algn="l">
              <a:spcAft>
                <a:spcPts val="300"/>
              </a:spcAft>
            </a:pPr>
            <a:r>
              <a:rPr sz="1300" b="0">
                <a:solidFill>
                  <a:srgbClr val="5B6372"/>
                </a:solidFill>
                <a:latin typeface="Arial"/>
              </a:rPr>
              <a:t>Scan the SSG QR code for AM, PM and Assessment on every training day.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TRAQOM survey</a:t>
            </a:r>
          </a:p>
          <a:p>
            <a:pPr algn="l">
              <a:spcAft>
                <a:spcPts val="300"/>
              </a:spcAft>
            </a:pPr>
            <a:r>
              <a:rPr sz="1300" b="0">
                <a:solidFill>
                  <a:srgbClr val="5B6372"/>
                </a:solidFill>
                <a:latin typeface="Arial"/>
              </a:rPr>
              <a:t>Complete the mandatory TRAQOM course feedback survey on the LMS.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fast"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ENVIRONMENT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Set Up Before We Start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Node.js 20 or later</a:t>
            </a:r>
          </a:p>
          <a:p>
            <a:pPr algn="l">
              <a:spcAft>
                <a:spcPts val="300"/>
              </a:spcAft>
            </a:pPr>
            <a:r>
              <a:rPr sz="1200" b="0">
                <a:solidFill>
                  <a:srgbClr val="5B6372"/>
                </a:solidFill>
                <a:latin typeface="Arial"/>
              </a:rPr>
              <a:t>Paperclip requires Node 20+. Check with node --version.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 normal user shell</a:t>
            </a:r>
          </a:p>
          <a:p>
            <a:pPr algn="l">
              <a:spcAft>
                <a:spcPts val="300"/>
              </a:spcAft>
            </a:pPr>
            <a:r>
              <a:rPr sz="1200" b="0">
                <a:solidFill>
                  <a:srgbClr val="5B6372"/>
                </a:solidFill>
                <a:latin typeface="Arial"/>
              </a:rPr>
              <a:t>Never run onboarding from an elevated Administrator or root shell.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An agent runtime</a:t>
            </a:r>
          </a:p>
          <a:p>
            <a:pPr algn="l">
              <a:spcAft>
                <a:spcPts val="300"/>
              </a:spcAft>
            </a:pPr>
            <a:r>
              <a:rPr sz="1200" b="0">
                <a:solidFill>
                  <a:srgbClr val="5B6372"/>
                </a:solidFill>
                <a:latin typeface="Arial"/>
              </a:rPr>
              <a:t>One trainer-approved CLI runtime (e.g. Claude Code, Codex, Gemini CLI).</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Git</a:t>
            </a:r>
          </a:p>
          <a:p>
            <a:pPr algn="l">
              <a:spcAft>
                <a:spcPts val="300"/>
              </a:spcAft>
            </a:pPr>
            <a:r>
              <a:rPr sz="1200" b="0">
                <a:solidFill>
                  <a:srgbClr val="5B6372"/>
                </a:solidFill>
                <a:latin typeface="Arial"/>
              </a:rPr>
              <a:t>Used to baseline each agent workspace so every change is a readable diff.</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Lab repository</a:t>
            </a:r>
          </a:p>
          <a:p>
            <a:pPr algn="l">
              <a:spcAft>
                <a:spcPts val="300"/>
              </a:spcAft>
            </a:pPr>
            <a:r>
              <a:rPr sz="1200" b="0">
                <a:solidFill>
                  <a:srgbClr val="5B6372"/>
                </a:solidFill>
                <a:latin typeface="Arial"/>
              </a:rPr>
              <a:t>Clone the course labs — the link is on your LMS course page.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Synthetic data only</a:t>
            </a:r>
          </a:p>
          <a:p>
            <a:pPr algn="l">
              <a:spcAft>
                <a:spcPts val="300"/>
              </a:spcAft>
            </a:pPr>
            <a:r>
              <a:rPr sz="1200" b="0">
                <a:solidFill>
                  <a:srgbClr val="5B6372"/>
                </a:solidFill>
                <a:latin typeface="Arial"/>
              </a:rPr>
              <a:t>All six company data sets are fabricated for training. Never load real company, market or candidate data.</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fast"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From a Single Agent to a Managed Agent Company</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advClick="1">
    <p:push dir="l"/>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SIX INGREDIENTS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Makes a System 'Agentic'?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Reasoning</a:t>
            </a:r>
          </a:p>
          <a:p>
            <a:pPr algn="l">
              <a:spcAft>
                <a:spcPts val="300"/>
              </a:spcAft>
            </a:pPr>
            <a:r>
              <a:rPr sz="1200" b="0">
                <a:solidFill>
                  <a:srgbClr val="5B6372"/>
                </a:solidFill>
                <a:latin typeface="Arial"/>
              </a:rPr>
              <a:t>The model plans a sequence of steps instead of answering in one shot.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Tool use</a:t>
            </a:r>
          </a:p>
          <a:p>
            <a:pPr algn="l">
              <a:spcAft>
                <a:spcPts val="300"/>
              </a:spcAft>
            </a:pPr>
            <a:r>
              <a:rPr sz="1200" b="0">
                <a:solidFill>
                  <a:srgbClr val="5B6372"/>
                </a:solidFill>
                <a:latin typeface="Arial"/>
              </a:rPr>
              <a:t>It calls functions, CLIs and APIs to fetch live data or take real actions.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Memory</a:t>
            </a:r>
          </a:p>
          <a:p>
            <a:pPr algn="l">
              <a:spcAft>
                <a:spcPts val="300"/>
              </a:spcAft>
            </a:pPr>
            <a:r>
              <a:rPr sz="1200" b="0">
                <a:solidFill>
                  <a:srgbClr val="5B6372"/>
                </a:solidFill>
                <a:latin typeface="Arial"/>
              </a:rPr>
              <a:t>State carries context across turns — and, in Paperclip, across heartbeats.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Autonomy</a:t>
            </a:r>
          </a:p>
          <a:p>
            <a:pPr algn="l">
              <a:spcAft>
                <a:spcPts val="300"/>
              </a:spcAft>
            </a:pPr>
            <a:r>
              <a:rPr sz="1200" b="0">
                <a:solidFill>
                  <a:srgbClr val="5B6372"/>
                </a:solidFill>
                <a:latin typeface="Arial"/>
              </a:rPr>
              <a:t>It decides which tool to use and when the work is actually finished.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Collaboration</a:t>
            </a:r>
          </a:p>
          <a:p>
            <a:pPr algn="l">
              <a:spcAft>
                <a:spcPts val="300"/>
              </a:spcAft>
            </a:pPr>
            <a:r>
              <a:rPr sz="1200" b="0">
                <a:solidFill>
                  <a:srgbClr val="5B6372"/>
                </a:solidFill>
                <a:latin typeface="Arial"/>
              </a:rPr>
              <a:t>Several specialised agents divide the work and hand off between themselves.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Guardrails</a:t>
            </a:r>
          </a:p>
          <a:p>
            <a:pPr algn="l">
              <a:spcAft>
                <a:spcPts val="300"/>
              </a:spcAft>
            </a:pPr>
            <a:r>
              <a:rPr sz="1200" b="0">
                <a:solidFill>
                  <a:srgbClr val="5B6372"/>
                </a:solidFill>
                <a:latin typeface="Arial"/>
              </a:rPr>
              <a:t>Policies, budgets and approvals constrain what the agent may do.</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fast"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WHY A CONTROL PLANE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An LLM answers. An agent acts. A company coordinates.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Paperclip is the third layer — it does not make your agents smarter, it makes a team of them accountable.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fast"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ORCHESTRATE, DO NOT REPLACE, THE RUNTIME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Paperclip Control-Plane Architecture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rch-control-plane.png"/>
          <p:cNvPicPr>
            <a:picLocks noChangeAspect="1"/>
          </p:cNvPicPr>
          <p:nvPr/>
        </p:nvPicPr>
        <p:blipFill>
          <a:blip r:embed="rId2"/>
          <a:stretch>
            <a:fillRect/>
          </a:stretch>
        </p:blipFill>
        <p:spPr>
          <a:xfrm>
            <a:off x="777240" y="2084656"/>
            <a:ext cx="6812280" cy="3676240"/>
          </a:xfrm>
          <a:prstGeom prst="rect">
            <a:avLst/>
          </a:prstGeom>
        </p:spPr>
      </p:pic>
      <p:sp>
        <p:nvSpPr>
          <p:cNvPr id="8" name="Rectangle 7"/>
          <p:cNvSpPr/>
          <p:nvPr/>
        </p:nvSpPr>
        <p:spPr>
          <a:xfrm>
            <a:off x="7882127" y="1810512"/>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82127" y="1810512"/>
            <a:ext cx="352958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3295" y="1975104"/>
            <a:ext cx="3127248" cy="310896"/>
          </a:xfrm>
          <a:prstGeom prst="rect">
            <a:avLst/>
          </a:prstGeom>
          <a:noFill/>
        </p:spPr>
        <p:txBody>
          <a:bodyPr wrap="square" anchor="t">
            <a:spAutoFit/>
          </a:bodyPr>
          <a:lstStyle/>
          <a:p>
            <a:pPr algn="l">
              <a:spcAft>
                <a:spcPts val="400"/>
              </a:spcAft>
            </a:pPr>
            <a:r>
              <a:rPr sz="1350" b="1">
                <a:solidFill>
                  <a:srgbClr val="1F6FEB"/>
                </a:solidFill>
                <a:latin typeface="Arial"/>
              </a:rPr>
              <a:t>Board · you</a:t>
            </a:r>
          </a:p>
        </p:txBody>
      </p:sp>
      <p:sp>
        <p:nvSpPr>
          <p:cNvPr id="11" name="TextBox 10"/>
          <p:cNvSpPr txBox="1"/>
          <p:nvPr/>
        </p:nvSpPr>
        <p:spPr>
          <a:xfrm>
            <a:off x="8083295" y="2322576"/>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You set direction, approve governed actions and intervene. Authority never leaves the human.</a:t>
            </a:r>
          </a:p>
        </p:txBody>
      </p:sp>
      <p:sp>
        <p:nvSpPr>
          <p:cNvPr id="12" name="Rectangle 11"/>
          <p:cNvSpPr/>
          <p:nvPr/>
        </p:nvSpPr>
        <p:spPr>
          <a:xfrm>
            <a:off x="7882127" y="2944368"/>
            <a:ext cx="3529584"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882127" y="2944368"/>
            <a:ext cx="352958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3295" y="3108960"/>
            <a:ext cx="3127248" cy="310896"/>
          </a:xfrm>
          <a:prstGeom prst="rect">
            <a:avLst/>
          </a:prstGeom>
          <a:noFill/>
        </p:spPr>
        <p:txBody>
          <a:bodyPr wrap="square" anchor="t">
            <a:spAutoFit/>
          </a:bodyPr>
          <a:lstStyle/>
          <a:p>
            <a:pPr algn="l">
              <a:spcAft>
                <a:spcPts val="400"/>
              </a:spcAft>
            </a:pPr>
            <a:r>
              <a:rPr sz="1350" b="1">
                <a:solidFill>
                  <a:srgbClr val="10B981"/>
                </a:solidFill>
                <a:latin typeface="Arial"/>
              </a:rPr>
              <a:t>The control plane</a:t>
            </a:r>
          </a:p>
        </p:txBody>
      </p:sp>
      <p:sp>
        <p:nvSpPr>
          <p:cNvPr id="15" name="TextBox 14"/>
          <p:cNvSpPr txBox="1"/>
          <p:nvPr/>
        </p:nvSpPr>
        <p:spPr>
          <a:xfrm>
            <a:off x="8083295" y="3456432"/>
            <a:ext cx="3127248" cy="530352"/>
          </a:xfrm>
          <a:prstGeom prst="rect">
            <a:avLst/>
          </a:prstGeom>
          <a:noFill/>
        </p:spPr>
        <p:txBody>
          <a:bodyPr wrap="square" anchor="t">
            <a:spAutoFit/>
          </a:bodyPr>
          <a:lstStyle/>
          <a:p>
            <a:pPr algn="l">
              <a:spcAft>
                <a:spcPts val="400"/>
              </a:spcAft>
            </a:pPr>
            <a:r>
              <a:rPr sz="900" b="0">
                <a:solidFill>
                  <a:srgbClr val="161B26"/>
                </a:solidFill>
                <a:latin typeface="Arial"/>
              </a:rPr>
              <a:t>Stores companies, org charts, issues, budgets, secrets and the audit trail. Node.js + React on port 3100.</a:t>
            </a:r>
          </a:p>
        </p:txBody>
      </p:sp>
      <p:sp>
        <p:nvSpPr>
          <p:cNvPr id="16" name="Rectangle 15"/>
          <p:cNvSpPr/>
          <p:nvPr/>
        </p:nvSpPr>
        <p:spPr>
          <a:xfrm>
            <a:off x="7882127" y="4224528"/>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4224528"/>
            <a:ext cx="3529584"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83295" y="4389120"/>
            <a:ext cx="3127248" cy="310896"/>
          </a:xfrm>
          <a:prstGeom prst="rect">
            <a:avLst/>
          </a:prstGeom>
          <a:noFill/>
        </p:spPr>
        <p:txBody>
          <a:bodyPr wrap="square" anchor="t">
            <a:spAutoFit/>
          </a:bodyPr>
          <a:lstStyle/>
          <a:p>
            <a:pPr algn="l">
              <a:spcAft>
                <a:spcPts val="400"/>
              </a:spcAft>
            </a:pPr>
            <a:r>
              <a:rPr sz="1350" b="1">
                <a:solidFill>
                  <a:srgbClr val="7C3AED"/>
                </a:solidFill>
                <a:latin typeface="Arial"/>
              </a:rPr>
              <a:t>The adapters</a:t>
            </a:r>
          </a:p>
        </p:txBody>
      </p:sp>
      <p:sp>
        <p:nvSpPr>
          <p:cNvPr id="19" name="TextBox 18"/>
          <p:cNvSpPr txBox="1"/>
          <p:nvPr/>
        </p:nvSpPr>
        <p:spPr>
          <a:xfrm>
            <a:off x="8083295" y="4736592"/>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Claude Code, Codex, Cursor, Gemini CLI, bash or an HTTP bot — these do the actual reasoning.</a:t>
            </a:r>
          </a:p>
        </p:txBody>
      </p:sp>
      <p:sp>
        <p:nvSpPr>
          <p:cNvPr id="20" name="Rectangle 19"/>
          <p:cNvSpPr/>
          <p:nvPr/>
        </p:nvSpPr>
        <p:spPr>
          <a:xfrm>
            <a:off x="7882127" y="5358384"/>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82127" y="5358384"/>
            <a:ext cx="352958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83295" y="5522976"/>
            <a:ext cx="3127248" cy="310896"/>
          </a:xfrm>
          <a:prstGeom prst="rect">
            <a:avLst/>
          </a:prstGeom>
          <a:noFill/>
        </p:spPr>
        <p:txBody>
          <a:bodyPr wrap="square" anchor="t">
            <a:spAutoFit/>
          </a:bodyPr>
          <a:lstStyle/>
          <a:p>
            <a:pPr algn="l">
              <a:spcAft>
                <a:spcPts val="400"/>
              </a:spcAft>
            </a:pPr>
            <a:r>
              <a:rPr sz="1350" b="1">
                <a:solidFill>
                  <a:srgbClr val="F59E0B"/>
                </a:solidFill>
                <a:latin typeface="Arial"/>
              </a:rPr>
              <a:t>The separation</a:t>
            </a:r>
          </a:p>
        </p:txBody>
      </p:sp>
      <p:sp>
        <p:nvSpPr>
          <p:cNvPr id="23" name="TextBox 22"/>
          <p:cNvSpPr txBox="1"/>
          <p:nvPr/>
        </p:nvSpPr>
        <p:spPr>
          <a:xfrm>
            <a:off x="8083295" y="5870448"/>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Organisational authority, runtime capability and verification evidence are kept deliberately apart.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fast"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SCOPE THE TOOL CORRECTLY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Paperclip Is — and Is Not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80282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80282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41017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41017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94759"/>
            <a:ext cx="3973068" cy="1643280"/>
          </a:xfrm>
          <a:prstGeom prst="rect">
            <a:avLst/>
          </a:prstGeom>
          <a:noFill/>
        </p:spPr>
        <p:txBody>
          <a:bodyPr wrap="square" anchor="ctr">
            <a:spAutoFit/>
          </a:bodyPr>
          <a:lstStyle/>
          <a:p>
            <a:pPr algn="l">
              <a:spcAft>
                <a:spcPts val="300"/>
              </a:spcAft>
            </a:pPr>
            <a:r>
              <a:rPr sz="1600" b="1">
                <a:solidFill>
                  <a:srgbClr val="161B26"/>
                </a:solidFill>
                <a:latin typeface="Arial"/>
              </a:rPr>
              <a:t>IS · an organisational control plane</a:t>
            </a:r>
          </a:p>
          <a:p>
            <a:pPr algn="l">
              <a:spcAft>
                <a:spcPts val="300"/>
              </a:spcAft>
            </a:pPr>
            <a:r>
              <a:rPr sz="1200" b="0">
                <a:solidFill>
                  <a:srgbClr val="5B6372"/>
                </a:solidFill>
                <a:latin typeface="Arial"/>
              </a:rPr>
              <a:t>Org charts, issues, budgets, approvals and a durable audit trail for a team of agents.</a:t>
            </a:r>
          </a:p>
        </p:txBody>
      </p:sp>
      <p:sp>
        <p:nvSpPr>
          <p:cNvPr id="12" name="Rectangle 11"/>
          <p:cNvSpPr/>
          <p:nvPr/>
        </p:nvSpPr>
        <p:spPr>
          <a:xfrm>
            <a:off x="6231636" y="1783080"/>
            <a:ext cx="5180076" cy="180282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80282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41017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41017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94759"/>
            <a:ext cx="3973068" cy="1643280"/>
          </a:xfrm>
          <a:prstGeom prst="rect">
            <a:avLst/>
          </a:prstGeom>
          <a:noFill/>
        </p:spPr>
        <p:txBody>
          <a:bodyPr wrap="square" anchor="ctr">
            <a:spAutoFit/>
          </a:bodyPr>
          <a:lstStyle/>
          <a:p>
            <a:pPr algn="l">
              <a:spcAft>
                <a:spcPts val="300"/>
              </a:spcAft>
            </a:pPr>
            <a:r>
              <a:rPr sz="1600" b="1">
                <a:solidFill>
                  <a:srgbClr val="161B26"/>
                </a:solidFill>
                <a:latin typeface="Arial"/>
              </a:rPr>
              <a:t>IS · a runtime-agnostic scheduler</a:t>
            </a:r>
          </a:p>
          <a:p>
            <a:pPr algn="l">
              <a:spcAft>
                <a:spcPts val="300"/>
              </a:spcAft>
            </a:pPr>
            <a:r>
              <a:rPr sz="1200" b="0">
                <a:solidFill>
                  <a:srgbClr val="5B6372"/>
                </a:solidFill>
                <a:latin typeface="Arial"/>
              </a:rPr>
              <a:t>'If it can receive a heartbeat, it's hired.' It schedules and budgets agents without replacing them.</a:t>
            </a:r>
          </a:p>
        </p:txBody>
      </p:sp>
      <p:sp>
        <p:nvSpPr>
          <p:cNvPr id="17" name="Rectangle 16"/>
          <p:cNvSpPr/>
          <p:nvPr/>
        </p:nvSpPr>
        <p:spPr>
          <a:xfrm>
            <a:off x="777240" y="3793306"/>
            <a:ext cx="5180076" cy="180282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793306"/>
            <a:ext cx="91440" cy="180282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420397"/>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420397"/>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904985"/>
            <a:ext cx="3973068" cy="1643280"/>
          </a:xfrm>
          <a:prstGeom prst="rect">
            <a:avLst/>
          </a:prstGeom>
          <a:noFill/>
        </p:spPr>
        <p:txBody>
          <a:bodyPr wrap="square" anchor="ctr">
            <a:spAutoFit/>
          </a:bodyPr>
          <a:lstStyle/>
          <a:p>
            <a:pPr algn="l">
              <a:spcAft>
                <a:spcPts val="300"/>
              </a:spcAft>
            </a:pPr>
            <a:r>
              <a:rPr sz="1600" b="1">
                <a:solidFill>
                  <a:srgbClr val="161B26"/>
                </a:solidFill>
                <a:latin typeface="Arial"/>
              </a:rPr>
              <a:t>IS NOT · an agent framework</a:t>
            </a:r>
          </a:p>
          <a:p>
            <a:pPr algn="l">
              <a:spcAft>
                <a:spcPts val="300"/>
              </a:spcAft>
            </a:pPr>
            <a:r>
              <a:rPr sz="1200" b="0">
                <a:solidFill>
                  <a:srgbClr val="5B6372"/>
                </a:solidFill>
                <a:latin typeface="Arial"/>
              </a:rPr>
              <a:t>It does not dictate how your agent reasons, prompts or calls tools. That is the adapter's job.</a:t>
            </a:r>
          </a:p>
        </p:txBody>
      </p:sp>
      <p:sp>
        <p:nvSpPr>
          <p:cNvPr id="22" name="Rectangle 21"/>
          <p:cNvSpPr/>
          <p:nvPr/>
        </p:nvSpPr>
        <p:spPr>
          <a:xfrm>
            <a:off x="6231636" y="3793306"/>
            <a:ext cx="5180076" cy="180282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793306"/>
            <a:ext cx="91440" cy="180282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420397"/>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420397"/>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904985"/>
            <a:ext cx="3973068" cy="1643280"/>
          </a:xfrm>
          <a:prstGeom prst="rect">
            <a:avLst/>
          </a:prstGeom>
          <a:noFill/>
        </p:spPr>
        <p:txBody>
          <a:bodyPr wrap="square" anchor="ctr">
            <a:spAutoFit/>
          </a:bodyPr>
          <a:lstStyle/>
          <a:p>
            <a:pPr algn="l">
              <a:spcAft>
                <a:spcPts val="300"/>
              </a:spcAft>
            </a:pPr>
            <a:r>
              <a:rPr sz="1600" b="1">
                <a:solidFill>
                  <a:srgbClr val="161B26"/>
                </a:solidFill>
                <a:latin typeface="Arial"/>
              </a:rPr>
              <a:t>IS NOT · a chatbot or workflow builder</a:t>
            </a:r>
          </a:p>
          <a:p>
            <a:pPr algn="l">
              <a:spcAft>
                <a:spcPts val="300"/>
              </a:spcAft>
            </a:pPr>
            <a:r>
              <a:rPr sz="1200" b="0">
                <a:solidFill>
                  <a:srgbClr val="5B6372"/>
                </a:solidFill>
                <a:latin typeface="Arial"/>
              </a:rPr>
              <a:t>No drag-and-drop canvas, no prompt manager, and not designed for a single-agent use case.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
        <p:nvSpPr>
          <p:cNvPr id="30" name="Rectangle 29"/>
          <p:cNvSpPr/>
          <p:nvPr/>
        </p:nvSpPr>
        <p:spPr>
          <a:xfrm>
            <a:off x="777240" y="5742432"/>
            <a:ext cx="10607040" cy="603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742432"/>
            <a:ext cx="91440"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51560" y="5742432"/>
            <a:ext cx="10241280" cy="603504"/>
          </a:xfrm>
          <a:prstGeom prst="rect">
            <a:avLst/>
          </a:prstGeom>
          <a:noFill/>
        </p:spPr>
        <p:txBody>
          <a:bodyPr wrap="square" anchor="ctr">
            <a:spAutoFit/>
          </a:bodyPr>
          <a:lstStyle/>
          <a:p>
            <a:pPr algn="l">
              <a:spcAft>
                <a:spcPts val="400"/>
              </a:spcAft>
            </a:pPr>
            <a:r>
              <a:rPr sz="1350" b="1">
                <a:solidFill>
                  <a:srgbClr val="161B26"/>
                </a:solidFill>
                <a:latin typeface="Arial"/>
              </a:rPr>
              <a:t>Choosing Paperclip is an organisational decision, not a modelling decision.</a:t>
            </a:r>
          </a:p>
        </p:txBody>
      </p:sp>
    </p:spTree>
  </p:cSld>
  <p:clrMapOvr>
    <a:masterClrMapping/>
  </p:clrMapOvr>
  <p:transition spd="fast"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THE PRODUCT MODEL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Four Pillars of Paperclip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aperclip-four-pillars.png"/>
          <p:cNvPicPr>
            <a:picLocks noChangeAspect="1"/>
          </p:cNvPicPr>
          <p:nvPr/>
        </p:nvPicPr>
        <p:blipFill>
          <a:blip r:embed="rId2"/>
          <a:stretch>
            <a:fillRect/>
          </a:stretch>
        </p:blipFill>
        <p:spPr>
          <a:xfrm>
            <a:off x="2626360" y="1810512"/>
            <a:ext cx="6908800" cy="3886200"/>
          </a:xfrm>
          <a:prstGeom prst="rect">
            <a:avLst/>
          </a:prstGeom>
        </p:spPr>
      </p:pic>
      <p:sp>
        <p:nvSpPr>
          <p:cNvPr id="8" name="Rectangle 7"/>
          <p:cNvSpPr/>
          <p:nvPr/>
        </p:nvSpPr>
        <p:spPr>
          <a:xfrm>
            <a:off x="777240" y="5779008"/>
            <a:ext cx="10607040"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779008"/>
            <a:ext cx="91440"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779008"/>
            <a:ext cx="10241280" cy="566928"/>
          </a:xfrm>
          <a:prstGeom prst="rect">
            <a:avLst/>
          </a:prstGeom>
          <a:noFill/>
        </p:spPr>
        <p:txBody>
          <a:bodyPr wrap="square" anchor="ctr">
            <a:spAutoFit/>
          </a:bodyPr>
          <a:lstStyle/>
          <a:p>
            <a:pPr algn="l">
              <a:spcAft>
                <a:spcPts val="400"/>
              </a:spcAft>
            </a:pPr>
            <a:r>
              <a:rPr sz="1300" b="0">
                <a:solidFill>
                  <a:srgbClr val="161B26"/>
                </a:solidFill>
                <a:latin typeface="Arial"/>
              </a:rPr>
              <a:t>Agentic task manager · org chart for agents · agent employee training · agentic OS. Source: the official Paperclip project.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fast"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WHAT THE PLATFORM ACTUALLY CONTAINS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Twelve Subsystems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Identity &amp; org chart</a:t>
            </a:r>
          </a:p>
          <a:p>
            <a:pPr algn="l">
              <a:spcAft>
                <a:spcPts val="300"/>
              </a:spcAft>
            </a:pPr>
            <a:r>
              <a:rPr sz="1200" b="0">
                <a:solidFill>
                  <a:srgbClr val="5B6372"/>
                </a:solidFill>
                <a:latin typeface="Arial"/>
              </a:rPr>
              <a:t>Who exists, who reports to whom, and what each role may do.</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Work &amp; heartbeat</a:t>
            </a:r>
          </a:p>
          <a:p>
            <a:pPr algn="l">
              <a:spcAft>
                <a:spcPts val="300"/>
              </a:spcAft>
            </a:pPr>
            <a:r>
              <a:rPr sz="1200" b="0">
                <a:solidFill>
                  <a:srgbClr val="5B6372"/>
                </a:solidFill>
                <a:latin typeface="Arial"/>
              </a:rPr>
              <a:t>Issues with atomic checkout, woken by bounded execution bursts.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Workspaces &amp; runtime</a:t>
            </a:r>
          </a:p>
          <a:p>
            <a:pPr algn="l">
              <a:spcAft>
                <a:spcPts val="300"/>
              </a:spcAft>
            </a:pPr>
            <a:r>
              <a:rPr sz="1200" b="0">
                <a:solidFill>
                  <a:srgbClr val="5B6372"/>
                </a:solidFill>
                <a:latin typeface="Arial"/>
              </a:rPr>
              <a:t>Isolated roots (git worktrees) and the adapter that runs there.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Governance &amp; budget</a:t>
            </a:r>
          </a:p>
          <a:p>
            <a:pPr algn="l">
              <a:spcAft>
                <a:spcPts val="300"/>
              </a:spcAft>
            </a:pPr>
            <a:r>
              <a:rPr sz="1200" b="0">
                <a:solidFill>
                  <a:srgbClr val="5B6372"/>
                </a:solidFill>
                <a:latin typeface="Arial"/>
              </a:rPr>
              <a:t>Approval gates and caps enforced at checkout, not at billing.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Routines &amp; plugins</a:t>
            </a:r>
          </a:p>
          <a:p>
            <a:pPr algn="l">
              <a:spcAft>
                <a:spcPts val="300"/>
              </a:spcAft>
            </a:pPr>
            <a:r>
              <a:rPr sz="1200" b="0">
                <a:solidFill>
                  <a:srgbClr val="5B6372"/>
                </a:solidFill>
                <a:latin typeface="Arial"/>
              </a:rPr>
              <a:t>Scheduled recurring work, and the skills library agents draw 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Secrets, activity &amp; portability</a:t>
            </a:r>
          </a:p>
          <a:p>
            <a:pPr algn="l">
              <a:spcAft>
                <a:spcPts val="300"/>
              </a:spcAft>
            </a:pPr>
            <a:r>
              <a:rPr sz="1200" b="0">
                <a:solidFill>
                  <a:srgbClr val="5B6372"/>
                </a:solidFill>
                <a:latin typeface="Arial"/>
              </a:rPr>
              <a:t>Scoped injection, a durable audit log, and export/import of a whole company.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fast"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THE EXECUTION MODEL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The Heartbeat — Bounded Execution, Not a Running Process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iagram-heartbeat.png"/>
          <p:cNvPicPr>
            <a:picLocks noChangeAspect="1"/>
          </p:cNvPicPr>
          <p:nvPr/>
        </p:nvPicPr>
        <p:blipFill>
          <a:blip r:embed="rId2"/>
          <a:stretch>
            <a:fillRect/>
          </a:stretch>
        </p:blipFill>
        <p:spPr>
          <a:xfrm>
            <a:off x="777240" y="2361927"/>
            <a:ext cx="6812280" cy="3121697"/>
          </a:xfrm>
          <a:prstGeom prst="rect">
            <a:avLst/>
          </a:prstGeom>
        </p:spPr>
      </p:pic>
      <p:sp>
        <p:nvSpPr>
          <p:cNvPr id="8" name="Rectangle 7"/>
          <p:cNvSpPr/>
          <p:nvPr/>
        </p:nvSpPr>
        <p:spPr>
          <a:xfrm>
            <a:off x="7882127" y="1810512"/>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82127" y="1810512"/>
            <a:ext cx="352958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3295" y="1975104"/>
            <a:ext cx="3127248" cy="310896"/>
          </a:xfrm>
          <a:prstGeom prst="rect">
            <a:avLst/>
          </a:prstGeom>
          <a:noFill/>
        </p:spPr>
        <p:txBody>
          <a:bodyPr wrap="square" anchor="t">
            <a:spAutoFit/>
          </a:bodyPr>
          <a:lstStyle/>
          <a:p>
            <a:pPr algn="l">
              <a:spcAft>
                <a:spcPts val="400"/>
              </a:spcAft>
            </a:pPr>
            <a:r>
              <a:rPr sz="1350" b="1">
                <a:solidFill>
                  <a:srgbClr val="1F6FEB"/>
                </a:solidFill>
                <a:latin typeface="Arial"/>
              </a:rPr>
              <a:t>Dormant by default</a:t>
            </a:r>
          </a:p>
        </p:txBody>
      </p:sp>
      <p:sp>
        <p:nvSpPr>
          <p:cNvPr id="11" name="TextBox 10"/>
          <p:cNvSpPr txBox="1"/>
          <p:nvPr/>
        </p:nvSpPr>
        <p:spPr>
          <a:xfrm>
            <a:off x="8083295" y="2322576"/>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Between heartbeats the agent is not idling and not billing.</a:t>
            </a:r>
          </a:p>
        </p:txBody>
      </p:sp>
      <p:sp>
        <p:nvSpPr>
          <p:cNvPr id="12" name="Rectangle 11"/>
          <p:cNvSpPr/>
          <p:nvPr/>
        </p:nvSpPr>
        <p:spPr>
          <a:xfrm>
            <a:off x="7882127" y="2944368"/>
            <a:ext cx="3529584"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882127" y="2944368"/>
            <a:ext cx="352958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3295" y="3108960"/>
            <a:ext cx="3127248" cy="310896"/>
          </a:xfrm>
          <a:prstGeom prst="rect">
            <a:avLst/>
          </a:prstGeom>
          <a:noFill/>
        </p:spPr>
        <p:txBody>
          <a:bodyPr wrap="square" anchor="t">
            <a:spAutoFit/>
          </a:bodyPr>
          <a:lstStyle/>
          <a:p>
            <a:pPr algn="l">
              <a:spcAft>
                <a:spcPts val="400"/>
              </a:spcAft>
            </a:pPr>
            <a:r>
              <a:rPr sz="1350" b="1">
                <a:solidFill>
                  <a:srgbClr val="10B981"/>
                </a:solidFill>
                <a:latin typeface="Arial"/>
              </a:rPr>
              <a:t>Five triggers</a:t>
            </a:r>
          </a:p>
        </p:txBody>
      </p:sp>
      <p:sp>
        <p:nvSpPr>
          <p:cNvPr id="15" name="TextBox 14"/>
          <p:cNvSpPr txBox="1"/>
          <p:nvPr/>
        </p:nvSpPr>
        <p:spPr>
          <a:xfrm>
            <a:off x="8083295" y="3456432"/>
            <a:ext cx="3127248" cy="530352"/>
          </a:xfrm>
          <a:prstGeom prst="rect">
            <a:avLst/>
          </a:prstGeom>
          <a:noFill/>
        </p:spPr>
        <p:txBody>
          <a:bodyPr wrap="square" anchor="t">
            <a:spAutoFit/>
          </a:bodyPr>
          <a:lstStyle/>
          <a:p>
            <a:pPr algn="l">
              <a:spcAft>
                <a:spcPts val="400"/>
              </a:spcAft>
            </a:pPr>
            <a:r>
              <a:rPr sz="900" b="0">
                <a:solidFill>
                  <a:srgbClr val="161B26"/>
                </a:solidFill>
                <a:latin typeface="Arial"/>
              </a:rPr>
              <a:t>A schedule/interval tick, a task assignment, an @-mention, a manual Run Heartbeat, or an approval being resolved.</a:t>
            </a:r>
          </a:p>
        </p:txBody>
      </p:sp>
      <p:sp>
        <p:nvSpPr>
          <p:cNvPr id="16" name="Rectangle 15"/>
          <p:cNvSpPr/>
          <p:nvPr/>
        </p:nvSpPr>
        <p:spPr>
          <a:xfrm>
            <a:off x="7882127" y="4224528"/>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4224528"/>
            <a:ext cx="3529584"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83295" y="4389120"/>
            <a:ext cx="3127248" cy="310896"/>
          </a:xfrm>
          <a:prstGeom prst="rect">
            <a:avLst/>
          </a:prstGeom>
          <a:noFill/>
        </p:spPr>
        <p:txBody>
          <a:bodyPr wrap="square" anchor="t">
            <a:spAutoFit/>
          </a:bodyPr>
          <a:lstStyle/>
          <a:p>
            <a:pPr algn="l">
              <a:spcAft>
                <a:spcPts val="400"/>
              </a:spcAft>
            </a:pPr>
            <a:r>
              <a:rPr sz="1350" b="1">
                <a:solidFill>
                  <a:srgbClr val="7C3AED"/>
                </a:solidFill>
                <a:latin typeface="Arial"/>
              </a:rPr>
              <a:t>Atomic checkout</a:t>
            </a:r>
          </a:p>
        </p:txBody>
      </p:sp>
      <p:sp>
        <p:nvSpPr>
          <p:cNvPr id="19" name="TextBox 18"/>
          <p:cNvSpPr txBox="1"/>
          <p:nvPr/>
        </p:nvSpPr>
        <p:spPr>
          <a:xfrm>
            <a:off x="8083295" y="4736592"/>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An execution lock means two heartbeats can never double-work the same issue.</a:t>
            </a:r>
          </a:p>
        </p:txBody>
      </p:sp>
      <p:sp>
        <p:nvSpPr>
          <p:cNvPr id="20" name="Rectangle 19"/>
          <p:cNvSpPr/>
          <p:nvPr/>
        </p:nvSpPr>
        <p:spPr>
          <a:xfrm>
            <a:off x="7882127" y="5358384"/>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82127" y="5358384"/>
            <a:ext cx="352958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83295" y="5522976"/>
            <a:ext cx="3127248" cy="310896"/>
          </a:xfrm>
          <a:prstGeom prst="rect">
            <a:avLst/>
          </a:prstGeom>
          <a:noFill/>
        </p:spPr>
        <p:txBody>
          <a:bodyPr wrap="square" anchor="t">
            <a:spAutoFit/>
          </a:bodyPr>
          <a:lstStyle/>
          <a:p>
            <a:pPr algn="l">
              <a:spcAft>
                <a:spcPts val="400"/>
              </a:spcAft>
            </a:pPr>
            <a:r>
              <a:rPr sz="1350" b="1">
                <a:solidFill>
                  <a:srgbClr val="F59E0B"/>
                </a:solidFill>
                <a:latin typeface="Arial"/>
              </a:rPr>
              <a:t>Budget checked first</a:t>
            </a:r>
          </a:p>
        </p:txBody>
      </p:sp>
      <p:sp>
        <p:nvSpPr>
          <p:cNvPr id="23" name="TextBox 22"/>
          <p:cNvSpPr txBox="1"/>
          <p:nvPr/>
        </p:nvSpPr>
        <p:spPr>
          <a:xfrm>
            <a:off x="8083295" y="5870448"/>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The cap is tested at checkout — a runaway loop stops at the ceiling.</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fast"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LO1 · THE MOST IMPORTANT DECISION IN THE COURSE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Feasibility Scan — Does Coordination Earn Its Cost?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iagram-feasibility.png"/>
          <p:cNvPicPr>
            <a:picLocks noChangeAspect="1"/>
          </p:cNvPicPr>
          <p:nvPr/>
        </p:nvPicPr>
        <p:blipFill>
          <a:blip r:embed="rId2"/>
          <a:stretch>
            <a:fillRect/>
          </a:stretch>
        </p:blipFill>
        <p:spPr>
          <a:xfrm>
            <a:off x="777240" y="2351862"/>
            <a:ext cx="6812279" cy="3141827"/>
          </a:xfrm>
          <a:prstGeom prst="rect">
            <a:avLst/>
          </a:prstGeom>
        </p:spPr>
      </p:pic>
      <p:sp>
        <p:nvSpPr>
          <p:cNvPr id="8" name="Rectangle 7"/>
          <p:cNvSpPr/>
          <p:nvPr/>
        </p:nvSpPr>
        <p:spPr>
          <a:xfrm>
            <a:off x="7882127" y="1810512"/>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82127" y="1810512"/>
            <a:ext cx="352958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3295" y="1975104"/>
            <a:ext cx="3127248" cy="310896"/>
          </a:xfrm>
          <a:prstGeom prst="rect">
            <a:avLst/>
          </a:prstGeom>
          <a:noFill/>
        </p:spPr>
        <p:txBody>
          <a:bodyPr wrap="square" anchor="t">
            <a:spAutoFit/>
          </a:bodyPr>
          <a:lstStyle/>
          <a:p>
            <a:pPr algn="l">
              <a:spcAft>
                <a:spcPts val="400"/>
              </a:spcAft>
            </a:pPr>
            <a:r>
              <a:rPr sz="1350" b="1">
                <a:solidFill>
                  <a:srgbClr val="1F6FEB"/>
                </a:solidFill>
                <a:latin typeface="Arial"/>
              </a:rPr>
              <a:t>Use ONE agent</a:t>
            </a:r>
          </a:p>
        </p:txBody>
      </p:sp>
      <p:sp>
        <p:nvSpPr>
          <p:cNvPr id="11" name="TextBox 10"/>
          <p:cNvSpPr txBox="1"/>
          <p:nvPr/>
        </p:nvSpPr>
        <p:spPr>
          <a:xfrm>
            <a:off x="8083295" y="2322576"/>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When inputs, tools, authority and verification are the same across the whole task.</a:t>
            </a:r>
          </a:p>
        </p:txBody>
      </p:sp>
      <p:sp>
        <p:nvSpPr>
          <p:cNvPr id="12" name="Rectangle 11"/>
          <p:cNvSpPr/>
          <p:nvPr/>
        </p:nvSpPr>
        <p:spPr>
          <a:xfrm>
            <a:off x="7882127" y="2944368"/>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882127" y="2944368"/>
            <a:ext cx="352958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3295" y="3108960"/>
            <a:ext cx="3127248" cy="310896"/>
          </a:xfrm>
          <a:prstGeom prst="rect">
            <a:avLst/>
          </a:prstGeom>
          <a:noFill/>
        </p:spPr>
        <p:txBody>
          <a:bodyPr wrap="square" anchor="t">
            <a:spAutoFit/>
          </a:bodyPr>
          <a:lstStyle/>
          <a:p>
            <a:pPr algn="l">
              <a:spcAft>
                <a:spcPts val="400"/>
              </a:spcAft>
            </a:pPr>
            <a:r>
              <a:rPr sz="1350" b="1">
                <a:solidFill>
                  <a:srgbClr val="10B981"/>
                </a:solidFill>
                <a:latin typeface="Arial"/>
              </a:rPr>
              <a:t>Add a specialist</a:t>
            </a:r>
          </a:p>
        </p:txBody>
      </p:sp>
      <p:sp>
        <p:nvSpPr>
          <p:cNvPr id="15" name="TextBox 14"/>
          <p:cNvSpPr txBox="1"/>
          <p:nvPr/>
        </p:nvSpPr>
        <p:spPr>
          <a:xfrm>
            <a:off x="8083295" y="3456432"/>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Only when different expertise is required, or evidence must be produced independently.</a:t>
            </a:r>
          </a:p>
        </p:txBody>
      </p:sp>
      <p:sp>
        <p:nvSpPr>
          <p:cNvPr id="16" name="Rectangle 15"/>
          <p:cNvSpPr/>
          <p:nvPr/>
        </p:nvSpPr>
        <p:spPr>
          <a:xfrm>
            <a:off x="7882127" y="4078224"/>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4078224"/>
            <a:ext cx="3529584"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83295" y="4242816"/>
            <a:ext cx="3127248" cy="310896"/>
          </a:xfrm>
          <a:prstGeom prst="rect">
            <a:avLst/>
          </a:prstGeom>
          <a:noFill/>
        </p:spPr>
        <p:txBody>
          <a:bodyPr wrap="square" anchor="t">
            <a:spAutoFit/>
          </a:bodyPr>
          <a:lstStyle/>
          <a:p>
            <a:pPr algn="l">
              <a:spcAft>
                <a:spcPts val="400"/>
              </a:spcAft>
            </a:pPr>
            <a:r>
              <a:rPr sz="1350" b="1">
                <a:solidFill>
                  <a:srgbClr val="7C3AED"/>
                </a:solidFill>
                <a:latin typeface="Arial"/>
              </a:rPr>
              <a:t>The real cost</a:t>
            </a:r>
          </a:p>
        </p:txBody>
      </p:sp>
      <p:sp>
        <p:nvSpPr>
          <p:cNvPr id="19" name="TextBox 18"/>
          <p:cNvSpPr txBox="1"/>
          <p:nvPr/>
        </p:nvSpPr>
        <p:spPr>
          <a:xfrm>
            <a:off x="8083295" y="4590288"/>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Every extra agent is another workspace, budget, instruction and audit trail to maintain.</a:t>
            </a:r>
          </a:p>
        </p:txBody>
      </p:sp>
      <p:sp>
        <p:nvSpPr>
          <p:cNvPr id="20" name="Rectangle 19"/>
          <p:cNvSpPr/>
          <p:nvPr/>
        </p:nvSpPr>
        <p:spPr>
          <a:xfrm>
            <a:off x="7882127" y="5212080"/>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82127" y="5212080"/>
            <a:ext cx="352958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83295" y="5376672"/>
            <a:ext cx="3127248" cy="310896"/>
          </a:xfrm>
          <a:prstGeom prst="rect">
            <a:avLst/>
          </a:prstGeom>
          <a:noFill/>
        </p:spPr>
        <p:txBody>
          <a:bodyPr wrap="square" anchor="t">
            <a:spAutoFit/>
          </a:bodyPr>
          <a:lstStyle/>
          <a:p>
            <a:pPr algn="l">
              <a:spcAft>
                <a:spcPts val="400"/>
              </a:spcAft>
            </a:pPr>
            <a:r>
              <a:rPr sz="1350" b="1">
                <a:solidFill>
                  <a:srgbClr val="F59E0B"/>
                </a:solidFill>
                <a:latin typeface="Arial"/>
              </a:rPr>
              <a:t>Start single</a:t>
            </a:r>
          </a:p>
        </p:txBody>
      </p:sp>
      <p:sp>
        <p:nvSpPr>
          <p:cNvPr id="23" name="TextBox 22"/>
          <p:cNvSpPr txBox="1"/>
          <p:nvPr/>
        </p:nvSpPr>
        <p:spPr>
          <a:xfrm>
            <a:off x="8083295" y="5724144"/>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Split only when one instruction can no longer describe the job clearly.</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fast"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WHEN THE CONTROL PLANE PAYS FOR ITSELF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One Agent vs a Paperclip Agent Company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Dimension</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One agent, run by hand</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A Paperclip agent company</a:t>
            </a:r>
          </a:p>
        </p:txBody>
      </p:sp>
      <p:sp>
        <p:nvSpPr>
          <p:cNvPr id="13" name="Rectangle 12"/>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Direction</a:t>
            </a:r>
          </a:p>
        </p:txBody>
      </p:sp>
      <p:sp>
        <p:nvSpPr>
          <p:cNvPr id="15" name="Rectangle 14"/>
          <p:cNvSpPr/>
          <p:nvPr/>
        </p:nvSpPr>
        <p:spPr>
          <a:xfrm>
            <a:off x="3542202"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Restated in every prompt</a:t>
            </a:r>
          </a:p>
        </p:txBody>
      </p:sp>
      <p:sp>
        <p:nvSpPr>
          <p:cNvPr id="17" name="Rectangle 16"/>
          <p:cNvSpPr/>
          <p:nvPr/>
        </p:nvSpPr>
        <p:spPr>
          <a:xfrm>
            <a:off x="7476957"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 mission that flows down as goal lineage</a:t>
            </a:r>
          </a:p>
        </p:txBody>
      </p:sp>
      <p:sp>
        <p:nvSpPr>
          <p:cNvPr id="19" name="Rectangle 18"/>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Memory</a:t>
            </a:r>
          </a:p>
        </p:txBody>
      </p:sp>
      <p:sp>
        <p:nvSpPr>
          <p:cNvPr id="21" name="Rectangle 20"/>
          <p:cNvSpPr/>
          <p:nvPr/>
        </p:nvSpPr>
        <p:spPr>
          <a:xfrm>
            <a:off x="3542202"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Ends with the session</a:t>
            </a:r>
          </a:p>
        </p:txBody>
      </p:sp>
      <p:sp>
        <p:nvSpPr>
          <p:cNvPr id="23" name="Rectangle 22"/>
          <p:cNvSpPr/>
          <p:nvPr/>
        </p:nvSpPr>
        <p:spPr>
          <a:xfrm>
            <a:off x="7476957"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Persists across heartbeats in the control plane</a:t>
            </a:r>
          </a:p>
        </p:txBody>
      </p:sp>
      <p:sp>
        <p:nvSpPr>
          <p:cNvPr id="25" name="Rectangle 24"/>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Cost</a:t>
            </a:r>
          </a:p>
        </p:txBody>
      </p:sp>
      <p:sp>
        <p:nvSpPr>
          <p:cNvPr id="27" name="Rectangle 26"/>
          <p:cNvSpPr/>
          <p:nvPr/>
        </p:nvSpPr>
        <p:spPr>
          <a:xfrm>
            <a:off x="3542202"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Discovered on the invoice</a:t>
            </a:r>
          </a:p>
        </p:txBody>
      </p:sp>
      <p:sp>
        <p:nvSpPr>
          <p:cNvPr id="29" name="Rectangle 28"/>
          <p:cNvSpPr/>
          <p:nvPr/>
        </p:nvSpPr>
        <p:spPr>
          <a:xfrm>
            <a:off x="7476957"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Capped at checkout per company, project and agent</a:t>
            </a:r>
          </a:p>
        </p:txBody>
      </p:sp>
      <p:sp>
        <p:nvSpPr>
          <p:cNvPr id="31" name="Rectangle 30"/>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Authority</a:t>
            </a:r>
          </a:p>
        </p:txBody>
      </p:sp>
      <p:sp>
        <p:nvSpPr>
          <p:cNvPr id="33" name="Rectangle 32"/>
          <p:cNvSpPr/>
          <p:nvPr/>
        </p:nvSpPr>
        <p:spPr>
          <a:xfrm>
            <a:off x="3542202"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Implicit — whatever you allow</a:t>
            </a:r>
          </a:p>
        </p:txBody>
      </p:sp>
      <p:sp>
        <p:nvSpPr>
          <p:cNvPr id="35" name="Rectangle 34"/>
          <p:cNvSpPr/>
          <p:nvPr/>
        </p:nvSpPr>
        <p:spPr>
          <a:xfrm>
            <a:off x="7476957"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Explicit — org chart, roles and approvals</a:t>
            </a:r>
          </a:p>
        </p:txBody>
      </p:sp>
      <p:sp>
        <p:nvSpPr>
          <p:cNvPr id="37" name="Rectangle 3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Evidence</a:t>
            </a:r>
          </a:p>
        </p:txBody>
      </p:sp>
      <p:sp>
        <p:nvSpPr>
          <p:cNvPr id="39" name="Rectangle 38"/>
          <p:cNvSpPr/>
          <p:nvPr/>
        </p:nvSpPr>
        <p:spPr>
          <a:xfrm>
            <a:off x="3542202"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Scrollback you must trust</a:t>
            </a:r>
          </a:p>
        </p:txBody>
      </p:sp>
      <p:sp>
        <p:nvSpPr>
          <p:cNvPr id="41" name="Rectangle 40"/>
          <p:cNvSpPr/>
          <p:nvPr/>
        </p:nvSpPr>
        <p:spPr>
          <a:xfrm>
            <a:off x="7476957"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Runs, comments, diffs and a durable activity log</a:t>
            </a:r>
          </a:p>
        </p:txBody>
      </p:sp>
      <p:sp>
        <p:nvSpPr>
          <p:cNvPr id="43" name="Rectangle 42"/>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Main risk</a:t>
            </a:r>
          </a:p>
        </p:txBody>
      </p:sp>
      <p:sp>
        <p:nvSpPr>
          <p:cNvPr id="45" name="Rectangle 44"/>
          <p:cNvSpPr/>
          <p:nvPr/>
        </p:nvSpPr>
        <p:spPr>
          <a:xfrm>
            <a:off x="3542202"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Context saturation</a:t>
            </a:r>
          </a:p>
        </p:txBody>
      </p:sp>
      <p:sp>
        <p:nvSpPr>
          <p:cNvPr id="47" name="Rectangle 46"/>
          <p:cNvSpPr/>
          <p:nvPr/>
        </p:nvSpPr>
        <p:spPr>
          <a:xfrm>
            <a:off x="7476957"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Coordination overhead you did not need</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The right answer is often still ONE agent. Reach for the company when the work has genuinely separable roles that must each be evidenced.</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fast" advClick="1">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LESSON PLAN · TIME ALLOCATION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Where Course Time Goes — Topic Weighting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The four topics carry equal weighting — but Topics 3 and 4 are where the assessable practical skill sits, because that is where governance and verification are actually exercised.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fast" advClick="1">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Fundamentals of Agentic AI and Paperclip</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Agentic AI foundations · the control-plane model · the twelve subsystems · feasibility and when NOT to use multi-agent</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advClick="1">
    <p:push dir="l"/>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Key Concepts — Fundamentals of Agentic AI and Paperclip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Agentic AI adds reasoning, tool use, memory and autonomy on top of a language model, so the system completes work rather than only producing text.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Paperclip is an organisational control plane — a Node.js server with a React UI that coordinates agents, goals, work, cost and governance. It is not an agent framework and it does not perform the reasoning itself.</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The defining separation: Paperclip manages the company; adapters run the agents. Organisational authority, runtime capability and verification evidence stay apart.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A company is the boundary for one mission, its human members, AI employees, projects, issues, budget and activity history. One deployment holds many companies.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fast" advClick="1">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Key Concepts — Fundamentals of Agentic AI and Paperclip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The four pillars are the agentic task manager, the org chart for agents, agent employee training (skills and evaluations) and the agentic OS (runtime, sandboxing, MCP, RBAC and cost control).</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Twelve subsystems make up the platform: identity, org chart, work, heartbeat, workspaces, governance, budget, routines, plugins, secrets, activity and portability.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A heartbeat is a bounded execution window with FIVE triggers: a schedule/interval tick, a task assignment, an @-mention in a comment, a manual Run Heartbeat, or an approval being resolved. Between heartbeats the agent is dormant — not idling and not billing.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Work is checked out atomically with an execution lock, so two heartbeats can never double-work the same issue or race past a budget ceiling.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fast" advClick="1">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Key Concepts — Fundamentals of Agentic AI and Paperclip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'If it can receive a heartbeat, it's hired' — adapter type keys include claude_local, codex_local, gemini_local, opencode_local, cursor, pi_local and hermes_local, plus process, http and openclaw_gateway.</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Feasibility comes before architecture: use one agent when the inputs, tools, authority and verification are the same across the whole task.</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Add a specialist only when different expertise is genuinely required, or when evidence must be produced independently of the agent that will use it.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Installation is ready only when Node.js, the Paperclip configuration, the embedded database, server health, the browser UI and the doctor diagnostic all agree.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fast" advClick="1">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LO4 · TROUBLESHOOTING DISCIPLINE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Diagnosis Ladder — Fix the Earliest Broken Link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iagram-diagnosis-ladder.png"/>
          <p:cNvPicPr>
            <a:picLocks noChangeAspect="1"/>
          </p:cNvPicPr>
          <p:nvPr/>
        </p:nvPicPr>
        <p:blipFill>
          <a:blip r:embed="rId2"/>
          <a:stretch>
            <a:fillRect/>
          </a:stretch>
        </p:blipFill>
        <p:spPr>
          <a:xfrm>
            <a:off x="777240" y="2409213"/>
            <a:ext cx="6812279" cy="3027125"/>
          </a:xfrm>
          <a:prstGeom prst="rect">
            <a:avLst/>
          </a:prstGeom>
        </p:spPr>
      </p:pic>
      <p:sp>
        <p:nvSpPr>
          <p:cNvPr id="8" name="Rectangle 7"/>
          <p:cNvSpPr/>
          <p:nvPr/>
        </p:nvSpPr>
        <p:spPr>
          <a:xfrm>
            <a:off x="7882127" y="1810512"/>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82127" y="1810512"/>
            <a:ext cx="352958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3295" y="1975104"/>
            <a:ext cx="3127248" cy="310896"/>
          </a:xfrm>
          <a:prstGeom prst="rect">
            <a:avLst/>
          </a:prstGeom>
          <a:noFill/>
        </p:spPr>
        <p:txBody>
          <a:bodyPr wrap="square" anchor="t">
            <a:spAutoFit/>
          </a:bodyPr>
          <a:lstStyle/>
          <a:p>
            <a:pPr algn="l">
              <a:spcAft>
                <a:spcPts val="400"/>
              </a:spcAft>
            </a:pPr>
            <a:r>
              <a:rPr sz="1350" b="1">
                <a:solidFill>
                  <a:srgbClr val="1F6FEB"/>
                </a:solidFill>
                <a:latin typeface="Arial"/>
              </a:rPr>
              <a:t>Host first</a:t>
            </a:r>
          </a:p>
        </p:txBody>
      </p:sp>
      <p:sp>
        <p:nvSpPr>
          <p:cNvPr id="11" name="TextBox 10"/>
          <p:cNvSpPr txBox="1"/>
          <p:nvPr/>
        </p:nvSpPr>
        <p:spPr>
          <a:xfrm>
            <a:off x="8083295" y="2322576"/>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Node 20+, a normal non-elevated user, a writable practice root.</a:t>
            </a:r>
          </a:p>
        </p:txBody>
      </p:sp>
      <p:sp>
        <p:nvSpPr>
          <p:cNvPr id="12" name="Rectangle 11"/>
          <p:cNvSpPr/>
          <p:nvPr/>
        </p:nvSpPr>
        <p:spPr>
          <a:xfrm>
            <a:off x="7882127" y="2944368"/>
            <a:ext cx="3529584"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882127" y="2944368"/>
            <a:ext cx="352958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3295" y="3108960"/>
            <a:ext cx="3127248" cy="310896"/>
          </a:xfrm>
          <a:prstGeom prst="rect">
            <a:avLst/>
          </a:prstGeom>
          <a:noFill/>
        </p:spPr>
        <p:txBody>
          <a:bodyPr wrap="square" anchor="t">
            <a:spAutoFit/>
          </a:bodyPr>
          <a:lstStyle/>
          <a:p>
            <a:pPr algn="l">
              <a:spcAft>
                <a:spcPts val="400"/>
              </a:spcAft>
            </a:pPr>
            <a:r>
              <a:rPr sz="1350" b="1">
                <a:solidFill>
                  <a:srgbClr val="10B981"/>
                </a:solidFill>
                <a:latin typeface="Arial"/>
              </a:rPr>
              <a:t>Then the control plane</a:t>
            </a:r>
          </a:p>
        </p:txBody>
      </p:sp>
      <p:sp>
        <p:nvSpPr>
          <p:cNvPr id="15" name="TextBox 14"/>
          <p:cNvSpPr txBox="1"/>
          <p:nvPr/>
        </p:nvSpPr>
        <p:spPr>
          <a:xfrm>
            <a:off x="8083295" y="3456432"/>
            <a:ext cx="3127248" cy="237744"/>
          </a:xfrm>
          <a:prstGeom prst="rect">
            <a:avLst/>
          </a:prstGeom>
          <a:noFill/>
        </p:spPr>
        <p:txBody>
          <a:bodyPr wrap="square" anchor="t">
            <a:spAutoFit/>
          </a:bodyPr>
          <a:lstStyle/>
          <a:p>
            <a:pPr algn="l">
              <a:spcAft>
                <a:spcPts val="400"/>
              </a:spcAft>
            </a:pPr>
            <a:r>
              <a:rPr sz="900" b="0">
                <a:solidFill>
                  <a:srgbClr val="161B26"/>
                </a:solidFill>
                <a:latin typeface="Arial"/>
              </a:rPr>
              <a:t>doctor is clean and /api/health returns ok.</a:t>
            </a:r>
          </a:p>
        </p:txBody>
      </p:sp>
      <p:sp>
        <p:nvSpPr>
          <p:cNvPr id="16" name="Rectangle 15"/>
          <p:cNvSpPr/>
          <p:nvPr/>
        </p:nvSpPr>
        <p:spPr>
          <a:xfrm>
            <a:off x="7882127" y="3931920"/>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3931920"/>
            <a:ext cx="3529584"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83295" y="4096512"/>
            <a:ext cx="3127248" cy="310896"/>
          </a:xfrm>
          <a:prstGeom prst="rect">
            <a:avLst/>
          </a:prstGeom>
          <a:noFill/>
        </p:spPr>
        <p:txBody>
          <a:bodyPr wrap="square" anchor="t">
            <a:spAutoFit/>
          </a:bodyPr>
          <a:lstStyle/>
          <a:p>
            <a:pPr algn="l">
              <a:spcAft>
                <a:spcPts val="400"/>
              </a:spcAft>
            </a:pPr>
            <a:r>
              <a:rPr sz="1350" b="1">
                <a:solidFill>
                  <a:srgbClr val="7C3AED"/>
                </a:solidFill>
                <a:latin typeface="Arial"/>
              </a:rPr>
              <a:t>Then the adapter</a:t>
            </a:r>
          </a:p>
        </p:txBody>
      </p:sp>
      <p:sp>
        <p:nvSpPr>
          <p:cNvPr id="19" name="TextBox 18"/>
          <p:cNvSpPr txBox="1"/>
          <p:nvPr/>
        </p:nvSpPr>
        <p:spPr>
          <a:xfrm>
            <a:off x="8083295" y="4443984"/>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The runtime must authenticate OUTSIDE Paperclip first.</a:t>
            </a:r>
          </a:p>
        </p:txBody>
      </p:sp>
      <p:sp>
        <p:nvSpPr>
          <p:cNvPr id="20" name="Rectangle 19"/>
          <p:cNvSpPr/>
          <p:nvPr/>
        </p:nvSpPr>
        <p:spPr>
          <a:xfrm>
            <a:off x="7882127" y="5065776"/>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82127" y="5065776"/>
            <a:ext cx="352958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83295" y="5230368"/>
            <a:ext cx="3127248" cy="310896"/>
          </a:xfrm>
          <a:prstGeom prst="rect">
            <a:avLst/>
          </a:prstGeom>
          <a:noFill/>
        </p:spPr>
        <p:txBody>
          <a:bodyPr wrap="square" anchor="t">
            <a:spAutoFit/>
          </a:bodyPr>
          <a:lstStyle/>
          <a:p>
            <a:pPr algn="l">
              <a:spcAft>
                <a:spcPts val="400"/>
              </a:spcAft>
            </a:pPr>
            <a:r>
              <a:rPr sz="1350" b="1">
                <a:solidFill>
                  <a:srgbClr val="F59E0B"/>
                </a:solidFill>
                <a:latin typeface="Arial"/>
              </a:rPr>
              <a:t>Then the agent</a:t>
            </a:r>
          </a:p>
        </p:txBody>
      </p:sp>
      <p:sp>
        <p:nvSpPr>
          <p:cNvPr id="23" name="TextBox 22"/>
          <p:cNvSpPr txBox="1"/>
          <p:nvPr/>
        </p:nvSpPr>
        <p:spPr>
          <a:xfrm>
            <a:off x="8083295" y="5577840"/>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A marker run puts a real artifact in the right workspace.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fast" advClick="1">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THE READINESS CHECKLIST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Installation Is Ready Only When Everything Agrees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13274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75133"/>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75133"/>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94759"/>
            <a:ext cx="3973068" cy="973204"/>
          </a:xfrm>
          <a:prstGeom prst="rect">
            <a:avLst/>
          </a:prstGeom>
          <a:noFill/>
        </p:spPr>
        <p:txBody>
          <a:bodyPr wrap="square" anchor="ctr">
            <a:spAutoFit/>
          </a:bodyPr>
          <a:lstStyle/>
          <a:p>
            <a:pPr algn="l">
              <a:spcAft>
                <a:spcPts val="300"/>
              </a:spcAft>
            </a:pPr>
            <a:r>
              <a:rPr sz="1600" b="1">
                <a:solidFill>
                  <a:srgbClr val="161B26"/>
                </a:solidFill>
                <a:latin typeface="Arial"/>
              </a:rPr>
              <a:t>Node.js</a:t>
            </a:r>
          </a:p>
          <a:p>
            <a:pPr algn="l">
              <a:spcAft>
                <a:spcPts val="300"/>
              </a:spcAft>
            </a:pPr>
            <a:r>
              <a:rPr sz="1200" b="0">
                <a:solidFill>
                  <a:srgbClr val="5B6372"/>
                </a:solidFill>
                <a:latin typeface="Arial"/>
              </a:rPr>
              <a:t>Major version 20 or later — the most common cause of a failed onboard.</a:t>
            </a:r>
          </a:p>
        </p:txBody>
      </p:sp>
      <p:sp>
        <p:nvSpPr>
          <p:cNvPr id="12" name="Rectangle 11"/>
          <p:cNvSpPr/>
          <p:nvPr/>
        </p:nvSpPr>
        <p:spPr>
          <a:xfrm>
            <a:off x="6231636" y="1783080"/>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13274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075133"/>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075133"/>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94759"/>
            <a:ext cx="3973068" cy="973204"/>
          </a:xfrm>
          <a:prstGeom prst="rect">
            <a:avLst/>
          </a:prstGeom>
          <a:noFill/>
        </p:spPr>
        <p:txBody>
          <a:bodyPr wrap="square" anchor="ctr">
            <a:spAutoFit/>
          </a:bodyPr>
          <a:lstStyle/>
          <a:p>
            <a:pPr algn="l">
              <a:spcAft>
                <a:spcPts val="300"/>
              </a:spcAft>
            </a:pPr>
            <a:r>
              <a:rPr sz="1600" b="1">
                <a:solidFill>
                  <a:srgbClr val="161B26"/>
                </a:solidFill>
                <a:latin typeface="Arial"/>
              </a:rPr>
              <a:t>Configuration &amp; database</a:t>
            </a:r>
          </a:p>
          <a:p>
            <a:pPr algn="l">
              <a:spcAft>
                <a:spcPts val="300"/>
              </a:spcAft>
            </a:pPr>
            <a:r>
              <a:rPr sz="1200" b="0">
                <a:solidFill>
                  <a:srgbClr val="5B6372"/>
                </a:solidFill>
                <a:latin typeface="Arial"/>
              </a:rPr>
              <a:t>Written by onboard; the embedded PostgreSQL starts as the normal user.</a:t>
            </a:r>
          </a:p>
        </p:txBody>
      </p:sp>
      <p:sp>
        <p:nvSpPr>
          <p:cNvPr id="17" name="Rectangle 16"/>
          <p:cNvSpPr/>
          <p:nvPr/>
        </p:nvSpPr>
        <p:spPr>
          <a:xfrm>
            <a:off x="777240" y="312323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123231"/>
            <a:ext cx="91440" cy="113274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4152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4152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34910"/>
            <a:ext cx="3973068" cy="973204"/>
          </a:xfrm>
          <a:prstGeom prst="rect">
            <a:avLst/>
          </a:prstGeom>
          <a:noFill/>
        </p:spPr>
        <p:txBody>
          <a:bodyPr wrap="square" anchor="ctr">
            <a:spAutoFit/>
          </a:bodyPr>
          <a:lstStyle/>
          <a:p>
            <a:pPr algn="l">
              <a:spcAft>
                <a:spcPts val="300"/>
              </a:spcAft>
            </a:pPr>
            <a:r>
              <a:rPr sz="1600" b="1">
                <a:solidFill>
                  <a:srgbClr val="161B26"/>
                </a:solidFill>
                <a:latin typeface="Arial"/>
              </a:rPr>
              <a:t>Server health</a:t>
            </a:r>
          </a:p>
          <a:p>
            <a:pPr algn="l">
              <a:spcAft>
                <a:spcPts val="300"/>
              </a:spcAft>
            </a:pPr>
            <a:r>
              <a:rPr sz="1200" b="0">
                <a:solidFill>
                  <a:srgbClr val="5B6372"/>
                </a:solidFill>
                <a:latin typeface="Arial"/>
              </a:rPr>
              <a:t>GET /api/health returns an ok status.</a:t>
            </a:r>
          </a:p>
        </p:txBody>
      </p:sp>
      <p:sp>
        <p:nvSpPr>
          <p:cNvPr id="22" name="Rectangle 21"/>
          <p:cNvSpPr/>
          <p:nvPr/>
        </p:nvSpPr>
        <p:spPr>
          <a:xfrm>
            <a:off x="6231636" y="312323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123231"/>
            <a:ext cx="91440" cy="113274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4152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4152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234910"/>
            <a:ext cx="3973068" cy="973204"/>
          </a:xfrm>
          <a:prstGeom prst="rect">
            <a:avLst/>
          </a:prstGeom>
          <a:noFill/>
        </p:spPr>
        <p:txBody>
          <a:bodyPr wrap="square" anchor="ctr">
            <a:spAutoFit/>
          </a:bodyPr>
          <a:lstStyle/>
          <a:p>
            <a:pPr algn="l">
              <a:spcAft>
                <a:spcPts val="300"/>
              </a:spcAft>
            </a:pPr>
            <a:r>
              <a:rPr sz="1600" b="1">
                <a:solidFill>
                  <a:srgbClr val="161B26"/>
                </a:solidFill>
                <a:latin typeface="Arial"/>
              </a:rPr>
              <a:t>Browser UI</a:t>
            </a:r>
          </a:p>
          <a:p>
            <a:pPr algn="l">
              <a:spcAft>
                <a:spcPts val="300"/>
              </a:spcAft>
            </a:pPr>
            <a:r>
              <a:rPr sz="1200" b="0">
                <a:solidFill>
                  <a:srgbClr val="5B6372"/>
                </a:solidFill>
                <a:latin typeface="Arial"/>
              </a:rPr>
              <a:t>http://localhost:3100 loads without a connection error.</a:t>
            </a:r>
          </a:p>
        </p:txBody>
      </p:sp>
      <p:sp>
        <p:nvSpPr>
          <p:cNvPr id="27" name="Rectangle 26"/>
          <p:cNvSpPr/>
          <p:nvPr/>
        </p:nvSpPr>
        <p:spPr>
          <a:xfrm>
            <a:off x="777240" y="446338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463381"/>
            <a:ext cx="91440" cy="113274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75543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75543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575061"/>
            <a:ext cx="3973068" cy="973204"/>
          </a:xfrm>
          <a:prstGeom prst="rect">
            <a:avLst/>
          </a:prstGeom>
          <a:noFill/>
        </p:spPr>
        <p:txBody>
          <a:bodyPr wrap="square" anchor="ctr">
            <a:spAutoFit/>
          </a:bodyPr>
          <a:lstStyle/>
          <a:p>
            <a:pPr algn="l">
              <a:spcAft>
                <a:spcPts val="300"/>
              </a:spcAft>
            </a:pPr>
            <a:r>
              <a:rPr sz="1600" b="1">
                <a:solidFill>
                  <a:srgbClr val="161B26"/>
                </a:solidFill>
                <a:latin typeface="Arial"/>
              </a:rPr>
              <a:t>Doctor</a:t>
            </a:r>
          </a:p>
          <a:p>
            <a:pPr algn="l">
              <a:spcAft>
                <a:spcPts val="300"/>
              </a:spcAft>
            </a:pPr>
            <a:r>
              <a:rPr sz="1200" b="0">
                <a:solidFill>
                  <a:srgbClr val="5B6372"/>
                </a:solidFill>
                <a:latin typeface="Arial"/>
              </a:rPr>
              <a:t>npx paperclipai doctor completes with no blocking error.</a:t>
            </a:r>
          </a:p>
        </p:txBody>
      </p:sp>
      <p:sp>
        <p:nvSpPr>
          <p:cNvPr id="32" name="Rectangle 31"/>
          <p:cNvSpPr/>
          <p:nvPr/>
        </p:nvSpPr>
        <p:spPr>
          <a:xfrm>
            <a:off x="6231636" y="446338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463381"/>
            <a:ext cx="91440" cy="113274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75543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75543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575061"/>
            <a:ext cx="3973068" cy="973204"/>
          </a:xfrm>
          <a:prstGeom prst="rect">
            <a:avLst/>
          </a:prstGeom>
          <a:noFill/>
        </p:spPr>
        <p:txBody>
          <a:bodyPr wrap="square" anchor="ctr">
            <a:spAutoFit/>
          </a:bodyPr>
          <a:lstStyle/>
          <a:p>
            <a:pPr algn="l">
              <a:spcAft>
                <a:spcPts val="300"/>
              </a:spcAft>
            </a:pPr>
            <a:r>
              <a:rPr sz="1600" b="1">
                <a:solidFill>
                  <a:srgbClr val="161B26"/>
                </a:solidFill>
                <a:latin typeface="Arial"/>
              </a:rPr>
              <a:t>Evidence</a:t>
            </a:r>
          </a:p>
          <a:p>
            <a:pPr algn="l">
              <a:spcAft>
                <a:spcPts val="300"/>
              </a:spcAft>
            </a:pPr>
            <a:r>
              <a:rPr sz="1200" b="0">
                <a:solidFill>
                  <a:srgbClr val="5B6372"/>
                </a:solidFill>
                <a:latin typeface="Arial"/>
              </a:rPr>
              <a:t>All of the above recorded — with no credential ever captured.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
        <p:nvSpPr>
          <p:cNvPr id="40" name="Rectangle 39"/>
          <p:cNvSpPr/>
          <p:nvPr/>
        </p:nvSpPr>
        <p:spPr>
          <a:xfrm>
            <a:off x="777240" y="5742432"/>
            <a:ext cx="10607040" cy="603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5742432"/>
            <a:ext cx="91440"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5742432"/>
            <a:ext cx="10241280" cy="603504"/>
          </a:xfrm>
          <a:prstGeom prst="rect">
            <a:avLst/>
          </a:prstGeom>
          <a:noFill/>
        </p:spPr>
        <p:txBody>
          <a:bodyPr wrap="square" anchor="ctr">
            <a:spAutoFit/>
          </a:bodyPr>
          <a:lstStyle/>
          <a:p>
            <a:pPr algn="l">
              <a:spcAft>
                <a:spcPts val="400"/>
              </a:spcAft>
            </a:pPr>
            <a:r>
              <a:rPr sz="1350" b="1">
                <a:solidFill>
                  <a:srgbClr val="161B26"/>
                </a:solidFill>
                <a:latin typeface="Arial"/>
              </a:rPr>
              <a:t>A green badge is not evidence. An observable artifact is.</a:t>
            </a:r>
          </a:p>
        </p:txBody>
      </p:sp>
    </p:spTree>
  </p:cSld>
  <p:clrMapOvr>
    <a:masterClrMapping/>
  </p:clrMapOvr>
  <p:transition spd="fast" advClick="1">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FROM A LANGUAGE MODEL TO AN AGENT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Four Additions That Make an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Addition</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What it provides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What breaks without it</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Reasoning / planning</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Decomposes a goal into steps before acting, and re-plans when a step fails.</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Answers in one shot; cannot recover from a wrong first move.</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Tool use</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Calls functions, CLIs and APIs to read live data and take real action.</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The system can only talk about the work; it cannot do it.</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Memory / state</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Context carries across turns and across separate execution windows.</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Every wake-up starts from nothing and repeats work already done.</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Autonomy</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Decides which tool, in which order, and when it is finished.</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A human drives every step — a chatbot with extra latency.</a:t>
            </a:r>
          </a:p>
        </p:txBody>
      </p:sp>
      <p:sp>
        <p:nvSpPr>
          <p:cNvPr id="37" name="Rectangle 3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Add a fifth ingredient — several agents dividing the work — and you have a multi-agent system. That is where the interesting failures start.</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fast" advClick="1">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LO1 · FIVE ORGANISATIONAL PROBLEMS, NOT MODEL PROBLEMS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Why Coordination Is the Hard Part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13274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75133"/>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75133"/>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94759"/>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DIRECTION</a:t>
            </a:r>
          </a:p>
          <a:p>
            <a:pPr algn="l">
              <a:spcAft>
                <a:spcPts val="300"/>
              </a:spcAft>
            </a:pPr>
            <a:r>
              <a:rPr sz="1100" b="0">
                <a:solidFill>
                  <a:srgbClr val="5B6372"/>
                </a:solidFill>
                <a:latin typeface="Arial"/>
              </a:rPr>
              <a:t>Each agent must know not only what to do but WHY — or it optimises the wrong thing very efficiently.</a:t>
            </a:r>
          </a:p>
        </p:txBody>
      </p:sp>
      <p:sp>
        <p:nvSpPr>
          <p:cNvPr id="12" name="Rectangle 11"/>
          <p:cNvSpPr/>
          <p:nvPr/>
        </p:nvSpPr>
        <p:spPr>
          <a:xfrm>
            <a:off x="6231636" y="1783080"/>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13274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075133"/>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075133"/>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94759"/>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AUTHORITY</a:t>
            </a:r>
          </a:p>
          <a:p>
            <a:pPr algn="l">
              <a:spcAft>
                <a:spcPts val="300"/>
              </a:spcAft>
            </a:pPr>
            <a:r>
              <a:rPr sz="1100" b="0">
                <a:solidFill>
                  <a:srgbClr val="5B6372"/>
                </a:solidFill>
                <a:latin typeface="Arial"/>
              </a:rPr>
              <a:t>Who may hire, spend and ship. Left implicit it defaults to 'whatever the agent decided to try'.</a:t>
            </a:r>
          </a:p>
        </p:txBody>
      </p:sp>
      <p:sp>
        <p:nvSpPr>
          <p:cNvPr id="17" name="Rectangle 16"/>
          <p:cNvSpPr/>
          <p:nvPr/>
        </p:nvSpPr>
        <p:spPr>
          <a:xfrm>
            <a:off x="777240" y="312323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123231"/>
            <a:ext cx="91440" cy="113274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4152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4152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34910"/>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ISOLATION</a:t>
            </a:r>
          </a:p>
          <a:p>
            <a:pPr algn="l">
              <a:spcAft>
                <a:spcPts val="300"/>
              </a:spcAft>
            </a:pPr>
            <a:r>
              <a:rPr sz="1100" b="0">
                <a:solidFill>
                  <a:srgbClr val="5B6372"/>
                </a:solidFill>
                <a:latin typeface="Arial"/>
              </a:rPr>
              <a:t>Two agents writing to the same place corrupts both pieces of work and destroys attribution.</a:t>
            </a:r>
          </a:p>
        </p:txBody>
      </p:sp>
      <p:sp>
        <p:nvSpPr>
          <p:cNvPr id="22" name="Rectangle 21"/>
          <p:cNvSpPr/>
          <p:nvPr/>
        </p:nvSpPr>
        <p:spPr>
          <a:xfrm>
            <a:off x="6231636" y="312323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123231"/>
            <a:ext cx="91440" cy="113274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4152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4152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234910"/>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COST</a:t>
            </a:r>
          </a:p>
          <a:p>
            <a:pPr algn="l">
              <a:spcAft>
                <a:spcPts val="300"/>
              </a:spcAft>
            </a:pPr>
            <a:r>
              <a:rPr sz="1100" b="0">
                <a:solidFill>
                  <a:srgbClr val="5B6372"/>
                </a:solidFill>
                <a:latin typeface="Arial"/>
              </a:rPr>
              <a:t>An agent in a retry loop does not get tired. Without a ceiling you discover the problem on the invoice.</a:t>
            </a:r>
          </a:p>
        </p:txBody>
      </p:sp>
      <p:sp>
        <p:nvSpPr>
          <p:cNvPr id="27" name="Rectangle 26"/>
          <p:cNvSpPr/>
          <p:nvPr/>
        </p:nvSpPr>
        <p:spPr>
          <a:xfrm>
            <a:off x="777240" y="446338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463381"/>
            <a:ext cx="91440" cy="113274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75543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75543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575061"/>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EVIDENCE</a:t>
            </a:r>
          </a:p>
          <a:p>
            <a:pPr algn="l">
              <a:spcAft>
                <a:spcPts val="300"/>
              </a:spcAft>
            </a:pPr>
            <a:r>
              <a:rPr sz="1100" b="0">
                <a:solidFill>
                  <a:srgbClr val="5B6372"/>
                </a:solidFill>
                <a:latin typeface="Arial"/>
              </a:rPr>
              <a:t>'The agent says it is done' is not 'it is done'. Someone must check later, without taking anyone's word.</a:t>
            </a:r>
          </a:p>
        </p:txBody>
      </p:sp>
      <p:sp>
        <p:nvSpPr>
          <p:cNvPr id="32" name="Rectangle 31"/>
          <p:cNvSpPr/>
          <p:nvPr/>
        </p:nvSpPr>
        <p:spPr>
          <a:xfrm>
            <a:off x="6231636" y="446338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463381"/>
            <a:ext cx="91440" cy="113274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75543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75543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575061"/>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THE MAPPING</a:t>
            </a:r>
          </a:p>
          <a:p>
            <a:pPr algn="l">
              <a:spcAft>
                <a:spcPts val="300"/>
              </a:spcAft>
            </a:pPr>
            <a:r>
              <a:rPr sz="1100" b="0">
                <a:solidFill>
                  <a:srgbClr val="5B6372"/>
                </a:solidFill>
                <a:latin typeface="Arial"/>
              </a:rPr>
              <a:t>These five concerns are exactly what the twelve subsystems address — map each subsystem back to one.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
        <p:nvSpPr>
          <p:cNvPr id="40" name="Rectangle 39"/>
          <p:cNvSpPr/>
          <p:nvPr/>
        </p:nvSpPr>
        <p:spPr>
          <a:xfrm>
            <a:off x="777240" y="5742432"/>
            <a:ext cx="10607040" cy="603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5742432"/>
            <a:ext cx="91440"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5742432"/>
            <a:ext cx="10241280" cy="603504"/>
          </a:xfrm>
          <a:prstGeom prst="rect">
            <a:avLst/>
          </a:prstGeom>
          <a:noFill/>
        </p:spPr>
        <p:txBody>
          <a:bodyPr wrap="square" anchor="ctr">
            <a:spAutoFit/>
          </a:bodyPr>
          <a:lstStyle/>
          <a:p>
            <a:pPr algn="l">
              <a:spcAft>
                <a:spcPts val="400"/>
              </a:spcAft>
            </a:pPr>
            <a:r>
              <a:rPr sz="1350" b="1">
                <a:solidFill>
                  <a:srgbClr val="161B26"/>
                </a:solidFill>
                <a:latin typeface="Arial"/>
              </a:rPr>
              <a:t>Running one agent is a prompting problem. Running five is an organisational one.</a:t>
            </a:r>
          </a:p>
        </p:txBody>
      </p:sp>
    </p:spTree>
  </p:cSld>
  <p:clrMapOvr>
    <a:masterClrMapping/>
  </p:clrMapOvr>
  <p:transition spd="fast" advClick="1">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THE ASSESSMENT USES THIS VOCABULARY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Official Vocabulary — Learn It Verbatim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Term</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The documentation's own definition</a:t>
            </a:r>
          </a:p>
        </p:txBody>
      </p:sp>
      <p:sp>
        <p:nvSpPr>
          <p:cNvPr id="11" name="Rectangle 10"/>
          <p:cNvSpPr/>
          <p:nvPr/>
        </p:nvSpPr>
        <p:spPr>
          <a:xfrm>
            <a:off x="777240" y="2258568"/>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Company</a:t>
            </a:r>
          </a:p>
        </p:txBody>
      </p:sp>
      <p:sp>
        <p:nvSpPr>
          <p:cNvPr id="13" name="Rectangle 12"/>
          <p:cNvSpPr/>
          <p:nvPr/>
        </p:nvSpPr>
        <p:spPr>
          <a:xfrm>
            <a:off x="3542202" y="2258568"/>
            <a:ext cx="7869510"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414092"/>
          </a:xfrm>
          <a:prstGeom prst="rect">
            <a:avLst/>
          </a:prstGeom>
          <a:noFill/>
        </p:spPr>
        <p:txBody>
          <a:bodyPr wrap="square" anchor="ctr">
            <a:spAutoFit/>
          </a:bodyPr>
          <a:lstStyle/>
          <a:p>
            <a:pPr algn="l">
              <a:spcAft>
                <a:spcPts val="400"/>
              </a:spcAft>
            </a:pPr>
            <a:r>
              <a:rPr sz="1150" b="0">
                <a:solidFill>
                  <a:srgbClr val="5B6372"/>
                </a:solidFill>
                <a:latin typeface="Arial"/>
              </a:rPr>
              <a:t>A self-contained AI organisation with a single goal, a team of agents, a task board, and a budget.</a:t>
            </a:r>
          </a:p>
        </p:txBody>
      </p:sp>
      <p:sp>
        <p:nvSpPr>
          <p:cNvPr id="15" name="Rectangle 14"/>
          <p:cNvSpPr/>
          <p:nvPr/>
        </p:nvSpPr>
        <p:spPr>
          <a:xfrm>
            <a:off x="777240" y="2672660"/>
            <a:ext cx="2764962"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672660"/>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Agent</a:t>
            </a:r>
          </a:p>
        </p:txBody>
      </p:sp>
      <p:sp>
        <p:nvSpPr>
          <p:cNvPr id="17" name="Rectangle 16"/>
          <p:cNvSpPr/>
          <p:nvPr/>
        </p:nvSpPr>
        <p:spPr>
          <a:xfrm>
            <a:off x="3542202" y="2672660"/>
            <a:ext cx="7869510"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672660"/>
            <a:ext cx="7613478" cy="414092"/>
          </a:xfrm>
          <a:prstGeom prst="rect">
            <a:avLst/>
          </a:prstGeom>
          <a:noFill/>
        </p:spPr>
        <p:txBody>
          <a:bodyPr wrap="square" anchor="ctr">
            <a:spAutoFit/>
          </a:bodyPr>
          <a:lstStyle/>
          <a:p>
            <a:pPr algn="l">
              <a:spcAft>
                <a:spcPts val="400"/>
              </a:spcAft>
            </a:pPr>
            <a:r>
              <a:rPr sz="1150" b="0">
                <a:solidFill>
                  <a:srgbClr val="5B6372"/>
                </a:solidFill>
                <a:latin typeface="Arial"/>
              </a:rPr>
              <a:t>An AI employee — a configured role with a specific job, a manager, and a monthly budget.</a:t>
            </a:r>
          </a:p>
        </p:txBody>
      </p:sp>
      <p:sp>
        <p:nvSpPr>
          <p:cNvPr id="19" name="Rectangle 18"/>
          <p:cNvSpPr/>
          <p:nvPr/>
        </p:nvSpPr>
        <p:spPr>
          <a:xfrm>
            <a:off x="777240" y="3086752"/>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086752"/>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Task (issue)</a:t>
            </a:r>
          </a:p>
        </p:txBody>
      </p:sp>
      <p:sp>
        <p:nvSpPr>
          <p:cNvPr id="21" name="Rectangle 20"/>
          <p:cNvSpPr/>
          <p:nvPr/>
        </p:nvSpPr>
        <p:spPr>
          <a:xfrm>
            <a:off x="3542202" y="3086752"/>
            <a:ext cx="7869510"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086752"/>
            <a:ext cx="7613478" cy="414092"/>
          </a:xfrm>
          <a:prstGeom prst="rect">
            <a:avLst/>
          </a:prstGeom>
          <a:noFill/>
        </p:spPr>
        <p:txBody>
          <a:bodyPr wrap="square" anchor="ctr">
            <a:spAutoFit/>
          </a:bodyPr>
          <a:lstStyle/>
          <a:p>
            <a:pPr algn="l">
              <a:spcAft>
                <a:spcPts val="400"/>
              </a:spcAft>
            </a:pPr>
            <a:r>
              <a:rPr sz="1150" b="0">
                <a:solidFill>
                  <a:srgbClr val="5B6372"/>
                </a:solidFill>
                <a:latin typeface="Arial"/>
              </a:rPr>
              <a:t>A unit of work — like a ticket on a project board, except it is assigned to an AI agent, not a human.</a:t>
            </a:r>
          </a:p>
        </p:txBody>
      </p:sp>
      <p:sp>
        <p:nvSpPr>
          <p:cNvPr id="23" name="Rectangle 22"/>
          <p:cNvSpPr/>
          <p:nvPr/>
        </p:nvSpPr>
        <p:spPr>
          <a:xfrm>
            <a:off x="777240" y="3500844"/>
            <a:ext cx="2764962"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3500844"/>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Heartbeat</a:t>
            </a:r>
          </a:p>
        </p:txBody>
      </p:sp>
      <p:sp>
        <p:nvSpPr>
          <p:cNvPr id="25" name="Rectangle 24"/>
          <p:cNvSpPr/>
          <p:nvPr/>
        </p:nvSpPr>
        <p:spPr>
          <a:xfrm>
            <a:off x="3542202" y="3500844"/>
            <a:ext cx="7869510"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3500844"/>
            <a:ext cx="7613478" cy="414092"/>
          </a:xfrm>
          <a:prstGeom prst="rect">
            <a:avLst/>
          </a:prstGeom>
          <a:noFill/>
        </p:spPr>
        <p:txBody>
          <a:bodyPr wrap="square" anchor="ctr">
            <a:spAutoFit/>
          </a:bodyPr>
          <a:lstStyle/>
          <a:p>
            <a:pPr algn="l">
              <a:spcAft>
                <a:spcPts val="400"/>
              </a:spcAft>
            </a:pPr>
            <a:r>
              <a:rPr sz="1150" b="0">
                <a:solidFill>
                  <a:srgbClr val="5B6372"/>
                </a:solidFill>
                <a:latin typeface="Arial"/>
              </a:rPr>
              <a:t>A scheduled execution window — when an agent wakes up, checks its inbox, and does work.</a:t>
            </a:r>
          </a:p>
        </p:txBody>
      </p:sp>
      <p:sp>
        <p:nvSpPr>
          <p:cNvPr id="27" name="Rectangle 26"/>
          <p:cNvSpPr/>
          <p:nvPr/>
        </p:nvSpPr>
        <p:spPr>
          <a:xfrm>
            <a:off x="777240" y="3914936"/>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5256" y="3914936"/>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Adapter</a:t>
            </a:r>
          </a:p>
        </p:txBody>
      </p:sp>
      <p:sp>
        <p:nvSpPr>
          <p:cNvPr id="29" name="Rectangle 28"/>
          <p:cNvSpPr/>
          <p:nvPr/>
        </p:nvSpPr>
        <p:spPr>
          <a:xfrm>
            <a:off x="3542202" y="3914936"/>
            <a:ext cx="7869510"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70218" y="3914936"/>
            <a:ext cx="7613478" cy="414092"/>
          </a:xfrm>
          <a:prstGeom prst="rect">
            <a:avLst/>
          </a:prstGeom>
          <a:noFill/>
        </p:spPr>
        <p:txBody>
          <a:bodyPr wrap="square" anchor="ctr">
            <a:spAutoFit/>
          </a:bodyPr>
          <a:lstStyle/>
          <a:p>
            <a:pPr algn="l">
              <a:spcAft>
                <a:spcPts val="400"/>
              </a:spcAft>
            </a:pPr>
            <a:r>
              <a:rPr sz="1150" b="0">
                <a:solidFill>
                  <a:srgbClr val="5B6372"/>
                </a:solidFill>
                <a:latin typeface="Arial"/>
              </a:rPr>
              <a:t>The connection between Paperclip and the AI system that actually runs your agent.</a:t>
            </a:r>
          </a:p>
        </p:txBody>
      </p:sp>
      <p:sp>
        <p:nvSpPr>
          <p:cNvPr id="31" name="Rectangle 30"/>
          <p:cNvSpPr/>
          <p:nvPr/>
        </p:nvSpPr>
        <p:spPr>
          <a:xfrm>
            <a:off x="777240" y="4329028"/>
            <a:ext cx="2764962"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29028"/>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Budget</a:t>
            </a:r>
          </a:p>
        </p:txBody>
      </p:sp>
      <p:sp>
        <p:nvSpPr>
          <p:cNvPr id="33" name="Rectangle 32"/>
          <p:cNvSpPr/>
          <p:nvPr/>
        </p:nvSpPr>
        <p:spPr>
          <a:xfrm>
            <a:off x="3542202" y="4329028"/>
            <a:ext cx="7869510"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29028"/>
            <a:ext cx="7613478" cy="414092"/>
          </a:xfrm>
          <a:prstGeom prst="rect">
            <a:avLst/>
          </a:prstGeom>
          <a:noFill/>
        </p:spPr>
        <p:txBody>
          <a:bodyPr wrap="square" anchor="ctr">
            <a:spAutoFit/>
          </a:bodyPr>
          <a:lstStyle/>
          <a:p>
            <a:pPr algn="l">
              <a:spcAft>
                <a:spcPts val="400"/>
              </a:spcAft>
            </a:pPr>
            <a:r>
              <a:rPr sz="1150" b="0">
                <a:solidFill>
                  <a:srgbClr val="5B6372"/>
                </a:solidFill>
                <a:latin typeface="Arial"/>
              </a:rPr>
              <a:t>A monthly spending cap that Paperclip enforces automatically so your agents never overspend.</a:t>
            </a:r>
          </a:p>
        </p:txBody>
      </p:sp>
      <p:sp>
        <p:nvSpPr>
          <p:cNvPr id="35" name="Rectangle 34"/>
          <p:cNvSpPr/>
          <p:nvPr/>
        </p:nvSpPr>
        <p:spPr>
          <a:xfrm>
            <a:off x="777240" y="4743120"/>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05256" y="4743120"/>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Approval</a:t>
            </a:r>
          </a:p>
        </p:txBody>
      </p:sp>
      <p:sp>
        <p:nvSpPr>
          <p:cNvPr id="37" name="Rectangle 36"/>
          <p:cNvSpPr/>
          <p:nvPr/>
        </p:nvSpPr>
        <p:spPr>
          <a:xfrm>
            <a:off x="3542202" y="4743120"/>
            <a:ext cx="7869510"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70218" y="4743120"/>
            <a:ext cx="7613478" cy="414092"/>
          </a:xfrm>
          <a:prstGeom prst="rect">
            <a:avLst/>
          </a:prstGeom>
          <a:noFill/>
        </p:spPr>
        <p:txBody>
          <a:bodyPr wrap="square" anchor="ctr">
            <a:spAutoFit/>
          </a:bodyPr>
          <a:lstStyle/>
          <a:p>
            <a:pPr algn="l">
              <a:spcAft>
                <a:spcPts val="400"/>
              </a:spcAft>
            </a:pPr>
            <a:r>
              <a:rPr sz="1150" b="0">
                <a:solidFill>
                  <a:srgbClr val="5B6372"/>
                </a:solidFill>
                <a:latin typeface="Arial"/>
              </a:rPr>
              <a:t>A governance gate — a checkpoint where Paperclip pauses and asks you to sign off before an action proceeds.</a:t>
            </a:r>
          </a:p>
        </p:txBody>
      </p:sp>
      <p:sp>
        <p:nvSpPr>
          <p:cNvPr id="39" name="Rectangle 38"/>
          <p:cNvSpPr/>
          <p:nvPr/>
        </p:nvSpPr>
        <p:spPr>
          <a:xfrm>
            <a:off x="777240" y="5358380"/>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7240" y="5358380"/>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51560" y="5468108"/>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Notice what is absent: nothing about prompting, model selection or how an agent reasons. That omission is deliberate.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fast" advClick="1">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LO1 · THREE LAYERS, THREE DIFFERENT PROBLEMS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LLM vs Agent vs Agent Company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Dimension</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A language model</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A single agent</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A Paperclip company</a:t>
            </a:r>
          </a:p>
        </p:txBody>
      </p:sp>
      <p:sp>
        <p:nvSpPr>
          <p:cNvPr id="15" name="Rectangle 14"/>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What it does</a:t>
            </a:r>
          </a:p>
        </p:txBody>
      </p:sp>
      <p:sp>
        <p:nvSpPr>
          <p:cNvPr id="17" name="Rectangle 16"/>
          <p:cNvSpPr/>
          <p:nvPr/>
        </p:nvSpPr>
        <p:spPr>
          <a:xfrm>
            <a:off x="354220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Answers</a:t>
            </a:r>
          </a:p>
        </p:txBody>
      </p:sp>
      <p:sp>
        <p:nvSpPr>
          <p:cNvPr id="19" name="Rectangle 18"/>
          <p:cNvSpPr/>
          <p:nvPr/>
        </p:nvSpPr>
        <p:spPr>
          <a:xfrm>
            <a:off x="616537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Acts</a:t>
            </a:r>
          </a:p>
        </p:txBody>
      </p:sp>
      <p:sp>
        <p:nvSpPr>
          <p:cNvPr id="21" name="Rectangle 20"/>
          <p:cNvSpPr/>
          <p:nvPr/>
        </p:nvSpPr>
        <p:spPr>
          <a:xfrm>
            <a:off x="878854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Coordinates several actors</a:t>
            </a:r>
          </a:p>
        </p:txBody>
      </p:sp>
      <p:sp>
        <p:nvSpPr>
          <p:cNvPr id="23" name="Rectangle 22"/>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Memory</a:t>
            </a:r>
          </a:p>
        </p:txBody>
      </p:sp>
      <p:sp>
        <p:nvSpPr>
          <p:cNvPr id="25" name="Rectangle 24"/>
          <p:cNvSpPr/>
          <p:nvPr/>
        </p:nvSpPr>
        <p:spPr>
          <a:xfrm>
            <a:off x="354220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None beyond the prompt</a:t>
            </a:r>
          </a:p>
        </p:txBody>
      </p:sp>
      <p:sp>
        <p:nvSpPr>
          <p:cNvPr id="27" name="Rectangle 26"/>
          <p:cNvSpPr/>
          <p:nvPr/>
        </p:nvSpPr>
        <p:spPr>
          <a:xfrm>
            <a:off x="616537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Within one session</a:t>
            </a:r>
          </a:p>
        </p:txBody>
      </p:sp>
      <p:sp>
        <p:nvSpPr>
          <p:cNvPr id="29" name="Rectangle 28"/>
          <p:cNvSpPr/>
          <p:nvPr/>
        </p:nvSpPr>
        <p:spPr>
          <a:xfrm>
            <a:off x="878854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Across heartbeats, in the control plane</a:t>
            </a:r>
          </a:p>
        </p:txBody>
      </p:sp>
      <p:sp>
        <p:nvSpPr>
          <p:cNvPr id="31" name="Rectangle 30"/>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Authority</a:t>
            </a:r>
          </a:p>
        </p:txBody>
      </p:sp>
      <p:sp>
        <p:nvSpPr>
          <p:cNvPr id="33" name="Rectangle 32"/>
          <p:cNvSpPr/>
          <p:nvPr/>
        </p:nvSpPr>
        <p:spPr>
          <a:xfrm>
            <a:off x="354220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None</a:t>
            </a:r>
          </a:p>
        </p:txBody>
      </p:sp>
      <p:sp>
        <p:nvSpPr>
          <p:cNvPr id="35" name="Rectangle 34"/>
          <p:cNvSpPr/>
          <p:nvPr/>
        </p:nvSpPr>
        <p:spPr>
          <a:xfrm>
            <a:off x="616537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Whatever you allow implicitly</a:t>
            </a:r>
          </a:p>
        </p:txBody>
      </p:sp>
      <p:sp>
        <p:nvSpPr>
          <p:cNvPr id="37" name="Rectangle 36"/>
          <p:cNvSpPr/>
          <p:nvPr/>
        </p:nvSpPr>
        <p:spPr>
          <a:xfrm>
            <a:off x="878854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Explicit — org chart, roles and approvals</a:t>
            </a:r>
          </a:p>
        </p:txBody>
      </p:sp>
      <p:sp>
        <p:nvSpPr>
          <p:cNvPr id="39" name="Rectangle 38"/>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Cost visibility</a:t>
            </a:r>
          </a:p>
        </p:txBody>
      </p:sp>
      <p:sp>
        <p:nvSpPr>
          <p:cNvPr id="41" name="Rectangle 40"/>
          <p:cNvSpPr/>
          <p:nvPr/>
        </p:nvSpPr>
        <p:spPr>
          <a:xfrm>
            <a:off x="354220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Per request</a:t>
            </a:r>
          </a:p>
        </p:txBody>
      </p:sp>
      <p:sp>
        <p:nvSpPr>
          <p:cNvPr id="43" name="Rectangle 42"/>
          <p:cNvSpPr/>
          <p:nvPr/>
        </p:nvSpPr>
        <p:spPr>
          <a:xfrm>
            <a:off x="616537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Discovered on the invoice</a:t>
            </a:r>
          </a:p>
        </p:txBody>
      </p:sp>
      <p:sp>
        <p:nvSpPr>
          <p:cNvPr id="45" name="Rectangle 44"/>
          <p:cNvSpPr/>
          <p:nvPr/>
        </p:nvSpPr>
        <p:spPr>
          <a:xfrm>
            <a:off x="878854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Capped at checkout by company, project and agent</a:t>
            </a:r>
          </a:p>
        </p:txBody>
      </p:sp>
      <p:sp>
        <p:nvSpPr>
          <p:cNvPr id="47" name="Rectangle 4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Evidence</a:t>
            </a:r>
          </a:p>
        </p:txBody>
      </p:sp>
      <p:sp>
        <p:nvSpPr>
          <p:cNvPr id="49" name="Rectangle 48"/>
          <p:cNvSpPr/>
          <p:nvPr/>
        </p:nvSpPr>
        <p:spPr>
          <a:xfrm>
            <a:off x="354220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The reply text</a:t>
            </a:r>
          </a:p>
        </p:txBody>
      </p:sp>
      <p:sp>
        <p:nvSpPr>
          <p:cNvPr id="51" name="Rectangle 50"/>
          <p:cNvSpPr/>
          <p:nvPr/>
        </p:nvSpPr>
        <p:spPr>
          <a:xfrm>
            <a:off x="616537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Scrollback you must trust</a:t>
            </a:r>
          </a:p>
        </p:txBody>
      </p:sp>
      <p:sp>
        <p:nvSpPr>
          <p:cNvPr id="53" name="Rectangle 52"/>
          <p:cNvSpPr/>
          <p:nvPr/>
        </p:nvSpPr>
        <p:spPr>
          <a:xfrm>
            <a:off x="878854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Runs, comments, diffs and a durable activity log</a:t>
            </a:r>
          </a:p>
        </p:txBody>
      </p:sp>
      <p:sp>
        <p:nvSpPr>
          <p:cNvPr id="55" name="Rectangle 54"/>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77240" y="5358381"/>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Paperclip is the third layer. It does not make your agents smarter — it makes a team of them accountable.</a:t>
            </a:r>
          </a:p>
        </p:txBody>
      </p:sp>
      <p:sp>
        <p:nvSpPr>
          <p:cNvPr id="58" name="TextBox 5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59" name="TextBox 5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0" name="TextBox 5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fast" advClick="1">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LO1 · SCOPING THE TOOL SAVES WASTED EVALUATION TIME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Paperclip Is NOT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13274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75133"/>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75133"/>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94759"/>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NOT an agent framework</a:t>
            </a:r>
          </a:p>
          <a:p>
            <a:pPr algn="l">
              <a:spcAft>
                <a:spcPts val="300"/>
              </a:spcAft>
            </a:pPr>
            <a:r>
              <a:rPr sz="1100" b="0">
                <a:solidFill>
                  <a:srgbClr val="5B6372"/>
                </a:solidFill>
                <a:latin typeface="Arial"/>
              </a:rPr>
              <a:t>It does not dictate how your agent reasons, prompts or calls tools. That is the adapter's job.</a:t>
            </a:r>
          </a:p>
        </p:txBody>
      </p:sp>
      <p:sp>
        <p:nvSpPr>
          <p:cNvPr id="12" name="Rectangle 11"/>
          <p:cNvSpPr/>
          <p:nvPr/>
        </p:nvSpPr>
        <p:spPr>
          <a:xfrm>
            <a:off x="6231636" y="1783080"/>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13274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075133"/>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075133"/>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94759"/>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NOT a chatbot</a:t>
            </a:r>
          </a:p>
          <a:p>
            <a:pPr algn="l">
              <a:spcAft>
                <a:spcPts val="300"/>
              </a:spcAft>
            </a:pPr>
            <a:r>
              <a:rPr sz="1100" b="0">
                <a:solidFill>
                  <a:srgbClr val="5B6372"/>
                </a:solidFill>
                <a:latin typeface="Arial"/>
              </a:rPr>
              <a:t>There is no conversational surface for you to talk to a model through.</a:t>
            </a:r>
          </a:p>
        </p:txBody>
      </p:sp>
      <p:sp>
        <p:nvSpPr>
          <p:cNvPr id="17" name="Rectangle 16"/>
          <p:cNvSpPr/>
          <p:nvPr/>
        </p:nvSpPr>
        <p:spPr>
          <a:xfrm>
            <a:off x="777240" y="312323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123231"/>
            <a:ext cx="91440" cy="113274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4152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4152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34910"/>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NOT a workflow builder</a:t>
            </a:r>
          </a:p>
          <a:p>
            <a:pPr algn="l">
              <a:spcAft>
                <a:spcPts val="300"/>
              </a:spcAft>
            </a:pPr>
            <a:r>
              <a:rPr sz="1100" b="0">
                <a:solidFill>
                  <a:srgbClr val="5B6372"/>
                </a:solidFill>
                <a:latin typeface="Arial"/>
              </a:rPr>
              <a:t>There is no drag-and-drop canvas of nodes and edges to wire together.</a:t>
            </a:r>
          </a:p>
        </p:txBody>
      </p:sp>
      <p:sp>
        <p:nvSpPr>
          <p:cNvPr id="22" name="Rectangle 21"/>
          <p:cNvSpPr/>
          <p:nvPr/>
        </p:nvSpPr>
        <p:spPr>
          <a:xfrm>
            <a:off x="6231636" y="312323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123231"/>
            <a:ext cx="91440" cy="113274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4152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4152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234910"/>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NOT a prompt manager</a:t>
            </a:r>
          </a:p>
          <a:p>
            <a:pPr algn="l">
              <a:spcAft>
                <a:spcPts val="300"/>
              </a:spcAft>
            </a:pPr>
            <a:r>
              <a:rPr sz="1100" b="0">
                <a:solidFill>
                  <a:srgbClr val="5B6372"/>
                </a:solidFill>
                <a:latin typeface="Arial"/>
              </a:rPr>
              <a:t>Prompts live with the runtime and the skill, not in a prompt library inside Paperclip.</a:t>
            </a:r>
          </a:p>
        </p:txBody>
      </p:sp>
      <p:sp>
        <p:nvSpPr>
          <p:cNvPr id="27" name="Rectangle 26"/>
          <p:cNvSpPr/>
          <p:nvPr/>
        </p:nvSpPr>
        <p:spPr>
          <a:xfrm>
            <a:off x="777240" y="446338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463381"/>
            <a:ext cx="91440" cy="113274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75543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75543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575061"/>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NOT for a single agent</a:t>
            </a:r>
          </a:p>
          <a:p>
            <a:pPr algn="l">
              <a:spcAft>
                <a:spcPts val="300"/>
              </a:spcAft>
            </a:pPr>
            <a:r>
              <a:rPr sz="1100" b="0">
                <a:solidFill>
                  <a:srgbClr val="5B6372"/>
                </a:solidFill>
                <a:latin typeface="Arial"/>
              </a:rPr>
              <a:t>One agent does not need an org chart — the coordination overhead would be pure cost.</a:t>
            </a:r>
          </a:p>
        </p:txBody>
      </p:sp>
      <p:sp>
        <p:nvSpPr>
          <p:cNvPr id="32" name="Rectangle 31"/>
          <p:cNvSpPr/>
          <p:nvPr/>
        </p:nvSpPr>
        <p:spPr>
          <a:xfrm>
            <a:off x="6231636" y="446338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463381"/>
            <a:ext cx="91440" cy="113274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75543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75543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575061"/>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SO WHAT IS IT?</a:t>
            </a:r>
          </a:p>
          <a:p>
            <a:pPr algn="l">
              <a:spcAft>
                <a:spcPts val="300"/>
              </a:spcAft>
            </a:pPr>
            <a:r>
              <a:rPr sz="1100" b="0">
                <a:solidFill>
                  <a:srgbClr val="5B6372"/>
                </a:solidFill>
                <a:latin typeface="Arial"/>
              </a:rPr>
              <a:t>An organisational control plane: Node.js plus React on port 3100, backed by PostgreSQL on port 54329.</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
        <p:nvSpPr>
          <p:cNvPr id="40" name="Rectangle 39"/>
          <p:cNvSpPr/>
          <p:nvPr/>
        </p:nvSpPr>
        <p:spPr>
          <a:xfrm>
            <a:off x="777240" y="5742432"/>
            <a:ext cx="10607040" cy="603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5742432"/>
            <a:ext cx="91440"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5742432"/>
            <a:ext cx="10241280" cy="603504"/>
          </a:xfrm>
          <a:prstGeom prst="rect">
            <a:avLst/>
          </a:prstGeom>
          <a:noFill/>
        </p:spPr>
        <p:txBody>
          <a:bodyPr wrap="square" anchor="ctr">
            <a:spAutoFit/>
          </a:bodyPr>
          <a:lstStyle/>
          <a:p>
            <a:pPr algn="l">
              <a:spcAft>
                <a:spcPts val="400"/>
              </a:spcAft>
            </a:pPr>
            <a:r>
              <a:rPr sz="1350" b="1">
                <a:solidFill>
                  <a:srgbClr val="161B26"/>
                </a:solidFill>
                <a:latin typeface="Arial"/>
              </a:rPr>
              <a:t>Paperclip manages the company. Adapters run the agents.</a:t>
            </a:r>
          </a:p>
        </p:txBody>
      </p:sp>
    </p:spTree>
  </p:cSld>
  <p:clrMapOvr>
    <a:masterClrMapping/>
  </p:clrMapOvr>
  <p:transition spd="fast" advClick="1">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THE MOST COMMERCIALLY USEFUL JUDGEMENT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Feasibility Scan — One Agent or a Team?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Factor</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Points to ONE agent</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Points to a TEAM</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Separability</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One instruction still describes the job clearly.</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instruction has become a list of unrelated responsibilities.</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Expertise</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One skill set covers it.</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Genuinely different expertise is required for different parts.</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Independent evidence</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doer can reasonably check their own work.</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Evidence must be produced INDEPENDENTLY of whoever consumes it.</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Observability</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Inputs and outputs are already observable.</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same — a prerequisite either way, not a reason to split.</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Cost of coordination</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Low volume, short task.</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work recurs often enough to amortise the setup.</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The test is one question: are the INPUTS, TOOLS, AUTHORITY and VERIFICATION the same across the whole task? If yes, use one agent.</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fast" advClick="1">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LO1 · REACH FOR ONE AGENT AND BE ARGUED OUT OF IT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Should This Work Become an Agent Company?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Are the inputs, tools,
authority and verification
the SAME across the
whole task?</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YES — stay with ONE agent</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One instruction still describes the job clearly. Splitting adds nothing but surface area to debug, budget and audit.</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NO — build the company</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Different expertise, or evidence must be produced independently of whoever will consume it. Split into roles, one transformation each.</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Sanity check before you build anything: write the mission as one sentence. If you cannot, you do not understand the work well enough to delegate it.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fast" advClick="1">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KNOW WHERE TO LOOK WHEN SOMETHING MISBEHAVES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Twelve Subsystems — Who Owns Which Problem?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Subsystem</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The question it answers</a:t>
            </a:r>
          </a:p>
        </p:txBody>
      </p:sp>
      <p:sp>
        <p:nvSpPr>
          <p:cNvPr id="11" name="Rectangle 10"/>
          <p:cNvSpPr/>
          <p:nvPr/>
        </p:nvSpPr>
        <p:spPr>
          <a:xfrm>
            <a:off x="777240" y="2258568"/>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Identity · Org chart</a:t>
            </a:r>
          </a:p>
        </p:txBody>
      </p:sp>
      <p:sp>
        <p:nvSpPr>
          <p:cNvPr id="13" name="Rectangle 12"/>
          <p:cNvSpPr/>
          <p:nvPr/>
        </p:nvSpPr>
        <p:spPr>
          <a:xfrm>
            <a:off x="3542202" y="2258568"/>
            <a:ext cx="7869510"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414092"/>
          </a:xfrm>
          <a:prstGeom prst="rect">
            <a:avLst/>
          </a:prstGeom>
          <a:noFill/>
        </p:spPr>
        <p:txBody>
          <a:bodyPr wrap="square" anchor="ctr">
            <a:spAutoFit/>
          </a:bodyPr>
          <a:lstStyle/>
          <a:p>
            <a:pPr algn="l">
              <a:spcAft>
                <a:spcPts val="400"/>
              </a:spcAft>
            </a:pPr>
            <a:r>
              <a:rPr sz="1150" b="0">
                <a:solidFill>
                  <a:srgbClr val="5B6372"/>
                </a:solidFill>
                <a:latin typeface="Arial"/>
              </a:rPr>
              <a:t>Who is this, who do they report to, and what may they do?</a:t>
            </a:r>
          </a:p>
        </p:txBody>
      </p:sp>
      <p:sp>
        <p:nvSpPr>
          <p:cNvPr id="15" name="Rectangle 14"/>
          <p:cNvSpPr/>
          <p:nvPr/>
        </p:nvSpPr>
        <p:spPr>
          <a:xfrm>
            <a:off x="777240" y="2672660"/>
            <a:ext cx="2764962"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672660"/>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Work · Heartbeat</a:t>
            </a:r>
          </a:p>
        </p:txBody>
      </p:sp>
      <p:sp>
        <p:nvSpPr>
          <p:cNvPr id="17" name="Rectangle 16"/>
          <p:cNvSpPr/>
          <p:nvPr/>
        </p:nvSpPr>
        <p:spPr>
          <a:xfrm>
            <a:off x="3542202" y="2672660"/>
            <a:ext cx="7869510"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672660"/>
            <a:ext cx="7613478" cy="414092"/>
          </a:xfrm>
          <a:prstGeom prst="rect">
            <a:avLst/>
          </a:prstGeom>
          <a:noFill/>
        </p:spPr>
        <p:txBody>
          <a:bodyPr wrap="square" anchor="ctr">
            <a:spAutoFit/>
          </a:bodyPr>
          <a:lstStyle/>
          <a:p>
            <a:pPr algn="l">
              <a:spcAft>
                <a:spcPts val="400"/>
              </a:spcAft>
            </a:pPr>
            <a:r>
              <a:rPr sz="1150" b="0">
                <a:solidFill>
                  <a:srgbClr val="5B6372"/>
                </a:solidFill>
                <a:latin typeface="Arial"/>
              </a:rPr>
              <a:t>What needs doing, who owns it now, and when does an agent wake?</a:t>
            </a:r>
          </a:p>
        </p:txBody>
      </p:sp>
      <p:sp>
        <p:nvSpPr>
          <p:cNvPr id="19" name="Rectangle 18"/>
          <p:cNvSpPr/>
          <p:nvPr/>
        </p:nvSpPr>
        <p:spPr>
          <a:xfrm>
            <a:off x="777240" y="3086752"/>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086752"/>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Workspaces</a:t>
            </a:r>
          </a:p>
        </p:txBody>
      </p:sp>
      <p:sp>
        <p:nvSpPr>
          <p:cNvPr id="21" name="Rectangle 20"/>
          <p:cNvSpPr/>
          <p:nvPr/>
        </p:nvSpPr>
        <p:spPr>
          <a:xfrm>
            <a:off x="3542202" y="3086752"/>
            <a:ext cx="7869510"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086752"/>
            <a:ext cx="7613478" cy="414092"/>
          </a:xfrm>
          <a:prstGeom prst="rect">
            <a:avLst/>
          </a:prstGeom>
          <a:noFill/>
        </p:spPr>
        <p:txBody>
          <a:bodyPr wrap="square" anchor="ctr">
            <a:spAutoFit/>
          </a:bodyPr>
          <a:lstStyle/>
          <a:p>
            <a:pPr algn="l">
              <a:spcAft>
                <a:spcPts val="400"/>
              </a:spcAft>
            </a:pPr>
            <a:r>
              <a:rPr sz="1150" b="0">
                <a:solidFill>
                  <a:srgbClr val="5B6372"/>
                </a:solidFill>
                <a:latin typeface="Arial"/>
              </a:rPr>
              <a:t>Where does this agent's work live, and who else can touch it?</a:t>
            </a:r>
          </a:p>
        </p:txBody>
      </p:sp>
      <p:sp>
        <p:nvSpPr>
          <p:cNvPr id="23" name="Rectangle 22"/>
          <p:cNvSpPr/>
          <p:nvPr/>
        </p:nvSpPr>
        <p:spPr>
          <a:xfrm>
            <a:off x="777240" y="3500844"/>
            <a:ext cx="2764962"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3500844"/>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Governance · Budget</a:t>
            </a:r>
          </a:p>
        </p:txBody>
      </p:sp>
      <p:sp>
        <p:nvSpPr>
          <p:cNvPr id="25" name="Rectangle 24"/>
          <p:cNvSpPr/>
          <p:nvPr/>
        </p:nvSpPr>
        <p:spPr>
          <a:xfrm>
            <a:off x="3542202" y="3500844"/>
            <a:ext cx="7869510"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3500844"/>
            <a:ext cx="7613478" cy="414092"/>
          </a:xfrm>
          <a:prstGeom prst="rect">
            <a:avLst/>
          </a:prstGeom>
          <a:noFill/>
        </p:spPr>
        <p:txBody>
          <a:bodyPr wrap="square" anchor="ctr">
            <a:spAutoFit/>
          </a:bodyPr>
          <a:lstStyle/>
          <a:p>
            <a:pPr algn="l">
              <a:spcAft>
                <a:spcPts val="400"/>
              </a:spcAft>
            </a:pPr>
            <a:r>
              <a:rPr sz="1150" b="0">
                <a:solidFill>
                  <a:srgbClr val="5B6372"/>
                </a:solidFill>
                <a:latin typeface="Arial"/>
              </a:rPr>
              <a:t>Which actions need a human decision, and what is the ceiling?</a:t>
            </a:r>
          </a:p>
        </p:txBody>
      </p:sp>
      <p:sp>
        <p:nvSpPr>
          <p:cNvPr id="27" name="Rectangle 26"/>
          <p:cNvSpPr/>
          <p:nvPr/>
        </p:nvSpPr>
        <p:spPr>
          <a:xfrm>
            <a:off x="777240" y="3914936"/>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5256" y="3914936"/>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Routines · Plugins</a:t>
            </a:r>
          </a:p>
        </p:txBody>
      </p:sp>
      <p:sp>
        <p:nvSpPr>
          <p:cNvPr id="29" name="Rectangle 28"/>
          <p:cNvSpPr/>
          <p:nvPr/>
        </p:nvSpPr>
        <p:spPr>
          <a:xfrm>
            <a:off x="3542202" y="3914936"/>
            <a:ext cx="7869510"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70218" y="3914936"/>
            <a:ext cx="7613478" cy="414092"/>
          </a:xfrm>
          <a:prstGeom prst="rect">
            <a:avLst/>
          </a:prstGeom>
          <a:noFill/>
        </p:spPr>
        <p:txBody>
          <a:bodyPr wrap="square" anchor="ctr">
            <a:spAutoFit/>
          </a:bodyPr>
          <a:lstStyle/>
          <a:p>
            <a:pPr algn="l">
              <a:spcAft>
                <a:spcPts val="400"/>
              </a:spcAft>
            </a:pPr>
            <a:r>
              <a:rPr sz="1150" b="0">
                <a:solidFill>
                  <a:srgbClr val="5B6372"/>
                </a:solidFill>
                <a:latin typeface="Arial"/>
              </a:rPr>
              <a:t>What recurs unasked, and how do we extend without forking?</a:t>
            </a:r>
          </a:p>
        </p:txBody>
      </p:sp>
      <p:sp>
        <p:nvSpPr>
          <p:cNvPr id="31" name="Rectangle 30"/>
          <p:cNvSpPr/>
          <p:nvPr/>
        </p:nvSpPr>
        <p:spPr>
          <a:xfrm>
            <a:off x="777240" y="4329028"/>
            <a:ext cx="2764962"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29028"/>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Secrets</a:t>
            </a:r>
          </a:p>
        </p:txBody>
      </p:sp>
      <p:sp>
        <p:nvSpPr>
          <p:cNvPr id="33" name="Rectangle 32"/>
          <p:cNvSpPr/>
          <p:nvPr/>
        </p:nvSpPr>
        <p:spPr>
          <a:xfrm>
            <a:off x="3542202" y="4329028"/>
            <a:ext cx="7869510"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29028"/>
            <a:ext cx="7613478" cy="414092"/>
          </a:xfrm>
          <a:prstGeom prst="rect">
            <a:avLst/>
          </a:prstGeom>
          <a:noFill/>
        </p:spPr>
        <p:txBody>
          <a:bodyPr wrap="square" anchor="ctr">
            <a:spAutoFit/>
          </a:bodyPr>
          <a:lstStyle/>
          <a:p>
            <a:pPr algn="l">
              <a:spcAft>
                <a:spcPts val="400"/>
              </a:spcAft>
            </a:pPr>
            <a:r>
              <a:rPr sz="1150" b="0">
                <a:solidFill>
                  <a:srgbClr val="5B6372"/>
                </a:solidFill>
                <a:latin typeface="Arial"/>
              </a:rPr>
              <a:t>Where do credentials live, and how do they reach a run without leaking?</a:t>
            </a:r>
          </a:p>
        </p:txBody>
      </p:sp>
      <p:sp>
        <p:nvSpPr>
          <p:cNvPr id="35" name="Rectangle 34"/>
          <p:cNvSpPr/>
          <p:nvPr/>
        </p:nvSpPr>
        <p:spPr>
          <a:xfrm>
            <a:off x="777240" y="4743120"/>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05256" y="4743120"/>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Activity · Portability</a:t>
            </a:r>
          </a:p>
        </p:txBody>
      </p:sp>
      <p:sp>
        <p:nvSpPr>
          <p:cNvPr id="37" name="Rectangle 36"/>
          <p:cNvSpPr/>
          <p:nvPr/>
        </p:nvSpPr>
        <p:spPr>
          <a:xfrm>
            <a:off x="3542202" y="4743120"/>
            <a:ext cx="7869510"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70218" y="4743120"/>
            <a:ext cx="7613478" cy="414092"/>
          </a:xfrm>
          <a:prstGeom prst="rect">
            <a:avLst/>
          </a:prstGeom>
          <a:noFill/>
        </p:spPr>
        <p:txBody>
          <a:bodyPr wrap="square" anchor="ctr">
            <a:spAutoFit/>
          </a:bodyPr>
          <a:lstStyle/>
          <a:p>
            <a:pPr algn="l">
              <a:spcAft>
                <a:spcPts val="400"/>
              </a:spcAft>
            </a:pPr>
            <a:r>
              <a:rPr sz="1150" b="0">
                <a:solidFill>
                  <a:srgbClr val="5B6372"/>
                </a:solidFill>
                <a:latin typeface="Arial"/>
              </a:rPr>
              <a:t>What happened, in order and durably — and how do we move it?</a:t>
            </a:r>
          </a:p>
        </p:txBody>
      </p:sp>
      <p:sp>
        <p:nvSpPr>
          <p:cNvPr id="39" name="Rectangle 38"/>
          <p:cNvSpPr/>
          <p:nvPr/>
        </p:nvSpPr>
        <p:spPr>
          <a:xfrm>
            <a:off x="777240" y="5358380"/>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7240" y="5358380"/>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51560" y="5468108"/>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You do not need to recite the twelve. You should be able to say which one owns a given problem — that is how you know where to look.</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fast" advClick="1">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Hands-On Labs — Fundamentals of Agentic AI and Paperclip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1</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Install Paperclip and Prove the Control Plane (ClipReel Studio)</a:t>
            </a:r>
          </a:p>
          <a:p>
            <a:pPr>
              <a:spcAft>
                <a:spcPts val="900"/>
              </a:spcAft>
            </a:pPr>
            <a:r>
              <a:rPr sz="1400" b="0">
                <a:solidFill>
                  <a:srgbClr val="161B26"/>
                </a:solidFill>
                <a:latin typeface="Arial"/>
              </a:rPr>
              <a:t>•  ClipReel Studio (Short Video Production)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F59E0B"/>
                </a:solidFill>
                <a:latin typeface="Arial"/>
              </a:rPr>
              <a: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F59E0B"/>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fast" advClick="1">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Install Paperclip and Prove the Control Plane (ClipReel Studio)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07040"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10241280" cy="566928"/>
          </a:xfrm>
          <a:prstGeom prst="rect">
            <a:avLst/>
          </a:prstGeom>
          <a:noFill/>
        </p:spPr>
        <p:txBody>
          <a:bodyPr wrap="square" anchor="ctr">
            <a:spAutoFit/>
          </a:bodyPr>
          <a:lstStyle/>
          <a:p>
            <a:pPr algn="l">
              <a:spcAft>
                <a:spcPts val="400"/>
              </a:spcAft>
            </a:pPr>
            <a:r>
              <a:rPr sz="1300" b="1">
                <a:solidFill>
                  <a:srgbClr val="7C3AED"/>
                </a:solidFill>
                <a:latin typeface="Arial"/>
              </a:rPr>
              <a:t>SIMULATED COMPANY  ·  ClipReel Studio (Short Video Production)</a:t>
            </a:r>
          </a:p>
        </p:txBody>
      </p:sp>
      <p:sp>
        <p:nvSpPr>
          <p:cNvPr id="10" name="TextBox 9"/>
          <p:cNvSpPr txBox="1"/>
          <p:nvPr/>
        </p:nvSpPr>
        <p:spPr>
          <a:xfrm>
            <a:off x="777240" y="2514600"/>
            <a:ext cx="10607040" cy="1298448"/>
          </a:xfrm>
          <a:prstGeom prst="rect">
            <a:avLst/>
          </a:prstGeom>
          <a:noFill/>
        </p:spPr>
        <p:txBody>
          <a:bodyPr wrap="square" anchor="t">
            <a:spAutoFit/>
          </a:bodyPr>
          <a:lstStyle/>
          <a:p>
            <a:pPr algn="l">
              <a:spcAft>
                <a:spcPts val="400"/>
              </a:spcAft>
            </a:pPr>
            <a:r>
              <a:rPr sz="1350" b="0">
                <a:solidFill>
                  <a:srgbClr val="161B26"/>
                </a:solidFill>
                <a:latin typeface="Arial"/>
              </a:rPr>
              <a:t>You prepare a dedicated synthetic practice root for ClipReel Studio, a one-person short-video production company, verify the supported Node.js runtime, onboard Paperclip as a normal (non-elevated) user, and then inspect BOTH the built-in diagnostic and the live health endpoint. Proving the control plane before you hire any agent matters because every later adapter, budget or heartbeat failure is far easier to isolate when the platform itself has a recorded clean baseline.</a:t>
            </a:r>
          </a:p>
        </p:txBody>
      </p:sp>
      <p:sp>
        <p:nvSpPr>
          <p:cNvPr id="11" name="Rectangle 10"/>
          <p:cNvSpPr/>
          <p:nvPr/>
        </p:nvSpPr>
        <p:spPr>
          <a:xfrm>
            <a:off x="777240" y="3931920"/>
            <a:ext cx="6766560"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931920"/>
            <a:ext cx="676656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069080"/>
            <a:ext cx="6309360" cy="329184"/>
          </a:xfrm>
          <a:prstGeom prst="rect">
            <a:avLst/>
          </a:prstGeom>
          <a:noFill/>
        </p:spPr>
        <p:txBody>
          <a:bodyPr wrap="square" anchor="t">
            <a:spAutoFit/>
          </a:bodyPr>
          <a:lstStyle/>
          <a:p>
            <a:pPr algn="l">
              <a:spcAft>
                <a:spcPts val="400"/>
              </a:spcAft>
            </a:pPr>
            <a:r>
              <a:rPr sz="1200" b="1">
                <a:solidFill>
                  <a:srgbClr val="10B981"/>
                </a:solidFill>
                <a:latin typeface="Arial"/>
              </a:rPr>
              <a:t>YOU'LL BUILD</a:t>
            </a:r>
          </a:p>
        </p:txBody>
      </p:sp>
      <p:sp>
        <p:nvSpPr>
          <p:cNvPr id="14" name="TextBox 13"/>
          <p:cNvSpPr txBox="1"/>
          <p:nvPr/>
        </p:nvSpPr>
        <p:spPr>
          <a:xfrm>
            <a:off x="1005840" y="4416552"/>
            <a:ext cx="6309360" cy="1005840"/>
          </a:xfrm>
          <a:prstGeom prst="rect">
            <a:avLst/>
          </a:prstGeom>
          <a:noFill/>
        </p:spPr>
        <p:txBody>
          <a:bodyPr wrap="square" anchor="t">
            <a:spAutoFit/>
          </a:bodyPr>
          <a:lstStyle/>
          <a:p>
            <a:pPr algn="l">
              <a:spcAft>
                <a:spcPts val="400"/>
              </a:spcAft>
            </a:pPr>
            <a:r>
              <a:rPr sz="1150" b="0">
                <a:solidFill>
                  <a:srgbClr val="161B26"/>
                </a:solidFill>
                <a:latin typeface="Arial"/>
              </a:rPr>
              <a:t>A running Paperclip instance at http://localhost:3100 plus evidence/lab01-installation.md recording the Node/npm versions, the doctor summary and the /api/health response — with no credentials captured.</a:t>
            </a:r>
          </a:p>
        </p:txBody>
      </p:sp>
      <p:sp>
        <p:nvSpPr>
          <p:cNvPr id="15" name="Rectangle 14"/>
          <p:cNvSpPr/>
          <p:nvPr/>
        </p:nvSpPr>
        <p:spPr>
          <a:xfrm>
            <a:off x="7818120" y="3931920"/>
            <a:ext cx="3566160"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818120" y="3931920"/>
            <a:ext cx="356616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0" y="4069080"/>
            <a:ext cx="3108960" cy="329184"/>
          </a:xfrm>
          <a:prstGeom prst="rect">
            <a:avLst/>
          </a:prstGeom>
          <a:noFill/>
        </p:spPr>
        <p:txBody>
          <a:bodyPr wrap="square" anchor="t">
            <a:spAutoFit/>
          </a:bodyPr>
          <a:lstStyle/>
          <a:p>
            <a:pPr algn="l">
              <a:spcAft>
                <a:spcPts val="400"/>
              </a:spcAft>
            </a:pPr>
            <a:r>
              <a:rPr sz="1200" b="1">
                <a:solidFill>
                  <a:srgbClr val="1F6FEB"/>
                </a:solidFill>
                <a:latin typeface="Arial"/>
              </a:rPr>
              <a:t>MAPS TO</a:t>
            </a:r>
          </a:p>
        </p:txBody>
      </p:sp>
      <p:sp>
        <p:nvSpPr>
          <p:cNvPr id="18" name="TextBox 17"/>
          <p:cNvSpPr txBox="1"/>
          <p:nvPr/>
        </p:nvSpPr>
        <p:spPr>
          <a:xfrm>
            <a:off x="8046720" y="4416552"/>
            <a:ext cx="3108960" cy="1005840"/>
          </a:xfrm>
          <a:prstGeom prst="rect">
            <a:avLst/>
          </a:prstGeom>
          <a:noFill/>
        </p:spPr>
        <p:txBody>
          <a:bodyPr wrap="square" anchor="t">
            <a:spAutoFit/>
          </a:bodyPr>
          <a:lstStyle/>
          <a:p>
            <a:pPr algn="l">
              <a:spcAft>
                <a:spcPts val="400"/>
              </a:spcAft>
            </a:pPr>
            <a:r>
              <a:rPr sz="1050" b="0">
                <a:solidFill>
                  <a:srgbClr val="161B26"/>
                </a:solidFill>
                <a:latin typeface="Arial"/>
              </a:rPr>
              <a:t>LO1: Explain the control-plane / runtime boundary and verify a healthy local Paperclip installation with observable evidence.</a:t>
            </a:r>
          </a:p>
        </p:txBody>
      </p:sp>
      <p:sp>
        <p:nvSpPr>
          <p:cNvPr id="19" name="TextBox 18"/>
          <p:cNvSpPr txBox="1"/>
          <p:nvPr/>
        </p:nvSpPr>
        <p:spPr>
          <a:xfrm>
            <a:off x="777240" y="5669280"/>
            <a:ext cx="10607040" cy="640080"/>
          </a:xfrm>
          <a:prstGeom prst="rect">
            <a:avLst/>
          </a:prstGeom>
          <a:noFill/>
        </p:spPr>
        <p:txBody>
          <a:bodyPr wrap="square" anchor="t">
            <a:spAutoFit/>
          </a:bodyPr>
          <a:lstStyle/>
          <a:p>
            <a:pPr algn="l">
              <a:spcAft>
                <a:spcPts val="300"/>
              </a:spcAft>
            </a:pPr>
            <a:r>
              <a:rPr sz="1100" b="0">
                <a:solidFill>
                  <a:srgbClr val="5B6372"/>
                </a:solidFill>
                <a:latin typeface="Arial"/>
              </a:rPr>
              <a:t>Tools:  Node.js 20+, npm/npx, Paperclip CLI, browser, terminal or PowerShell</a:t>
            </a:r>
          </a:p>
          <a:p>
            <a:pPr algn="l">
              <a:spcAft>
                <a:spcPts val="300"/>
              </a:spcAft>
            </a:pPr>
            <a:r>
              <a:rPr sz="1100" b="0">
                <a:solidFill>
                  <a:srgbClr val="5B6372"/>
                </a:solidFill>
                <a:latin typeface="Arial"/>
              </a:rPr>
              <a:t>Full step-by-step procedure: Learner Guide, Lab 1  ·  labs/ folder</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fast" advClick="1">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Prepare the practice root</a:t>
            </a:r>
          </a:p>
        </p:txBody>
      </p:sp>
      <p:sp>
        <p:nvSpPr>
          <p:cNvPr id="12" name="TextBox 11"/>
          <p:cNvSpPr txBox="1"/>
          <p:nvPr/>
        </p:nvSpPr>
        <p:spPr>
          <a:xfrm>
            <a:off x="850392"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separate workspace + evidence folders</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Verify Node.js 20+</a:t>
            </a:r>
          </a:p>
        </p:txBody>
      </p:sp>
      <p:sp>
        <p:nvSpPr>
          <p:cNvPr id="19" name="TextBox 18"/>
          <p:cNvSpPr txBox="1"/>
          <p:nvPr/>
        </p:nvSpPr>
        <p:spPr>
          <a:xfrm>
            <a:off x="3054096"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the top cause of a failed onboard</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Onboard Paperclip</a:t>
            </a:r>
          </a:p>
        </p:txBody>
      </p:sp>
      <p:sp>
        <p:nvSpPr>
          <p:cNvPr id="26" name="TextBox 25"/>
          <p:cNvSpPr txBox="1"/>
          <p:nvPr/>
        </p:nvSpPr>
        <p:spPr>
          <a:xfrm>
            <a:off x="5257800"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normal user shell — never sudo</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Run doctor</a:t>
            </a:r>
          </a:p>
        </p:txBody>
      </p:sp>
      <p:sp>
        <p:nvSpPr>
          <p:cNvPr id="33" name="TextBox 32"/>
          <p:cNvSpPr txBox="1"/>
          <p:nvPr/>
        </p:nvSpPr>
        <p:spPr>
          <a:xfrm>
            <a:off x="7461504"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fix the EARLIEST error first</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Prove /api/health</a:t>
            </a:r>
          </a:p>
        </p:txBody>
      </p:sp>
      <p:sp>
        <p:nvSpPr>
          <p:cNvPr id="40" name="TextBox 39"/>
          <p:cNvSpPr txBox="1"/>
          <p:nvPr/>
        </p:nvSpPr>
        <p:spPr>
          <a:xfrm>
            <a:off x="9665208"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record the clean baseline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LO1: Explain the control-plane / runtime boundary and verify a healthy local Paperclip installation with observable evidence.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Install Paperclip and Prove the Control Plane (ClipReel Studio)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npx paperclipai doctor completes with no unresolved blocking error, GET http://localhost:3100/api/health returns status ok, the browser loads the Paperclip UI, and evidence/lab01-installation.md records all three checks with no credential or personal identifier.</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Embedded PostgreSQL refuses to start</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the shell is NOT elevated. Stop the process and re-run onboarding as the normal user who owns the practice folder.</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browser cannot reach port 3100</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npx paperclipai doctor, then npx paperclipai run, and query /api/health again BEFORE touching any firewall setting.</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npx resolves against a private registry</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Retry with npx --registry https://registry.npmjs.org paperclipai onboard --yes and review the global npm registry configuration afterwards.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fast" advClick="1">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LAB 1  ·  TROUBLESHOOTING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Install Paperclip and Prove the Control Plane (ClipReel Studio)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07040" cy="944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91440" cy="944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3852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Embedded PostgreSQL refuses to start</a:t>
            </a:r>
          </a:p>
        </p:txBody>
      </p:sp>
      <p:sp>
        <p:nvSpPr>
          <p:cNvPr id="10" name="TextBox 9"/>
          <p:cNvSpPr txBox="1"/>
          <p:nvPr/>
        </p:nvSpPr>
        <p:spPr>
          <a:xfrm>
            <a:off x="1051560" y="2304288"/>
            <a:ext cx="10149840" cy="341376"/>
          </a:xfrm>
          <a:prstGeom prst="rect">
            <a:avLst/>
          </a:prstGeom>
          <a:noFill/>
        </p:spPr>
        <p:txBody>
          <a:bodyPr wrap="square" anchor="t">
            <a:spAutoFit/>
          </a:bodyPr>
          <a:lstStyle/>
          <a:p>
            <a:pPr algn="l">
              <a:spcAft>
                <a:spcPts val="400"/>
              </a:spcAft>
            </a:pPr>
            <a:r>
              <a:rPr sz="1150" b="0">
                <a:solidFill>
                  <a:srgbClr val="5B6372"/>
                </a:solidFill>
                <a:latin typeface="Arial"/>
              </a:rPr>
              <a:t>Confirm the shell is NOT elevated. Stop the process and re-run onboarding as the normal user who owns the practice folder.</a:t>
            </a:r>
          </a:p>
        </p:txBody>
      </p:sp>
      <p:sp>
        <p:nvSpPr>
          <p:cNvPr id="11" name="Rectangle 10"/>
          <p:cNvSpPr/>
          <p:nvPr/>
        </p:nvSpPr>
        <p:spPr>
          <a:xfrm>
            <a:off x="777240" y="2938272"/>
            <a:ext cx="10607040" cy="944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938272"/>
            <a:ext cx="91440" cy="944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06628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The browser cannot reach port 3100</a:t>
            </a:r>
          </a:p>
        </p:txBody>
      </p:sp>
      <p:sp>
        <p:nvSpPr>
          <p:cNvPr id="14" name="TextBox 13"/>
          <p:cNvSpPr txBox="1"/>
          <p:nvPr/>
        </p:nvSpPr>
        <p:spPr>
          <a:xfrm>
            <a:off x="1051560" y="3432048"/>
            <a:ext cx="10149840" cy="341376"/>
          </a:xfrm>
          <a:prstGeom prst="rect">
            <a:avLst/>
          </a:prstGeom>
          <a:noFill/>
        </p:spPr>
        <p:txBody>
          <a:bodyPr wrap="square" anchor="t">
            <a:spAutoFit/>
          </a:bodyPr>
          <a:lstStyle/>
          <a:p>
            <a:pPr algn="l">
              <a:spcAft>
                <a:spcPts val="400"/>
              </a:spcAft>
            </a:pPr>
            <a:r>
              <a:rPr sz="1150" b="0">
                <a:solidFill>
                  <a:srgbClr val="5B6372"/>
                </a:solidFill>
                <a:latin typeface="Arial"/>
              </a:rPr>
              <a:t>Run npx paperclipai doctor, then npx paperclipai run, and query /api/health again BEFORE touching any firewall setting.</a:t>
            </a:r>
          </a:p>
        </p:txBody>
      </p:sp>
      <p:sp>
        <p:nvSpPr>
          <p:cNvPr id="15" name="Rectangle 14"/>
          <p:cNvSpPr/>
          <p:nvPr/>
        </p:nvSpPr>
        <p:spPr>
          <a:xfrm>
            <a:off x="777240" y="4066032"/>
            <a:ext cx="10607040" cy="944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066032"/>
            <a:ext cx="91440" cy="944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19404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npx resolves against a private registry</a:t>
            </a:r>
          </a:p>
        </p:txBody>
      </p:sp>
      <p:sp>
        <p:nvSpPr>
          <p:cNvPr id="18" name="TextBox 17"/>
          <p:cNvSpPr txBox="1"/>
          <p:nvPr/>
        </p:nvSpPr>
        <p:spPr>
          <a:xfrm>
            <a:off x="1051560" y="4559808"/>
            <a:ext cx="10149840" cy="341376"/>
          </a:xfrm>
          <a:prstGeom prst="rect">
            <a:avLst/>
          </a:prstGeom>
          <a:noFill/>
        </p:spPr>
        <p:txBody>
          <a:bodyPr wrap="square" anchor="t">
            <a:spAutoFit/>
          </a:bodyPr>
          <a:lstStyle/>
          <a:p>
            <a:pPr algn="l">
              <a:spcAft>
                <a:spcPts val="400"/>
              </a:spcAft>
            </a:pPr>
            <a:r>
              <a:rPr sz="1150" b="0">
                <a:solidFill>
                  <a:srgbClr val="5B6372"/>
                </a:solidFill>
                <a:latin typeface="Arial"/>
              </a:rPr>
              <a:t>Retry with npx --registry https://registry.npmjs.org paperclipai onboard --yes and review the global npm registry configuration afterwards.</a:t>
            </a:r>
          </a:p>
        </p:txBody>
      </p:sp>
      <p:sp>
        <p:nvSpPr>
          <p:cNvPr id="19" name="Rectangle 18"/>
          <p:cNvSpPr/>
          <p:nvPr/>
        </p:nvSpPr>
        <p:spPr>
          <a:xfrm>
            <a:off x="777240" y="5230368"/>
            <a:ext cx="5212080"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230368"/>
            <a:ext cx="91440" cy="1005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5321808"/>
            <a:ext cx="4846320" cy="292608"/>
          </a:xfrm>
          <a:prstGeom prst="rect">
            <a:avLst/>
          </a:prstGeom>
          <a:noFill/>
        </p:spPr>
        <p:txBody>
          <a:bodyPr wrap="square" anchor="t">
            <a:spAutoFit/>
          </a:bodyPr>
          <a:lstStyle/>
          <a:p>
            <a:pPr algn="l">
              <a:spcAft>
                <a:spcPts val="400"/>
              </a:spcAft>
            </a:pPr>
            <a:r>
              <a:rPr sz="1150" b="1">
                <a:solidFill>
                  <a:srgbClr val="7C3AED"/>
                </a:solidFill>
                <a:latin typeface="Arial"/>
              </a:rPr>
              <a:t>CHALLENGE</a:t>
            </a:r>
          </a:p>
        </p:txBody>
      </p:sp>
      <p:sp>
        <p:nvSpPr>
          <p:cNvPr id="22" name="TextBox 21"/>
          <p:cNvSpPr txBox="1"/>
          <p:nvPr/>
        </p:nvSpPr>
        <p:spPr>
          <a:xfrm>
            <a:off x="1051560" y="5632704"/>
            <a:ext cx="4846320" cy="548640"/>
          </a:xfrm>
          <a:prstGeom prst="rect">
            <a:avLst/>
          </a:prstGeom>
          <a:noFill/>
        </p:spPr>
        <p:txBody>
          <a:bodyPr wrap="square" anchor="t">
            <a:spAutoFit/>
          </a:bodyPr>
          <a:lstStyle/>
          <a:p>
            <a:pPr algn="l">
              <a:spcAft>
                <a:spcPts val="400"/>
              </a:spcAft>
            </a:pPr>
            <a:r>
              <a:rPr sz="1050" b="0">
                <a:solidFill>
                  <a:srgbClr val="161B26"/>
                </a:solidFill>
                <a:latin typeface="Arial"/>
              </a:rPr>
              <a:t>Run npx paperclipai env and record ONLY the non-sensitive instance name, bind mode and port in your evidence note. Do not paste the full output.</a:t>
            </a:r>
          </a:p>
        </p:txBody>
      </p:sp>
      <p:sp>
        <p:nvSpPr>
          <p:cNvPr id="23" name="Rectangle 22"/>
          <p:cNvSpPr/>
          <p:nvPr/>
        </p:nvSpPr>
        <p:spPr>
          <a:xfrm>
            <a:off x="6172200" y="5230368"/>
            <a:ext cx="5212080"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5230368"/>
            <a:ext cx="91440"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5321808"/>
            <a:ext cx="4846320" cy="292608"/>
          </a:xfrm>
          <a:prstGeom prst="rect">
            <a:avLst/>
          </a:prstGeom>
          <a:noFill/>
        </p:spPr>
        <p:txBody>
          <a:bodyPr wrap="square" anchor="t">
            <a:spAutoFit/>
          </a:bodyPr>
          <a:lstStyle/>
          <a:p>
            <a:pPr algn="l">
              <a:spcAft>
                <a:spcPts val="400"/>
              </a:spcAft>
            </a:pPr>
            <a:r>
              <a:rPr sz="1150" b="1">
                <a:solidFill>
                  <a:srgbClr val="1F6FEB"/>
                </a:solidFill>
                <a:latin typeface="Arial"/>
              </a:rPr>
              <a:t>REFLECTION</a:t>
            </a:r>
          </a:p>
        </p:txBody>
      </p:sp>
      <p:sp>
        <p:nvSpPr>
          <p:cNvPr id="26" name="TextBox 25"/>
          <p:cNvSpPr txBox="1"/>
          <p:nvPr/>
        </p:nvSpPr>
        <p:spPr>
          <a:xfrm>
            <a:off x="6446520" y="5632704"/>
            <a:ext cx="4846320" cy="548640"/>
          </a:xfrm>
          <a:prstGeom prst="rect">
            <a:avLst/>
          </a:prstGeom>
          <a:noFill/>
        </p:spPr>
        <p:txBody>
          <a:bodyPr wrap="square" anchor="t">
            <a:spAutoFit/>
          </a:bodyPr>
          <a:lstStyle/>
          <a:p>
            <a:pPr algn="l">
              <a:spcAft>
                <a:spcPts val="400"/>
              </a:spcAft>
            </a:pPr>
            <a:r>
              <a:rPr sz="1050" b="0">
                <a:solidFill>
                  <a:srgbClr val="161B26"/>
                </a:solidFill>
                <a:latin typeface="Arial"/>
              </a:rPr>
              <a:t>Why does a healthy Paperclip API prove the control plane but say nothing about whether a Claude Code, Codex, Gemini or Cursor runtime is ready?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fast" advClick="1">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Fundamentals of Agentic AI and Paperclip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You can now: LO1: Explain the control-plane / runtime boundary and verify a healthy local Paperclip installation with observable evidence.</a:t>
            </a:r>
          </a:p>
          <a:p>
            <a:pPr>
              <a:spcAft>
                <a:spcPts val="1000"/>
              </a:spcAft>
            </a:pPr>
            <a:r>
              <a:rPr sz="1500" b="0">
                <a:solidFill>
                  <a:srgbClr val="161B26"/>
                </a:solidFill>
                <a:latin typeface="Arial"/>
              </a:rPr>
              <a:t>•  Agentic AI adds reasoning, tool use, memory and autonomy on top of a language model, so the system completes work rather than only producing text.</a:t>
            </a:r>
          </a:p>
          <a:p>
            <a:pPr>
              <a:spcAft>
                <a:spcPts val="1000"/>
              </a:spcAft>
            </a:pPr>
            <a:r>
              <a:rPr sz="1500" b="0">
                <a:solidFill>
                  <a:srgbClr val="161B26"/>
                </a:solidFill>
                <a:latin typeface="Arial"/>
              </a:rPr>
              <a:t>•  Paperclip is an organisational control plane — a Node.js server with a React UI that coordinates agents, goals, work, cost and governance. It is not an agent framework and it does not perform the reasoning itself.</a:t>
            </a:r>
          </a:p>
          <a:p>
            <a:pPr>
              <a:spcAft>
                <a:spcPts val="1000"/>
              </a:spcAft>
            </a:pPr>
            <a:r>
              <a:rPr sz="1500" b="0">
                <a:solidFill>
                  <a:srgbClr val="161B26"/>
                </a:solidFill>
                <a:latin typeface="Arial"/>
              </a:rPr>
              <a:t>•  The defining separation: Paperclip manages the company; adapters run the agents. Organisational authority, runtime capability and verification evidence stay apart.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fast" advClick="1">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Building AI Agents with Paperclip</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Install and verify · company and mission · the CEO · org chart · runtime adapters · workspaces, instructions and secrets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advClick="1">
    <p:push dir="l"/>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Building AI Agents with Paperclip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Onboarding with paperclipai onboard --yes downloads Paperclip, writes the configuration, initialises the embedded PostgreSQL and serves the UI on port 3100.</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Deployment mode is a security decision: local_trusted is the default and requires no login; authenticated+private and authenticated+public widen reach and require real authentication.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The onboarding wizard captures the company name, the mission statement and the team lead, then verifies connectivity to your chosen local agent runtime.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A mission must be measurable. 'Grow the channel' cannot be verified; 'publish 8 short videos per month at ≥5% average watch-through' can.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fast" advClick="1">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Key Concepts — Building AI Agents with Paperclip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Paperclip enforces a strict hierarchy: every agent reports to exactly ONE manager, and the CEO is the only agent with no manager. The CEO owns goal alignment, decomposition and final synthesis, and may propose further hires under approval.</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Every agent carries a role, a manager, an adapter, an instruction file, a heartbeat and an individual budget. Those six fields are the agent's whole contract.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A role instruction states purpose, allowed inputs, the output schema, explicit exclusions and the escalation path — not a personality.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Each agent gets a dedicated workspace: a separate local root for one role's files and evidence, isolated with git worktrees so changes are attributable.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fast" advClick="1">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Key Concepts — Building AI Agents with Paperclip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Secrets live in the runtime or in Paperclip's secret store with scoped injection at heartbeat time. They never appear in prompts, lab notes or Git.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Skills are reusable agent capabilities imported from a path or URL into an org-wide library, then attached to specific agents — capability without retraining.</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Adapter readiness is proved by a marker run, not by the presence of configuration: an agent that cannot produce an observable artifact is not connected.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Diagnose along a ladder — host, control plane, adapter, agent — and fix the earliest broken link before changing anything downstream.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fast" advClick="1">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ACCOUNTABILITY HAS A SHAPE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Agent Org Chart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iagram-org-chart.png"/>
          <p:cNvPicPr>
            <a:picLocks noChangeAspect="1"/>
          </p:cNvPicPr>
          <p:nvPr/>
        </p:nvPicPr>
        <p:blipFill>
          <a:blip r:embed="rId2"/>
          <a:stretch>
            <a:fillRect/>
          </a:stretch>
        </p:blipFill>
        <p:spPr>
          <a:xfrm>
            <a:off x="777240" y="2306951"/>
            <a:ext cx="6812280" cy="3231650"/>
          </a:xfrm>
          <a:prstGeom prst="rect">
            <a:avLst/>
          </a:prstGeom>
        </p:spPr>
      </p:pic>
      <p:sp>
        <p:nvSpPr>
          <p:cNvPr id="8" name="Rectangle 7"/>
          <p:cNvSpPr/>
          <p:nvPr/>
        </p:nvSpPr>
        <p:spPr>
          <a:xfrm>
            <a:off x="7882127" y="1810512"/>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82127" y="1810512"/>
            <a:ext cx="352958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3295" y="1975104"/>
            <a:ext cx="3127248" cy="310896"/>
          </a:xfrm>
          <a:prstGeom prst="rect">
            <a:avLst/>
          </a:prstGeom>
          <a:noFill/>
        </p:spPr>
        <p:txBody>
          <a:bodyPr wrap="square" anchor="t">
            <a:spAutoFit/>
          </a:bodyPr>
          <a:lstStyle/>
          <a:p>
            <a:pPr algn="l">
              <a:spcAft>
                <a:spcPts val="400"/>
              </a:spcAft>
            </a:pPr>
            <a:r>
              <a:rPr sz="1350" b="1">
                <a:solidFill>
                  <a:srgbClr val="1F6FEB"/>
                </a:solidFill>
                <a:latin typeface="Arial"/>
              </a:rPr>
              <a:t>Board approves</a:t>
            </a:r>
          </a:p>
        </p:txBody>
      </p:sp>
      <p:sp>
        <p:nvSpPr>
          <p:cNvPr id="11" name="TextBox 10"/>
          <p:cNvSpPr txBox="1"/>
          <p:nvPr/>
        </p:nvSpPr>
        <p:spPr>
          <a:xfrm>
            <a:off x="8083295" y="2322576"/>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Hires, strategy and material exceptions stay with the human.</a:t>
            </a:r>
          </a:p>
        </p:txBody>
      </p:sp>
      <p:sp>
        <p:nvSpPr>
          <p:cNvPr id="12" name="Rectangle 11"/>
          <p:cNvSpPr/>
          <p:nvPr/>
        </p:nvSpPr>
        <p:spPr>
          <a:xfrm>
            <a:off x="7882127" y="2944368"/>
            <a:ext cx="3529584"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882127" y="2944368"/>
            <a:ext cx="352958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3295" y="3108960"/>
            <a:ext cx="3127248" cy="310896"/>
          </a:xfrm>
          <a:prstGeom prst="rect">
            <a:avLst/>
          </a:prstGeom>
          <a:noFill/>
        </p:spPr>
        <p:txBody>
          <a:bodyPr wrap="square" anchor="t">
            <a:spAutoFit/>
          </a:bodyPr>
          <a:lstStyle/>
          <a:p>
            <a:pPr algn="l">
              <a:spcAft>
                <a:spcPts val="400"/>
              </a:spcAft>
            </a:pPr>
            <a:r>
              <a:rPr sz="1350" b="1">
                <a:solidFill>
                  <a:srgbClr val="10B981"/>
                </a:solidFill>
                <a:latin typeface="Arial"/>
              </a:rPr>
              <a:t>The CEO owns alignment</a:t>
            </a:r>
          </a:p>
        </p:txBody>
      </p:sp>
      <p:sp>
        <p:nvSpPr>
          <p:cNvPr id="15" name="TextBox 14"/>
          <p:cNvSpPr txBox="1"/>
          <p:nvPr/>
        </p:nvSpPr>
        <p:spPr>
          <a:xfrm>
            <a:off x="8083295" y="3456432"/>
            <a:ext cx="3127248" cy="237744"/>
          </a:xfrm>
          <a:prstGeom prst="rect">
            <a:avLst/>
          </a:prstGeom>
          <a:noFill/>
        </p:spPr>
        <p:txBody>
          <a:bodyPr wrap="square" anchor="t">
            <a:spAutoFit/>
          </a:bodyPr>
          <a:lstStyle/>
          <a:p>
            <a:pPr algn="l">
              <a:spcAft>
                <a:spcPts val="400"/>
              </a:spcAft>
            </a:pPr>
            <a:r>
              <a:rPr sz="900" b="0">
                <a:solidFill>
                  <a:srgbClr val="161B26"/>
                </a:solidFill>
                <a:latin typeface="Arial"/>
              </a:rPr>
              <a:t>Goal alignment, decomposition and final synthesis.</a:t>
            </a:r>
          </a:p>
        </p:txBody>
      </p:sp>
      <p:sp>
        <p:nvSpPr>
          <p:cNvPr id="16" name="Rectangle 15"/>
          <p:cNvSpPr/>
          <p:nvPr/>
        </p:nvSpPr>
        <p:spPr>
          <a:xfrm>
            <a:off x="7882127" y="3931920"/>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3931920"/>
            <a:ext cx="3529584"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83295" y="4096512"/>
            <a:ext cx="3127248" cy="310896"/>
          </a:xfrm>
          <a:prstGeom prst="rect">
            <a:avLst/>
          </a:prstGeom>
          <a:noFill/>
        </p:spPr>
        <p:txBody>
          <a:bodyPr wrap="square" anchor="t">
            <a:spAutoFit/>
          </a:bodyPr>
          <a:lstStyle/>
          <a:p>
            <a:pPr algn="l">
              <a:spcAft>
                <a:spcPts val="400"/>
              </a:spcAft>
            </a:pPr>
            <a:r>
              <a:rPr sz="1350" b="1">
                <a:solidFill>
                  <a:srgbClr val="7C3AED"/>
                </a:solidFill>
                <a:latin typeface="Arial"/>
              </a:rPr>
              <a:t>Specialists own transformations</a:t>
            </a:r>
          </a:p>
        </p:txBody>
      </p:sp>
      <p:sp>
        <p:nvSpPr>
          <p:cNvPr id="19" name="TextBox 18"/>
          <p:cNvSpPr txBox="1"/>
          <p:nvPr/>
        </p:nvSpPr>
        <p:spPr>
          <a:xfrm>
            <a:off x="8083295" y="4443984"/>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One distinct job, one authority boundary, one deliverable.</a:t>
            </a:r>
          </a:p>
        </p:txBody>
      </p:sp>
      <p:sp>
        <p:nvSpPr>
          <p:cNvPr id="20" name="Rectangle 19"/>
          <p:cNvSpPr/>
          <p:nvPr/>
        </p:nvSpPr>
        <p:spPr>
          <a:xfrm>
            <a:off x="7882127" y="5065776"/>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82127" y="5065776"/>
            <a:ext cx="352958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83295" y="5230368"/>
            <a:ext cx="3127248" cy="310896"/>
          </a:xfrm>
          <a:prstGeom prst="rect">
            <a:avLst/>
          </a:prstGeom>
          <a:noFill/>
        </p:spPr>
        <p:txBody>
          <a:bodyPr wrap="square" anchor="t">
            <a:spAutoFit/>
          </a:bodyPr>
          <a:lstStyle/>
          <a:p>
            <a:pPr algn="l">
              <a:spcAft>
                <a:spcPts val="400"/>
              </a:spcAft>
            </a:pPr>
            <a:r>
              <a:rPr sz="1350" b="1">
                <a:solidFill>
                  <a:srgbClr val="F59E0B"/>
                </a:solidFill>
                <a:latin typeface="Arial"/>
              </a:rPr>
              <a:t>Six fields per agent</a:t>
            </a:r>
          </a:p>
        </p:txBody>
      </p:sp>
      <p:sp>
        <p:nvSpPr>
          <p:cNvPr id="23" name="TextBox 22"/>
          <p:cNvSpPr txBox="1"/>
          <p:nvPr/>
        </p:nvSpPr>
        <p:spPr>
          <a:xfrm>
            <a:off x="8083295" y="5577840"/>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Role · manager · adapter · instructions · heartbeat · budget.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fast" advClick="1">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WRITING THE ROLE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 Role Instruction Is a Contract, Not a Personality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Section</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What it states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Why it matters</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Purpose</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single transformation this role owns</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Prevents scope drift</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Allowed inputs</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Which files, data and sources may be read</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Confines the blast radius</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Output schema</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artifact, its path and its required fields</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Makes acceptance objective</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Exclusions</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What this role must never do</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most valuable section</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Escalation</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When to stop and ask the board</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Keeps authority explicit</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If two roles could both plausibly do the task, your instructions are not finished.</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fast" advClick="1">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LO2 · SEPARATE CONTEXT FROM AUTHORITY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Workspaces, Secrets and Skills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Dedicated workspace</a:t>
            </a:r>
          </a:p>
          <a:p>
            <a:pPr algn="l">
              <a:spcAft>
                <a:spcPts val="300"/>
              </a:spcAft>
            </a:pPr>
            <a:r>
              <a:rPr sz="1200" b="0">
                <a:solidFill>
                  <a:srgbClr val="5B6372"/>
                </a:solidFill>
                <a:latin typeface="Arial"/>
              </a:rPr>
              <a:t>One local root per role, isolated with git worktrees so every change is attributable to exactly one agent.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Git baseline</a:t>
            </a:r>
          </a:p>
          <a:p>
            <a:pPr algn="l">
              <a:spcAft>
                <a:spcPts val="300"/>
              </a:spcAft>
            </a:pPr>
            <a:r>
              <a:rPr sz="1200" b="0">
                <a:solidFill>
                  <a:srgbClr val="5B6372"/>
                </a:solidFill>
                <a:latin typeface="Arial"/>
              </a:rPr>
              <a:t>Commit an empty baseline so the later diff means what you think it means.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Secrets stay out</a:t>
            </a:r>
          </a:p>
          <a:p>
            <a:pPr algn="l">
              <a:spcAft>
                <a:spcPts val="300"/>
              </a:spcAft>
            </a:pPr>
            <a:r>
              <a:rPr sz="1200" b="0">
                <a:solidFill>
                  <a:srgbClr val="5B6372"/>
                </a:solidFill>
                <a:latin typeface="Arial"/>
              </a:rPr>
              <a:t>Credentials live in the runtime or the Paperclip secret store, injected at heartbeat time — never in prompts, notes or Git.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Skills are capability</a:t>
            </a:r>
          </a:p>
          <a:p>
            <a:pPr algn="l">
              <a:spcAft>
                <a:spcPts val="300"/>
              </a:spcAft>
            </a:pPr>
            <a:r>
              <a:rPr sz="1200" b="0">
                <a:solidFill>
                  <a:srgbClr val="5B6372"/>
                </a:solidFill>
                <a:latin typeface="Arial"/>
              </a:rPr>
              <a:t>Import a skill from a path or URL into the org-wide library, then attach it to a specific agent.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Adapters bridge capability</a:t>
            </a:r>
          </a:p>
          <a:p>
            <a:pPr algn="l">
              <a:spcAft>
                <a:spcPts val="300"/>
              </a:spcAft>
            </a:pPr>
            <a:r>
              <a:rPr sz="1200" b="0">
                <a:solidFill>
                  <a:srgbClr val="5B6372"/>
                </a:solidFill>
                <a:latin typeface="Arial"/>
              </a:rPr>
              <a:t>Match role complexity, session needs and tool access to the adapter you choose.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Prove it with a marker run</a:t>
            </a:r>
          </a:p>
          <a:p>
            <a:pPr algn="l">
              <a:spcAft>
                <a:spcPts val="300"/>
              </a:spcAft>
            </a:pPr>
            <a:r>
              <a:rPr sz="1200" b="0">
                <a:solidFill>
                  <a:srgbClr val="5B6372"/>
                </a:solidFill>
                <a:latin typeface="Arial"/>
              </a:rPr>
              <a:t>Configuration that has never produced an artifact is not a connection.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fast" advClick="1">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HIRING IS A CONFIGURATION DECISION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Six Fields That Define Every Agent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Field</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What it controls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Get it wrong and</a:t>
            </a:r>
          </a:p>
        </p:txBody>
      </p:sp>
      <p:sp>
        <p:nvSpPr>
          <p:cNvPr id="13" name="Rectangle 12"/>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Role</a:t>
            </a:r>
          </a:p>
        </p:txBody>
      </p:sp>
      <p:sp>
        <p:nvSpPr>
          <p:cNvPr id="15" name="Rectangle 14"/>
          <p:cNvSpPr/>
          <p:nvPr/>
        </p:nvSpPr>
        <p:spPr>
          <a:xfrm>
            <a:off x="3542202"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What this agent is for — the single transformation it owns.</a:t>
            </a:r>
          </a:p>
        </p:txBody>
      </p:sp>
      <p:sp>
        <p:nvSpPr>
          <p:cNvPr id="17" name="Rectangle 16"/>
          <p:cNvSpPr/>
          <p:nvPr/>
        </p:nvSpPr>
        <p:spPr>
          <a:xfrm>
            <a:off x="7476957"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Scope drifts into a neighbouring role's work.</a:t>
            </a:r>
          </a:p>
        </p:txBody>
      </p:sp>
      <p:sp>
        <p:nvSpPr>
          <p:cNvPr id="19" name="Rectangle 18"/>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Manager</a:t>
            </a:r>
          </a:p>
        </p:txBody>
      </p:sp>
      <p:sp>
        <p:nvSpPr>
          <p:cNvPr id="21" name="Rectangle 20"/>
          <p:cNvSpPr/>
          <p:nvPr/>
        </p:nvSpPr>
        <p:spPr>
          <a:xfrm>
            <a:off x="3542202"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Its reporting line. Exactly one, except for the CEO.</a:t>
            </a:r>
          </a:p>
        </p:txBody>
      </p:sp>
      <p:sp>
        <p:nvSpPr>
          <p:cNvPr id="23" name="Rectangle 22"/>
          <p:cNvSpPr/>
          <p:nvPr/>
        </p:nvSpPr>
        <p:spPr>
          <a:xfrm>
            <a:off x="7476957"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Accountability has no shape; nobody owns the outcome.</a:t>
            </a:r>
          </a:p>
        </p:txBody>
      </p:sp>
      <p:sp>
        <p:nvSpPr>
          <p:cNvPr id="25" name="Rectangle 24"/>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Adapter</a:t>
            </a:r>
          </a:p>
        </p:txBody>
      </p:sp>
      <p:sp>
        <p:nvSpPr>
          <p:cNvPr id="27" name="Rectangle 26"/>
          <p:cNvSpPr/>
          <p:nvPr/>
        </p:nvSpPr>
        <p:spPr>
          <a:xfrm>
            <a:off x="3542202"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Which runtime actually executes its work.</a:t>
            </a:r>
          </a:p>
        </p:txBody>
      </p:sp>
      <p:sp>
        <p:nvSpPr>
          <p:cNvPr id="29" name="Rectangle 28"/>
          <p:cNvSpPr/>
          <p:nvPr/>
        </p:nvSpPr>
        <p:spPr>
          <a:xfrm>
            <a:off x="7476957"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The agent is configured but can never run.</a:t>
            </a:r>
          </a:p>
        </p:txBody>
      </p:sp>
      <p:sp>
        <p:nvSpPr>
          <p:cNvPr id="31" name="Rectangle 30"/>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Instructions</a:t>
            </a:r>
          </a:p>
        </p:txBody>
      </p:sp>
      <p:sp>
        <p:nvSpPr>
          <p:cNvPr id="33" name="Rectangle 32"/>
          <p:cNvSpPr/>
          <p:nvPr/>
        </p:nvSpPr>
        <p:spPr>
          <a:xfrm>
            <a:off x="3542202"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Its contract: purpose, inputs, output schema, exclusions, escalation.</a:t>
            </a:r>
          </a:p>
        </p:txBody>
      </p:sp>
      <p:sp>
        <p:nvSpPr>
          <p:cNvPr id="35" name="Rectangle 34"/>
          <p:cNvSpPr/>
          <p:nvPr/>
        </p:nvSpPr>
        <p:spPr>
          <a:xfrm>
            <a:off x="7476957"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Acceptance becomes a matter of opinion.</a:t>
            </a:r>
          </a:p>
        </p:txBody>
      </p:sp>
      <p:sp>
        <p:nvSpPr>
          <p:cNvPr id="37" name="Rectangle 3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Heartbeat</a:t>
            </a:r>
          </a:p>
        </p:txBody>
      </p:sp>
      <p:sp>
        <p:nvSpPr>
          <p:cNvPr id="39" name="Rectangle 38"/>
          <p:cNvSpPr/>
          <p:nvPr/>
        </p:nvSpPr>
        <p:spPr>
          <a:xfrm>
            <a:off x="3542202"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When it wakes, and on which triggers.</a:t>
            </a:r>
          </a:p>
        </p:txBody>
      </p:sp>
      <p:sp>
        <p:nvSpPr>
          <p:cNvPr id="41" name="Rectangle 40"/>
          <p:cNvSpPr/>
          <p:nvPr/>
        </p:nvSpPr>
        <p:spPr>
          <a:xfrm>
            <a:off x="7476957"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It either never wakes, or wakes and bills when idle.</a:t>
            </a:r>
          </a:p>
        </p:txBody>
      </p:sp>
      <p:sp>
        <p:nvSpPr>
          <p:cNvPr id="43" name="Rectangle 42"/>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Budget</a:t>
            </a:r>
          </a:p>
        </p:txBody>
      </p:sp>
      <p:sp>
        <p:nvSpPr>
          <p:cNvPr id="45" name="Rectangle 44"/>
          <p:cNvSpPr/>
          <p:nvPr/>
        </p:nvSpPr>
        <p:spPr>
          <a:xfrm>
            <a:off x="3542202"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Its individual monthly ceiling.</a:t>
            </a:r>
          </a:p>
        </p:txBody>
      </p:sp>
      <p:sp>
        <p:nvSpPr>
          <p:cNvPr id="47" name="Rectangle 46"/>
          <p:cNvSpPr/>
          <p:nvPr/>
        </p:nvSpPr>
        <p:spPr>
          <a:xfrm>
            <a:off x="7476957"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 retry loop spends until someone reads the invoice.</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Paperclip enforces a strict hierarchy: every agent reports to exactly ONE manager, and the CEO is the only agent with no manager.</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fast" advClick="1">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A CONTRACT, NOT A PERSONALITY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Five Instruction Sections and Why Each Matters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Section</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States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Why it matters</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PURPOSE</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single transformation this role owns</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Prevents scope drift into a neighbouring role's work.</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ALLOWED INPUTS</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Which files, data and sources may be read</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Confines the blast radius when something goes wrong.</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OUTPUT SCHEMA</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artifact, its path, and its required fields</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Makes acceptance objective rather than a matter of opinion.</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EXCLUSIONS</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What this role must NEVER do</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most valuable section — and the one people leave out.</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ESCALATION</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When to stop and ask the board</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Keeps human authority explicit instead of assumed.</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Tone does not constrain behaviour; structure does. If two roles could each plausibly claim the same task, your instructions are not finished.</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fast" advClick="1">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LO2 · FROM THE OFFICIAL DOCUMENTATION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Suggested Starting Budgets by Seniority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Role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Suggested monthly budget</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The reasoning</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CEO</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$30–50 per month</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Owns alignment, decomposition and synthesis — it wakes on more events than anyone else.</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Manager (CTO or CMO)</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$20–40 per month</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Coordinates a sub-team, so it runs more often than a worker but less than the CEO.</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Worker agent</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$10–25 per month</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One transformation, run on assignment. The cheapest role to cap tightly.</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Company (total)</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Set BEFORE the first hire</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Enforcement happens at checkout, so the cap must exist before anyone can check out work.</a:t>
            </a:r>
          </a:p>
        </p:txBody>
      </p:sp>
      <p:sp>
        <p:nvSpPr>
          <p:cNvPr id="37" name="Rectangle 3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312664"/>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These are a sanity check on your own numbers, not a rule. A cap you would be unhappy to actually pay is set too high.</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fast" advClick="1">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ALMOST EVERY FAULT IS 'WHICH STEP FAILED?'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Six-Step Heartbeat Execution Arc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Trigger</a:t>
            </a:r>
          </a:p>
        </p:txBody>
      </p:sp>
      <p:sp>
        <p:nvSpPr>
          <p:cNvPr id="12" name="TextBox 11"/>
          <p:cNvSpPr txBox="1"/>
          <p:nvPr/>
        </p:nvSpPr>
        <p:spPr>
          <a:xfrm>
            <a:off x="850392" y="3584448"/>
            <a:ext cx="1673352" cy="603504"/>
          </a:xfrm>
          <a:prstGeom prst="rect">
            <a:avLst/>
          </a:prstGeom>
          <a:noFill/>
        </p:spPr>
        <p:txBody>
          <a:bodyPr wrap="square" anchor="ctr">
            <a:spAutoFit/>
          </a:bodyPr>
          <a:lstStyle/>
          <a:p>
            <a:pPr algn="ctr">
              <a:spcAft>
                <a:spcPts val="0"/>
              </a:spcAft>
            </a:pPr>
            <a:r>
              <a:rPr sz="800" b="0">
                <a:solidFill>
                  <a:srgbClr val="5B6372"/>
                </a:solidFill>
                <a:latin typeface="Arial"/>
              </a:rPr>
              <a:t>Schedule, assignment, mention, manual or approval</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Adapter invocation</a:t>
            </a:r>
          </a:p>
        </p:txBody>
      </p:sp>
      <p:sp>
        <p:nvSpPr>
          <p:cNvPr id="19" name="TextBox 18"/>
          <p:cNvSpPr txBox="1"/>
          <p:nvPr/>
        </p:nvSpPr>
        <p:spPr>
          <a:xfrm>
            <a:off x="3054096"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Paperclip calls the configured adapter</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Process spawn</a:t>
            </a:r>
          </a:p>
        </p:txBody>
      </p:sp>
      <p:sp>
        <p:nvSpPr>
          <p:cNvPr id="26" name="TextBox 25"/>
          <p:cNvSpPr txBox="1"/>
          <p:nvPr/>
        </p:nvSpPr>
        <p:spPr>
          <a:xfrm>
            <a:off x="5257800" y="3584448"/>
            <a:ext cx="1673352" cy="603504"/>
          </a:xfrm>
          <a:prstGeom prst="rect">
            <a:avLst/>
          </a:prstGeom>
          <a:noFill/>
        </p:spPr>
        <p:txBody>
          <a:bodyPr wrap="square" anchor="ctr">
            <a:spAutoFit/>
          </a:bodyPr>
          <a:lstStyle/>
          <a:p>
            <a:pPr algn="ctr">
              <a:spcAft>
                <a:spcPts val="0"/>
              </a:spcAft>
            </a:pPr>
            <a:r>
              <a:rPr sz="800" b="0">
                <a:solidFill>
                  <a:srgbClr val="5B6372"/>
                </a:solidFill>
                <a:latin typeface="Arial"/>
              </a:rPr>
              <a:t>The runtime process starts in the workspace</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Paperclip API calls</a:t>
            </a:r>
          </a:p>
        </p:txBody>
      </p:sp>
      <p:sp>
        <p:nvSpPr>
          <p:cNvPr id="33" name="TextBox 32"/>
          <p:cNvSpPr txBox="1"/>
          <p:nvPr/>
        </p:nvSpPr>
        <p:spPr>
          <a:xfrm>
            <a:off x="7461504" y="3584448"/>
            <a:ext cx="1673352" cy="603504"/>
          </a:xfrm>
          <a:prstGeom prst="rect">
            <a:avLst/>
          </a:prstGeom>
          <a:noFill/>
        </p:spPr>
        <p:txBody>
          <a:bodyPr wrap="square" anchor="ctr">
            <a:spAutoFit/>
          </a:bodyPr>
          <a:lstStyle/>
          <a:p>
            <a:pPr algn="ctr">
              <a:spcAft>
                <a:spcPts val="0"/>
              </a:spcAft>
            </a:pPr>
            <a:r>
              <a:rPr sz="800" b="0">
                <a:solidFill>
                  <a:srgbClr val="5B6372"/>
                </a:solidFill>
                <a:latin typeface="Arial"/>
              </a:rPr>
              <a:t>The agent reads work and writes results back</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Result capture</a:t>
            </a:r>
          </a:p>
        </p:txBody>
      </p:sp>
      <p:sp>
        <p:nvSpPr>
          <p:cNvPr id="40" name="TextBox 39"/>
          <p:cNvSpPr txBox="1"/>
          <p:nvPr/>
        </p:nvSpPr>
        <p:spPr>
          <a:xfrm>
            <a:off x="9665208" y="3584448"/>
            <a:ext cx="1673352" cy="603504"/>
          </a:xfrm>
          <a:prstGeom prst="rect">
            <a:avLst/>
          </a:prstGeom>
          <a:noFill/>
        </p:spPr>
        <p:txBody>
          <a:bodyPr wrap="square" anchor="ctr">
            <a:spAutoFit/>
          </a:bodyPr>
          <a:lstStyle/>
          <a:p>
            <a:pPr algn="ctr">
              <a:spcAft>
                <a:spcPts val="0"/>
              </a:spcAft>
            </a:pPr>
            <a:r>
              <a:rPr sz="800" b="0">
                <a:solidFill>
                  <a:srgbClr val="5B6372"/>
                </a:solidFill>
                <a:latin typeface="Arial"/>
              </a:rPr>
              <a:t>Output, artifacts and token usage recorded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STEP 6 · RUN RECORD STORAGE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The run, its cost and its activity entries are persisted. This rarely fails — but if it does, the audit trail has a gap you must explain.</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LO2 · DIAGNOSING A HEARTBEAT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Where Each Heartbeat Step Fails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Step</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The usual failure</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First thing to check</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1 · Trigger</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Nothing assigned and the interval is off (the default)</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assignee. Creating an issue does not wake anyone.</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2 · Adapter invocation</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Adapter misconfigured, or runtime not authenticated</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Run the runtime's own CLI directly and sign in.</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3 · Process spawn</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binary is missing, or the sandbox cannot start</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runtime install, outside Paperclip.</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4 · API calls</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Checkout conflict (409), or the cross-issue write limit of 20</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Whether another agent already holds the issue.</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5 · Result capture</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process is lost mid-run — error kind process_lost</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run log. Resume recovers it; a fresh run is not needed.</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F59E0B"/>
                </a:solidFill>
                <a:latin typeface="Arial"/>
              </a:rPr>
              <a:t>WHEN IT MATTERS  </a:t>
            </a:r>
            <a:r>
              <a:rPr sz="1200" b="0">
                <a:solidFill>
                  <a:srgbClr val="161B26"/>
                </a:solidFill>
                <a:latin typeface="Arial"/>
              </a:rPr>
              <a:t>Session persistence records a session ID before and after each run. If the pair differs the session rotated; if it matches, the conversation continued.</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fast" advClick="1">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READ THE STATE BEFORE YOU DIAGNOSE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Seven Agent States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7977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7977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0761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0761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94759"/>
            <a:ext cx="3973068" cy="638167"/>
          </a:xfrm>
          <a:prstGeom prst="rect">
            <a:avLst/>
          </a:prstGeom>
          <a:noFill/>
        </p:spPr>
        <p:txBody>
          <a:bodyPr wrap="square" anchor="ctr">
            <a:spAutoFit/>
          </a:bodyPr>
          <a:lstStyle/>
          <a:p>
            <a:pPr algn="l">
              <a:spcAft>
                <a:spcPts val="300"/>
              </a:spcAft>
            </a:pPr>
            <a:r>
              <a:rPr sz="1500" b="1">
                <a:solidFill>
                  <a:srgbClr val="161B26"/>
                </a:solidFill>
                <a:latin typeface="Arial"/>
              </a:rPr>
              <a:t>active</a:t>
            </a:r>
          </a:p>
          <a:p>
            <a:pPr algn="l">
              <a:spcAft>
                <a:spcPts val="300"/>
              </a:spcAft>
            </a:pPr>
            <a:r>
              <a:rPr sz="1100" b="0">
                <a:solidFill>
                  <a:srgbClr val="5B6372"/>
                </a:solidFill>
                <a:latin typeface="Arial"/>
              </a:rPr>
              <a:t>Enabled and ready for heartbeats.</a:t>
            </a:r>
          </a:p>
        </p:txBody>
      </p:sp>
      <p:sp>
        <p:nvSpPr>
          <p:cNvPr id="12" name="Rectangle 11"/>
          <p:cNvSpPr/>
          <p:nvPr/>
        </p:nvSpPr>
        <p:spPr>
          <a:xfrm>
            <a:off x="6231636" y="1783080"/>
            <a:ext cx="5180076" cy="7977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7977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0761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0761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94759"/>
            <a:ext cx="3973068" cy="638167"/>
          </a:xfrm>
          <a:prstGeom prst="rect">
            <a:avLst/>
          </a:prstGeom>
          <a:noFill/>
        </p:spPr>
        <p:txBody>
          <a:bodyPr wrap="square" anchor="ctr">
            <a:spAutoFit/>
          </a:bodyPr>
          <a:lstStyle/>
          <a:p>
            <a:pPr algn="l">
              <a:spcAft>
                <a:spcPts val="300"/>
              </a:spcAft>
            </a:pPr>
            <a:r>
              <a:rPr sz="1500" b="1">
                <a:solidFill>
                  <a:srgbClr val="161B26"/>
                </a:solidFill>
                <a:latin typeface="Arial"/>
              </a:rPr>
              <a:t>idle</a:t>
            </a:r>
          </a:p>
          <a:p>
            <a:pPr algn="l">
              <a:spcAft>
                <a:spcPts val="300"/>
              </a:spcAft>
            </a:pPr>
            <a:r>
              <a:rPr sz="1100" b="0">
                <a:solidFill>
                  <a:srgbClr val="5B6372"/>
                </a:solidFill>
                <a:latin typeface="Arial"/>
              </a:rPr>
              <a:t>Active, but no heartbeat is currently running.</a:t>
            </a:r>
          </a:p>
        </p:txBody>
      </p:sp>
      <p:sp>
        <p:nvSpPr>
          <p:cNvPr id="17" name="Rectangle 16"/>
          <p:cNvSpPr/>
          <p:nvPr/>
        </p:nvSpPr>
        <p:spPr>
          <a:xfrm>
            <a:off x="777240" y="2788193"/>
            <a:ext cx="5180076" cy="7977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788193"/>
            <a:ext cx="91440" cy="7977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2912727"/>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2912727"/>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2899872"/>
            <a:ext cx="3973068" cy="638167"/>
          </a:xfrm>
          <a:prstGeom prst="rect">
            <a:avLst/>
          </a:prstGeom>
          <a:noFill/>
        </p:spPr>
        <p:txBody>
          <a:bodyPr wrap="square" anchor="ctr">
            <a:spAutoFit/>
          </a:bodyPr>
          <a:lstStyle/>
          <a:p>
            <a:pPr algn="l">
              <a:spcAft>
                <a:spcPts val="300"/>
              </a:spcAft>
            </a:pPr>
            <a:r>
              <a:rPr sz="1500" b="1">
                <a:solidFill>
                  <a:srgbClr val="161B26"/>
                </a:solidFill>
                <a:latin typeface="Arial"/>
              </a:rPr>
              <a:t>running</a:t>
            </a:r>
          </a:p>
          <a:p>
            <a:pPr algn="l">
              <a:spcAft>
                <a:spcPts val="300"/>
              </a:spcAft>
            </a:pPr>
            <a:r>
              <a:rPr sz="1100" b="0">
                <a:solidFill>
                  <a:srgbClr val="5B6372"/>
                </a:solidFill>
                <a:latin typeface="Arial"/>
              </a:rPr>
              <a:t>A heartbeat is in progress right now.</a:t>
            </a:r>
          </a:p>
        </p:txBody>
      </p:sp>
      <p:sp>
        <p:nvSpPr>
          <p:cNvPr id="22" name="Rectangle 21"/>
          <p:cNvSpPr/>
          <p:nvPr/>
        </p:nvSpPr>
        <p:spPr>
          <a:xfrm>
            <a:off x="6231636" y="2788193"/>
            <a:ext cx="5180076" cy="7977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788193"/>
            <a:ext cx="91440" cy="79770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2912727"/>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2912727"/>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2899872"/>
            <a:ext cx="3973068" cy="638167"/>
          </a:xfrm>
          <a:prstGeom prst="rect">
            <a:avLst/>
          </a:prstGeom>
          <a:noFill/>
        </p:spPr>
        <p:txBody>
          <a:bodyPr wrap="square" anchor="ctr">
            <a:spAutoFit/>
          </a:bodyPr>
          <a:lstStyle/>
          <a:p>
            <a:pPr algn="l">
              <a:spcAft>
                <a:spcPts val="300"/>
              </a:spcAft>
            </a:pPr>
            <a:r>
              <a:rPr sz="1500" b="1">
                <a:solidFill>
                  <a:srgbClr val="161B26"/>
                </a:solidFill>
                <a:latin typeface="Arial"/>
              </a:rPr>
              <a:t>error</a:t>
            </a:r>
          </a:p>
          <a:p>
            <a:pPr algn="l">
              <a:spcAft>
                <a:spcPts val="300"/>
              </a:spcAft>
            </a:pPr>
            <a:r>
              <a:rPr sz="1100" b="0">
                <a:solidFill>
                  <a:srgbClr val="5B6372"/>
                </a:solidFill>
                <a:latin typeface="Arial"/>
              </a:rPr>
              <a:t>The last heartbeat failed — not working, and did not stop gracefully.</a:t>
            </a:r>
          </a:p>
        </p:txBody>
      </p:sp>
      <p:sp>
        <p:nvSpPr>
          <p:cNvPr id="27" name="Rectangle 26"/>
          <p:cNvSpPr/>
          <p:nvPr/>
        </p:nvSpPr>
        <p:spPr>
          <a:xfrm>
            <a:off x="777240" y="3793306"/>
            <a:ext cx="5180076" cy="7977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3793306"/>
            <a:ext cx="91440" cy="7977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391784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391784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3904985"/>
            <a:ext cx="3973068" cy="638167"/>
          </a:xfrm>
          <a:prstGeom prst="rect">
            <a:avLst/>
          </a:prstGeom>
          <a:noFill/>
        </p:spPr>
        <p:txBody>
          <a:bodyPr wrap="square" anchor="ctr">
            <a:spAutoFit/>
          </a:bodyPr>
          <a:lstStyle/>
          <a:p>
            <a:pPr algn="l">
              <a:spcAft>
                <a:spcPts val="300"/>
              </a:spcAft>
            </a:pPr>
            <a:r>
              <a:rPr sz="1500" b="1">
                <a:solidFill>
                  <a:srgbClr val="161B26"/>
                </a:solidFill>
                <a:latin typeface="Arial"/>
              </a:rPr>
              <a:t>paused</a:t>
            </a:r>
          </a:p>
          <a:p>
            <a:pPr algn="l">
              <a:spcAft>
                <a:spcPts val="300"/>
              </a:spcAft>
            </a:pPr>
            <a:r>
              <a:rPr sz="1100" b="0">
                <a:solidFill>
                  <a:srgbClr val="5B6372"/>
                </a:solidFill>
                <a:latin typeface="Arial"/>
              </a:rPr>
              <a:t>Deliberately stopped, by you or automatically on hitting the budget limit.</a:t>
            </a:r>
          </a:p>
        </p:txBody>
      </p:sp>
      <p:sp>
        <p:nvSpPr>
          <p:cNvPr id="32" name="Rectangle 31"/>
          <p:cNvSpPr/>
          <p:nvPr/>
        </p:nvSpPr>
        <p:spPr>
          <a:xfrm>
            <a:off x="6231636" y="3793306"/>
            <a:ext cx="5180076" cy="7977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3793306"/>
            <a:ext cx="91440" cy="7977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391784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391784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3904985"/>
            <a:ext cx="3973068" cy="638167"/>
          </a:xfrm>
          <a:prstGeom prst="rect">
            <a:avLst/>
          </a:prstGeom>
          <a:noFill/>
        </p:spPr>
        <p:txBody>
          <a:bodyPr wrap="square" anchor="ctr">
            <a:spAutoFit/>
          </a:bodyPr>
          <a:lstStyle/>
          <a:p>
            <a:pPr algn="l">
              <a:spcAft>
                <a:spcPts val="300"/>
              </a:spcAft>
            </a:pPr>
            <a:r>
              <a:rPr sz="1500" b="1">
                <a:solidFill>
                  <a:srgbClr val="161B26"/>
                </a:solidFill>
                <a:latin typeface="Arial"/>
              </a:rPr>
              <a:t>terminated</a:t>
            </a:r>
          </a:p>
          <a:p>
            <a:pPr algn="l">
              <a:spcAft>
                <a:spcPts val="300"/>
              </a:spcAft>
            </a:pPr>
            <a:r>
              <a:rPr sz="1100" b="0">
                <a:solidFill>
                  <a:srgbClr val="5B6372"/>
                </a:solidFill>
                <a:latin typeface="Arial"/>
              </a:rPr>
              <a:t>Permanently deactivated. NOT reversible.</a:t>
            </a:r>
          </a:p>
        </p:txBody>
      </p:sp>
      <p:sp>
        <p:nvSpPr>
          <p:cNvPr id="37" name="Rectangle 36"/>
          <p:cNvSpPr/>
          <p:nvPr/>
        </p:nvSpPr>
        <p:spPr>
          <a:xfrm>
            <a:off x="777240" y="4798419"/>
            <a:ext cx="5180076" cy="7977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4798419"/>
            <a:ext cx="91440" cy="7977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4922953"/>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4922953"/>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4910098"/>
            <a:ext cx="3973068" cy="638167"/>
          </a:xfrm>
          <a:prstGeom prst="rect">
            <a:avLst/>
          </a:prstGeom>
          <a:noFill/>
        </p:spPr>
        <p:txBody>
          <a:bodyPr wrap="square" anchor="ctr">
            <a:spAutoFit/>
          </a:bodyPr>
          <a:lstStyle/>
          <a:p>
            <a:pPr algn="l">
              <a:spcAft>
                <a:spcPts val="300"/>
              </a:spcAft>
            </a:pPr>
            <a:r>
              <a:rPr sz="1500" b="1">
                <a:solidFill>
                  <a:srgbClr val="161B26"/>
                </a:solidFill>
                <a:latin typeface="Arial"/>
              </a:rPr>
              <a:t>pending_approval</a:t>
            </a:r>
          </a:p>
          <a:p>
            <a:pPr algn="l">
              <a:spcAft>
                <a:spcPts val="300"/>
              </a:spcAft>
            </a:pPr>
            <a:r>
              <a:rPr sz="1100" b="0">
                <a:solidFill>
                  <a:srgbClr val="5B6372"/>
                </a:solidFill>
                <a:latin typeface="Arial"/>
              </a:rPr>
              <a:t>Hired but awaiting board approval before it may run.</a:t>
            </a:r>
          </a:p>
        </p:txBody>
      </p:sp>
      <p:sp>
        <p:nvSpPr>
          <p:cNvPr id="42" name="Rectangle 41"/>
          <p:cNvSpPr/>
          <p:nvPr/>
        </p:nvSpPr>
        <p:spPr>
          <a:xfrm>
            <a:off x="6231636" y="4798419"/>
            <a:ext cx="5180076" cy="7977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4798419"/>
            <a:ext cx="91440" cy="79770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4922953"/>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4922953"/>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7219188" y="4910098"/>
            <a:ext cx="3973068" cy="638167"/>
          </a:xfrm>
          <a:prstGeom prst="rect">
            <a:avLst/>
          </a:prstGeom>
          <a:noFill/>
        </p:spPr>
        <p:txBody>
          <a:bodyPr wrap="square" anchor="ctr">
            <a:spAutoFit/>
          </a:bodyPr>
          <a:lstStyle/>
          <a:p>
            <a:pPr algn="l">
              <a:spcAft>
                <a:spcPts val="300"/>
              </a:spcAft>
            </a:pPr>
            <a:r>
              <a:rPr sz="1500" b="1">
                <a:solidFill>
                  <a:srgbClr val="161B26"/>
                </a:solidFill>
                <a:latin typeface="Arial"/>
              </a:rPr>
              <a:t>Run statuses differ</a:t>
            </a:r>
          </a:p>
          <a:p>
            <a:pPr algn="l">
              <a:spcAft>
                <a:spcPts val="300"/>
              </a:spcAft>
            </a:pPr>
            <a:r>
              <a:rPr sz="1100" b="0">
                <a:solidFill>
                  <a:srgbClr val="5B6372"/>
                </a:solidFill>
                <a:latin typeface="Arial"/>
              </a:rPr>
              <a:t>Runs are queued, running, succeeded, failed, timed out or cancelled — plus the error kind process_lost.</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
        <p:nvSpPr>
          <p:cNvPr id="50" name="Rectangle 49"/>
          <p:cNvSpPr/>
          <p:nvPr/>
        </p:nvSpPr>
        <p:spPr>
          <a:xfrm>
            <a:off x="777240" y="5742432"/>
            <a:ext cx="10607040" cy="603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77240" y="5742432"/>
            <a:ext cx="91440"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51560" y="5742432"/>
            <a:ext cx="10241280" cy="603504"/>
          </a:xfrm>
          <a:prstGeom prst="rect">
            <a:avLst/>
          </a:prstGeom>
          <a:noFill/>
        </p:spPr>
        <p:txBody>
          <a:bodyPr wrap="square" anchor="ctr">
            <a:spAutoFit/>
          </a:bodyPr>
          <a:lstStyle/>
          <a:p>
            <a:pPr algn="l">
              <a:spcAft>
                <a:spcPts val="400"/>
              </a:spcAft>
            </a:pPr>
            <a:r>
              <a:rPr sz="1350" b="1">
                <a:solidFill>
                  <a:srgbClr val="161B26"/>
                </a:solidFill>
                <a:latin typeface="Arial"/>
              </a:rPr>
              <a:t>Pause is reversible. Terminate is not. Read the menu item twice before clicking.</a:t>
            </a:r>
          </a:p>
        </p:txBody>
      </p:sp>
    </p:spTree>
  </p:cSld>
  <p:clrMapOvr>
    <a:masterClrMapping/>
  </p:clrMapOvr>
  <p:transition spd="fast" advClick="1">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MANAGED BUNDLE OR EXTERNAL VIA ROOTPATH</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Four Instruction Files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File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Answers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Loaded</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AGENTS.md</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The operating manual — the entry file, and the default.</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Every run. Keep it the map, not the whole territory.</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SOUL.md</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Persona and decision philosophy — how this role weighs trade-offs.</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When judgement is needed, not on every wake.</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HEARTBEAT.md</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The per-heartbeat checklist — what to do on every single wake.</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Every run. This is the file that costs you on every heartbeat.</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TOOLS.md</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Available tools and API notes — what this role may call.</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When the agent needs to know its own capability surface.</a:t>
            </a:r>
          </a:p>
        </p:txBody>
      </p:sp>
      <p:sp>
        <p:nvSpPr>
          <p:cNvPr id="37" name="Rectangle 3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312664"/>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The split matters for cost as much as clarity: material needed on every run is separated from material that is only occasionally relevant.</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fast" advClick="1">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LO2 · COCKPIT INSTRUMENTS, NOT AN INVESTIGATION TOOL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Reading the Dashboard at a Glance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Signal</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Healthy</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Needs attention</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Agents enabled</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Mostly active or running</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Any in error, or unexpectedly paused</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Tasks in progress</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Work is moving</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Nothing in progress for hours, or many blocked</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Month spend</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Climbing predictably</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 sudden jump, or active budget incidents</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Pending approvals</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Queue manageable</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Approvals piling up unattended</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Recent activity</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Steady, understandable motion</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Long silence, or repeated failures</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F59E0B"/>
                </a:solidFill>
                <a:latin typeface="Arial"/>
              </a:rPr>
              <a:t>WHEN IT MATTERS  </a:t>
            </a:r>
            <a:r>
              <a:rPr sz="1200" b="0">
                <a:solidFill>
                  <a:srgbClr val="161B26"/>
                </a:solidFill>
                <a:latin typeface="Arial"/>
              </a:rPr>
              <a:t>The healthy pattern for a small company is ONE agent running while the others stay active — otherwise you cannot attribute a change by timing alone.</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fast" advClick="1">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LO2 · THE LAST THREE SHOW AS 'COMING SOON' IN THE UI</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Adapter Type Keys — The Eleven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7393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739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347472"/>
          </a:xfrm>
          <a:prstGeom prst="rect">
            <a:avLst/>
          </a:prstGeom>
          <a:noFill/>
        </p:spPr>
        <p:txBody>
          <a:bodyPr wrap="square" anchor="ctr">
            <a:spAutoFit/>
          </a:bodyPr>
          <a:lstStyle/>
          <a:p>
            <a:pPr algn="l">
              <a:spcAft>
                <a:spcPts val="300"/>
              </a:spcAft>
            </a:pPr>
            <a:r>
              <a:rPr sz="1500" b="1">
                <a:solidFill>
                  <a:srgbClr val="161B26"/>
                </a:solidFill>
                <a:latin typeface="Arial"/>
              </a:rPr>
              <a:t>claude_local</a:t>
            </a:r>
          </a:p>
          <a:p>
            <a:pPr algn="l">
              <a:spcAft>
                <a:spcPts val="300"/>
              </a:spcAft>
            </a:pPr>
            <a:r>
              <a:rPr sz="1100" b="0">
                <a:solidFill>
                  <a:srgbClr val="5B6372"/>
                </a:solidFill>
                <a:latin typeface="Arial"/>
              </a:rPr>
              <a:t>Claude Code running locally.</a:t>
            </a:r>
          </a:p>
        </p:txBody>
      </p:sp>
      <p:sp>
        <p:nvSpPr>
          <p:cNvPr id="12" name="Rectangle 11"/>
          <p:cNvSpPr/>
          <p:nvPr/>
        </p:nvSpPr>
        <p:spPr>
          <a:xfrm>
            <a:off x="6231636" y="1783080"/>
            <a:ext cx="5180076"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77393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77393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347472"/>
          </a:xfrm>
          <a:prstGeom prst="rect">
            <a:avLst/>
          </a:prstGeom>
          <a:noFill/>
        </p:spPr>
        <p:txBody>
          <a:bodyPr wrap="square" anchor="ctr">
            <a:spAutoFit/>
          </a:bodyPr>
          <a:lstStyle/>
          <a:p>
            <a:pPr algn="l">
              <a:spcAft>
                <a:spcPts val="300"/>
              </a:spcAft>
            </a:pPr>
            <a:r>
              <a:rPr sz="1500" b="1">
                <a:solidFill>
                  <a:srgbClr val="161B26"/>
                </a:solidFill>
                <a:latin typeface="Arial"/>
              </a:rPr>
              <a:t>codex_local</a:t>
            </a:r>
          </a:p>
          <a:p>
            <a:pPr algn="l">
              <a:spcAft>
                <a:spcPts val="300"/>
              </a:spcAft>
            </a:pPr>
            <a:r>
              <a:rPr sz="1100" b="0">
                <a:solidFill>
                  <a:srgbClr val="5B6372"/>
                </a:solidFill>
                <a:latin typeface="Arial"/>
              </a:rPr>
              <a:t>OpenAI Codex CLI running locally.</a:t>
            </a:r>
          </a:p>
        </p:txBody>
      </p:sp>
      <p:sp>
        <p:nvSpPr>
          <p:cNvPr id="17" name="Rectangle 16"/>
          <p:cNvSpPr/>
          <p:nvPr/>
        </p:nvSpPr>
        <p:spPr>
          <a:xfrm>
            <a:off x="777240" y="2551176"/>
            <a:ext cx="5180076"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551176"/>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2679192"/>
            <a:ext cx="3973068" cy="347472"/>
          </a:xfrm>
          <a:prstGeom prst="rect">
            <a:avLst/>
          </a:prstGeom>
          <a:noFill/>
        </p:spPr>
        <p:txBody>
          <a:bodyPr wrap="square" anchor="ctr">
            <a:spAutoFit/>
          </a:bodyPr>
          <a:lstStyle/>
          <a:p>
            <a:pPr algn="l">
              <a:spcAft>
                <a:spcPts val="300"/>
              </a:spcAft>
            </a:pPr>
            <a:r>
              <a:rPr sz="1500" b="1">
                <a:solidFill>
                  <a:srgbClr val="161B26"/>
                </a:solidFill>
                <a:latin typeface="Arial"/>
              </a:rPr>
              <a:t>gemini_local</a:t>
            </a:r>
          </a:p>
          <a:p>
            <a:pPr algn="l">
              <a:spcAft>
                <a:spcPts val="300"/>
              </a:spcAft>
            </a:pPr>
            <a:r>
              <a:rPr sz="1100" b="0">
                <a:solidFill>
                  <a:srgbClr val="5B6372"/>
                </a:solidFill>
                <a:latin typeface="Arial"/>
              </a:rPr>
              <a:t>Gemini CLI running locally.</a:t>
            </a:r>
          </a:p>
        </p:txBody>
      </p:sp>
      <p:sp>
        <p:nvSpPr>
          <p:cNvPr id="22" name="Rectangle 21"/>
          <p:cNvSpPr/>
          <p:nvPr/>
        </p:nvSpPr>
        <p:spPr>
          <a:xfrm>
            <a:off x="6231636" y="2551176"/>
            <a:ext cx="5180076"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551176"/>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254203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2679192"/>
            <a:ext cx="3973068" cy="347472"/>
          </a:xfrm>
          <a:prstGeom prst="rect">
            <a:avLst/>
          </a:prstGeom>
          <a:noFill/>
        </p:spPr>
        <p:txBody>
          <a:bodyPr wrap="square" anchor="ctr">
            <a:spAutoFit/>
          </a:bodyPr>
          <a:lstStyle/>
          <a:p>
            <a:pPr algn="l">
              <a:spcAft>
                <a:spcPts val="300"/>
              </a:spcAft>
            </a:pPr>
            <a:r>
              <a:rPr sz="1500" b="1">
                <a:solidFill>
                  <a:srgbClr val="161B26"/>
                </a:solidFill>
                <a:latin typeface="Arial"/>
              </a:rPr>
              <a:t>opencode_local</a:t>
            </a:r>
          </a:p>
          <a:p>
            <a:pPr algn="l">
              <a:spcAft>
                <a:spcPts val="300"/>
              </a:spcAft>
            </a:pPr>
            <a:r>
              <a:rPr sz="1100" b="0">
                <a:solidFill>
                  <a:srgbClr val="5B6372"/>
                </a:solidFill>
                <a:latin typeface="Arial"/>
              </a:rPr>
              <a:t>OpenCode running locally.</a:t>
            </a:r>
          </a:p>
        </p:txBody>
      </p:sp>
      <p:sp>
        <p:nvSpPr>
          <p:cNvPr id="27" name="Rectangle 26"/>
          <p:cNvSpPr/>
          <p:nvPr/>
        </p:nvSpPr>
        <p:spPr>
          <a:xfrm>
            <a:off x="777240" y="3319272"/>
            <a:ext cx="5180076"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3319272"/>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331012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331012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3447288"/>
            <a:ext cx="3973068" cy="347472"/>
          </a:xfrm>
          <a:prstGeom prst="rect">
            <a:avLst/>
          </a:prstGeom>
          <a:noFill/>
        </p:spPr>
        <p:txBody>
          <a:bodyPr wrap="square" anchor="ctr">
            <a:spAutoFit/>
          </a:bodyPr>
          <a:lstStyle/>
          <a:p>
            <a:pPr algn="l">
              <a:spcAft>
                <a:spcPts val="300"/>
              </a:spcAft>
            </a:pPr>
            <a:r>
              <a:rPr sz="1500" b="1">
                <a:solidFill>
                  <a:srgbClr val="161B26"/>
                </a:solidFill>
                <a:latin typeface="Arial"/>
              </a:rPr>
              <a:t>cursor</a:t>
            </a:r>
          </a:p>
          <a:p>
            <a:pPr algn="l">
              <a:spcAft>
                <a:spcPts val="300"/>
              </a:spcAft>
            </a:pPr>
            <a:r>
              <a:rPr sz="1100" b="0">
                <a:solidFill>
                  <a:srgbClr val="5B6372"/>
                </a:solidFill>
                <a:latin typeface="Arial"/>
              </a:rPr>
              <a:t>Cursor — local and cloud variants exist.</a:t>
            </a:r>
          </a:p>
        </p:txBody>
      </p:sp>
      <p:sp>
        <p:nvSpPr>
          <p:cNvPr id="32" name="Rectangle 31"/>
          <p:cNvSpPr/>
          <p:nvPr/>
        </p:nvSpPr>
        <p:spPr>
          <a:xfrm>
            <a:off x="6231636" y="3319272"/>
            <a:ext cx="5180076"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3319272"/>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331012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331012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3447288"/>
            <a:ext cx="3973068" cy="347472"/>
          </a:xfrm>
          <a:prstGeom prst="rect">
            <a:avLst/>
          </a:prstGeom>
          <a:noFill/>
        </p:spPr>
        <p:txBody>
          <a:bodyPr wrap="square" anchor="ctr">
            <a:spAutoFit/>
          </a:bodyPr>
          <a:lstStyle/>
          <a:p>
            <a:pPr algn="l">
              <a:spcAft>
                <a:spcPts val="300"/>
              </a:spcAft>
            </a:pPr>
            <a:r>
              <a:rPr sz="1500" b="1">
                <a:solidFill>
                  <a:srgbClr val="161B26"/>
                </a:solidFill>
                <a:latin typeface="Arial"/>
              </a:rPr>
              <a:t>pi_local</a:t>
            </a:r>
          </a:p>
          <a:p>
            <a:pPr algn="l">
              <a:spcAft>
                <a:spcPts val="300"/>
              </a:spcAft>
            </a:pPr>
            <a:r>
              <a:rPr sz="1100" b="0">
                <a:solidFill>
                  <a:srgbClr val="5B6372"/>
                </a:solidFill>
                <a:latin typeface="Arial"/>
              </a:rPr>
              <a:t>Pi running locally.</a:t>
            </a:r>
          </a:p>
        </p:txBody>
      </p:sp>
      <p:sp>
        <p:nvSpPr>
          <p:cNvPr id="37" name="Rectangle 36"/>
          <p:cNvSpPr/>
          <p:nvPr/>
        </p:nvSpPr>
        <p:spPr>
          <a:xfrm>
            <a:off x="777240" y="4087368"/>
            <a:ext cx="5180076"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4087368"/>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407822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40782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4215384"/>
            <a:ext cx="3973068" cy="347472"/>
          </a:xfrm>
          <a:prstGeom prst="rect">
            <a:avLst/>
          </a:prstGeom>
          <a:noFill/>
        </p:spPr>
        <p:txBody>
          <a:bodyPr wrap="square" anchor="ctr">
            <a:spAutoFit/>
          </a:bodyPr>
          <a:lstStyle/>
          <a:p>
            <a:pPr algn="l">
              <a:spcAft>
                <a:spcPts val="300"/>
              </a:spcAft>
            </a:pPr>
            <a:r>
              <a:rPr sz="1500" b="1">
                <a:solidFill>
                  <a:srgbClr val="161B26"/>
                </a:solidFill>
                <a:latin typeface="Arial"/>
              </a:rPr>
              <a:t>hermes_local</a:t>
            </a:r>
          </a:p>
          <a:p>
            <a:pPr algn="l">
              <a:spcAft>
                <a:spcPts val="300"/>
              </a:spcAft>
            </a:pPr>
            <a:r>
              <a:rPr sz="1100" b="0">
                <a:solidFill>
                  <a:srgbClr val="5B6372"/>
                </a:solidFill>
                <a:latin typeface="Arial"/>
              </a:rPr>
              <a:t>Hermes running locally.</a:t>
            </a:r>
          </a:p>
        </p:txBody>
      </p:sp>
      <p:sp>
        <p:nvSpPr>
          <p:cNvPr id="42" name="Rectangle 41"/>
          <p:cNvSpPr/>
          <p:nvPr/>
        </p:nvSpPr>
        <p:spPr>
          <a:xfrm>
            <a:off x="6231636" y="4087368"/>
            <a:ext cx="5180076"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407822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407822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7219188" y="4215384"/>
            <a:ext cx="3973068" cy="347472"/>
          </a:xfrm>
          <a:prstGeom prst="rect">
            <a:avLst/>
          </a:prstGeom>
          <a:noFill/>
        </p:spPr>
        <p:txBody>
          <a:bodyPr wrap="square" anchor="ctr">
            <a:spAutoFit/>
          </a:bodyPr>
          <a:lstStyle/>
          <a:p>
            <a:pPr algn="l">
              <a:spcAft>
                <a:spcPts val="300"/>
              </a:spcAft>
            </a:pPr>
            <a:r>
              <a:rPr sz="1500" b="1">
                <a:solidFill>
                  <a:srgbClr val="161B26"/>
                </a:solidFill>
                <a:latin typeface="Arial"/>
              </a:rPr>
              <a:t>grok_local</a:t>
            </a:r>
          </a:p>
          <a:p>
            <a:pPr algn="l">
              <a:spcAft>
                <a:spcPts val="300"/>
              </a:spcAft>
            </a:pPr>
            <a:r>
              <a:rPr sz="1100" b="0">
                <a:solidFill>
                  <a:srgbClr val="5B6372"/>
                </a:solidFill>
                <a:latin typeface="Arial"/>
              </a:rPr>
              <a:t>Grok running locally.</a:t>
            </a:r>
          </a:p>
        </p:txBody>
      </p:sp>
      <p:sp>
        <p:nvSpPr>
          <p:cNvPr id="47" name="Rectangle 46"/>
          <p:cNvSpPr/>
          <p:nvPr/>
        </p:nvSpPr>
        <p:spPr>
          <a:xfrm>
            <a:off x="777240" y="4855464"/>
            <a:ext cx="5180076"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033272"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9</a:t>
            </a:r>
          </a:p>
        </p:txBody>
      </p:sp>
      <p:sp>
        <p:nvSpPr>
          <p:cNvPr id="51" name="TextBox 50"/>
          <p:cNvSpPr txBox="1"/>
          <p:nvPr/>
        </p:nvSpPr>
        <p:spPr>
          <a:xfrm>
            <a:off x="1764792" y="4983480"/>
            <a:ext cx="3973068" cy="347472"/>
          </a:xfrm>
          <a:prstGeom prst="rect">
            <a:avLst/>
          </a:prstGeom>
          <a:noFill/>
        </p:spPr>
        <p:txBody>
          <a:bodyPr wrap="square" anchor="ctr">
            <a:spAutoFit/>
          </a:bodyPr>
          <a:lstStyle/>
          <a:p>
            <a:pPr algn="l">
              <a:spcAft>
                <a:spcPts val="300"/>
              </a:spcAft>
            </a:pPr>
            <a:r>
              <a:rPr sz="1500" b="1">
                <a:solidFill>
                  <a:srgbClr val="161B26"/>
                </a:solidFill>
                <a:latin typeface="Arial"/>
              </a:rPr>
              <a:t>process</a:t>
            </a:r>
          </a:p>
          <a:p>
            <a:pPr algn="l">
              <a:spcAft>
                <a:spcPts val="300"/>
              </a:spcAft>
            </a:pPr>
            <a:r>
              <a:rPr sz="1100" b="0">
                <a:solidFill>
                  <a:srgbClr val="5B6372"/>
                </a:solidFill>
                <a:latin typeface="Arial"/>
              </a:rPr>
              <a:t>An arbitrary local process.</a:t>
            </a:r>
          </a:p>
        </p:txBody>
      </p:sp>
      <p:sp>
        <p:nvSpPr>
          <p:cNvPr id="52" name="Rectangle 51"/>
          <p:cNvSpPr/>
          <p:nvPr/>
        </p:nvSpPr>
        <p:spPr>
          <a:xfrm>
            <a:off x="6231636" y="4855464"/>
            <a:ext cx="5180076"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231636" y="4855464"/>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6487668"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10</a:t>
            </a:r>
          </a:p>
        </p:txBody>
      </p:sp>
      <p:sp>
        <p:nvSpPr>
          <p:cNvPr id="56" name="TextBox 55"/>
          <p:cNvSpPr txBox="1"/>
          <p:nvPr/>
        </p:nvSpPr>
        <p:spPr>
          <a:xfrm>
            <a:off x="7219188" y="4983480"/>
            <a:ext cx="3973068" cy="347472"/>
          </a:xfrm>
          <a:prstGeom prst="rect">
            <a:avLst/>
          </a:prstGeom>
          <a:noFill/>
        </p:spPr>
        <p:txBody>
          <a:bodyPr wrap="square" anchor="ctr">
            <a:spAutoFit/>
          </a:bodyPr>
          <a:lstStyle/>
          <a:p>
            <a:pPr algn="l">
              <a:spcAft>
                <a:spcPts val="300"/>
              </a:spcAft>
            </a:pPr>
            <a:r>
              <a:rPr sz="1500" b="1">
                <a:solidFill>
                  <a:srgbClr val="161B26"/>
                </a:solidFill>
                <a:latin typeface="Arial"/>
              </a:rPr>
              <a:t>http</a:t>
            </a:r>
          </a:p>
          <a:p>
            <a:pPr algn="l">
              <a:spcAft>
                <a:spcPts val="300"/>
              </a:spcAft>
            </a:pPr>
            <a:r>
              <a:rPr sz="1100" b="0">
                <a:solidFill>
                  <a:srgbClr val="5B6372"/>
                </a:solidFill>
                <a:latin typeface="Arial"/>
              </a:rPr>
              <a:t>An HTTP or webhook endpoint.</a:t>
            </a:r>
          </a:p>
        </p:txBody>
      </p:sp>
      <p:sp>
        <p:nvSpPr>
          <p:cNvPr id="57" name="Rectangle 56"/>
          <p:cNvSpPr/>
          <p:nvPr/>
        </p:nvSpPr>
        <p:spPr>
          <a:xfrm>
            <a:off x="777240" y="5623560"/>
            <a:ext cx="5180076"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77240" y="5623560"/>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1033272" y="561441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33272" y="561441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11</a:t>
            </a:r>
          </a:p>
        </p:txBody>
      </p:sp>
      <p:sp>
        <p:nvSpPr>
          <p:cNvPr id="61" name="TextBox 60"/>
          <p:cNvSpPr txBox="1"/>
          <p:nvPr/>
        </p:nvSpPr>
        <p:spPr>
          <a:xfrm>
            <a:off x="1764792" y="5751576"/>
            <a:ext cx="3973068" cy="347472"/>
          </a:xfrm>
          <a:prstGeom prst="rect">
            <a:avLst/>
          </a:prstGeom>
          <a:noFill/>
        </p:spPr>
        <p:txBody>
          <a:bodyPr wrap="square" anchor="ctr">
            <a:spAutoFit/>
          </a:bodyPr>
          <a:lstStyle/>
          <a:p>
            <a:pPr algn="l">
              <a:spcAft>
                <a:spcPts val="300"/>
              </a:spcAft>
            </a:pPr>
            <a:r>
              <a:rPr sz="1500" b="1">
                <a:solidFill>
                  <a:srgbClr val="161B26"/>
                </a:solidFill>
                <a:latin typeface="Arial"/>
              </a:rPr>
              <a:t>openclaw_gateway</a:t>
            </a:r>
          </a:p>
          <a:p>
            <a:pPr algn="l">
              <a:spcAft>
                <a:spcPts val="300"/>
              </a:spcAft>
            </a:pPr>
            <a:r>
              <a:rPr sz="1100" b="0">
                <a:solidFill>
                  <a:srgbClr val="5B6372"/>
                </a:solidFill>
                <a:latin typeface="Arial"/>
              </a:rPr>
              <a:t>OpenClaw via its gateway.</a:t>
            </a:r>
          </a:p>
        </p:txBody>
      </p:sp>
      <p:sp>
        <p:nvSpPr>
          <p:cNvPr id="62" name="TextBox 6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63" name="TextBox 6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4" name="TextBox 6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fast" advClick="1">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LO2 · READ THE DEFAULTS BEFORE UNATTENDED OPERATION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Adapter Defaults That Cost You Money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80282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80282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41017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41017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94759"/>
            <a:ext cx="3973068" cy="1643280"/>
          </a:xfrm>
          <a:prstGeom prst="rect">
            <a:avLst/>
          </a:prstGeom>
          <a:noFill/>
        </p:spPr>
        <p:txBody>
          <a:bodyPr wrap="square" anchor="ctr">
            <a:spAutoFit/>
          </a:bodyPr>
          <a:lstStyle/>
          <a:p>
            <a:pPr algn="l">
              <a:spcAft>
                <a:spcPts val="300"/>
              </a:spcAft>
            </a:pPr>
            <a:r>
              <a:rPr sz="1600" b="1">
                <a:solidFill>
                  <a:srgbClr val="161B26"/>
                </a:solidFill>
                <a:latin typeface="Arial"/>
              </a:rPr>
              <a:t>maxTurnsPerRun · 300</a:t>
            </a:r>
          </a:p>
          <a:p>
            <a:pPr algn="l">
              <a:spcAft>
                <a:spcPts val="300"/>
              </a:spcAft>
            </a:pPr>
            <a:r>
              <a:rPr sz="1200" b="0">
                <a:solidFill>
                  <a:srgbClr val="5B6372"/>
                </a:solidFill>
                <a:latin typeface="Arial"/>
              </a:rPr>
              <a:t>The Claude Code adapter defaults to a maximum of 300 turns per run. That is a lot of tokens if a loop goes wrong.</a:t>
            </a:r>
          </a:p>
        </p:txBody>
      </p:sp>
      <p:sp>
        <p:nvSpPr>
          <p:cNvPr id="12" name="Rectangle 11"/>
          <p:cNvSpPr/>
          <p:nvPr/>
        </p:nvSpPr>
        <p:spPr>
          <a:xfrm>
            <a:off x="6231636" y="1783080"/>
            <a:ext cx="5180076" cy="180282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80282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41017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41017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94759"/>
            <a:ext cx="3973068" cy="1643280"/>
          </a:xfrm>
          <a:prstGeom prst="rect">
            <a:avLst/>
          </a:prstGeom>
          <a:noFill/>
        </p:spPr>
        <p:txBody>
          <a:bodyPr wrap="square" anchor="ctr">
            <a:spAutoFit/>
          </a:bodyPr>
          <a:lstStyle/>
          <a:p>
            <a:pPr algn="l">
              <a:spcAft>
                <a:spcPts val="300"/>
              </a:spcAft>
            </a:pPr>
            <a:r>
              <a:rPr sz="1600" b="1">
                <a:solidFill>
                  <a:srgbClr val="161B26"/>
                </a:solidFill>
                <a:latin typeface="Arial"/>
              </a:rPr>
              <a:t>dangerouslySkipPermissions · true</a:t>
            </a:r>
          </a:p>
          <a:p>
            <a:pPr algn="l">
              <a:spcAft>
                <a:spcPts val="300"/>
              </a:spcAft>
            </a:pPr>
            <a:r>
              <a:rPr sz="1200" b="0">
                <a:solidFill>
                  <a:srgbClr val="5B6372"/>
                </a:solidFill>
                <a:latin typeface="Arial"/>
              </a:rPr>
              <a:t>The Claude Code adapter default. Know it is set before you let an agent run unattended.</a:t>
            </a:r>
          </a:p>
        </p:txBody>
      </p:sp>
      <p:sp>
        <p:nvSpPr>
          <p:cNvPr id="17" name="Rectangle 16"/>
          <p:cNvSpPr/>
          <p:nvPr/>
        </p:nvSpPr>
        <p:spPr>
          <a:xfrm>
            <a:off x="777240" y="3793306"/>
            <a:ext cx="5180076" cy="180282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793306"/>
            <a:ext cx="91440" cy="180282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420397"/>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420397"/>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904985"/>
            <a:ext cx="3973068" cy="1643280"/>
          </a:xfrm>
          <a:prstGeom prst="rect">
            <a:avLst/>
          </a:prstGeom>
          <a:noFill/>
        </p:spPr>
        <p:txBody>
          <a:bodyPr wrap="square" anchor="ctr">
            <a:spAutoFit/>
          </a:bodyPr>
          <a:lstStyle/>
          <a:p>
            <a:pPr algn="l">
              <a:spcAft>
                <a:spcPts val="300"/>
              </a:spcAft>
            </a:pPr>
            <a:r>
              <a:rPr sz="1600" b="1">
                <a:solidFill>
                  <a:srgbClr val="161B26"/>
                </a:solidFill>
                <a:latin typeface="Arial"/>
              </a:rPr>
              <a:t>Sandbox timeout · 14,400s</a:t>
            </a:r>
          </a:p>
          <a:p>
            <a:pPr algn="l">
              <a:spcAft>
                <a:spcPts val="300"/>
              </a:spcAft>
            </a:pPr>
            <a:r>
              <a:rPr sz="1200" b="0">
                <a:solidFill>
                  <a:srgbClr val="5B6372"/>
                </a:solidFill>
                <a:latin typeface="Arial"/>
              </a:rPr>
              <a:t>Four hours. A stuck run holds the workspace for that long unless you intervene.</a:t>
            </a:r>
          </a:p>
        </p:txBody>
      </p:sp>
      <p:sp>
        <p:nvSpPr>
          <p:cNvPr id="22" name="Rectangle 21"/>
          <p:cNvSpPr/>
          <p:nvPr/>
        </p:nvSpPr>
        <p:spPr>
          <a:xfrm>
            <a:off x="6231636" y="3793306"/>
            <a:ext cx="5180076" cy="180282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793306"/>
            <a:ext cx="91440" cy="180282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420397"/>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420397"/>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904985"/>
            <a:ext cx="3973068" cy="1643280"/>
          </a:xfrm>
          <a:prstGeom prst="rect">
            <a:avLst/>
          </a:prstGeom>
          <a:noFill/>
        </p:spPr>
        <p:txBody>
          <a:bodyPr wrap="square" anchor="ctr">
            <a:spAutoFit/>
          </a:bodyPr>
          <a:lstStyle/>
          <a:p>
            <a:pPr algn="l">
              <a:spcAft>
                <a:spcPts val="300"/>
              </a:spcAft>
            </a:pPr>
            <a:r>
              <a:rPr sz="1600" b="1">
                <a:solidFill>
                  <a:srgbClr val="161B26"/>
                </a:solidFill>
                <a:latin typeface="Arial"/>
              </a:rPr>
              <a:t>Look before you leave it</a:t>
            </a:r>
          </a:p>
          <a:p>
            <a:pPr algn="l">
              <a:spcAft>
                <a:spcPts val="300"/>
              </a:spcAft>
            </a:pPr>
            <a:r>
              <a:rPr sz="1200" b="0">
                <a:solidFill>
                  <a:srgbClr val="5B6372"/>
                </a:solidFill>
                <a:latin typeface="Arial"/>
              </a:rPr>
              <a:t>Every one of these is a number you should read during configuration, not after an incident.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
        <p:nvSpPr>
          <p:cNvPr id="30" name="Rectangle 29"/>
          <p:cNvSpPr/>
          <p:nvPr/>
        </p:nvSpPr>
        <p:spPr>
          <a:xfrm>
            <a:off x="777240" y="5742432"/>
            <a:ext cx="10607040" cy="603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742432"/>
            <a:ext cx="91440"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51560" y="5742432"/>
            <a:ext cx="10241280" cy="603504"/>
          </a:xfrm>
          <a:prstGeom prst="rect">
            <a:avLst/>
          </a:prstGeom>
          <a:noFill/>
        </p:spPr>
        <p:txBody>
          <a:bodyPr wrap="square" anchor="ctr">
            <a:spAutoFit/>
          </a:bodyPr>
          <a:lstStyle/>
          <a:p>
            <a:pPr algn="l">
              <a:spcAft>
                <a:spcPts val="400"/>
              </a:spcAft>
            </a:pPr>
            <a:r>
              <a:rPr sz="1350" b="1">
                <a:solidFill>
                  <a:srgbClr val="161B26"/>
                </a:solidFill>
                <a:latin typeface="Arial"/>
              </a:rPr>
              <a:t>Adapter readiness is proved by a marker run — never by a saved configuration.</a:t>
            </a:r>
          </a:p>
        </p:txBody>
      </p:sp>
    </p:spTree>
  </p:cSld>
  <p:clrMapOvr>
    <a:masterClrMapping/>
  </p:clrMapOvr>
  <p:transition spd="fast" advClick="1">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A DEGRADED WORKSPACE LOOKS LIKE A LAZY AGENT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Workspace Lifecycle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59002"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5900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provisioning — being created</a:t>
            </a:r>
          </a:p>
        </p:txBody>
      </p:sp>
      <p:sp>
        <p:nvSpPr>
          <p:cNvPr id="12" name="TextBox 11"/>
          <p:cNvSpPr txBox="1"/>
          <p:nvPr/>
        </p:nvSpPr>
        <p:spPr>
          <a:xfrm>
            <a:off x="2253996"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601468"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01468"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8323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8323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2747772"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validating — being checked</a:t>
            </a:r>
          </a:p>
        </p:txBody>
      </p:sp>
      <p:sp>
        <p:nvSpPr>
          <p:cNvPr id="18" name="TextBox 17"/>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4425696"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07458"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0745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4572000"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ready — usable by the agent</a:t>
            </a:r>
          </a:p>
        </p:txBody>
      </p:sp>
      <p:sp>
        <p:nvSpPr>
          <p:cNvPr id="24" name="TextBox 23"/>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6249924"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49924"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3168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3168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6396228"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degraded — usable, but something is wrong</a:t>
            </a:r>
          </a:p>
        </p:txBody>
      </p:sp>
      <p:sp>
        <p:nvSpPr>
          <p:cNvPr id="30" name="TextBox 29"/>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8074152"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074152"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45591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591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8220456"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repairing — being fixed</a:t>
            </a:r>
          </a:p>
        </p:txBody>
      </p:sp>
      <p:sp>
        <p:nvSpPr>
          <p:cNvPr id="36" name="TextBox 35"/>
          <p:cNvSpPr txBox="1"/>
          <p:nvPr/>
        </p:nvSpPr>
        <p:spPr>
          <a:xfrm>
            <a:off x="9550908"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7" name="Rectangle 36"/>
          <p:cNvSpPr/>
          <p:nvPr/>
        </p:nvSpPr>
        <p:spPr>
          <a:xfrm>
            <a:off x="9898380" y="2331720"/>
            <a:ext cx="1513332"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98380" y="2331720"/>
            <a:ext cx="15133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280142"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8014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6</a:t>
            </a:r>
          </a:p>
        </p:txBody>
      </p:sp>
      <p:sp>
        <p:nvSpPr>
          <p:cNvPr id="41" name="TextBox 40"/>
          <p:cNvSpPr txBox="1"/>
          <p:nvPr/>
        </p:nvSpPr>
        <p:spPr>
          <a:xfrm>
            <a:off x="10044684" y="3749040"/>
            <a:ext cx="1220724" cy="1325880"/>
          </a:xfrm>
          <a:prstGeom prst="rect">
            <a:avLst/>
          </a:prstGeom>
          <a:noFill/>
        </p:spPr>
        <p:txBody>
          <a:bodyPr wrap="square" anchor="t">
            <a:spAutoFit/>
          </a:bodyPr>
          <a:lstStyle/>
          <a:p>
            <a:pPr algn="ctr">
              <a:spcAft>
                <a:spcPts val="400"/>
              </a:spcAft>
            </a:pPr>
            <a:r>
              <a:rPr sz="1400" b="0">
                <a:solidFill>
                  <a:srgbClr val="161B26"/>
                </a:solidFill>
                <a:latin typeface="Arial"/>
              </a:rPr>
              <a:t>failed / archived — unusable, or retired</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fast" advClick="1">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LO2 · CONTEXT ECONOMY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Skills — Capability on Demand, Not in Every Prompt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A skill is a reusable instruction document an agent loads only when relevant. The economy is the point: ten skills, but not ten skills loaded per heartbeat.</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9CDCFE"/>
                </a:solidFill>
                <a:latin typeface="Consolas"/>
              </a:rPr>
              <a:t>skills/</a:t>
            </a:r>
          </a:p>
          <a:p>
            <a:pPr>
              <a:spcAft>
                <a:spcPts val="200"/>
              </a:spcAft>
            </a:pPr>
            <a:r>
              <a:rPr sz="1100">
                <a:solidFill>
                  <a:srgbClr val="9CDCFE"/>
                </a:solidFill>
                <a:latin typeface="Consolas"/>
              </a:rPr>
              <a:t>└── code-review/</a:t>
            </a:r>
          </a:p>
          <a:p>
            <a:pPr>
              <a:spcAft>
                <a:spcPts val="200"/>
              </a:spcAft>
            </a:pPr>
            <a:r>
              <a:rPr sz="1100">
                <a:solidFill>
                  <a:srgbClr val="9CDCFE"/>
                </a:solidFill>
                <a:latin typeface="Consolas"/>
              </a:rPr>
              <a:t>    ├── SKILL.md</a:t>
            </a:r>
          </a:p>
          <a:p>
            <a:pPr>
              <a:spcAft>
                <a:spcPts val="200"/>
              </a:spcAft>
            </a:pPr>
            <a:r>
              <a:rPr sz="1100">
                <a:solidFill>
                  <a:srgbClr val="9CDCFE"/>
                </a:solidFill>
                <a:latin typeface="Consolas"/>
              </a:rPr>
              <a:t>    └── references/</a:t>
            </a:r>
          </a:p>
          <a:p>
            <a:pPr>
              <a:spcAft>
                <a:spcPts val="200"/>
              </a:spcAft>
            </a:pPr>
            <a:r>
              <a:rPr sz="1100">
                <a:solidFill>
                  <a:srgbClr val="9CDCFE"/>
                </a:solidFill>
                <a:latin typeface="Consolas"/>
              </a:rPr>
              <a:t>        └── examples.md</a:t>
            </a:r>
          </a:p>
          <a:p>
            <a:pPr>
              <a:spcAft>
                <a:spcPts val="200"/>
              </a:spcAft>
            </a:pPr>
            <a:r>
              <a:rPr sz="1100">
                <a:solidFill>
                  <a:srgbClr val="9CDCFE"/>
                </a:solidFill>
                <a:latin typeface="Consolas"/>
              </a:rPr>
              <a:t/>
            </a:r>
          </a:p>
          <a:p>
            <a:pPr>
              <a:spcAft>
                <a:spcPts val="200"/>
              </a:spcAft>
            </a:pPr>
            <a:r>
              <a:rPr sz="1100">
                <a:solidFill>
                  <a:srgbClr val="6A9955"/>
                </a:solidFill>
                <a:latin typeface="Consolas"/>
              </a:rPr>
              <a:t># SKILL.md frontmatter</a:t>
            </a:r>
          </a:p>
          <a:p>
            <a:pPr>
              <a:spcAft>
                <a:spcPts val="200"/>
              </a:spcAft>
            </a:pPr>
            <a:r>
              <a:rPr sz="1100">
                <a:solidFill>
                  <a:srgbClr val="9CDCFE"/>
                </a:solidFill>
                <a:latin typeface="Consolas"/>
              </a:rPr>
              <a:t>---</a:t>
            </a:r>
          </a:p>
          <a:p>
            <a:pPr>
              <a:spcAft>
                <a:spcPts val="200"/>
              </a:spcAft>
            </a:pPr>
            <a:r>
              <a:rPr sz="1100">
                <a:solidFill>
                  <a:srgbClr val="9CDCFE"/>
                </a:solidFill>
                <a:latin typeface="Consolas"/>
              </a:rPr>
              <a:t>name: code-review</a:t>
            </a:r>
          </a:p>
          <a:p>
            <a:pPr>
              <a:spcAft>
                <a:spcPts val="200"/>
              </a:spcAft>
            </a:pPr>
            <a:r>
              <a:rPr sz="1100">
                <a:solidFill>
                  <a:srgbClr val="9CDCFE"/>
                </a:solidFill>
                <a:latin typeface="Consolas"/>
              </a:rPr>
              <a:t>description: &gt;</a:t>
            </a:r>
          </a:p>
          <a:p>
            <a:pPr>
              <a:spcAft>
                <a:spcPts val="200"/>
              </a:spcAft>
            </a:pPr>
            <a:r>
              <a:rPr sz="1100">
                <a:solidFill>
                  <a:srgbClr val="9CDCFE"/>
                </a:solidFill>
                <a:latin typeface="Consolas"/>
              </a:rPr>
              <a:t>  Use when asked to review a pull</a:t>
            </a:r>
          </a:p>
          <a:p>
            <a:pPr>
              <a:spcAft>
                <a:spcPts val="200"/>
              </a:spcAft>
            </a:pPr>
            <a:r>
              <a:rPr sz="1100">
                <a:solidFill>
                  <a:srgbClr val="9CDCFE"/>
                </a:solidFill>
                <a:latin typeface="Consolas"/>
              </a:rPr>
              <a:t>  request or code diff.</a:t>
            </a:r>
          </a:p>
          <a:p>
            <a:pPr>
              <a:spcAft>
                <a:spcPts val="200"/>
              </a:spcAft>
            </a:pPr>
            <a:r>
              <a:rPr sz="1100">
                <a:solidFill>
                  <a:srgbClr val="9CDCFE"/>
                </a:solidFill>
                <a:latin typeface="Consolas"/>
              </a:rPr>
              <a:t>  Don't use when writing new code</a:t>
            </a:r>
          </a:p>
          <a:p>
            <a:pPr>
              <a:spcAft>
                <a:spcPts val="200"/>
              </a:spcAft>
            </a:pPr>
            <a:r>
              <a:rPr sz="1100">
                <a:solidFill>
                  <a:srgbClr val="C586C0"/>
                </a:solidFill>
                <a:latin typeface="Consolas"/>
              </a:rPr>
              <a:t>  from scratch.</a:t>
            </a:r>
          </a:p>
          <a:p>
            <a:pPr>
              <a:spcAft>
                <a:spcPts val="200"/>
              </a:spcAft>
            </a:pPr>
            <a:r>
              <a:rPr sz="1100">
                <a:solidFill>
                  <a:srgbClr val="9CDCFE"/>
                </a:solidFill>
                <a:latin typeface="Consolas"/>
              </a:rPr>
              <a:t>---</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DESCRIPTION IS DECISION LOGIC</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Write when to use it AND when not to — that sentence is what the agent reads to decide whether to load the skill at all.</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COMPANY-SCOPED</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Skills are never shared across companies. Folders may nest up to four levels deep.</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ATTACHED AT HIRE OR LATER</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Via desiredSkills at hire time, or later through the skills sync endpoint with mode add, remove or replace.</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57800"/>
            <a:ext cx="4005072" cy="292608"/>
          </a:xfrm>
          <a:prstGeom prst="rect">
            <a:avLst/>
          </a:prstGeom>
          <a:noFill/>
        </p:spPr>
        <p:txBody>
          <a:bodyPr wrap="square" anchor="t">
            <a:spAutoFit/>
          </a:bodyPr>
          <a:lstStyle/>
          <a:p>
            <a:pPr algn="l">
              <a:spcAft>
                <a:spcPts val="400"/>
              </a:spcAft>
            </a:pPr>
            <a:r>
              <a:rPr sz="1200" b="1">
                <a:solidFill>
                  <a:srgbClr val="F59E0B"/>
                </a:solidFill>
                <a:latin typeface="Arial"/>
              </a:rPr>
              <a:t>A DOCUMENTED CONTRADICTION</a:t>
            </a:r>
          </a:p>
        </p:txBody>
      </p:sp>
      <p:sp>
        <p:nvSpPr>
          <p:cNvPr id="25" name="TextBox 24"/>
          <p:cNvSpPr txBox="1"/>
          <p:nvPr/>
        </p:nvSpPr>
        <p:spPr>
          <a:xfrm>
            <a:off x="7232904" y="555040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Skills API says bundled skills are force-unioned into every agent; the newer CLI page says they are not. Verify on your own install.</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fast" advClick="1">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Building AI Agents with Paperclip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2</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Create the BrightFunnel Company, Mission and CEO (Digital Marketing)</a:t>
            </a:r>
          </a:p>
          <a:p>
            <a:pPr>
              <a:spcAft>
                <a:spcPts val="900"/>
              </a:spcAft>
            </a:pPr>
            <a:r>
              <a:rPr sz="1400" b="0">
                <a:solidFill>
                  <a:srgbClr val="161B26"/>
                </a:solidFill>
                <a:latin typeface="Arial"/>
              </a:rPr>
              <a:t>•  BrightFunnel Marketing (Digital Marketing)</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3</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the Meridian Reporting Tree and Validate Runtime Boundaries (Finance)</a:t>
            </a:r>
          </a:p>
          <a:p>
            <a:pPr>
              <a:spcAft>
                <a:spcPts val="900"/>
              </a:spcAft>
            </a:pPr>
            <a:r>
              <a:rPr sz="1400" b="0">
                <a:solidFill>
                  <a:srgbClr val="161B26"/>
                </a:solidFill>
                <a:latin typeface="Arial"/>
              </a:rPr>
              <a:t>•  Meridian Finance Desk (Finance)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F59E0B"/>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fast" advClick="1">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Create the BrightFunnel Company, Mission and CEO (Digital Marketing)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07040"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10241280" cy="566928"/>
          </a:xfrm>
          <a:prstGeom prst="rect">
            <a:avLst/>
          </a:prstGeom>
          <a:noFill/>
        </p:spPr>
        <p:txBody>
          <a:bodyPr wrap="square" anchor="ctr">
            <a:spAutoFit/>
          </a:bodyPr>
          <a:lstStyle/>
          <a:p>
            <a:pPr algn="l">
              <a:spcAft>
                <a:spcPts val="400"/>
              </a:spcAft>
            </a:pPr>
            <a:r>
              <a:rPr sz="1300" b="1">
                <a:solidFill>
                  <a:srgbClr val="7C3AED"/>
                </a:solidFill>
                <a:latin typeface="Arial"/>
              </a:rPr>
              <a:t>SIMULATED COMPANY  ·  BrightFunnel Marketing (Digital Marketing)</a:t>
            </a:r>
          </a:p>
        </p:txBody>
      </p:sp>
      <p:sp>
        <p:nvSpPr>
          <p:cNvPr id="10" name="TextBox 9"/>
          <p:cNvSpPr txBox="1"/>
          <p:nvPr/>
        </p:nvSpPr>
        <p:spPr>
          <a:xfrm>
            <a:off x="777240" y="2514600"/>
            <a:ext cx="10607040" cy="1298448"/>
          </a:xfrm>
          <a:prstGeom prst="rect">
            <a:avLst/>
          </a:prstGeom>
          <a:noFill/>
        </p:spPr>
        <p:txBody>
          <a:bodyPr wrap="square" anchor="t">
            <a:spAutoFit/>
          </a:bodyPr>
          <a:lstStyle/>
          <a:p>
            <a:pPr algn="l">
              <a:spcAft>
                <a:spcPts val="400"/>
              </a:spcAft>
            </a:pPr>
            <a:r>
              <a:rPr sz="1350" b="0">
                <a:solidFill>
                  <a:srgbClr val="161B26"/>
                </a:solidFill>
                <a:latin typeface="Arial"/>
              </a:rPr>
              <a:t>You stand up BrightFunnel Marketing — a one-person digital marketing company — as a Paperclip company. You write a MEASURABLE mission (a target, a metric and a boundary), hire the Marketing Director as CEO, connect one trainer-approved agent runtime, and set the company budget cap BEFORE any agent is allowed to run. The order matters: a company that gains a runtime before it gains a cap can spend without a ceiling.</a:t>
            </a:r>
          </a:p>
        </p:txBody>
      </p:sp>
      <p:sp>
        <p:nvSpPr>
          <p:cNvPr id="11" name="Rectangle 10"/>
          <p:cNvSpPr/>
          <p:nvPr/>
        </p:nvSpPr>
        <p:spPr>
          <a:xfrm>
            <a:off x="777240" y="3931920"/>
            <a:ext cx="6766560"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931920"/>
            <a:ext cx="676656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069080"/>
            <a:ext cx="6309360" cy="329184"/>
          </a:xfrm>
          <a:prstGeom prst="rect">
            <a:avLst/>
          </a:prstGeom>
          <a:noFill/>
        </p:spPr>
        <p:txBody>
          <a:bodyPr wrap="square" anchor="t">
            <a:spAutoFit/>
          </a:bodyPr>
          <a:lstStyle/>
          <a:p>
            <a:pPr algn="l">
              <a:spcAft>
                <a:spcPts val="400"/>
              </a:spcAft>
            </a:pPr>
            <a:r>
              <a:rPr sz="1200" b="1">
                <a:solidFill>
                  <a:srgbClr val="10B981"/>
                </a:solidFill>
                <a:latin typeface="Arial"/>
              </a:rPr>
              <a:t>YOU'LL BUILD</a:t>
            </a:r>
          </a:p>
        </p:txBody>
      </p:sp>
      <p:sp>
        <p:nvSpPr>
          <p:cNvPr id="14" name="TextBox 13"/>
          <p:cNvSpPr txBox="1"/>
          <p:nvPr/>
        </p:nvSpPr>
        <p:spPr>
          <a:xfrm>
            <a:off x="1005840" y="4416552"/>
            <a:ext cx="6309360" cy="1005840"/>
          </a:xfrm>
          <a:prstGeom prst="rect">
            <a:avLst/>
          </a:prstGeom>
          <a:noFill/>
        </p:spPr>
        <p:txBody>
          <a:bodyPr wrap="square" anchor="t">
            <a:spAutoFit/>
          </a:bodyPr>
          <a:lstStyle/>
          <a:p>
            <a:pPr algn="l">
              <a:spcAft>
                <a:spcPts val="400"/>
              </a:spcAft>
            </a:pPr>
            <a:r>
              <a:rPr sz="1150" b="0">
                <a:solidFill>
                  <a:srgbClr val="161B26"/>
                </a:solidFill>
                <a:latin typeface="Arial"/>
              </a:rPr>
              <a:t>A BrightFunnel company in Paperclip with the exact synthetic mission, a hardened Marketing Director CEO on a verified adapter, a saved company budget cap, a dedicated workspace and a redacted configuration baseline in evidence/.</a:t>
            </a:r>
          </a:p>
        </p:txBody>
      </p:sp>
      <p:sp>
        <p:nvSpPr>
          <p:cNvPr id="15" name="Rectangle 14"/>
          <p:cNvSpPr/>
          <p:nvPr/>
        </p:nvSpPr>
        <p:spPr>
          <a:xfrm>
            <a:off x="7818120" y="3931920"/>
            <a:ext cx="3566160"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818120" y="3931920"/>
            <a:ext cx="356616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0" y="4069080"/>
            <a:ext cx="3108960" cy="329184"/>
          </a:xfrm>
          <a:prstGeom prst="rect">
            <a:avLst/>
          </a:prstGeom>
          <a:noFill/>
        </p:spPr>
        <p:txBody>
          <a:bodyPr wrap="square" anchor="t">
            <a:spAutoFit/>
          </a:bodyPr>
          <a:lstStyle/>
          <a:p>
            <a:pPr algn="l">
              <a:spcAft>
                <a:spcPts val="400"/>
              </a:spcAft>
            </a:pPr>
            <a:r>
              <a:rPr sz="1200" b="1">
                <a:solidFill>
                  <a:srgbClr val="1F6FEB"/>
                </a:solidFill>
                <a:latin typeface="Arial"/>
              </a:rPr>
              <a:t>MAPS TO</a:t>
            </a:r>
          </a:p>
        </p:txBody>
      </p:sp>
      <p:sp>
        <p:nvSpPr>
          <p:cNvPr id="18" name="TextBox 17"/>
          <p:cNvSpPr txBox="1"/>
          <p:nvPr/>
        </p:nvSpPr>
        <p:spPr>
          <a:xfrm>
            <a:off x="8046720" y="4416552"/>
            <a:ext cx="3108960" cy="1005840"/>
          </a:xfrm>
          <a:prstGeom prst="rect">
            <a:avLst/>
          </a:prstGeom>
          <a:noFill/>
        </p:spPr>
        <p:txBody>
          <a:bodyPr wrap="square" anchor="t">
            <a:spAutoFit/>
          </a:bodyPr>
          <a:lstStyle/>
          <a:p>
            <a:pPr algn="l">
              <a:spcAft>
                <a:spcPts val="400"/>
              </a:spcAft>
            </a:pPr>
            <a:r>
              <a:rPr sz="1050" b="0">
                <a:solidFill>
                  <a:srgbClr val="161B26"/>
                </a:solidFill>
                <a:latin typeface="Arial"/>
              </a:rPr>
              <a:t>LO2: Create a goal-aligned Paperclip company with a measurable mission, a hardened CEO agent and enforced company-level caps.</a:t>
            </a:r>
          </a:p>
        </p:txBody>
      </p:sp>
      <p:sp>
        <p:nvSpPr>
          <p:cNvPr id="19" name="TextBox 18"/>
          <p:cNvSpPr txBox="1"/>
          <p:nvPr/>
        </p:nvSpPr>
        <p:spPr>
          <a:xfrm>
            <a:off x="777240" y="5669280"/>
            <a:ext cx="10607040" cy="640080"/>
          </a:xfrm>
          <a:prstGeom prst="rect">
            <a:avLst/>
          </a:prstGeom>
          <a:noFill/>
        </p:spPr>
        <p:txBody>
          <a:bodyPr wrap="square" anchor="t">
            <a:spAutoFit/>
          </a:bodyPr>
          <a:lstStyle/>
          <a:p>
            <a:pPr algn="l">
              <a:spcAft>
                <a:spcPts val="300"/>
              </a:spcAft>
            </a:pPr>
            <a:r>
              <a:rPr sz="1100" b="0">
                <a:solidFill>
                  <a:srgbClr val="5B6372"/>
                </a:solidFill>
                <a:latin typeface="Arial"/>
              </a:rPr>
              <a:t>Tools:  Paperclip onboarding wizard, Agent Configuration, one approved adapter runtime, text editor</a:t>
            </a:r>
          </a:p>
          <a:p>
            <a:pPr algn="l">
              <a:spcAft>
                <a:spcPts val="300"/>
              </a:spcAft>
            </a:pPr>
            <a:r>
              <a:rPr sz="1100" b="0">
                <a:solidFill>
                  <a:srgbClr val="5B6372"/>
                </a:solidFill>
                <a:latin typeface="Arial"/>
              </a:rPr>
              <a:t>Full step-by-step procedure: Learner Guide, Lab 2  ·  labs/ folder</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fast" advClick="1">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Create the company</a:t>
            </a:r>
          </a:p>
        </p:txBody>
      </p:sp>
      <p:sp>
        <p:nvSpPr>
          <p:cNvPr id="12" name="TextBox 11"/>
          <p:cNvSpPr txBox="1"/>
          <p:nvPr/>
        </p:nvSpPr>
        <p:spPr>
          <a:xfrm>
            <a:off x="850392"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the exact measurable mission</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Set the company cap</a:t>
            </a:r>
          </a:p>
        </p:txBody>
      </p:sp>
      <p:sp>
        <p:nvSpPr>
          <p:cNvPr id="19" name="TextBox 18"/>
          <p:cNvSpPr txBox="1"/>
          <p:nvPr/>
        </p:nvSpPr>
        <p:spPr>
          <a:xfrm>
            <a:off x="3054096"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the outermost ring, before hiring</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Hire the CEO</a:t>
            </a:r>
          </a:p>
        </p:txBody>
      </p:sp>
      <p:sp>
        <p:nvSpPr>
          <p:cNvPr id="26" name="TextBox 25"/>
          <p:cNvSpPr txBox="1"/>
          <p:nvPr/>
        </p:nvSpPr>
        <p:spPr>
          <a:xfrm>
            <a:off x="5257800"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Marketing Director owns alignment</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Write the role contract</a:t>
            </a:r>
          </a:p>
        </p:txBody>
      </p:sp>
      <p:sp>
        <p:nvSpPr>
          <p:cNvPr id="33" name="TextBox 32"/>
          <p:cNvSpPr txBox="1"/>
          <p:nvPr/>
        </p:nvSpPr>
        <p:spPr>
          <a:xfrm>
            <a:off x="7461504"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purpose, inputs, schema, exclusions</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Confine + verify runtime</a:t>
            </a:r>
          </a:p>
        </p:txBody>
      </p:sp>
      <p:sp>
        <p:nvSpPr>
          <p:cNvPr id="40" name="TextBox 39"/>
          <p:cNvSpPr txBox="1"/>
          <p:nvPr/>
        </p:nvSpPr>
        <p:spPr>
          <a:xfrm>
            <a:off x="9665208"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own workspace, then agent cap</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LO2: Create a goal-aligned Paperclip company with a measurable mission, a hardened CEO agent and enforced company-level caps.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Create the BrightFunnel Company, Mission and CEO (Digital Marketing)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BrightFunnel exists with the exact mission text; the Marketing Director is the sole top-level agent with a verified adapter, a confined workspace and an instruction file; the agent cap (SGD 15) is below the company cap (SGD 40); and the baseline note contains no key, token or connection string.</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adapter verification fails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the underlying CLI runtime is installed and authenticated OUTSIDE Paperclip first, then re-verify. Paperclip cannot authenticate a runtime for you.</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mission field rejects the text</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Remove smart quotes and line breaks pasted from a word processor; enter the mission as plain text.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budget cap will not save</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Set the company cap before the agent cap — an agent cap above a missing or smaller company cap is rejected.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fast" advClick="1">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LAB 2  ·  TROUBLESHOOTING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Create the BrightFunnel Company, Mission and CEO (Digital Marketing)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07040" cy="944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91440" cy="944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3852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The adapter verification fails</a:t>
            </a:r>
          </a:p>
        </p:txBody>
      </p:sp>
      <p:sp>
        <p:nvSpPr>
          <p:cNvPr id="10" name="TextBox 9"/>
          <p:cNvSpPr txBox="1"/>
          <p:nvPr/>
        </p:nvSpPr>
        <p:spPr>
          <a:xfrm>
            <a:off x="1051560" y="2304288"/>
            <a:ext cx="10149840" cy="341376"/>
          </a:xfrm>
          <a:prstGeom prst="rect">
            <a:avLst/>
          </a:prstGeom>
          <a:noFill/>
        </p:spPr>
        <p:txBody>
          <a:bodyPr wrap="square" anchor="t">
            <a:spAutoFit/>
          </a:bodyPr>
          <a:lstStyle/>
          <a:p>
            <a:pPr algn="l">
              <a:spcAft>
                <a:spcPts val="400"/>
              </a:spcAft>
            </a:pPr>
            <a:r>
              <a:rPr sz="1150" b="0">
                <a:solidFill>
                  <a:srgbClr val="5B6372"/>
                </a:solidFill>
                <a:latin typeface="Arial"/>
              </a:rPr>
              <a:t>Confirm the underlying CLI runtime is installed and authenticated OUTSIDE Paperclip first, then re-verify. Paperclip cannot authenticate a runtime for you.</a:t>
            </a:r>
          </a:p>
        </p:txBody>
      </p:sp>
      <p:sp>
        <p:nvSpPr>
          <p:cNvPr id="11" name="Rectangle 10"/>
          <p:cNvSpPr/>
          <p:nvPr/>
        </p:nvSpPr>
        <p:spPr>
          <a:xfrm>
            <a:off x="777240" y="2938272"/>
            <a:ext cx="10607040" cy="944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938272"/>
            <a:ext cx="91440" cy="944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06628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The mission field rejects the text</a:t>
            </a:r>
          </a:p>
        </p:txBody>
      </p:sp>
      <p:sp>
        <p:nvSpPr>
          <p:cNvPr id="14" name="TextBox 13"/>
          <p:cNvSpPr txBox="1"/>
          <p:nvPr/>
        </p:nvSpPr>
        <p:spPr>
          <a:xfrm>
            <a:off x="1051560" y="3432048"/>
            <a:ext cx="10149840" cy="341376"/>
          </a:xfrm>
          <a:prstGeom prst="rect">
            <a:avLst/>
          </a:prstGeom>
          <a:noFill/>
        </p:spPr>
        <p:txBody>
          <a:bodyPr wrap="square" anchor="t">
            <a:spAutoFit/>
          </a:bodyPr>
          <a:lstStyle/>
          <a:p>
            <a:pPr algn="l">
              <a:spcAft>
                <a:spcPts val="400"/>
              </a:spcAft>
            </a:pPr>
            <a:r>
              <a:rPr sz="1150" b="0">
                <a:solidFill>
                  <a:srgbClr val="5B6372"/>
                </a:solidFill>
                <a:latin typeface="Arial"/>
              </a:rPr>
              <a:t>Remove smart quotes and line breaks pasted from a word processor; enter the mission as plain text.</a:t>
            </a:r>
          </a:p>
        </p:txBody>
      </p:sp>
      <p:sp>
        <p:nvSpPr>
          <p:cNvPr id="15" name="Rectangle 14"/>
          <p:cNvSpPr/>
          <p:nvPr/>
        </p:nvSpPr>
        <p:spPr>
          <a:xfrm>
            <a:off x="777240" y="4066032"/>
            <a:ext cx="10607040" cy="944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066032"/>
            <a:ext cx="91440" cy="944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19404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The budget cap will not save</a:t>
            </a:r>
          </a:p>
        </p:txBody>
      </p:sp>
      <p:sp>
        <p:nvSpPr>
          <p:cNvPr id="18" name="TextBox 17"/>
          <p:cNvSpPr txBox="1"/>
          <p:nvPr/>
        </p:nvSpPr>
        <p:spPr>
          <a:xfrm>
            <a:off x="1051560" y="4559808"/>
            <a:ext cx="10149840" cy="341376"/>
          </a:xfrm>
          <a:prstGeom prst="rect">
            <a:avLst/>
          </a:prstGeom>
          <a:noFill/>
        </p:spPr>
        <p:txBody>
          <a:bodyPr wrap="square" anchor="t">
            <a:spAutoFit/>
          </a:bodyPr>
          <a:lstStyle/>
          <a:p>
            <a:pPr algn="l">
              <a:spcAft>
                <a:spcPts val="400"/>
              </a:spcAft>
            </a:pPr>
            <a:r>
              <a:rPr sz="1150" b="0">
                <a:solidFill>
                  <a:srgbClr val="5B6372"/>
                </a:solidFill>
                <a:latin typeface="Arial"/>
              </a:rPr>
              <a:t>Set the company cap before the agent cap — an agent cap above a missing or smaller company cap is rejected.</a:t>
            </a:r>
          </a:p>
        </p:txBody>
      </p:sp>
      <p:sp>
        <p:nvSpPr>
          <p:cNvPr id="19" name="Rectangle 18"/>
          <p:cNvSpPr/>
          <p:nvPr/>
        </p:nvSpPr>
        <p:spPr>
          <a:xfrm>
            <a:off x="777240" y="5230368"/>
            <a:ext cx="5212080"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230368"/>
            <a:ext cx="91440" cy="1005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5321808"/>
            <a:ext cx="4846320" cy="292608"/>
          </a:xfrm>
          <a:prstGeom prst="rect">
            <a:avLst/>
          </a:prstGeom>
          <a:noFill/>
        </p:spPr>
        <p:txBody>
          <a:bodyPr wrap="square" anchor="t">
            <a:spAutoFit/>
          </a:bodyPr>
          <a:lstStyle/>
          <a:p>
            <a:pPr algn="l">
              <a:spcAft>
                <a:spcPts val="400"/>
              </a:spcAft>
            </a:pPr>
            <a:r>
              <a:rPr sz="1150" b="1">
                <a:solidFill>
                  <a:srgbClr val="7C3AED"/>
                </a:solidFill>
                <a:latin typeface="Arial"/>
              </a:rPr>
              <a:t>CHALLENGE</a:t>
            </a:r>
          </a:p>
        </p:txBody>
      </p:sp>
      <p:sp>
        <p:nvSpPr>
          <p:cNvPr id="22" name="TextBox 21"/>
          <p:cNvSpPr txBox="1"/>
          <p:nvPr/>
        </p:nvSpPr>
        <p:spPr>
          <a:xfrm>
            <a:off x="1051560" y="5632704"/>
            <a:ext cx="4846320" cy="548640"/>
          </a:xfrm>
          <a:prstGeom prst="rect">
            <a:avLst/>
          </a:prstGeom>
          <a:noFill/>
        </p:spPr>
        <p:txBody>
          <a:bodyPr wrap="square" anchor="t">
            <a:spAutoFit/>
          </a:bodyPr>
          <a:lstStyle/>
          <a:p>
            <a:pPr algn="l">
              <a:spcAft>
                <a:spcPts val="400"/>
              </a:spcAft>
            </a:pPr>
            <a:r>
              <a:rPr sz="1050" b="0">
                <a:solidFill>
                  <a:srgbClr val="161B26"/>
                </a:solidFill>
                <a:latin typeface="Arial"/>
              </a:rPr>
              <a:t>Rewrite the BrightFunnel mission so it would FAIL a feasibility scan, then state in one sentence exactly which property (target, metric or boundary) you removed.</a:t>
            </a:r>
          </a:p>
        </p:txBody>
      </p:sp>
      <p:sp>
        <p:nvSpPr>
          <p:cNvPr id="23" name="Rectangle 22"/>
          <p:cNvSpPr/>
          <p:nvPr/>
        </p:nvSpPr>
        <p:spPr>
          <a:xfrm>
            <a:off x="6172200" y="5230368"/>
            <a:ext cx="5212080"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5230368"/>
            <a:ext cx="91440"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5321808"/>
            <a:ext cx="4846320" cy="292608"/>
          </a:xfrm>
          <a:prstGeom prst="rect">
            <a:avLst/>
          </a:prstGeom>
          <a:noFill/>
        </p:spPr>
        <p:txBody>
          <a:bodyPr wrap="square" anchor="t">
            <a:spAutoFit/>
          </a:bodyPr>
          <a:lstStyle/>
          <a:p>
            <a:pPr algn="l">
              <a:spcAft>
                <a:spcPts val="400"/>
              </a:spcAft>
            </a:pPr>
            <a:r>
              <a:rPr sz="1150" b="1">
                <a:solidFill>
                  <a:srgbClr val="1F6FEB"/>
                </a:solidFill>
                <a:latin typeface="Arial"/>
              </a:rPr>
              <a:t>REFLECTION</a:t>
            </a:r>
          </a:p>
        </p:txBody>
      </p:sp>
      <p:sp>
        <p:nvSpPr>
          <p:cNvPr id="26" name="TextBox 25"/>
          <p:cNvSpPr txBox="1"/>
          <p:nvPr/>
        </p:nvSpPr>
        <p:spPr>
          <a:xfrm>
            <a:off x="6446520" y="5632704"/>
            <a:ext cx="4846320" cy="548640"/>
          </a:xfrm>
          <a:prstGeom prst="rect">
            <a:avLst/>
          </a:prstGeom>
          <a:noFill/>
        </p:spPr>
        <p:txBody>
          <a:bodyPr wrap="square" anchor="t">
            <a:spAutoFit/>
          </a:bodyPr>
          <a:lstStyle/>
          <a:p>
            <a:pPr algn="l">
              <a:spcAft>
                <a:spcPts val="400"/>
              </a:spcAft>
            </a:pPr>
            <a:r>
              <a:rPr sz="1050" b="0">
                <a:solidFill>
                  <a:srgbClr val="161B26"/>
                </a:solidFill>
                <a:latin typeface="Arial"/>
              </a:rPr>
              <a:t>Why is setting the company budget cap before hiring the CEO a control decision rather than an administrative one?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fast" advClick="1">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Build the Meridian Reporting Tree and Validate Runtime Boundaries (Finance)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07040"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10241280" cy="566928"/>
          </a:xfrm>
          <a:prstGeom prst="rect">
            <a:avLst/>
          </a:prstGeom>
          <a:noFill/>
        </p:spPr>
        <p:txBody>
          <a:bodyPr wrap="square" anchor="ctr">
            <a:spAutoFit/>
          </a:bodyPr>
          <a:lstStyle/>
          <a:p>
            <a:pPr algn="l">
              <a:spcAft>
                <a:spcPts val="400"/>
              </a:spcAft>
            </a:pPr>
            <a:r>
              <a:rPr sz="1300" b="1">
                <a:solidFill>
                  <a:srgbClr val="7C3AED"/>
                </a:solidFill>
                <a:latin typeface="Arial"/>
              </a:rPr>
              <a:t>SIMULATED COMPANY  ·  Meridian Finance Desk (Finance)</a:t>
            </a:r>
          </a:p>
        </p:txBody>
      </p:sp>
      <p:sp>
        <p:nvSpPr>
          <p:cNvPr id="10" name="TextBox 9"/>
          <p:cNvSpPr txBox="1"/>
          <p:nvPr/>
        </p:nvSpPr>
        <p:spPr>
          <a:xfrm>
            <a:off x="777240" y="2514600"/>
            <a:ext cx="10607040" cy="1298448"/>
          </a:xfrm>
          <a:prstGeom prst="rect">
            <a:avLst/>
          </a:prstGeom>
          <a:noFill/>
        </p:spPr>
        <p:txBody>
          <a:bodyPr wrap="square" anchor="t">
            <a:spAutoFit/>
          </a:bodyPr>
          <a:lstStyle/>
          <a:p>
            <a:pPr algn="l">
              <a:spcAft>
                <a:spcPts val="400"/>
              </a:spcAft>
            </a:pPr>
            <a:r>
              <a:rPr sz="1350" b="0">
                <a:solidFill>
                  <a:srgbClr val="161B26"/>
                </a:solidFill>
                <a:latin typeface="Arial"/>
              </a:rPr>
              <a:t>You extend the pattern into Meridian Finance Desk and build a real three-agent org chart: a Finance Lead with an FP&amp;A Analyst and a Treasury Analyst reporting to it. Each specialist receives its OWN workspace, its OWN instruction file and its OWN budget. You then prove every runtime boundary with a marker run — a deliberately trivial task whose only purpose is to produce an observable artifact in the correct workspace. Configuration that has never produced an artifact is not a connection.</a:t>
            </a:r>
          </a:p>
        </p:txBody>
      </p:sp>
      <p:sp>
        <p:nvSpPr>
          <p:cNvPr id="11" name="Rectangle 10"/>
          <p:cNvSpPr/>
          <p:nvPr/>
        </p:nvSpPr>
        <p:spPr>
          <a:xfrm>
            <a:off x="777240" y="3931920"/>
            <a:ext cx="6766560"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931920"/>
            <a:ext cx="676656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069080"/>
            <a:ext cx="6309360" cy="329184"/>
          </a:xfrm>
          <a:prstGeom prst="rect">
            <a:avLst/>
          </a:prstGeom>
          <a:noFill/>
        </p:spPr>
        <p:txBody>
          <a:bodyPr wrap="square" anchor="t">
            <a:spAutoFit/>
          </a:bodyPr>
          <a:lstStyle/>
          <a:p>
            <a:pPr algn="l">
              <a:spcAft>
                <a:spcPts val="400"/>
              </a:spcAft>
            </a:pPr>
            <a:r>
              <a:rPr sz="1200" b="1">
                <a:solidFill>
                  <a:srgbClr val="10B981"/>
                </a:solidFill>
                <a:latin typeface="Arial"/>
              </a:rPr>
              <a:t>YOU'LL BUILD</a:t>
            </a:r>
          </a:p>
        </p:txBody>
      </p:sp>
      <p:sp>
        <p:nvSpPr>
          <p:cNvPr id="14" name="TextBox 13"/>
          <p:cNvSpPr txBox="1"/>
          <p:nvPr/>
        </p:nvSpPr>
        <p:spPr>
          <a:xfrm>
            <a:off x="1005840" y="4416552"/>
            <a:ext cx="6309360" cy="1005840"/>
          </a:xfrm>
          <a:prstGeom prst="rect">
            <a:avLst/>
          </a:prstGeom>
          <a:noFill/>
        </p:spPr>
        <p:txBody>
          <a:bodyPr wrap="square" anchor="t">
            <a:spAutoFit/>
          </a:bodyPr>
          <a:lstStyle/>
          <a:p>
            <a:pPr algn="l">
              <a:spcAft>
                <a:spcPts val="400"/>
              </a:spcAft>
            </a:pPr>
            <a:r>
              <a:rPr sz="1150" b="0">
                <a:solidFill>
                  <a:srgbClr val="161B26"/>
                </a:solidFill>
                <a:latin typeface="Arial"/>
              </a:rPr>
              <a:t>A three-agent Meridian org chart with separate budgeted workspaces, role instruction files, clean Git baselines and one marker-run artifact per agent proving its runtime boundary.</a:t>
            </a:r>
          </a:p>
        </p:txBody>
      </p:sp>
      <p:sp>
        <p:nvSpPr>
          <p:cNvPr id="15" name="Rectangle 14"/>
          <p:cNvSpPr/>
          <p:nvPr/>
        </p:nvSpPr>
        <p:spPr>
          <a:xfrm>
            <a:off x="7818120" y="3931920"/>
            <a:ext cx="3566160"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818120" y="3931920"/>
            <a:ext cx="356616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0" y="4069080"/>
            <a:ext cx="3108960" cy="329184"/>
          </a:xfrm>
          <a:prstGeom prst="rect">
            <a:avLst/>
          </a:prstGeom>
          <a:noFill/>
        </p:spPr>
        <p:txBody>
          <a:bodyPr wrap="square" anchor="t">
            <a:spAutoFit/>
          </a:bodyPr>
          <a:lstStyle/>
          <a:p>
            <a:pPr algn="l">
              <a:spcAft>
                <a:spcPts val="400"/>
              </a:spcAft>
            </a:pPr>
            <a:r>
              <a:rPr sz="1200" b="1">
                <a:solidFill>
                  <a:srgbClr val="1F6FEB"/>
                </a:solidFill>
                <a:latin typeface="Arial"/>
              </a:rPr>
              <a:t>MAPS TO</a:t>
            </a:r>
          </a:p>
        </p:txBody>
      </p:sp>
      <p:sp>
        <p:nvSpPr>
          <p:cNvPr id="18" name="TextBox 17"/>
          <p:cNvSpPr txBox="1"/>
          <p:nvPr/>
        </p:nvSpPr>
        <p:spPr>
          <a:xfrm>
            <a:off x="8046720" y="4416552"/>
            <a:ext cx="3108960" cy="1005840"/>
          </a:xfrm>
          <a:prstGeom prst="rect">
            <a:avLst/>
          </a:prstGeom>
          <a:noFill/>
        </p:spPr>
        <p:txBody>
          <a:bodyPr wrap="square" anchor="t">
            <a:spAutoFit/>
          </a:bodyPr>
          <a:lstStyle/>
          <a:p>
            <a:pPr algn="l">
              <a:spcAft>
                <a:spcPts val="400"/>
              </a:spcAft>
            </a:pPr>
            <a:r>
              <a:rPr sz="1050" b="0">
                <a:solidFill>
                  <a:srgbClr val="161B26"/>
                </a:solidFill>
                <a:latin typeface="Arial"/>
              </a:rPr>
              <a:t>LO2: Build a multi-agent reporting hierarchy with distinct, budgeted and confined workspaces, and prove each runtime boundary with a marker run.</a:t>
            </a:r>
          </a:p>
        </p:txBody>
      </p:sp>
      <p:sp>
        <p:nvSpPr>
          <p:cNvPr id="19" name="TextBox 18"/>
          <p:cNvSpPr txBox="1"/>
          <p:nvPr/>
        </p:nvSpPr>
        <p:spPr>
          <a:xfrm>
            <a:off x="777240" y="5669280"/>
            <a:ext cx="10607040" cy="640080"/>
          </a:xfrm>
          <a:prstGeom prst="rect">
            <a:avLst/>
          </a:prstGeom>
          <a:noFill/>
        </p:spPr>
        <p:txBody>
          <a:bodyPr wrap="square" anchor="t">
            <a:spAutoFit/>
          </a:bodyPr>
          <a:lstStyle/>
          <a:p>
            <a:pPr algn="l">
              <a:spcAft>
                <a:spcPts val="300"/>
              </a:spcAft>
            </a:pPr>
            <a:r>
              <a:rPr sz="1100" b="0">
                <a:solidFill>
                  <a:srgbClr val="5B6372"/>
                </a:solidFill>
                <a:latin typeface="Arial"/>
              </a:rPr>
              <a:t>Tools:  Paperclip Agents, Org and Runs pages; approved adapter runtime; Git; Markdown editor</a:t>
            </a:r>
          </a:p>
          <a:p>
            <a:pPr algn="l">
              <a:spcAft>
                <a:spcPts val="300"/>
              </a:spcAft>
            </a:pPr>
            <a:r>
              <a:rPr sz="1100" b="0">
                <a:solidFill>
                  <a:srgbClr val="5B6372"/>
                </a:solidFill>
                <a:latin typeface="Arial"/>
              </a:rPr>
              <a:t>Full step-by-step procedure: Learner Guide, Lab 3  ·  labs/ folder</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fast" advClick="1">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Create Meridian</a:t>
            </a:r>
          </a:p>
        </p:txBody>
      </p:sp>
      <p:sp>
        <p:nvSpPr>
          <p:cNvPr id="12" name="TextBox 11"/>
          <p:cNvSpPr txBox="1"/>
          <p:nvPr/>
        </p:nvSpPr>
        <p:spPr>
          <a:xfrm>
            <a:off x="850392"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company mission and cap</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Hire the tree</a:t>
            </a:r>
          </a:p>
        </p:txBody>
      </p:sp>
      <p:sp>
        <p:nvSpPr>
          <p:cNvPr id="19" name="TextBox 18"/>
          <p:cNvSpPr txBox="1"/>
          <p:nvPr/>
        </p:nvSpPr>
        <p:spPr>
          <a:xfrm>
            <a:off x="3054096"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two analysts report to the lead</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Split the workspaces</a:t>
            </a:r>
          </a:p>
        </p:txBody>
      </p:sp>
      <p:sp>
        <p:nvSpPr>
          <p:cNvPr id="26" name="TextBox 25"/>
          <p:cNvSpPr txBox="1"/>
          <p:nvPr/>
        </p:nvSpPr>
        <p:spPr>
          <a:xfrm>
            <a:off x="5257800"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one root per role</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Git baseline each root</a:t>
            </a:r>
          </a:p>
        </p:txBody>
      </p:sp>
      <p:sp>
        <p:nvSpPr>
          <p:cNvPr id="33" name="TextBox 32"/>
          <p:cNvSpPr txBox="1"/>
          <p:nvPr/>
        </p:nvSpPr>
        <p:spPr>
          <a:xfrm>
            <a:off x="7461504"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so the diff means something</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Marker run per agent</a:t>
            </a:r>
          </a:p>
        </p:txBody>
      </p:sp>
      <p:sp>
        <p:nvSpPr>
          <p:cNvPr id="40" name="TextBox 39"/>
          <p:cNvSpPr txBox="1"/>
          <p:nvPr/>
        </p:nvSpPr>
        <p:spPr>
          <a:xfrm>
            <a:off x="9665208"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prove the runtime boundary</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LO2: Build a multi-agent reporting hierarchy with distinct, budgeted and confined workspaces, and prove each runtime boundary with a marker run.</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Build the Meridian Reporting Tree and Validate Runtime Boundaries (Finance)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paperclip → Org shows a three-agent tree with both analysts reporting to the Finance Lead; each workspace contains exactly ONE marker.md attributable to its own agent; every agent has an individual cap and the sum of agent caps does not exceed the company cap; and each marker run has a recorded run ID.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marker file appears in the wrong workspace</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agent's workspace path is misbound. Correct the path on the AGENT (not the company), delete the stray file, and re-run the marker.</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 specialist never wakes</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the issue is ASSIGNED to that agent — creating an issue does not wake anyone. Then check the agent's adapter verification and its budget headroom.</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Git reports the workspace is dirty before the marker run</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Something was written outside a run. Reset to the baseline commit and re-run so the diff means what you think it means.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fast" advClick="1">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LAB 3  ·  TROUBLESHOOTING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Build the Meridian Reporting Tree and Validate Runtime Boundaries (Finance)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07040" cy="944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91440" cy="944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3852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A marker file appears in the wrong workspace</a:t>
            </a:r>
          </a:p>
        </p:txBody>
      </p:sp>
      <p:sp>
        <p:nvSpPr>
          <p:cNvPr id="10" name="TextBox 9"/>
          <p:cNvSpPr txBox="1"/>
          <p:nvPr/>
        </p:nvSpPr>
        <p:spPr>
          <a:xfrm>
            <a:off x="1051560" y="2304288"/>
            <a:ext cx="10149840" cy="341376"/>
          </a:xfrm>
          <a:prstGeom prst="rect">
            <a:avLst/>
          </a:prstGeom>
          <a:noFill/>
        </p:spPr>
        <p:txBody>
          <a:bodyPr wrap="square" anchor="t">
            <a:spAutoFit/>
          </a:bodyPr>
          <a:lstStyle/>
          <a:p>
            <a:pPr algn="l">
              <a:spcAft>
                <a:spcPts val="400"/>
              </a:spcAft>
            </a:pPr>
            <a:r>
              <a:rPr sz="1150" b="0">
                <a:solidFill>
                  <a:srgbClr val="5B6372"/>
                </a:solidFill>
                <a:latin typeface="Arial"/>
              </a:rPr>
              <a:t>The agent's workspace path is misbound. Correct the path on the AGENT (not the company), delete the stray file, and re-run the marker.</a:t>
            </a:r>
          </a:p>
        </p:txBody>
      </p:sp>
      <p:sp>
        <p:nvSpPr>
          <p:cNvPr id="11" name="Rectangle 10"/>
          <p:cNvSpPr/>
          <p:nvPr/>
        </p:nvSpPr>
        <p:spPr>
          <a:xfrm>
            <a:off x="777240" y="2938272"/>
            <a:ext cx="10607040" cy="944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938272"/>
            <a:ext cx="91440" cy="944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06628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A specialist never wakes</a:t>
            </a:r>
          </a:p>
        </p:txBody>
      </p:sp>
      <p:sp>
        <p:nvSpPr>
          <p:cNvPr id="14" name="TextBox 13"/>
          <p:cNvSpPr txBox="1"/>
          <p:nvPr/>
        </p:nvSpPr>
        <p:spPr>
          <a:xfrm>
            <a:off x="1051560" y="3432048"/>
            <a:ext cx="10149840" cy="341376"/>
          </a:xfrm>
          <a:prstGeom prst="rect">
            <a:avLst/>
          </a:prstGeom>
          <a:noFill/>
        </p:spPr>
        <p:txBody>
          <a:bodyPr wrap="square" anchor="t">
            <a:spAutoFit/>
          </a:bodyPr>
          <a:lstStyle/>
          <a:p>
            <a:pPr algn="l">
              <a:spcAft>
                <a:spcPts val="400"/>
              </a:spcAft>
            </a:pPr>
            <a:r>
              <a:rPr sz="1150" b="0">
                <a:solidFill>
                  <a:srgbClr val="5B6372"/>
                </a:solidFill>
                <a:latin typeface="Arial"/>
              </a:rPr>
              <a:t>Confirm the issue is ASSIGNED to that agent — creating an issue does not wake anyone. Then check the agent's adapter verification and its budget headroom.</a:t>
            </a:r>
          </a:p>
        </p:txBody>
      </p:sp>
      <p:sp>
        <p:nvSpPr>
          <p:cNvPr id="15" name="Rectangle 14"/>
          <p:cNvSpPr/>
          <p:nvPr/>
        </p:nvSpPr>
        <p:spPr>
          <a:xfrm>
            <a:off x="777240" y="4066032"/>
            <a:ext cx="10607040" cy="944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066032"/>
            <a:ext cx="91440" cy="944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19404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Git reports the workspace is dirty before the marker run</a:t>
            </a:r>
          </a:p>
        </p:txBody>
      </p:sp>
      <p:sp>
        <p:nvSpPr>
          <p:cNvPr id="18" name="TextBox 17"/>
          <p:cNvSpPr txBox="1"/>
          <p:nvPr/>
        </p:nvSpPr>
        <p:spPr>
          <a:xfrm>
            <a:off x="1051560" y="4559808"/>
            <a:ext cx="10149840" cy="341376"/>
          </a:xfrm>
          <a:prstGeom prst="rect">
            <a:avLst/>
          </a:prstGeom>
          <a:noFill/>
        </p:spPr>
        <p:txBody>
          <a:bodyPr wrap="square" anchor="t">
            <a:spAutoFit/>
          </a:bodyPr>
          <a:lstStyle/>
          <a:p>
            <a:pPr algn="l">
              <a:spcAft>
                <a:spcPts val="400"/>
              </a:spcAft>
            </a:pPr>
            <a:r>
              <a:rPr sz="1150" b="0">
                <a:solidFill>
                  <a:srgbClr val="5B6372"/>
                </a:solidFill>
                <a:latin typeface="Arial"/>
              </a:rPr>
              <a:t>Something was written outside a run. Reset to the baseline commit and re-run so the diff means what you think it means.</a:t>
            </a:r>
          </a:p>
        </p:txBody>
      </p:sp>
      <p:sp>
        <p:nvSpPr>
          <p:cNvPr id="19" name="Rectangle 18"/>
          <p:cNvSpPr/>
          <p:nvPr/>
        </p:nvSpPr>
        <p:spPr>
          <a:xfrm>
            <a:off x="777240" y="5230368"/>
            <a:ext cx="5212080"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230368"/>
            <a:ext cx="91440" cy="1005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5321808"/>
            <a:ext cx="4846320" cy="292608"/>
          </a:xfrm>
          <a:prstGeom prst="rect">
            <a:avLst/>
          </a:prstGeom>
          <a:noFill/>
        </p:spPr>
        <p:txBody>
          <a:bodyPr wrap="square" anchor="t">
            <a:spAutoFit/>
          </a:bodyPr>
          <a:lstStyle/>
          <a:p>
            <a:pPr algn="l">
              <a:spcAft>
                <a:spcPts val="400"/>
              </a:spcAft>
            </a:pPr>
            <a:r>
              <a:rPr sz="1150" b="1">
                <a:solidFill>
                  <a:srgbClr val="7C3AED"/>
                </a:solidFill>
                <a:latin typeface="Arial"/>
              </a:rPr>
              <a:t>CHALLENGE</a:t>
            </a:r>
          </a:p>
        </p:txBody>
      </p:sp>
      <p:sp>
        <p:nvSpPr>
          <p:cNvPr id="22" name="TextBox 21"/>
          <p:cNvSpPr txBox="1"/>
          <p:nvPr/>
        </p:nvSpPr>
        <p:spPr>
          <a:xfrm>
            <a:off x="1051560" y="5632704"/>
            <a:ext cx="4846320" cy="548640"/>
          </a:xfrm>
          <a:prstGeom prst="rect">
            <a:avLst/>
          </a:prstGeom>
          <a:noFill/>
        </p:spPr>
        <p:txBody>
          <a:bodyPr wrap="square" anchor="t">
            <a:spAutoFit/>
          </a:bodyPr>
          <a:lstStyle/>
          <a:p>
            <a:pPr algn="l">
              <a:spcAft>
                <a:spcPts val="400"/>
              </a:spcAft>
            </a:pPr>
            <a:r>
              <a:rPr sz="1050" b="0">
                <a:solidFill>
                  <a:srgbClr val="161B26"/>
                </a:solidFill>
                <a:latin typeface="Arial"/>
              </a:rPr>
              <a:t>Set the Treasury Analyst's cap to SGD 0.01, re-run its marker task, and record exactly where and how Paperclip reports the budget stop.</a:t>
            </a:r>
          </a:p>
        </p:txBody>
      </p:sp>
      <p:sp>
        <p:nvSpPr>
          <p:cNvPr id="23" name="Rectangle 22"/>
          <p:cNvSpPr/>
          <p:nvPr/>
        </p:nvSpPr>
        <p:spPr>
          <a:xfrm>
            <a:off x="6172200" y="5230368"/>
            <a:ext cx="5212080"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5230368"/>
            <a:ext cx="91440"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5321808"/>
            <a:ext cx="4846320" cy="292608"/>
          </a:xfrm>
          <a:prstGeom prst="rect">
            <a:avLst/>
          </a:prstGeom>
          <a:noFill/>
        </p:spPr>
        <p:txBody>
          <a:bodyPr wrap="square" anchor="t">
            <a:spAutoFit/>
          </a:bodyPr>
          <a:lstStyle/>
          <a:p>
            <a:pPr algn="l">
              <a:spcAft>
                <a:spcPts val="400"/>
              </a:spcAft>
            </a:pPr>
            <a:r>
              <a:rPr sz="1150" b="1">
                <a:solidFill>
                  <a:srgbClr val="1F6FEB"/>
                </a:solidFill>
                <a:latin typeface="Arial"/>
              </a:rPr>
              <a:t>REFLECTION</a:t>
            </a:r>
          </a:p>
        </p:txBody>
      </p:sp>
      <p:sp>
        <p:nvSpPr>
          <p:cNvPr id="26" name="TextBox 25"/>
          <p:cNvSpPr txBox="1"/>
          <p:nvPr/>
        </p:nvSpPr>
        <p:spPr>
          <a:xfrm>
            <a:off x="6446520" y="5632704"/>
            <a:ext cx="4846320" cy="548640"/>
          </a:xfrm>
          <a:prstGeom prst="rect">
            <a:avLst/>
          </a:prstGeom>
          <a:noFill/>
        </p:spPr>
        <p:txBody>
          <a:bodyPr wrap="square" anchor="t">
            <a:spAutoFit/>
          </a:bodyPr>
          <a:lstStyle/>
          <a:p>
            <a:pPr algn="l">
              <a:spcAft>
                <a:spcPts val="400"/>
              </a:spcAft>
            </a:pPr>
            <a:r>
              <a:rPr sz="1050" b="0">
                <a:solidFill>
                  <a:srgbClr val="161B26"/>
                </a:solidFill>
                <a:latin typeface="Arial"/>
              </a:rPr>
              <a:t>Why is a marker run stronger evidence of a working runtime than a green 'connection verified' badge in the configuration screen?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fast" advClick="1">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Building AI Agents with Paperclip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You can now: LO2: Create a goal-aligned Paperclip company with a measurable mission, a hardened CEO agent and enforced company-level caps.</a:t>
            </a:r>
          </a:p>
          <a:p>
            <a:pPr>
              <a:spcAft>
                <a:spcPts val="1000"/>
              </a:spcAft>
            </a:pPr>
            <a:r>
              <a:rPr sz="1500" b="0">
                <a:solidFill>
                  <a:srgbClr val="161B26"/>
                </a:solidFill>
                <a:latin typeface="Arial"/>
              </a:rPr>
              <a:t>•  You can now: LO2: Build a multi-agent reporting hierarchy with distinct, budgeted and confined workspaces, and prove each runtime boundary with a marker run.</a:t>
            </a:r>
          </a:p>
          <a:p>
            <a:pPr>
              <a:spcAft>
                <a:spcPts val="1000"/>
              </a:spcAft>
            </a:pPr>
            <a:r>
              <a:rPr sz="1500" b="0">
                <a:solidFill>
                  <a:srgbClr val="161B26"/>
                </a:solidFill>
                <a:latin typeface="Arial"/>
              </a:rPr>
              <a:t>•  Onboarding with paperclipai onboard --yes downloads Paperclip, writes the configuration, initialises the embedded PostgreSQL and serves the UI on port 3100.</a:t>
            </a:r>
          </a:p>
          <a:p>
            <a:pPr>
              <a:spcAft>
                <a:spcPts val="1000"/>
              </a:spcAft>
            </a:pPr>
            <a:r>
              <a:rPr sz="1500" b="0">
                <a:solidFill>
                  <a:srgbClr val="161B26"/>
                </a:solidFill>
                <a:latin typeface="Arial"/>
              </a:rPr>
              <a:t>•  Deployment mode is a security decision: local_trusted is the default and requires no login; authenticated+private and authenticated+public widen reach and require real authentication.</a:t>
            </a:r>
          </a:p>
          <a:p>
            <a:pPr>
              <a:spcAft>
                <a:spcPts val="1000"/>
              </a:spcAft>
            </a:pPr>
            <a:r>
              <a:rPr sz="1500" b="0">
                <a:solidFill>
                  <a:srgbClr val="161B26"/>
                </a:solidFill>
                <a:latin typeface="Arial"/>
              </a:rPr>
              <a:t>•  The onboarding wizard captures the company name, the mission statement and the team lead, then verifies connectivity to your chosen local agent runtime.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fast" advClick="1">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Developing Intelligent Multi-Agent Systems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Projects, goals and lineage · issue decomposition · assignment and hand-off · sequential specialists · verifying between disparate components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med" advClick="1">
    <p:push dir="l"/>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Key Concepts — Developing Intelligent Multi-Agent Systems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Projects hold goals and issues and supply the context an agent reads at runtime, so tasks carry full goal ancestry — the agent sees why, not only what.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Goal lineage flows downward: company mission → project goal → parent issue → child issue. An agent that cannot trace its lineage is working without direction.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Issues move through seven states — backlog, todo, in_progress, in_review, done, plus blocked and cancelled. done and cancelled are TERMINAL: issues do not move backwards.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Decompose into a parent synthesis issue plus specialist child issues. Create every issue unassigned first — assignment is a heartbeat trigger, so an assigned issue wakes an agent immediately.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Assignment is the trigger. Assign one child at a time to keep runs sequential, observable and individually attributable.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fast" advClick="1">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Key Concepts — Developing Intelligent Multi-Agent Systems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An acceptance criterion must name the evidence: which artifact, at which path, containing which fields — never 'the research is done'.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A hand-off is accepted only when the receiving agent can consume the artifact without asking the producer a question.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Verification between disparate components means tracing one thread across issue ID, run log, comment, workspace diff and cost entry, and finding them consistent.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Status is not evidence. An issue marked Done with no linked artifact and no diff is an unverified claim.</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Explicit limitations are part of a good deliverable — an agent that reports what it could not establish is more useful than one that quietly guesses.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fast" advClick="1">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Key Concepts — Developing Intelligent Multi-Agent Systems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One event should not create many outcomes: choose a single trigger for the first controlled run and keep the work idempotent.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Bound every wait. An unbounded wait for a heartbeat hides a failed adapter behind what looks like patience.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The workspace diff is the strongest evidence you have — read what actually changed on disk before accepting any agent's summary of it.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fast" advClick="1">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LO3 · THE AGENT SEES WHY, NOT ONLY WHAT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Goal Lineage — Every Issue Carries Its Reason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iagram-goal-lineage.png"/>
          <p:cNvPicPr>
            <a:picLocks noChangeAspect="1"/>
          </p:cNvPicPr>
          <p:nvPr/>
        </p:nvPicPr>
        <p:blipFill>
          <a:blip r:embed="rId2"/>
          <a:stretch>
            <a:fillRect/>
          </a:stretch>
        </p:blipFill>
        <p:spPr>
          <a:xfrm>
            <a:off x="777240" y="2361927"/>
            <a:ext cx="6812280" cy="3121697"/>
          </a:xfrm>
          <a:prstGeom prst="rect">
            <a:avLst/>
          </a:prstGeom>
        </p:spPr>
      </p:pic>
      <p:sp>
        <p:nvSpPr>
          <p:cNvPr id="8" name="Rectangle 7"/>
          <p:cNvSpPr/>
          <p:nvPr/>
        </p:nvSpPr>
        <p:spPr>
          <a:xfrm>
            <a:off x="7882127" y="1810512"/>
            <a:ext cx="3529584" cy="10276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82127" y="1810512"/>
            <a:ext cx="352958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3295" y="1975104"/>
            <a:ext cx="3127248" cy="310896"/>
          </a:xfrm>
          <a:prstGeom prst="rect">
            <a:avLst/>
          </a:prstGeom>
          <a:noFill/>
        </p:spPr>
        <p:txBody>
          <a:bodyPr wrap="square" anchor="t">
            <a:spAutoFit/>
          </a:bodyPr>
          <a:lstStyle/>
          <a:p>
            <a:pPr algn="l">
              <a:spcAft>
                <a:spcPts val="400"/>
              </a:spcAft>
            </a:pPr>
            <a:r>
              <a:rPr sz="1350" b="1">
                <a:solidFill>
                  <a:srgbClr val="1F6FEB"/>
                </a:solidFill>
                <a:latin typeface="Arial"/>
              </a:rPr>
              <a:t>Mission</a:t>
            </a:r>
          </a:p>
        </p:txBody>
      </p:sp>
      <p:sp>
        <p:nvSpPr>
          <p:cNvPr id="11" name="TextBox 10"/>
          <p:cNvSpPr txBox="1"/>
          <p:nvPr/>
        </p:nvSpPr>
        <p:spPr>
          <a:xfrm>
            <a:off x="8083295" y="2322576"/>
            <a:ext cx="3127248" cy="424180"/>
          </a:xfrm>
          <a:prstGeom prst="rect">
            <a:avLst/>
          </a:prstGeom>
          <a:noFill/>
        </p:spPr>
        <p:txBody>
          <a:bodyPr wrap="square" anchor="t">
            <a:spAutoFit/>
          </a:bodyPr>
          <a:lstStyle/>
          <a:p>
            <a:pPr algn="l">
              <a:spcAft>
                <a:spcPts val="400"/>
              </a:spcAft>
            </a:pPr>
            <a:r>
              <a:rPr sz="1000" b="0">
                <a:solidFill>
                  <a:srgbClr val="161B26"/>
                </a:solidFill>
                <a:latin typeface="Arial"/>
              </a:rPr>
              <a:t>One measurable outcome defines why the company exists.</a:t>
            </a:r>
          </a:p>
        </p:txBody>
      </p:sp>
      <p:sp>
        <p:nvSpPr>
          <p:cNvPr id="12" name="Rectangle 11"/>
          <p:cNvSpPr/>
          <p:nvPr/>
        </p:nvSpPr>
        <p:spPr>
          <a:xfrm>
            <a:off x="7882127" y="2984500"/>
            <a:ext cx="3529584" cy="8651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882127" y="2984500"/>
            <a:ext cx="352958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3295" y="3149092"/>
            <a:ext cx="3127248" cy="310896"/>
          </a:xfrm>
          <a:prstGeom prst="rect">
            <a:avLst/>
          </a:prstGeom>
          <a:noFill/>
        </p:spPr>
        <p:txBody>
          <a:bodyPr wrap="square" anchor="t">
            <a:spAutoFit/>
          </a:bodyPr>
          <a:lstStyle/>
          <a:p>
            <a:pPr algn="l">
              <a:spcAft>
                <a:spcPts val="400"/>
              </a:spcAft>
            </a:pPr>
            <a:r>
              <a:rPr sz="1350" b="1">
                <a:solidFill>
                  <a:srgbClr val="10B981"/>
                </a:solidFill>
                <a:latin typeface="Arial"/>
              </a:rPr>
              <a:t>Project goal</a:t>
            </a:r>
          </a:p>
        </p:txBody>
      </p:sp>
      <p:sp>
        <p:nvSpPr>
          <p:cNvPr id="15" name="TextBox 14"/>
          <p:cNvSpPr txBox="1"/>
          <p:nvPr/>
        </p:nvSpPr>
        <p:spPr>
          <a:xfrm>
            <a:off x="8083295" y="3496564"/>
            <a:ext cx="3127248" cy="261620"/>
          </a:xfrm>
          <a:prstGeom prst="rect">
            <a:avLst/>
          </a:prstGeom>
          <a:noFill/>
        </p:spPr>
        <p:txBody>
          <a:bodyPr wrap="square" anchor="t">
            <a:spAutoFit/>
          </a:bodyPr>
          <a:lstStyle/>
          <a:p>
            <a:pPr algn="l">
              <a:spcAft>
                <a:spcPts val="400"/>
              </a:spcAft>
            </a:pPr>
            <a:r>
              <a:rPr sz="1000" b="0">
                <a:solidFill>
                  <a:srgbClr val="161B26"/>
                </a:solidFill>
                <a:latin typeface="Arial"/>
              </a:rPr>
              <a:t>A budgeted scope the agent reads at runtime.</a:t>
            </a:r>
          </a:p>
        </p:txBody>
      </p:sp>
      <p:sp>
        <p:nvSpPr>
          <p:cNvPr id="16" name="Rectangle 15"/>
          <p:cNvSpPr/>
          <p:nvPr/>
        </p:nvSpPr>
        <p:spPr>
          <a:xfrm>
            <a:off x="7882127" y="3995928"/>
            <a:ext cx="3529584" cy="10276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3995928"/>
            <a:ext cx="3529584"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83295" y="4160520"/>
            <a:ext cx="3127248" cy="310896"/>
          </a:xfrm>
          <a:prstGeom prst="rect">
            <a:avLst/>
          </a:prstGeom>
          <a:noFill/>
        </p:spPr>
        <p:txBody>
          <a:bodyPr wrap="square" anchor="t">
            <a:spAutoFit/>
          </a:bodyPr>
          <a:lstStyle/>
          <a:p>
            <a:pPr algn="l">
              <a:spcAft>
                <a:spcPts val="400"/>
              </a:spcAft>
            </a:pPr>
            <a:r>
              <a:rPr sz="1350" b="1">
                <a:solidFill>
                  <a:srgbClr val="7C3AED"/>
                </a:solidFill>
                <a:latin typeface="Arial"/>
              </a:rPr>
              <a:t>Parent issue</a:t>
            </a:r>
          </a:p>
        </p:txBody>
      </p:sp>
      <p:sp>
        <p:nvSpPr>
          <p:cNvPr id="19" name="TextBox 18"/>
          <p:cNvSpPr txBox="1"/>
          <p:nvPr/>
        </p:nvSpPr>
        <p:spPr>
          <a:xfrm>
            <a:off x="8083295" y="4507992"/>
            <a:ext cx="3127248" cy="424180"/>
          </a:xfrm>
          <a:prstGeom prst="rect">
            <a:avLst/>
          </a:prstGeom>
          <a:noFill/>
        </p:spPr>
        <p:txBody>
          <a:bodyPr wrap="square" anchor="t">
            <a:spAutoFit/>
          </a:bodyPr>
          <a:lstStyle/>
          <a:p>
            <a:pPr algn="l">
              <a:spcAft>
                <a:spcPts val="400"/>
              </a:spcAft>
            </a:pPr>
            <a:r>
              <a:rPr sz="1000" b="0">
                <a:solidFill>
                  <a:srgbClr val="161B26"/>
                </a:solidFill>
                <a:latin typeface="Arial"/>
              </a:rPr>
              <a:t>The synthesis — created unassigned so it cannot wake early.</a:t>
            </a:r>
          </a:p>
        </p:txBody>
      </p:sp>
      <p:sp>
        <p:nvSpPr>
          <p:cNvPr id="20" name="Rectangle 19"/>
          <p:cNvSpPr/>
          <p:nvPr/>
        </p:nvSpPr>
        <p:spPr>
          <a:xfrm>
            <a:off x="7882127" y="5169916"/>
            <a:ext cx="3529584" cy="8651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82127" y="5169916"/>
            <a:ext cx="352958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83295" y="5334508"/>
            <a:ext cx="3127248" cy="310896"/>
          </a:xfrm>
          <a:prstGeom prst="rect">
            <a:avLst/>
          </a:prstGeom>
          <a:noFill/>
        </p:spPr>
        <p:txBody>
          <a:bodyPr wrap="square" anchor="t">
            <a:spAutoFit/>
          </a:bodyPr>
          <a:lstStyle/>
          <a:p>
            <a:pPr algn="l">
              <a:spcAft>
                <a:spcPts val="400"/>
              </a:spcAft>
            </a:pPr>
            <a:r>
              <a:rPr sz="1350" b="1">
                <a:solidFill>
                  <a:srgbClr val="F59E0B"/>
                </a:solidFill>
                <a:latin typeface="Arial"/>
              </a:rPr>
              <a:t>Child issues</a:t>
            </a:r>
          </a:p>
        </p:txBody>
      </p:sp>
      <p:sp>
        <p:nvSpPr>
          <p:cNvPr id="23" name="TextBox 22"/>
          <p:cNvSpPr txBox="1"/>
          <p:nvPr/>
        </p:nvSpPr>
        <p:spPr>
          <a:xfrm>
            <a:off x="8083295" y="5681980"/>
            <a:ext cx="3127248" cy="261620"/>
          </a:xfrm>
          <a:prstGeom prst="rect">
            <a:avLst/>
          </a:prstGeom>
          <a:noFill/>
        </p:spPr>
        <p:txBody>
          <a:bodyPr wrap="square" anchor="t">
            <a:spAutoFit/>
          </a:bodyPr>
          <a:lstStyle/>
          <a:p>
            <a:pPr algn="l">
              <a:spcAft>
                <a:spcPts val="400"/>
              </a:spcAft>
            </a:pPr>
            <a:r>
              <a:rPr sz="1000" b="0">
                <a:solidFill>
                  <a:srgbClr val="161B26"/>
                </a:solidFill>
                <a:latin typeface="Arial"/>
              </a:rPr>
              <a:t>Specialist work, assigned ONE AT A TIME.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fast" advClick="1">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WHY SEQUENCE MATTERS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Assign One Child at a Time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art-sequential-runs.png"/>
          <p:cNvPicPr>
            <a:picLocks noChangeAspect="1"/>
          </p:cNvPicPr>
          <p:nvPr/>
        </p:nvPicPr>
        <p:blipFill>
          <a:blip r:embed="rId2"/>
          <a:stretch>
            <a:fillRect/>
          </a:stretch>
        </p:blipFill>
        <p:spPr>
          <a:xfrm>
            <a:off x="777240" y="2385830"/>
            <a:ext cx="6812280" cy="3073891"/>
          </a:xfrm>
          <a:prstGeom prst="rect">
            <a:avLst/>
          </a:prstGeom>
        </p:spPr>
      </p:pic>
      <p:sp>
        <p:nvSpPr>
          <p:cNvPr id="8" name="Rectangle 7"/>
          <p:cNvSpPr/>
          <p:nvPr/>
        </p:nvSpPr>
        <p:spPr>
          <a:xfrm>
            <a:off x="7882127" y="1810512"/>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82127" y="1810512"/>
            <a:ext cx="352958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3295" y="1975104"/>
            <a:ext cx="3127248" cy="310896"/>
          </a:xfrm>
          <a:prstGeom prst="rect">
            <a:avLst/>
          </a:prstGeom>
          <a:noFill/>
        </p:spPr>
        <p:txBody>
          <a:bodyPr wrap="square" anchor="t">
            <a:spAutoFit/>
          </a:bodyPr>
          <a:lstStyle/>
          <a:p>
            <a:pPr algn="l">
              <a:spcAft>
                <a:spcPts val="400"/>
              </a:spcAft>
            </a:pPr>
            <a:r>
              <a:rPr sz="1350" b="1">
                <a:solidFill>
                  <a:srgbClr val="1F6FEB"/>
                </a:solidFill>
                <a:latin typeface="Arial"/>
              </a:rPr>
              <a:t>Assignment is the trigger</a:t>
            </a:r>
          </a:p>
        </p:txBody>
      </p:sp>
      <p:sp>
        <p:nvSpPr>
          <p:cNvPr id="11" name="TextBox 10"/>
          <p:cNvSpPr txBox="1"/>
          <p:nvPr/>
        </p:nvSpPr>
        <p:spPr>
          <a:xfrm>
            <a:off x="8083295" y="2322576"/>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Creating an issue does not wake anyone — assigning it does.</a:t>
            </a:r>
          </a:p>
        </p:txBody>
      </p:sp>
      <p:sp>
        <p:nvSpPr>
          <p:cNvPr id="12" name="Rectangle 11"/>
          <p:cNvSpPr/>
          <p:nvPr/>
        </p:nvSpPr>
        <p:spPr>
          <a:xfrm>
            <a:off x="7882127" y="2944368"/>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882127" y="2944368"/>
            <a:ext cx="352958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3295" y="3108960"/>
            <a:ext cx="3127248" cy="310896"/>
          </a:xfrm>
          <a:prstGeom prst="rect">
            <a:avLst/>
          </a:prstGeom>
          <a:noFill/>
        </p:spPr>
        <p:txBody>
          <a:bodyPr wrap="square" anchor="t">
            <a:spAutoFit/>
          </a:bodyPr>
          <a:lstStyle/>
          <a:p>
            <a:pPr algn="l">
              <a:spcAft>
                <a:spcPts val="400"/>
              </a:spcAft>
            </a:pPr>
            <a:r>
              <a:rPr sz="1350" b="1">
                <a:solidFill>
                  <a:srgbClr val="10B981"/>
                </a:solidFill>
                <a:latin typeface="Arial"/>
              </a:rPr>
              <a:t>Sequential = attributable</a:t>
            </a:r>
          </a:p>
        </p:txBody>
      </p:sp>
      <p:sp>
        <p:nvSpPr>
          <p:cNvPr id="15" name="TextBox 14"/>
          <p:cNvSpPr txBox="1"/>
          <p:nvPr/>
        </p:nvSpPr>
        <p:spPr>
          <a:xfrm>
            <a:off x="8083295" y="3456432"/>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Non-overlapping runs let you tie each artifact to exactly one run.</a:t>
            </a:r>
          </a:p>
        </p:txBody>
      </p:sp>
      <p:sp>
        <p:nvSpPr>
          <p:cNvPr id="16" name="Rectangle 15"/>
          <p:cNvSpPr/>
          <p:nvPr/>
        </p:nvSpPr>
        <p:spPr>
          <a:xfrm>
            <a:off x="7882127" y="4078224"/>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4078224"/>
            <a:ext cx="3529584"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83295" y="4242816"/>
            <a:ext cx="3127248" cy="310896"/>
          </a:xfrm>
          <a:prstGeom prst="rect">
            <a:avLst/>
          </a:prstGeom>
          <a:noFill/>
        </p:spPr>
        <p:txBody>
          <a:bodyPr wrap="square" anchor="t">
            <a:spAutoFit/>
          </a:bodyPr>
          <a:lstStyle/>
          <a:p>
            <a:pPr algn="l">
              <a:spcAft>
                <a:spcPts val="400"/>
              </a:spcAft>
            </a:pPr>
            <a:r>
              <a:rPr sz="1350" b="1">
                <a:solidFill>
                  <a:srgbClr val="7C3AED"/>
                </a:solidFill>
                <a:latin typeface="Arial"/>
              </a:rPr>
              <a:t>Overlapping = unverifiable</a:t>
            </a:r>
          </a:p>
        </p:txBody>
      </p:sp>
      <p:sp>
        <p:nvSpPr>
          <p:cNvPr id="19" name="TextBox 18"/>
          <p:cNvSpPr txBox="1"/>
          <p:nvPr/>
        </p:nvSpPr>
        <p:spPr>
          <a:xfrm>
            <a:off x="8083295" y="4590288"/>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If both ran at once you cannot prove the hand-off actually happened.</a:t>
            </a:r>
          </a:p>
        </p:txBody>
      </p:sp>
      <p:sp>
        <p:nvSpPr>
          <p:cNvPr id="20" name="Rectangle 19"/>
          <p:cNvSpPr/>
          <p:nvPr/>
        </p:nvSpPr>
        <p:spPr>
          <a:xfrm>
            <a:off x="7882127" y="5212080"/>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82127" y="5212080"/>
            <a:ext cx="352958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83295" y="5376672"/>
            <a:ext cx="3127248" cy="310896"/>
          </a:xfrm>
          <a:prstGeom prst="rect">
            <a:avLst/>
          </a:prstGeom>
          <a:noFill/>
        </p:spPr>
        <p:txBody>
          <a:bodyPr wrap="square" anchor="t">
            <a:spAutoFit/>
          </a:bodyPr>
          <a:lstStyle/>
          <a:p>
            <a:pPr algn="l">
              <a:spcAft>
                <a:spcPts val="400"/>
              </a:spcAft>
            </a:pPr>
            <a:r>
              <a:rPr sz="1350" b="1">
                <a:solidFill>
                  <a:srgbClr val="F59E0B"/>
                </a:solidFill>
                <a:latin typeface="Arial"/>
              </a:rPr>
              <a:t>Bound every wait</a:t>
            </a:r>
          </a:p>
        </p:txBody>
      </p:sp>
      <p:sp>
        <p:nvSpPr>
          <p:cNvPr id="23" name="TextBox 22"/>
          <p:cNvSpPr txBox="1"/>
          <p:nvPr/>
        </p:nvSpPr>
        <p:spPr>
          <a:xfrm>
            <a:off x="8083295" y="5724144"/>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An unbounded wait hides a failed adapter behind apparent patience.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fast" advClick="1">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WHAT 'VERIFIED' ACTUALLY MEANS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Verifying Between Disparate Components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iagram-evidence-chain.png"/>
          <p:cNvPicPr>
            <a:picLocks noChangeAspect="1"/>
          </p:cNvPicPr>
          <p:nvPr/>
        </p:nvPicPr>
        <p:blipFill>
          <a:blip r:embed="rId2"/>
          <a:stretch>
            <a:fillRect/>
          </a:stretch>
        </p:blipFill>
        <p:spPr>
          <a:xfrm>
            <a:off x="777240" y="2581832"/>
            <a:ext cx="6812280" cy="2681887"/>
          </a:xfrm>
          <a:prstGeom prst="rect">
            <a:avLst/>
          </a:prstGeom>
        </p:spPr>
      </p:pic>
      <p:sp>
        <p:nvSpPr>
          <p:cNvPr id="8" name="Rectangle 7"/>
          <p:cNvSpPr/>
          <p:nvPr/>
        </p:nvSpPr>
        <p:spPr>
          <a:xfrm>
            <a:off x="7882127" y="1810512"/>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82127" y="1810512"/>
            <a:ext cx="352958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3295" y="1975104"/>
            <a:ext cx="3127248" cy="310896"/>
          </a:xfrm>
          <a:prstGeom prst="rect">
            <a:avLst/>
          </a:prstGeom>
          <a:noFill/>
        </p:spPr>
        <p:txBody>
          <a:bodyPr wrap="square" anchor="t">
            <a:spAutoFit/>
          </a:bodyPr>
          <a:lstStyle/>
          <a:p>
            <a:pPr algn="l">
              <a:spcAft>
                <a:spcPts val="400"/>
              </a:spcAft>
            </a:pPr>
            <a:r>
              <a:rPr sz="1350" b="1">
                <a:solidFill>
                  <a:srgbClr val="1F6FEB"/>
                </a:solidFill>
                <a:latin typeface="Arial"/>
              </a:rPr>
              <a:t>Five places, one thread</a:t>
            </a:r>
          </a:p>
        </p:txBody>
      </p:sp>
      <p:sp>
        <p:nvSpPr>
          <p:cNvPr id="11" name="TextBox 10"/>
          <p:cNvSpPr txBox="1"/>
          <p:nvPr/>
        </p:nvSpPr>
        <p:spPr>
          <a:xfrm>
            <a:off x="8083295" y="2322576"/>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Issue ID, run log, comment, workspace diff and cost entry must agree.</a:t>
            </a:r>
          </a:p>
        </p:txBody>
      </p:sp>
      <p:sp>
        <p:nvSpPr>
          <p:cNvPr id="12" name="Rectangle 11"/>
          <p:cNvSpPr/>
          <p:nvPr/>
        </p:nvSpPr>
        <p:spPr>
          <a:xfrm>
            <a:off x="7882127" y="2944368"/>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882127" y="2944368"/>
            <a:ext cx="352958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3295" y="3108960"/>
            <a:ext cx="3127248" cy="310896"/>
          </a:xfrm>
          <a:prstGeom prst="rect">
            <a:avLst/>
          </a:prstGeom>
          <a:noFill/>
        </p:spPr>
        <p:txBody>
          <a:bodyPr wrap="square" anchor="t">
            <a:spAutoFit/>
          </a:bodyPr>
          <a:lstStyle/>
          <a:p>
            <a:pPr algn="l">
              <a:spcAft>
                <a:spcPts val="400"/>
              </a:spcAft>
            </a:pPr>
            <a:r>
              <a:rPr sz="1350" b="1">
                <a:solidFill>
                  <a:srgbClr val="10B981"/>
                </a:solidFill>
                <a:latin typeface="Arial"/>
              </a:rPr>
              <a:t>The diff is king</a:t>
            </a:r>
          </a:p>
        </p:txBody>
      </p:sp>
      <p:sp>
        <p:nvSpPr>
          <p:cNvPr id="15" name="TextBox 14"/>
          <p:cNvSpPr txBox="1"/>
          <p:nvPr/>
        </p:nvSpPr>
        <p:spPr>
          <a:xfrm>
            <a:off x="8083295" y="3456432"/>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Read what actually changed on disk before accepting any agent's summary.</a:t>
            </a:r>
          </a:p>
        </p:txBody>
      </p:sp>
      <p:sp>
        <p:nvSpPr>
          <p:cNvPr id="16" name="Rectangle 15"/>
          <p:cNvSpPr/>
          <p:nvPr/>
        </p:nvSpPr>
        <p:spPr>
          <a:xfrm>
            <a:off x="7882127" y="4078224"/>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4078224"/>
            <a:ext cx="3529584"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83295" y="4242816"/>
            <a:ext cx="3127248" cy="310896"/>
          </a:xfrm>
          <a:prstGeom prst="rect">
            <a:avLst/>
          </a:prstGeom>
          <a:noFill/>
        </p:spPr>
        <p:txBody>
          <a:bodyPr wrap="square" anchor="t">
            <a:spAutoFit/>
          </a:bodyPr>
          <a:lstStyle/>
          <a:p>
            <a:pPr algn="l">
              <a:spcAft>
                <a:spcPts val="400"/>
              </a:spcAft>
            </a:pPr>
            <a:r>
              <a:rPr sz="1350" b="1">
                <a:solidFill>
                  <a:srgbClr val="7C3AED"/>
                </a:solidFill>
                <a:latin typeface="Arial"/>
              </a:rPr>
              <a:t>Status is not evidence</a:t>
            </a:r>
          </a:p>
        </p:txBody>
      </p:sp>
      <p:sp>
        <p:nvSpPr>
          <p:cNvPr id="19" name="TextBox 18"/>
          <p:cNvSpPr txBox="1"/>
          <p:nvPr/>
        </p:nvSpPr>
        <p:spPr>
          <a:xfrm>
            <a:off x="8083295" y="4590288"/>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'Done' with no artifact and no diff is an unverified claim.</a:t>
            </a:r>
          </a:p>
        </p:txBody>
      </p:sp>
      <p:sp>
        <p:nvSpPr>
          <p:cNvPr id="20" name="Rectangle 19"/>
          <p:cNvSpPr/>
          <p:nvPr/>
        </p:nvSpPr>
        <p:spPr>
          <a:xfrm>
            <a:off x="7882127" y="5212080"/>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82127" y="5212080"/>
            <a:ext cx="352958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83295" y="5376672"/>
            <a:ext cx="3127248" cy="310896"/>
          </a:xfrm>
          <a:prstGeom prst="rect">
            <a:avLst/>
          </a:prstGeom>
          <a:noFill/>
        </p:spPr>
        <p:txBody>
          <a:bodyPr wrap="square" anchor="t">
            <a:spAutoFit/>
          </a:bodyPr>
          <a:lstStyle/>
          <a:p>
            <a:pPr algn="l">
              <a:spcAft>
                <a:spcPts val="400"/>
              </a:spcAft>
            </a:pPr>
            <a:r>
              <a:rPr sz="1350" b="1">
                <a:solidFill>
                  <a:srgbClr val="F59E0B"/>
                </a:solidFill>
                <a:latin typeface="Arial"/>
              </a:rPr>
              <a:t>Name the evidence</a:t>
            </a:r>
          </a:p>
        </p:txBody>
      </p:sp>
      <p:sp>
        <p:nvSpPr>
          <p:cNvPr id="23" name="TextBox 22"/>
          <p:cNvSpPr txBox="1"/>
          <p:nvPr/>
        </p:nvSpPr>
        <p:spPr>
          <a:xfrm>
            <a:off x="8083295" y="5724144"/>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An acceptance criterion states the artifact, its path and its fields.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fast" advClick="1">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ACCEPTING WORK</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Hand-Off Acceptance — What You Are Actually Checking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80282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80282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41017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41017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94759"/>
            <a:ext cx="3973068" cy="1643280"/>
          </a:xfrm>
          <a:prstGeom prst="rect">
            <a:avLst/>
          </a:prstGeom>
          <a:noFill/>
        </p:spPr>
        <p:txBody>
          <a:bodyPr wrap="square" anchor="ctr">
            <a:spAutoFit/>
          </a:bodyPr>
          <a:lstStyle/>
          <a:p>
            <a:pPr algn="l">
              <a:spcAft>
                <a:spcPts val="300"/>
              </a:spcAft>
            </a:pPr>
            <a:r>
              <a:rPr sz="1600" b="1">
                <a:solidFill>
                  <a:srgbClr val="161B26"/>
                </a:solidFill>
                <a:latin typeface="Arial"/>
              </a:rPr>
              <a:t>Consumable without a question</a:t>
            </a:r>
          </a:p>
          <a:p>
            <a:pPr algn="l">
              <a:spcAft>
                <a:spcPts val="300"/>
              </a:spcAft>
            </a:pPr>
            <a:r>
              <a:rPr sz="1200" b="0">
                <a:solidFill>
                  <a:srgbClr val="5B6372"/>
                </a:solidFill>
                <a:latin typeface="Arial"/>
              </a:rPr>
              <a:t>The receiving agent can use the artifact without asking the producer anything.</a:t>
            </a:r>
          </a:p>
        </p:txBody>
      </p:sp>
      <p:sp>
        <p:nvSpPr>
          <p:cNvPr id="12" name="Rectangle 11"/>
          <p:cNvSpPr/>
          <p:nvPr/>
        </p:nvSpPr>
        <p:spPr>
          <a:xfrm>
            <a:off x="6231636" y="1783080"/>
            <a:ext cx="5180076" cy="180282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80282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41017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41017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94759"/>
            <a:ext cx="3973068" cy="1643280"/>
          </a:xfrm>
          <a:prstGeom prst="rect">
            <a:avLst/>
          </a:prstGeom>
          <a:noFill/>
        </p:spPr>
        <p:txBody>
          <a:bodyPr wrap="square" anchor="ctr">
            <a:spAutoFit/>
          </a:bodyPr>
          <a:lstStyle/>
          <a:p>
            <a:pPr algn="l">
              <a:spcAft>
                <a:spcPts val="300"/>
              </a:spcAft>
            </a:pPr>
            <a:r>
              <a:rPr sz="1600" b="1">
                <a:solidFill>
                  <a:srgbClr val="161B26"/>
                </a:solidFill>
                <a:latin typeface="Arial"/>
              </a:rPr>
              <a:t>Limitations stated</a:t>
            </a:r>
          </a:p>
          <a:p>
            <a:pPr algn="l">
              <a:spcAft>
                <a:spcPts val="300"/>
              </a:spcAft>
            </a:pPr>
            <a:r>
              <a:rPr sz="1200" b="0">
                <a:solidFill>
                  <a:srgbClr val="5B6372"/>
                </a:solidFill>
                <a:latin typeface="Arial"/>
              </a:rPr>
              <a:t>An agent that reports what it could NOT establish is more useful than one that quietly guesses.</a:t>
            </a:r>
          </a:p>
        </p:txBody>
      </p:sp>
      <p:sp>
        <p:nvSpPr>
          <p:cNvPr id="17" name="Rectangle 16"/>
          <p:cNvSpPr/>
          <p:nvPr/>
        </p:nvSpPr>
        <p:spPr>
          <a:xfrm>
            <a:off x="777240" y="3793306"/>
            <a:ext cx="5180076" cy="180282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793306"/>
            <a:ext cx="91440" cy="180282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420397"/>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420397"/>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904985"/>
            <a:ext cx="3973068" cy="1643280"/>
          </a:xfrm>
          <a:prstGeom prst="rect">
            <a:avLst/>
          </a:prstGeom>
          <a:noFill/>
        </p:spPr>
        <p:txBody>
          <a:bodyPr wrap="square" anchor="ctr">
            <a:spAutoFit/>
          </a:bodyPr>
          <a:lstStyle/>
          <a:p>
            <a:pPr algn="l">
              <a:spcAft>
                <a:spcPts val="300"/>
              </a:spcAft>
            </a:pPr>
            <a:r>
              <a:rPr sz="1600" b="1">
                <a:solidFill>
                  <a:srgbClr val="161B26"/>
                </a:solidFill>
                <a:latin typeface="Arial"/>
              </a:rPr>
              <a:t>Idempotent</a:t>
            </a:r>
          </a:p>
          <a:p>
            <a:pPr algn="l">
              <a:spcAft>
                <a:spcPts val="300"/>
              </a:spcAft>
            </a:pPr>
            <a:r>
              <a:rPr sz="1200" b="0">
                <a:solidFill>
                  <a:srgbClr val="5B6372"/>
                </a:solidFill>
                <a:latin typeface="Arial"/>
              </a:rPr>
              <a:t>One event should not create many outcomes — re-running must not duplicate the work.</a:t>
            </a:r>
          </a:p>
        </p:txBody>
      </p:sp>
      <p:sp>
        <p:nvSpPr>
          <p:cNvPr id="22" name="Rectangle 21"/>
          <p:cNvSpPr/>
          <p:nvPr/>
        </p:nvSpPr>
        <p:spPr>
          <a:xfrm>
            <a:off x="6231636" y="3793306"/>
            <a:ext cx="5180076" cy="180282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793306"/>
            <a:ext cx="91440" cy="180282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420397"/>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420397"/>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904985"/>
            <a:ext cx="3973068" cy="1643280"/>
          </a:xfrm>
          <a:prstGeom prst="rect">
            <a:avLst/>
          </a:prstGeom>
          <a:noFill/>
        </p:spPr>
        <p:txBody>
          <a:bodyPr wrap="square" anchor="ctr">
            <a:spAutoFit/>
          </a:bodyPr>
          <a:lstStyle/>
          <a:p>
            <a:pPr algn="l">
              <a:spcAft>
                <a:spcPts val="300"/>
              </a:spcAft>
            </a:pPr>
            <a:r>
              <a:rPr sz="1600" b="1">
                <a:solidFill>
                  <a:srgbClr val="161B26"/>
                </a:solidFill>
                <a:latin typeface="Arial"/>
              </a:rPr>
              <a:t>Traceable</a:t>
            </a:r>
          </a:p>
          <a:p>
            <a:pPr algn="l">
              <a:spcAft>
                <a:spcPts val="300"/>
              </a:spcAft>
            </a:pPr>
            <a:r>
              <a:rPr sz="1200" b="0">
                <a:solidFill>
                  <a:srgbClr val="5B6372"/>
                </a:solidFill>
                <a:latin typeface="Arial"/>
              </a:rPr>
              <a:t>Every claim in the deliverable points back to a named source in the allowed inputs.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
        <p:nvSpPr>
          <p:cNvPr id="30" name="Rectangle 29"/>
          <p:cNvSpPr/>
          <p:nvPr/>
        </p:nvSpPr>
        <p:spPr>
          <a:xfrm>
            <a:off x="777240" y="5742432"/>
            <a:ext cx="10607040" cy="603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5742432"/>
            <a:ext cx="91440"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51560" y="5742432"/>
            <a:ext cx="10241280" cy="603504"/>
          </a:xfrm>
          <a:prstGeom prst="rect">
            <a:avLst/>
          </a:prstGeom>
          <a:noFill/>
        </p:spPr>
        <p:txBody>
          <a:bodyPr wrap="square" anchor="ctr">
            <a:spAutoFit/>
          </a:bodyPr>
          <a:lstStyle/>
          <a:p>
            <a:pPr algn="l">
              <a:spcAft>
                <a:spcPts val="400"/>
              </a:spcAft>
            </a:pPr>
            <a:r>
              <a:rPr sz="1350" b="1">
                <a:solidFill>
                  <a:srgbClr val="161B26"/>
                </a:solidFill>
                <a:latin typeface="Arial"/>
              </a:rPr>
              <a:t>Accept artifacts and explicit limitations — never a status change on its own.</a:t>
            </a:r>
          </a:p>
        </p:txBody>
      </p:sp>
    </p:spTree>
  </p:cSld>
  <p:clrMapOvr>
    <a:masterClrMapping/>
  </p:clrMapOvr>
  <p:transition spd="fast" advClick="1">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THE ASSESSMENT EXPECTS THESE BY NAME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Seven Issue States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State</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The documentation's own definition</a:t>
            </a:r>
          </a:p>
        </p:txBody>
      </p:sp>
      <p:sp>
        <p:nvSpPr>
          <p:cNvPr id="11" name="Rectangle 10"/>
          <p:cNvSpPr/>
          <p:nvPr/>
        </p:nvSpPr>
        <p:spPr>
          <a:xfrm>
            <a:off x="777240" y="2258568"/>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backlog</a:t>
            </a:r>
          </a:p>
        </p:txBody>
      </p:sp>
      <p:sp>
        <p:nvSpPr>
          <p:cNvPr id="13" name="Rectangle 12"/>
          <p:cNvSpPr/>
          <p:nvPr/>
        </p:nvSpPr>
        <p:spPr>
          <a:xfrm>
            <a:off x="3542202" y="2258568"/>
            <a:ext cx="7869510"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414092"/>
          </a:xfrm>
          <a:prstGeom prst="rect">
            <a:avLst/>
          </a:prstGeom>
          <a:noFill/>
        </p:spPr>
        <p:txBody>
          <a:bodyPr wrap="square" anchor="ctr">
            <a:spAutoFit/>
          </a:bodyPr>
          <a:lstStyle/>
          <a:p>
            <a:pPr algn="l">
              <a:spcAft>
                <a:spcPts val="400"/>
              </a:spcAft>
            </a:pPr>
            <a:r>
              <a:rPr sz="1150" b="0">
                <a:solidFill>
                  <a:srgbClr val="5B6372"/>
                </a:solidFill>
                <a:latin typeface="Arial"/>
              </a:rPr>
              <a:t>The issue exists and has been identified, but no one is working on it yet.</a:t>
            </a:r>
          </a:p>
        </p:txBody>
      </p:sp>
      <p:sp>
        <p:nvSpPr>
          <p:cNvPr id="15" name="Rectangle 14"/>
          <p:cNvSpPr/>
          <p:nvPr/>
        </p:nvSpPr>
        <p:spPr>
          <a:xfrm>
            <a:off x="777240" y="2672660"/>
            <a:ext cx="2764962"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672660"/>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todo</a:t>
            </a:r>
          </a:p>
        </p:txBody>
      </p:sp>
      <p:sp>
        <p:nvSpPr>
          <p:cNvPr id="17" name="Rectangle 16"/>
          <p:cNvSpPr/>
          <p:nvPr/>
        </p:nvSpPr>
        <p:spPr>
          <a:xfrm>
            <a:off x="3542202" y="2672660"/>
            <a:ext cx="7869510"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672660"/>
            <a:ext cx="7613478" cy="414092"/>
          </a:xfrm>
          <a:prstGeom prst="rect">
            <a:avLst/>
          </a:prstGeom>
          <a:noFill/>
        </p:spPr>
        <p:txBody>
          <a:bodyPr wrap="square" anchor="ctr">
            <a:spAutoFit/>
          </a:bodyPr>
          <a:lstStyle/>
          <a:p>
            <a:pPr algn="l">
              <a:spcAft>
                <a:spcPts val="400"/>
              </a:spcAft>
            </a:pPr>
            <a:r>
              <a:rPr sz="1150" b="0">
                <a:solidFill>
                  <a:srgbClr val="5B6372"/>
                </a:solidFill>
                <a:latin typeface="Arial"/>
              </a:rPr>
              <a:t>The issue is ready to start. An agent has been assigned and is waiting to check it out.</a:t>
            </a:r>
          </a:p>
        </p:txBody>
      </p:sp>
      <p:sp>
        <p:nvSpPr>
          <p:cNvPr id="19" name="Rectangle 18"/>
          <p:cNvSpPr/>
          <p:nvPr/>
        </p:nvSpPr>
        <p:spPr>
          <a:xfrm>
            <a:off x="777240" y="3086752"/>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086752"/>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in_progress</a:t>
            </a:r>
          </a:p>
        </p:txBody>
      </p:sp>
      <p:sp>
        <p:nvSpPr>
          <p:cNvPr id="21" name="Rectangle 20"/>
          <p:cNvSpPr/>
          <p:nvPr/>
        </p:nvSpPr>
        <p:spPr>
          <a:xfrm>
            <a:off x="3542202" y="3086752"/>
            <a:ext cx="7869510"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086752"/>
            <a:ext cx="7613478" cy="414092"/>
          </a:xfrm>
          <a:prstGeom prst="rect">
            <a:avLst/>
          </a:prstGeom>
          <a:noFill/>
        </p:spPr>
        <p:txBody>
          <a:bodyPr wrap="square" anchor="ctr">
            <a:spAutoFit/>
          </a:bodyPr>
          <a:lstStyle/>
          <a:p>
            <a:pPr algn="l">
              <a:spcAft>
                <a:spcPts val="400"/>
              </a:spcAft>
            </a:pPr>
            <a:r>
              <a:rPr sz="1150" b="0">
                <a:solidFill>
                  <a:srgbClr val="5B6372"/>
                </a:solidFill>
                <a:latin typeface="Arial"/>
              </a:rPr>
              <a:t>An agent has checked out the issue and is actively working on it. Only ONE agent may hold this state at a time.</a:t>
            </a:r>
          </a:p>
        </p:txBody>
      </p:sp>
      <p:sp>
        <p:nvSpPr>
          <p:cNvPr id="23" name="Rectangle 22"/>
          <p:cNvSpPr/>
          <p:nvPr/>
        </p:nvSpPr>
        <p:spPr>
          <a:xfrm>
            <a:off x="777240" y="3500844"/>
            <a:ext cx="2764962"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3500844"/>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in_review</a:t>
            </a:r>
          </a:p>
        </p:txBody>
      </p:sp>
      <p:sp>
        <p:nvSpPr>
          <p:cNvPr id="25" name="Rectangle 24"/>
          <p:cNvSpPr/>
          <p:nvPr/>
        </p:nvSpPr>
        <p:spPr>
          <a:xfrm>
            <a:off x="3542202" y="3500844"/>
            <a:ext cx="7869510"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3500844"/>
            <a:ext cx="7613478" cy="414092"/>
          </a:xfrm>
          <a:prstGeom prst="rect">
            <a:avLst/>
          </a:prstGeom>
          <a:noFill/>
        </p:spPr>
        <p:txBody>
          <a:bodyPr wrap="square" anchor="ctr">
            <a:spAutoFit/>
          </a:bodyPr>
          <a:lstStyle/>
          <a:p>
            <a:pPr algn="l">
              <a:spcAft>
                <a:spcPts val="400"/>
              </a:spcAft>
            </a:pPr>
            <a:r>
              <a:rPr sz="1150" b="0">
                <a:solidFill>
                  <a:srgbClr val="5B6372"/>
                </a:solidFill>
                <a:latin typeface="Arial"/>
              </a:rPr>
              <a:t>The agent has completed the work and moved the issue to review. It is waiting for sign-off.</a:t>
            </a:r>
          </a:p>
        </p:txBody>
      </p:sp>
      <p:sp>
        <p:nvSpPr>
          <p:cNvPr id="27" name="Rectangle 26"/>
          <p:cNvSpPr/>
          <p:nvPr/>
        </p:nvSpPr>
        <p:spPr>
          <a:xfrm>
            <a:off x="777240" y="3914936"/>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5256" y="3914936"/>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done</a:t>
            </a:r>
          </a:p>
        </p:txBody>
      </p:sp>
      <p:sp>
        <p:nvSpPr>
          <p:cNvPr id="29" name="Rectangle 28"/>
          <p:cNvSpPr/>
          <p:nvPr/>
        </p:nvSpPr>
        <p:spPr>
          <a:xfrm>
            <a:off x="3542202" y="3914936"/>
            <a:ext cx="7869510"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70218" y="3914936"/>
            <a:ext cx="7613478" cy="414092"/>
          </a:xfrm>
          <a:prstGeom prst="rect">
            <a:avLst/>
          </a:prstGeom>
          <a:noFill/>
        </p:spPr>
        <p:txBody>
          <a:bodyPr wrap="square" anchor="ctr">
            <a:spAutoFit/>
          </a:bodyPr>
          <a:lstStyle/>
          <a:p>
            <a:pPr algn="l">
              <a:spcAft>
                <a:spcPts val="400"/>
              </a:spcAft>
            </a:pPr>
            <a:r>
              <a:rPr sz="1150" b="0">
                <a:solidFill>
                  <a:srgbClr val="5B6372"/>
                </a:solidFill>
                <a:latin typeface="Arial"/>
              </a:rPr>
              <a:t>TERMINAL. The work is complete.</a:t>
            </a:r>
          </a:p>
        </p:txBody>
      </p:sp>
      <p:sp>
        <p:nvSpPr>
          <p:cNvPr id="31" name="Rectangle 30"/>
          <p:cNvSpPr/>
          <p:nvPr/>
        </p:nvSpPr>
        <p:spPr>
          <a:xfrm>
            <a:off x="777240" y="4329028"/>
            <a:ext cx="2764962"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29028"/>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blocked</a:t>
            </a:r>
          </a:p>
        </p:txBody>
      </p:sp>
      <p:sp>
        <p:nvSpPr>
          <p:cNvPr id="33" name="Rectangle 32"/>
          <p:cNvSpPr/>
          <p:nvPr/>
        </p:nvSpPr>
        <p:spPr>
          <a:xfrm>
            <a:off x="3542202" y="4329028"/>
            <a:ext cx="7869510"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29028"/>
            <a:ext cx="7613478" cy="414092"/>
          </a:xfrm>
          <a:prstGeom prst="rect">
            <a:avLst/>
          </a:prstGeom>
          <a:noFill/>
        </p:spPr>
        <p:txBody>
          <a:bodyPr wrap="square" anchor="ctr">
            <a:spAutoFit/>
          </a:bodyPr>
          <a:lstStyle/>
          <a:p>
            <a:pPr algn="l">
              <a:spcAft>
                <a:spcPts val="400"/>
              </a:spcAft>
            </a:pPr>
            <a:r>
              <a:rPr sz="1150" b="0">
                <a:solidFill>
                  <a:srgbClr val="5B6372"/>
                </a:solidFill>
                <a:latin typeface="Arial"/>
              </a:rPr>
              <a:t>The agent cannot move forward. Something is preventing progress.</a:t>
            </a:r>
          </a:p>
        </p:txBody>
      </p:sp>
      <p:sp>
        <p:nvSpPr>
          <p:cNvPr id="35" name="Rectangle 34"/>
          <p:cNvSpPr/>
          <p:nvPr/>
        </p:nvSpPr>
        <p:spPr>
          <a:xfrm>
            <a:off x="777240" y="4743120"/>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05256" y="4743120"/>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cancelled</a:t>
            </a:r>
          </a:p>
        </p:txBody>
      </p:sp>
      <p:sp>
        <p:nvSpPr>
          <p:cNvPr id="37" name="Rectangle 36"/>
          <p:cNvSpPr/>
          <p:nvPr/>
        </p:nvSpPr>
        <p:spPr>
          <a:xfrm>
            <a:off x="3542202" y="4743120"/>
            <a:ext cx="7869510"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70218" y="4743120"/>
            <a:ext cx="7613478" cy="414092"/>
          </a:xfrm>
          <a:prstGeom prst="rect">
            <a:avLst/>
          </a:prstGeom>
          <a:noFill/>
        </p:spPr>
        <p:txBody>
          <a:bodyPr wrap="square" anchor="ctr">
            <a:spAutoFit/>
          </a:bodyPr>
          <a:lstStyle/>
          <a:p>
            <a:pPr algn="l">
              <a:spcAft>
                <a:spcPts val="400"/>
              </a:spcAft>
            </a:pPr>
            <a:r>
              <a:rPr sz="1150" b="0">
                <a:solidFill>
                  <a:srgbClr val="5B6372"/>
                </a:solidFill>
                <a:latin typeface="Arial"/>
              </a:rPr>
              <a:t>TERMINAL. The issue is no longer needed and will not be completed.</a:t>
            </a:r>
          </a:p>
        </p:txBody>
      </p:sp>
      <p:sp>
        <p:nvSpPr>
          <p:cNvPr id="39" name="Rectangle 38"/>
          <p:cNvSpPr/>
          <p:nvPr/>
        </p:nvSpPr>
        <p:spPr>
          <a:xfrm>
            <a:off x="777240" y="5358380"/>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7240" y="5358380"/>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51560" y="5468108"/>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Issues do not move backwards. A terminal issue is revived only through an explicit reopen — never by editing its status.</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fast" advClick="1">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WITH BLOCKED AND CANCELLED AS DEPARTURES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Normal Issue Path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backlog — identified, nobody working</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todo — assigned, waiting to check out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in_progress — checked out, exclusive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in_review — done, awaiting sign-off</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done — terminal</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fast" advClick="1">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LO3 · THE RULE THAT PREVENTS DOUBLE WORK</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Checkout Discipline — Four Common Mistakes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Mistake</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What to do instead</a:t>
            </a:r>
          </a:p>
        </p:txBody>
      </p:sp>
      <p:sp>
        <p:nvSpPr>
          <p:cNvPr id="11" name="Rectangle 10"/>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PATCHing status directly to in_progress</a:t>
            </a:r>
          </a:p>
        </p:txBody>
      </p:sp>
      <p:sp>
        <p:nvSpPr>
          <p:cNvPr id="13" name="Rectangle 12"/>
          <p:cNvSpPr/>
          <p:nvPr/>
        </p:nvSpPr>
        <p:spPr>
          <a:xfrm>
            <a:off x="3542202" y="2258568"/>
            <a:ext cx="786951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579729"/>
          </a:xfrm>
          <a:prstGeom prst="rect">
            <a:avLst/>
          </a:prstGeom>
          <a:noFill/>
        </p:spPr>
        <p:txBody>
          <a:bodyPr wrap="square" anchor="ctr">
            <a:spAutoFit/>
          </a:bodyPr>
          <a:lstStyle/>
          <a:p>
            <a:pPr algn="l">
              <a:spcAft>
                <a:spcPts val="400"/>
              </a:spcAft>
            </a:pPr>
            <a:r>
              <a:rPr sz="1150" b="0">
                <a:solidFill>
                  <a:srgbClr val="5B6372"/>
                </a:solidFill>
                <a:latin typeface="Arial"/>
              </a:rPr>
              <a:t>Never do this. Use the checkout mechanism — a direct status write bypasses the lock entirely.</a:t>
            </a:r>
          </a:p>
        </p:txBody>
      </p:sp>
      <p:sp>
        <p:nvSpPr>
          <p:cNvPr id="15" name="Rectangle 14"/>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Retrying after a 409 Conflict</a:t>
            </a:r>
          </a:p>
        </p:txBody>
      </p:sp>
      <p:sp>
        <p:nvSpPr>
          <p:cNvPr id="17" name="Rectangle 16"/>
          <p:cNvSpPr/>
          <p:nvPr/>
        </p:nvSpPr>
        <p:spPr>
          <a:xfrm>
            <a:off x="3542202" y="2838297"/>
            <a:ext cx="786951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838297"/>
            <a:ext cx="7613478" cy="579729"/>
          </a:xfrm>
          <a:prstGeom prst="rect">
            <a:avLst/>
          </a:prstGeom>
          <a:noFill/>
        </p:spPr>
        <p:txBody>
          <a:bodyPr wrap="square" anchor="ctr">
            <a:spAutoFit/>
          </a:bodyPr>
          <a:lstStyle/>
          <a:p>
            <a:pPr algn="l">
              <a:spcAft>
                <a:spcPts val="400"/>
              </a:spcAft>
            </a:pPr>
            <a:r>
              <a:rPr sz="1150" b="0">
                <a:solidFill>
                  <a:srgbClr val="5B6372"/>
                </a:solidFill>
                <a:latin typeface="Arial"/>
              </a:rPr>
              <a:t>Treat 409 as TERMINAL. Another agent holds the issue; retrying will not win the race.</a:t>
            </a:r>
          </a:p>
        </p:txBody>
      </p:sp>
      <p:sp>
        <p:nvSpPr>
          <p:cNvPr id="19" name="Rectangle 18"/>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Expecting a cancelled blocker to unblock its dependents</a:t>
            </a:r>
          </a:p>
        </p:txBody>
      </p:sp>
      <p:sp>
        <p:nvSpPr>
          <p:cNvPr id="21" name="Rectangle 20"/>
          <p:cNvSpPr/>
          <p:nvPr/>
        </p:nvSpPr>
        <p:spPr>
          <a:xfrm>
            <a:off x="3542202" y="3418026"/>
            <a:ext cx="786951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418026"/>
            <a:ext cx="7613478" cy="579729"/>
          </a:xfrm>
          <a:prstGeom prst="rect">
            <a:avLst/>
          </a:prstGeom>
          <a:noFill/>
        </p:spPr>
        <p:txBody>
          <a:bodyPr wrap="square" anchor="ctr">
            <a:spAutoFit/>
          </a:bodyPr>
          <a:lstStyle/>
          <a:p>
            <a:pPr algn="l">
              <a:spcAft>
                <a:spcPts val="400"/>
              </a:spcAft>
            </a:pPr>
            <a:r>
              <a:rPr sz="1150" b="0">
                <a:solidFill>
                  <a:srgbClr val="5B6372"/>
                </a:solidFill>
                <a:latin typeface="Arial"/>
              </a:rPr>
              <a:t>Cancelled blockers never auto-unblock dependents. Resolve the dependency explicitly.</a:t>
            </a:r>
          </a:p>
        </p:txBody>
      </p:sp>
      <p:sp>
        <p:nvSpPr>
          <p:cNvPr id="23" name="Rectangle 22"/>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Editing a done issue's status to reopen it</a:t>
            </a:r>
          </a:p>
        </p:txBody>
      </p:sp>
      <p:sp>
        <p:nvSpPr>
          <p:cNvPr id="25" name="Rectangle 24"/>
          <p:cNvSpPr/>
          <p:nvPr/>
        </p:nvSpPr>
        <p:spPr>
          <a:xfrm>
            <a:off x="3542202" y="3997755"/>
            <a:ext cx="786951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3997755"/>
            <a:ext cx="7613478" cy="579729"/>
          </a:xfrm>
          <a:prstGeom prst="rect">
            <a:avLst/>
          </a:prstGeom>
          <a:noFill/>
        </p:spPr>
        <p:txBody>
          <a:bodyPr wrap="square" anchor="ctr">
            <a:spAutoFit/>
          </a:bodyPr>
          <a:lstStyle/>
          <a:p>
            <a:pPr algn="l">
              <a:spcAft>
                <a:spcPts val="400"/>
              </a:spcAft>
            </a:pPr>
            <a:r>
              <a:rPr sz="1150" b="0">
                <a:solidFill>
                  <a:srgbClr val="5B6372"/>
                </a:solidFill>
                <a:latin typeface="Arial"/>
              </a:rPr>
              <a:t>Terminal issues reopen only via an explicit reopen flag, not a status edit.</a:t>
            </a:r>
          </a:p>
        </p:txBody>
      </p:sp>
      <p:sp>
        <p:nvSpPr>
          <p:cNvPr id="27" name="Rectangle 2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Writing to the whole board from one run</a:t>
            </a:r>
          </a:p>
        </p:txBody>
      </p:sp>
      <p:sp>
        <p:nvSpPr>
          <p:cNvPr id="29" name="Rectangle 28"/>
          <p:cNvSpPr/>
          <p:nvPr/>
        </p:nvSpPr>
        <p:spPr>
          <a:xfrm>
            <a:off x="3542202" y="4577484"/>
            <a:ext cx="786951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70218" y="4577484"/>
            <a:ext cx="7613478" cy="579729"/>
          </a:xfrm>
          <a:prstGeom prst="rect">
            <a:avLst/>
          </a:prstGeom>
          <a:noFill/>
        </p:spPr>
        <p:txBody>
          <a:bodyPr wrap="square" anchor="ctr">
            <a:spAutoFit/>
          </a:bodyPr>
          <a:lstStyle/>
          <a:p>
            <a:pPr algn="l">
              <a:spcAft>
                <a:spcPts val="400"/>
              </a:spcAft>
            </a:pPr>
            <a:r>
              <a:rPr sz="1150" b="0">
                <a:solidFill>
                  <a:srgbClr val="5B6372"/>
                </a:solidFill>
                <a:latin typeface="Arial"/>
              </a:rPr>
              <a:t>CROSS_ISSUE_INFLUENCE_LIMIT is 20 — one heartbeat may write to at most twenty other issues.</a:t>
            </a:r>
          </a:p>
        </p:txBody>
      </p:sp>
      <p:sp>
        <p:nvSpPr>
          <p:cNvPr id="31" name="Rectangle 30"/>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358381"/>
            <a:ext cx="100584"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F59E0B"/>
                </a:solidFill>
                <a:latin typeface="Arial"/>
              </a:rPr>
              <a:t>WHEN IT MATTERS  </a:t>
            </a:r>
            <a:r>
              <a:rPr sz="1200" b="0">
                <a:solidFill>
                  <a:srgbClr val="161B26"/>
                </a:solidFill>
                <a:latin typeface="Arial"/>
              </a:rPr>
              <a:t>Runs identify themselves with a run-id header. That is how a write is attributed to the execution that made it.</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fast" advClick="1">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BETWEEN HEARTBEATS THE AGENT DOES NOT EXIST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Five Heartbeat Triggers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13274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75133"/>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75133"/>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94759"/>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Schedule / interval</a:t>
            </a:r>
          </a:p>
          <a:p>
            <a:pPr algn="l">
              <a:spcAft>
                <a:spcPts val="300"/>
              </a:spcAft>
            </a:pPr>
            <a:r>
              <a:rPr sz="1100" b="0">
                <a:solidFill>
                  <a:srgbClr val="5B6372"/>
                </a:solidFill>
                <a:latin typeface="Arial"/>
              </a:rPr>
              <a:t>The configured interval ticks — whether or not there is any work waiting.</a:t>
            </a:r>
          </a:p>
        </p:txBody>
      </p:sp>
      <p:sp>
        <p:nvSpPr>
          <p:cNvPr id="12" name="Rectangle 11"/>
          <p:cNvSpPr/>
          <p:nvPr/>
        </p:nvSpPr>
        <p:spPr>
          <a:xfrm>
            <a:off x="6231636" y="1783080"/>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13274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075133"/>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075133"/>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94759"/>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Task assignment</a:t>
            </a:r>
          </a:p>
          <a:p>
            <a:pPr algn="l">
              <a:spcAft>
                <a:spcPts val="300"/>
              </a:spcAft>
            </a:pPr>
            <a:r>
              <a:rPr sz="1100" b="0">
                <a:solidFill>
                  <a:srgbClr val="5B6372"/>
                </a:solidFill>
                <a:latin typeface="Arial"/>
              </a:rPr>
              <a:t>An issue is assigned to the agent. THIS is what makes assignment the real trigger for work.</a:t>
            </a:r>
          </a:p>
        </p:txBody>
      </p:sp>
      <p:sp>
        <p:nvSpPr>
          <p:cNvPr id="17" name="Rectangle 16"/>
          <p:cNvSpPr/>
          <p:nvPr/>
        </p:nvSpPr>
        <p:spPr>
          <a:xfrm>
            <a:off x="777240" y="312323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123231"/>
            <a:ext cx="91440" cy="113274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4152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4152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34910"/>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Comment mention</a:t>
            </a:r>
          </a:p>
          <a:p>
            <a:pPr algn="l">
              <a:spcAft>
                <a:spcPts val="300"/>
              </a:spcAft>
            </a:pPr>
            <a:r>
              <a:rPr sz="1100" b="0">
                <a:solidFill>
                  <a:srgbClr val="5B6372"/>
                </a:solidFill>
                <a:latin typeface="Arial"/>
              </a:rPr>
              <a:t>Someone @-mentions the agent in a comment on an issue.</a:t>
            </a:r>
          </a:p>
        </p:txBody>
      </p:sp>
      <p:sp>
        <p:nvSpPr>
          <p:cNvPr id="22" name="Rectangle 21"/>
          <p:cNvSpPr/>
          <p:nvPr/>
        </p:nvSpPr>
        <p:spPr>
          <a:xfrm>
            <a:off x="6231636" y="312323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123231"/>
            <a:ext cx="91440" cy="113274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4152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4152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234910"/>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Manual invoke</a:t>
            </a:r>
          </a:p>
          <a:p>
            <a:pPr algn="l">
              <a:spcAft>
                <a:spcPts val="300"/>
              </a:spcAft>
            </a:pPr>
            <a:r>
              <a:rPr sz="1100" b="0">
                <a:solidFill>
                  <a:srgbClr val="5B6372"/>
                </a:solidFill>
                <a:latin typeface="Arial"/>
              </a:rPr>
              <a:t>A human presses Run Heartbeat.</a:t>
            </a:r>
          </a:p>
        </p:txBody>
      </p:sp>
      <p:sp>
        <p:nvSpPr>
          <p:cNvPr id="27" name="Rectangle 26"/>
          <p:cNvSpPr/>
          <p:nvPr/>
        </p:nvSpPr>
        <p:spPr>
          <a:xfrm>
            <a:off x="777240" y="446338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463381"/>
            <a:ext cx="91440" cy="113274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75543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75543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575061"/>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Approval resolution</a:t>
            </a:r>
          </a:p>
          <a:p>
            <a:pPr algn="l">
              <a:spcAft>
                <a:spcPts val="300"/>
              </a:spcAft>
            </a:pPr>
            <a:r>
              <a:rPr sz="1100" b="0">
                <a:solidFill>
                  <a:srgbClr val="5B6372"/>
                </a:solidFill>
                <a:latin typeface="Arial"/>
              </a:rPr>
              <a:t>An approval the agent was waiting on is finally decided.</a:t>
            </a:r>
          </a:p>
        </p:txBody>
      </p:sp>
      <p:sp>
        <p:nvSpPr>
          <p:cNvPr id="32" name="Rectangle 31"/>
          <p:cNvSpPr/>
          <p:nvPr/>
        </p:nvSpPr>
        <p:spPr>
          <a:xfrm>
            <a:off x="6231636" y="446338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463381"/>
            <a:ext cx="91440" cy="113274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75543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75543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575061"/>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Most people name three</a:t>
            </a:r>
          </a:p>
          <a:p>
            <a:pPr algn="l">
              <a:spcAft>
                <a:spcPts val="300"/>
              </a:spcAft>
            </a:pPr>
            <a:r>
              <a:rPr sz="1100" b="0">
                <a:solidFill>
                  <a:srgbClr val="5B6372"/>
                </a:solidFill>
                <a:latin typeface="Arial"/>
              </a:rPr>
              <a:t>The two people miss are approval resolution and the @-mention — and both explain 'why did it just wake?'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
        <p:nvSpPr>
          <p:cNvPr id="40" name="Rectangle 39"/>
          <p:cNvSpPr/>
          <p:nvPr/>
        </p:nvSpPr>
        <p:spPr>
          <a:xfrm>
            <a:off x="777240" y="5742432"/>
            <a:ext cx="10607040" cy="603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5742432"/>
            <a:ext cx="91440"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5742432"/>
            <a:ext cx="10241280" cy="603504"/>
          </a:xfrm>
          <a:prstGeom prst="rect">
            <a:avLst/>
          </a:prstGeom>
          <a:noFill/>
        </p:spPr>
        <p:txBody>
          <a:bodyPr wrap="square" anchor="ctr">
            <a:spAutoFit/>
          </a:bodyPr>
          <a:lstStyle/>
          <a:p>
            <a:pPr algn="l">
              <a:spcAft>
                <a:spcPts val="400"/>
              </a:spcAft>
            </a:pPr>
            <a:r>
              <a:rPr sz="1350" b="1">
                <a:solidFill>
                  <a:srgbClr val="161B26"/>
                </a:solidFill>
                <a:latin typeface="Arial"/>
              </a:rPr>
              <a:t>Heartbeat on interval is OFF by default — and that default is the right one.</a:t>
            </a:r>
          </a:p>
        </p:txBody>
      </p:sp>
    </p:spTree>
  </p:cSld>
  <p:clrMapOvr>
    <a:masterClrMapping/>
  </p:clrMapOvr>
  <p:transition spd="fast" advClick="1">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LO3 · TWO THINGS THAT LOOK THE SAME AND ARE NOT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Paused versus Heartbeat-Off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Condition</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Wakes on interval</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Wakes on assignment, comment, routine, on-demand</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Heartbeat off</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No</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YES — the agent still responds to events</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Paused</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No</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No — a paused agent wakes on nothing at all</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Why it matters</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An interval costs money on every tick, work or not</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Event-driven waking costs nothing when nothing is happening</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The recommendation</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Interval OFF</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Wake-on-demand ON. The interval is a floor, not a guarantee.</a:t>
            </a:r>
          </a:p>
        </p:txBody>
      </p:sp>
      <p:sp>
        <p:nvSpPr>
          <p:cNvPr id="37" name="Rectangle 3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312664"/>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A busy agent may run MORE often than its interval, because events trigger wakes independently of the clock.</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fast" advClick="1">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THE HIGHEST-LEVERAGE WRITING SKILL IN THE COURSE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Acceptance Criteria — Activity versus Evidence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Fails — describes activity</a:t>
            </a:r>
          </a:p>
        </p:txBody>
      </p:sp>
      <p:sp>
        <p:nvSpPr>
          <p:cNvPr id="9" name="Rectangle 8"/>
          <p:cNvSpPr/>
          <p:nvPr/>
        </p:nvSpPr>
        <p:spPr>
          <a:xfrm>
            <a:off x="3542202" y="1783080"/>
            <a:ext cx="786951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7613478" cy="475488"/>
          </a:xfrm>
          <a:prstGeom prst="rect">
            <a:avLst/>
          </a:prstGeom>
          <a:noFill/>
        </p:spPr>
        <p:txBody>
          <a:bodyPr wrap="square" anchor="ctr">
            <a:spAutoFit/>
          </a:bodyPr>
          <a:lstStyle/>
          <a:p>
            <a:pPr algn="l">
              <a:spcAft>
                <a:spcPts val="400"/>
              </a:spcAft>
            </a:pPr>
            <a:r>
              <a:rPr sz="1300" b="1">
                <a:solidFill>
                  <a:srgbClr val="FFFFFF"/>
                </a:solidFill>
                <a:latin typeface="Arial"/>
              </a:rPr>
              <a:t>Works — names evidence</a:t>
            </a:r>
          </a:p>
        </p:txBody>
      </p:sp>
      <p:sp>
        <p:nvSpPr>
          <p:cNvPr id="11" name="Rectangle 10"/>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The research is done.</a:t>
            </a:r>
          </a:p>
        </p:txBody>
      </p:sp>
      <p:sp>
        <p:nvSpPr>
          <p:cNvPr id="13" name="Rectangle 12"/>
          <p:cNvSpPr/>
          <p:nvPr/>
        </p:nvSpPr>
        <p:spPr>
          <a:xfrm>
            <a:off x="3542202" y="2258568"/>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70218" y="2258568"/>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workspace/research-analyst/research.md exists and contains claim, source, date accessed and confidence for every claim.</a:t>
            </a:r>
          </a:p>
        </p:txBody>
      </p:sp>
      <p:sp>
        <p:nvSpPr>
          <p:cNvPr id="15" name="Rectangle 14"/>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Reconcile the control accounts.</a:t>
            </a:r>
          </a:p>
        </p:txBody>
      </p:sp>
      <p:sp>
        <p:nvSpPr>
          <p:cNvPr id="17" name="Rectangle 16"/>
          <p:cNvSpPr/>
          <p:nvPr/>
        </p:nvSpPr>
        <p:spPr>
          <a:xfrm>
            <a:off x="3542202" y="2971800"/>
            <a:ext cx="786951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971800"/>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reconciliation.md lists every control account with ledger balance, statement balance and variance.</a:t>
            </a:r>
          </a:p>
        </p:txBody>
      </p:sp>
      <p:sp>
        <p:nvSpPr>
          <p:cNvPr id="19" name="Rectangle 18"/>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Review for compliance.</a:t>
            </a:r>
          </a:p>
        </p:txBody>
      </p:sp>
      <p:sp>
        <p:nvSpPr>
          <p:cNvPr id="21" name="Rectangle 20"/>
          <p:cNvSpPr/>
          <p:nvPr/>
        </p:nvSpPr>
        <p:spPr>
          <a:xfrm>
            <a:off x="3542202" y="3685032"/>
            <a:ext cx="786951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3685032"/>
            <a:ext cx="7613478" cy="713232"/>
          </a:xfrm>
          <a:prstGeom prst="rect">
            <a:avLst/>
          </a:prstGeom>
          <a:noFill/>
        </p:spPr>
        <p:txBody>
          <a:bodyPr wrap="square" anchor="ctr">
            <a:spAutoFit/>
          </a:bodyPr>
          <a:lstStyle/>
          <a:p>
            <a:pPr algn="l">
              <a:spcAft>
                <a:spcPts val="400"/>
              </a:spcAft>
            </a:pPr>
            <a:r>
              <a:rPr sz="1150" b="0">
                <a:solidFill>
                  <a:srgbClr val="5B6372"/>
                </a:solidFill>
                <a:latin typeface="Arial"/>
              </a:rPr>
              <a:t>exceptions.md lists each variance above SGD 500 with a stated cause and a recommended treatment.</a:t>
            </a:r>
          </a:p>
        </p:txBody>
      </p:sp>
      <p:sp>
        <p:nvSpPr>
          <p:cNvPr id="23" name="Rectangle 22"/>
          <p:cNvSpPr/>
          <p:nvPr/>
        </p:nvSpPr>
        <p:spPr>
          <a:xfrm>
            <a:off x="777240" y="4599432"/>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4599432"/>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4709160"/>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The test: could a stranger with no knowledge of the conversation look at the workspace and say yes or no? If not, the criterion is not finished.</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fast" advClick="1">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VERIFYING BETWEEN DISPARATE COMPONENTS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Evidence Chain — One Thread, Five Places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Issue ID</a:t>
            </a:r>
          </a:p>
        </p:txBody>
      </p:sp>
      <p:sp>
        <p:nvSpPr>
          <p:cNvPr id="12" name="TextBox 11"/>
          <p:cNvSpPr txBox="1"/>
          <p:nvPr/>
        </p:nvSpPr>
        <p:spPr>
          <a:xfrm>
            <a:off x="850392"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What was asked, under which lineage</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Run log</a:t>
            </a:r>
          </a:p>
        </p:txBody>
      </p:sp>
      <p:sp>
        <p:nvSpPr>
          <p:cNvPr id="19" name="TextBox 18"/>
          <p:cNvSpPr txBox="1"/>
          <p:nvPr/>
        </p:nvSpPr>
        <p:spPr>
          <a:xfrm>
            <a:off x="3054096" y="3584448"/>
            <a:ext cx="1673352" cy="603504"/>
          </a:xfrm>
          <a:prstGeom prst="rect">
            <a:avLst/>
          </a:prstGeom>
          <a:noFill/>
        </p:spPr>
        <p:txBody>
          <a:bodyPr wrap="square" anchor="ctr">
            <a:spAutoFit/>
          </a:bodyPr>
          <a:lstStyle/>
          <a:p>
            <a:pPr algn="ctr">
              <a:spcAft>
                <a:spcPts val="0"/>
              </a:spcAft>
            </a:pPr>
            <a:r>
              <a:rPr sz="800" b="0">
                <a:solidFill>
                  <a:srgbClr val="5B6372"/>
                </a:solidFill>
                <a:latin typeface="Arial"/>
              </a:rPr>
              <a:t>What actually executed, and whether it errored</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Comment</a:t>
            </a:r>
          </a:p>
        </p:txBody>
      </p:sp>
      <p:sp>
        <p:nvSpPr>
          <p:cNvPr id="26" name="TextBox 25"/>
          <p:cNvSpPr txBox="1"/>
          <p:nvPr/>
        </p:nvSpPr>
        <p:spPr>
          <a:xfrm>
            <a:off x="5257800" y="3584448"/>
            <a:ext cx="1673352" cy="603504"/>
          </a:xfrm>
          <a:prstGeom prst="rect">
            <a:avLst/>
          </a:prstGeom>
          <a:noFill/>
        </p:spPr>
        <p:txBody>
          <a:bodyPr wrap="square" anchor="ctr">
            <a:spAutoFit/>
          </a:bodyPr>
          <a:lstStyle/>
          <a:p>
            <a:pPr algn="ctr">
              <a:spcAft>
                <a:spcPts val="0"/>
              </a:spcAft>
            </a:pPr>
            <a:r>
              <a:rPr sz="800" b="0">
                <a:solidFill>
                  <a:srgbClr val="5B6372"/>
                </a:solidFill>
                <a:latin typeface="Arial"/>
              </a:rPr>
              <a:t>What was accepted, by whom, on what basis</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Workspace diff</a:t>
            </a:r>
          </a:p>
        </p:txBody>
      </p:sp>
      <p:sp>
        <p:nvSpPr>
          <p:cNvPr id="33" name="TextBox 32"/>
          <p:cNvSpPr txBox="1"/>
          <p:nvPr/>
        </p:nvSpPr>
        <p:spPr>
          <a:xfrm>
            <a:off x="7461504" y="3584448"/>
            <a:ext cx="1673352" cy="603504"/>
          </a:xfrm>
          <a:prstGeom prst="rect">
            <a:avLst/>
          </a:prstGeom>
          <a:noFill/>
        </p:spPr>
        <p:txBody>
          <a:bodyPr wrap="square" anchor="ctr">
            <a:spAutoFit/>
          </a:bodyPr>
          <a:lstStyle/>
          <a:p>
            <a:pPr algn="ctr">
              <a:spcAft>
                <a:spcPts val="0"/>
              </a:spcAft>
            </a:pPr>
            <a:r>
              <a:rPr sz="800" b="0">
                <a:solidFill>
                  <a:srgbClr val="5B6372"/>
                </a:solidFill>
                <a:latin typeface="Arial"/>
              </a:rPr>
              <a:t>What changed on disk — the strongest evidence</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Cost entry</a:t>
            </a:r>
          </a:p>
        </p:txBody>
      </p:sp>
      <p:sp>
        <p:nvSpPr>
          <p:cNvPr id="40" name="TextBox 39"/>
          <p:cNvSpPr txBox="1"/>
          <p:nvPr/>
        </p:nvSpPr>
        <p:spPr>
          <a:xfrm>
            <a:off x="9665208" y="3584448"/>
            <a:ext cx="1673352" cy="603504"/>
          </a:xfrm>
          <a:prstGeom prst="rect">
            <a:avLst/>
          </a:prstGeom>
          <a:noFill/>
        </p:spPr>
        <p:txBody>
          <a:bodyPr wrap="square" anchor="ctr">
            <a:spAutoFit/>
          </a:bodyPr>
          <a:lstStyle/>
          <a:p>
            <a:pPr algn="ctr">
              <a:spcAft>
                <a:spcPts val="0"/>
              </a:spcAft>
            </a:pPr>
            <a:r>
              <a:rPr sz="800" b="0">
                <a:solidFill>
                  <a:srgbClr val="5B6372"/>
                </a:solidFill>
                <a:latin typeface="Arial"/>
              </a:rPr>
              <a:t>What it spent, and whether that is plausible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STATUS IS NOT EVIDENCE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An issue marked done with no linked artifact and no diff is an unverified claim, however confident the agent's summary sounds.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LO3 · A REVIEW WORKFLOW ENFORCED BY THE PLATFORM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Execution Policy Parameters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Parameter</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Value</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What it does</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maxReviewRounds</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Default 3 · range 1–50</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Caps how many times work can bounce back. A null value means the server default of 3.</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approvalsNeeded</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Fixed at 1</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One approval advances the stage. This is not configurable.</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changesRequestedCount</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Counts review rounds</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Escalates to a named reviewer once the cap is reached.</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Comment-required backstop</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retry_queued → retry_exhausted</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The fallback path when a required comment never arrives.</a:t>
            </a:r>
          </a:p>
        </p:txBody>
      </p:sp>
      <p:sp>
        <p:nvSpPr>
          <p:cNvPr id="37" name="Rectangle 3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312664"/>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Once a reviewer is escalated to, only that reviewer may advance the stage. A 422 'only the escalated reviewer' error is the policy working, not a bug.</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fast" advClick="1">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SEQUENCE IS A CONTROL, NOT A PREFERENCE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Decomposition and Assignment Discipline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13274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75133"/>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75133"/>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94759"/>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Create everything COLD</a:t>
            </a:r>
          </a:p>
          <a:p>
            <a:pPr algn="l">
              <a:spcAft>
                <a:spcPts val="300"/>
              </a:spcAft>
            </a:pPr>
            <a:r>
              <a:rPr sz="1100" b="0">
                <a:solidFill>
                  <a:srgbClr val="5B6372"/>
                </a:solidFill>
                <a:latin typeface="Arial"/>
              </a:rPr>
              <a:t>Parent synthesis issue and all children UNASSIGNED — assignment is a heartbeat trigger.</a:t>
            </a:r>
          </a:p>
        </p:txBody>
      </p:sp>
      <p:sp>
        <p:nvSpPr>
          <p:cNvPr id="12" name="Rectangle 11"/>
          <p:cNvSpPr/>
          <p:nvPr/>
        </p:nvSpPr>
        <p:spPr>
          <a:xfrm>
            <a:off x="6231636" y="1783080"/>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13274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075133"/>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075133"/>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94759"/>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Why unassigned matters</a:t>
            </a:r>
          </a:p>
          <a:p>
            <a:pPr algn="l">
              <a:spcAft>
                <a:spcPts val="300"/>
              </a:spcAft>
            </a:pPr>
            <a:r>
              <a:rPr sz="1100" b="0">
                <a:solidFill>
                  <a:srgbClr val="5B6372"/>
                </a:solidFill>
                <a:latin typeface="Arial"/>
              </a:rPr>
              <a:t>An issue created with an assignee wakes an agent before you have written the acceptance criteria or checked the caps.</a:t>
            </a:r>
          </a:p>
        </p:txBody>
      </p:sp>
      <p:sp>
        <p:nvSpPr>
          <p:cNvPr id="17" name="Rectangle 16"/>
          <p:cNvSpPr/>
          <p:nvPr/>
        </p:nvSpPr>
        <p:spPr>
          <a:xfrm>
            <a:off x="777240" y="312323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123231"/>
            <a:ext cx="91440" cy="113274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4152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4152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34910"/>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Assign ONE child at a time</a:t>
            </a:r>
          </a:p>
          <a:p>
            <a:pPr algn="l">
              <a:spcAft>
                <a:spcPts val="300"/>
              </a:spcAft>
            </a:pPr>
            <a:r>
              <a:rPr sz="1100" b="0">
                <a:solidFill>
                  <a:srgbClr val="5B6372"/>
                </a:solidFill>
                <a:latin typeface="Arial"/>
              </a:rPr>
              <a:t>Sequential runs are individually attributable; overlapping runs are not.</a:t>
            </a:r>
          </a:p>
        </p:txBody>
      </p:sp>
      <p:sp>
        <p:nvSpPr>
          <p:cNvPr id="22" name="Rectangle 21"/>
          <p:cNvSpPr/>
          <p:nvPr/>
        </p:nvSpPr>
        <p:spPr>
          <a:xfrm>
            <a:off x="6231636" y="312323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123231"/>
            <a:ext cx="91440" cy="113274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4152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4152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234910"/>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The proof you lose</a:t>
            </a:r>
          </a:p>
          <a:p>
            <a:pPr algn="l">
              <a:spcAft>
                <a:spcPts val="300"/>
              </a:spcAft>
            </a:pPr>
            <a:r>
              <a:rPr sz="1100" b="0">
                <a:solidFill>
                  <a:srgbClr val="5B6372"/>
                </a:solidFill>
                <a:latin typeface="Arial"/>
              </a:rPr>
              <a:t>If two specialists ran simultaneously you cannot demonstrate the second consumed the first's output.</a:t>
            </a:r>
          </a:p>
        </p:txBody>
      </p:sp>
      <p:sp>
        <p:nvSpPr>
          <p:cNvPr id="27" name="Rectangle 26"/>
          <p:cNvSpPr/>
          <p:nvPr/>
        </p:nvSpPr>
        <p:spPr>
          <a:xfrm>
            <a:off x="777240" y="446338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463381"/>
            <a:ext cx="91440" cy="113274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75543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75543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575061"/>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The parent waits</a:t>
            </a:r>
          </a:p>
          <a:p>
            <a:pPr algn="l">
              <a:spcAft>
                <a:spcPts val="300"/>
              </a:spcAft>
            </a:pPr>
            <a:r>
              <a:rPr sz="1100" b="0">
                <a:solidFill>
                  <a:srgbClr val="5B6372"/>
                </a:solidFill>
                <a:latin typeface="Arial"/>
              </a:rPr>
              <a:t>The synthesis issue stays unassigned until every child has produced its artifact.</a:t>
            </a:r>
          </a:p>
        </p:txBody>
      </p:sp>
      <p:sp>
        <p:nvSpPr>
          <p:cNvPr id="32" name="Rectangle 31"/>
          <p:cNvSpPr/>
          <p:nvPr/>
        </p:nvSpPr>
        <p:spPr>
          <a:xfrm>
            <a:off x="6231636" y="446338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463381"/>
            <a:ext cx="91440" cy="113274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75543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75543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575061"/>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Bound every wait</a:t>
            </a:r>
          </a:p>
          <a:p>
            <a:pPr algn="l">
              <a:spcAft>
                <a:spcPts val="300"/>
              </a:spcAft>
            </a:pPr>
            <a:r>
              <a:rPr sz="1100" b="0">
                <a:solidFill>
                  <a:srgbClr val="5B6372"/>
                </a:solidFill>
                <a:latin typeface="Arial"/>
              </a:rPr>
              <a:t>An unbounded wait hides a failed adapter behind apparent patience.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
        <p:nvSpPr>
          <p:cNvPr id="40" name="Rectangle 39"/>
          <p:cNvSpPr/>
          <p:nvPr/>
        </p:nvSpPr>
        <p:spPr>
          <a:xfrm>
            <a:off x="777240" y="5742432"/>
            <a:ext cx="10607040" cy="603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5742432"/>
            <a:ext cx="91440"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5742432"/>
            <a:ext cx="10241280" cy="603504"/>
          </a:xfrm>
          <a:prstGeom prst="rect">
            <a:avLst/>
          </a:prstGeom>
          <a:noFill/>
        </p:spPr>
        <p:txBody>
          <a:bodyPr wrap="square" anchor="ctr">
            <a:spAutoFit/>
          </a:bodyPr>
          <a:lstStyle/>
          <a:p>
            <a:pPr algn="l">
              <a:spcAft>
                <a:spcPts val="400"/>
              </a:spcAft>
            </a:pPr>
            <a:r>
              <a:rPr sz="1350" b="1">
                <a:solidFill>
                  <a:srgbClr val="161B26"/>
                </a:solidFill>
                <a:latin typeface="Arial"/>
              </a:rPr>
              <a:t>Creating an issue does not wake anyone. Assigning it does.</a:t>
            </a:r>
          </a:p>
        </p:txBody>
      </p:sp>
    </p:spTree>
  </p:cSld>
  <p:clrMapOvr>
    <a:masterClrMapping/>
  </p:clrMapOvr>
  <p:transition spd="fast" advClick="1">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LINEAGE IS FOUR LEVELS, NOT ONE SENTENCE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Goal Lineage — What Each Level Supplies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Level</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What it carries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What breaks if it is missing</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Company mission</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The measurable outcome the company exists for</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Agents optimise a local goal that does not serve the business.</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Project goal</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A budgeted scope the agent reads at runtime</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Work has no boundary and no lifetime cap.</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Parent issue</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The synthesis that consumes every child's output</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Nobody assembles the pieces; you do it by hand.</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Child issue</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One specialist transformation with named evidence</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The instruction becomes a list of unrelated responsibilities.</a:t>
            </a:r>
          </a:p>
        </p:txBody>
      </p:sp>
      <p:sp>
        <p:nvSpPr>
          <p:cNvPr id="37" name="Rectangle 3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If you re-explain the goal in every issue body, your lineage is broken — and you are paying for the same context repeatedly.</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fast" advClick="1">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WHAT YOU ARE ACTUALLY CHECKING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Hand-Off Acceptance Tests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13274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75133"/>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75133"/>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94759"/>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Consumable without a question</a:t>
            </a:r>
          </a:p>
          <a:p>
            <a:pPr algn="l">
              <a:spcAft>
                <a:spcPts val="300"/>
              </a:spcAft>
            </a:pPr>
            <a:r>
              <a:rPr sz="1100" b="0">
                <a:solidFill>
                  <a:srgbClr val="5B6372"/>
                </a:solidFill>
                <a:latin typeface="Arial"/>
              </a:rPr>
              <a:t>The receiving agent can use the artifact without asking the producer anything at all.</a:t>
            </a:r>
          </a:p>
        </p:txBody>
      </p:sp>
      <p:sp>
        <p:nvSpPr>
          <p:cNvPr id="12" name="Rectangle 11"/>
          <p:cNvSpPr/>
          <p:nvPr/>
        </p:nvSpPr>
        <p:spPr>
          <a:xfrm>
            <a:off x="6231636" y="1783080"/>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13274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075133"/>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075133"/>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94759"/>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If the receiver must ask</a:t>
            </a:r>
          </a:p>
          <a:p>
            <a:pPr algn="l">
              <a:spcAft>
                <a:spcPts val="300"/>
              </a:spcAft>
            </a:pPr>
            <a:r>
              <a:rPr sz="1100" b="0">
                <a:solidFill>
                  <a:srgbClr val="5B6372"/>
                </a:solidFill>
                <a:latin typeface="Arial"/>
              </a:rPr>
              <a:t>The output schema in the PRODUCER's instruction was under-specified. Fix the contract, not the artifact.</a:t>
            </a:r>
          </a:p>
        </p:txBody>
      </p:sp>
      <p:sp>
        <p:nvSpPr>
          <p:cNvPr id="17" name="Rectangle 16"/>
          <p:cNvSpPr/>
          <p:nvPr/>
        </p:nvSpPr>
        <p:spPr>
          <a:xfrm>
            <a:off x="777240" y="312323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123231"/>
            <a:ext cx="91440" cy="113274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4152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4152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34910"/>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Limitations are stated</a:t>
            </a:r>
          </a:p>
          <a:p>
            <a:pPr algn="l">
              <a:spcAft>
                <a:spcPts val="300"/>
              </a:spcAft>
            </a:pPr>
            <a:r>
              <a:rPr sz="1100" b="0">
                <a:solidFill>
                  <a:srgbClr val="5B6372"/>
                </a:solidFill>
                <a:latin typeface="Arial"/>
              </a:rPr>
              <a:t>An agent that reports what it could NOT establish is more useful than one that quietly guesses.</a:t>
            </a:r>
          </a:p>
        </p:txBody>
      </p:sp>
      <p:sp>
        <p:nvSpPr>
          <p:cNvPr id="22" name="Rectangle 21"/>
          <p:cNvSpPr/>
          <p:nvPr/>
        </p:nvSpPr>
        <p:spPr>
          <a:xfrm>
            <a:off x="6231636" y="312323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123231"/>
            <a:ext cx="91440" cy="113274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4152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4152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234910"/>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Idempotent</a:t>
            </a:r>
          </a:p>
          <a:p>
            <a:pPr algn="l">
              <a:spcAft>
                <a:spcPts val="300"/>
              </a:spcAft>
            </a:pPr>
            <a:r>
              <a:rPr sz="1100" b="0">
                <a:solidFill>
                  <a:srgbClr val="5B6372"/>
                </a:solidFill>
                <a:latin typeface="Arial"/>
              </a:rPr>
              <a:t>One event should not create many outcomes — re-running must not duplicate the work.</a:t>
            </a:r>
          </a:p>
        </p:txBody>
      </p:sp>
      <p:sp>
        <p:nvSpPr>
          <p:cNvPr id="27" name="Rectangle 26"/>
          <p:cNvSpPr/>
          <p:nvPr/>
        </p:nvSpPr>
        <p:spPr>
          <a:xfrm>
            <a:off x="777240" y="446338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463381"/>
            <a:ext cx="91440" cy="113274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75543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75543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575061"/>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Traceable</a:t>
            </a:r>
          </a:p>
          <a:p>
            <a:pPr algn="l">
              <a:spcAft>
                <a:spcPts val="300"/>
              </a:spcAft>
            </a:pPr>
            <a:r>
              <a:rPr sz="1100" b="0">
                <a:solidFill>
                  <a:srgbClr val="5B6372"/>
                </a:solidFill>
                <a:latin typeface="Arial"/>
              </a:rPr>
              <a:t>Every claim points back to a named source inside the allowed inputs.</a:t>
            </a:r>
          </a:p>
        </p:txBody>
      </p:sp>
      <p:sp>
        <p:nvSpPr>
          <p:cNvPr id="32" name="Rectangle 31"/>
          <p:cNvSpPr/>
          <p:nvPr/>
        </p:nvSpPr>
        <p:spPr>
          <a:xfrm>
            <a:off x="6231636" y="446338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463381"/>
            <a:ext cx="91440" cy="113274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75543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75543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575061"/>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The diff is read first</a:t>
            </a:r>
          </a:p>
          <a:p>
            <a:pPr algn="l">
              <a:spcAft>
                <a:spcPts val="300"/>
              </a:spcAft>
            </a:pPr>
            <a:r>
              <a:rPr sz="1100" b="0">
                <a:solidFill>
                  <a:srgbClr val="5B6372"/>
                </a:solidFill>
                <a:latin typeface="Arial"/>
              </a:rPr>
              <a:t>An agent describing its own work is a witness with an interest in the verdict.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
        <p:nvSpPr>
          <p:cNvPr id="40" name="Rectangle 39"/>
          <p:cNvSpPr/>
          <p:nvPr/>
        </p:nvSpPr>
        <p:spPr>
          <a:xfrm>
            <a:off x="777240" y="5742432"/>
            <a:ext cx="10607040" cy="603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5742432"/>
            <a:ext cx="91440"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5742432"/>
            <a:ext cx="10241280" cy="603504"/>
          </a:xfrm>
          <a:prstGeom prst="rect">
            <a:avLst/>
          </a:prstGeom>
          <a:noFill/>
        </p:spPr>
        <p:txBody>
          <a:bodyPr wrap="square" anchor="ctr">
            <a:spAutoFit/>
          </a:bodyPr>
          <a:lstStyle/>
          <a:p>
            <a:pPr algn="l">
              <a:spcAft>
                <a:spcPts val="400"/>
              </a:spcAft>
            </a:pPr>
            <a:r>
              <a:rPr sz="1350" b="1">
                <a:solidFill>
                  <a:srgbClr val="161B26"/>
                </a:solidFill>
                <a:latin typeface="Arial"/>
              </a:rPr>
              <a:t>Accept artifacts and explicit limitations — never a status change on its own.</a:t>
            </a:r>
          </a:p>
        </p:txBody>
      </p:sp>
    </p:spTree>
  </p:cSld>
  <p:clrMapOvr>
    <a:masterClrMapping/>
  </p:clrMapOvr>
  <p:transition spd="fast" advClick="1">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LO3 · PROJECTS HOLD GOALS, ISSUES AND A LIFETIME BUDGET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Projects — Lifecycle and the Lifetime Cap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Project state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Meaning</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Operator action</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backlog</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Identified, not yet scheduled</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Write the goal before you plan it.</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planned</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Scoped and budgeted, not started</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Confirm the LIFETIME budget cap now — it is distinct from monthly caps.</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in_progress</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Issues are being worked</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Watch the utilisation bar and the run cadence.</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completed</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goal has been met</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Close the audit map before you archive.</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cancelled</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Abandoned</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Record why. A cancelled project is still evidence.</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F59E0B"/>
                </a:solidFill>
                <a:latin typeface="Arial"/>
              </a:rPr>
              <a:t>WHEN IT MATTERS  </a:t>
            </a:r>
            <a:r>
              <a:rPr sz="1200" b="0">
                <a:solidFill>
                  <a:srgbClr val="161B26"/>
                </a:solidFill>
                <a:latin typeface="Arial"/>
              </a:rPr>
              <a:t>Company and agent budgets are MONTHLY. The project budget is a LIFETIME cap for an execution-bound project — a different period, not a different ring.</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fast" advClick="1">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Hands-On Labs — Developing Intelligent Multi-Agent Systems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4</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Translate the Ledgerly Mission into Assigned Issues and Hand-Offs (Accounting)</a:t>
            </a:r>
          </a:p>
          <a:p>
            <a:pPr>
              <a:spcAft>
                <a:spcPts val="900"/>
              </a:spcAft>
            </a:pPr>
            <a:r>
              <a:rPr sz="1400" b="0">
                <a:solidFill>
                  <a:srgbClr val="161B26"/>
                </a:solidFill>
                <a:latin typeface="Arial"/>
              </a:rPr>
              <a:t>•  Ledgerly Accounting (Accounting)</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5</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Verify NorthPoint Routines and Layered Budget Controls (Stock Trading Research)</a:t>
            </a:r>
          </a:p>
          <a:p>
            <a:pPr>
              <a:spcAft>
                <a:spcPts val="900"/>
              </a:spcAft>
            </a:pPr>
            <a:r>
              <a:rPr sz="1400" b="0">
                <a:solidFill>
                  <a:srgbClr val="161B26"/>
                </a:solidFill>
                <a:latin typeface="Arial"/>
              </a:rPr>
              <a:t>•  NorthPoint Trading Research (Stock Trading — research only)</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F59E0B"/>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fast" advClick="1">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Translate the Ledgerly Mission into Assigned Issues and Hand-Offs (Accounting)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07040"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10241280" cy="566928"/>
          </a:xfrm>
          <a:prstGeom prst="rect">
            <a:avLst/>
          </a:prstGeom>
          <a:noFill/>
        </p:spPr>
        <p:txBody>
          <a:bodyPr wrap="square" anchor="ctr">
            <a:spAutoFit/>
          </a:bodyPr>
          <a:lstStyle/>
          <a:p>
            <a:pPr algn="l">
              <a:spcAft>
                <a:spcPts val="400"/>
              </a:spcAft>
            </a:pPr>
            <a:r>
              <a:rPr sz="1300" b="1">
                <a:solidFill>
                  <a:srgbClr val="7C3AED"/>
                </a:solidFill>
                <a:latin typeface="Arial"/>
              </a:rPr>
              <a:t>SIMULATED COMPANY  ·  Ledgerly Accounting (Accounting)</a:t>
            </a:r>
          </a:p>
        </p:txBody>
      </p:sp>
      <p:sp>
        <p:nvSpPr>
          <p:cNvPr id="10" name="TextBox 9"/>
          <p:cNvSpPr txBox="1"/>
          <p:nvPr/>
        </p:nvSpPr>
        <p:spPr>
          <a:xfrm>
            <a:off x="777240" y="2514600"/>
            <a:ext cx="10607040" cy="1298448"/>
          </a:xfrm>
          <a:prstGeom prst="rect">
            <a:avLst/>
          </a:prstGeom>
          <a:noFill/>
        </p:spPr>
        <p:txBody>
          <a:bodyPr wrap="square" anchor="t">
            <a:spAutoFit/>
          </a:bodyPr>
          <a:lstStyle/>
          <a:p>
            <a:pPr algn="l">
              <a:spcAft>
                <a:spcPts val="400"/>
              </a:spcAft>
            </a:pPr>
            <a:r>
              <a:rPr sz="1350" b="0">
                <a:solidFill>
                  <a:srgbClr val="161B26"/>
                </a:solidFill>
                <a:latin typeface="Arial"/>
              </a:rPr>
              <a:t>You turn the Ledgerly Accounting mission into actual work. You create a budgeted month-end close project, then a PARENT synthesis issue and two specialist CHILD issues — all created UNASSIGNED, so that creating work cannot accidentally wake an agent. Only after every acceptance criterion names its evidence do you assign one child at a time. This is the core discipline of the topic: assignment is the trigger, and sequential assignment is what makes each run individually verifiable.</a:t>
            </a:r>
          </a:p>
        </p:txBody>
      </p:sp>
      <p:sp>
        <p:nvSpPr>
          <p:cNvPr id="11" name="Rectangle 10"/>
          <p:cNvSpPr/>
          <p:nvPr/>
        </p:nvSpPr>
        <p:spPr>
          <a:xfrm>
            <a:off x="777240" y="3931920"/>
            <a:ext cx="6766560"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931920"/>
            <a:ext cx="676656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069080"/>
            <a:ext cx="6309360" cy="329184"/>
          </a:xfrm>
          <a:prstGeom prst="rect">
            <a:avLst/>
          </a:prstGeom>
          <a:noFill/>
        </p:spPr>
        <p:txBody>
          <a:bodyPr wrap="square" anchor="t">
            <a:spAutoFit/>
          </a:bodyPr>
          <a:lstStyle/>
          <a:p>
            <a:pPr algn="l">
              <a:spcAft>
                <a:spcPts val="400"/>
              </a:spcAft>
            </a:pPr>
            <a:r>
              <a:rPr sz="1200" b="1">
                <a:solidFill>
                  <a:srgbClr val="10B981"/>
                </a:solidFill>
                <a:latin typeface="Arial"/>
              </a:rPr>
              <a:t>YOU'LL BUILD</a:t>
            </a:r>
          </a:p>
        </p:txBody>
      </p:sp>
      <p:sp>
        <p:nvSpPr>
          <p:cNvPr id="14" name="TextBox 13"/>
          <p:cNvSpPr txBox="1"/>
          <p:nvPr/>
        </p:nvSpPr>
        <p:spPr>
          <a:xfrm>
            <a:off x="1005840" y="4416552"/>
            <a:ext cx="6309360" cy="1005840"/>
          </a:xfrm>
          <a:prstGeom prst="rect">
            <a:avLst/>
          </a:prstGeom>
          <a:noFill/>
        </p:spPr>
        <p:txBody>
          <a:bodyPr wrap="square" anchor="t">
            <a:spAutoFit/>
          </a:bodyPr>
          <a:lstStyle/>
          <a:p>
            <a:pPr algn="l">
              <a:spcAft>
                <a:spcPts val="400"/>
              </a:spcAft>
            </a:pPr>
            <a:r>
              <a:rPr sz="1150" b="0">
                <a:solidFill>
                  <a:srgbClr val="161B26"/>
                </a:solidFill>
                <a:latin typeface="Arial"/>
              </a:rPr>
              <a:t>A capped Ledgerly close project with an unassigned parent issue, two sequentially completed specialist children, clean workspace manifests, and an evidence record linking issue IDs, run IDs, comments, statuses and artifact paths.</a:t>
            </a:r>
          </a:p>
        </p:txBody>
      </p:sp>
      <p:sp>
        <p:nvSpPr>
          <p:cNvPr id="15" name="Rectangle 14"/>
          <p:cNvSpPr/>
          <p:nvPr/>
        </p:nvSpPr>
        <p:spPr>
          <a:xfrm>
            <a:off x="7818120" y="3931920"/>
            <a:ext cx="3566160"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818120" y="3931920"/>
            <a:ext cx="356616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0" y="4069080"/>
            <a:ext cx="3108960" cy="329184"/>
          </a:xfrm>
          <a:prstGeom prst="rect">
            <a:avLst/>
          </a:prstGeom>
          <a:noFill/>
        </p:spPr>
        <p:txBody>
          <a:bodyPr wrap="square" anchor="t">
            <a:spAutoFit/>
          </a:bodyPr>
          <a:lstStyle/>
          <a:p>
            <a:pPr algn="l">
              <a:spcAft>
                <a:spcPts val="400"/>
              </a:spcAft>
            </a:pPr>
            <a:r>
              <a:rPr sz="1200" b="1">
                <a:solidFill>
                  <a:srgbClr val="1F6FEB"/>
                </a:solidFill>
                <a:latin typeface="Arial"/>
              </a:rPr>
              <a:t>MAPS TO</a:t>
            </a:r>
          </a:p>
        </p:txBody>
      </p:sp>
      <p:sp>
        <p:nvSpPr>
          <p:cNvPr id="18" name="TextBox 17"/>
          <p:cNvSpPr txBox="1"/>
          <p:nvPr/>
        </p:nvSpPr>
        <p:spPr>
          <a:xfrm>
            <a:off x="8046720" y="4416552"/>
            <a:ext cx="3108960" cy="1005840"/>
          </a:xfrm>
          <a:prstGeom prst="rect">
            <a:avLst/>
          </a:prstGeom>
          <a:noFill/>
        </p:spPr>
        <p:txBody>
          <a:bodyPr wrap="square" anchor="t">
            <a:spAutoFit/>
          </a:bodyPr>
          <a:lstStyle/>
          <a:p>
            <a:pPr algn="l">
              <a:spcAft>
                <a:spcPts val="400"/>
              </a:spcAft>
            </a:pPr>
            <a:r>
              <a:rPr sz="1050" b="0">
                <a:solidFill>
                  <a:srgbClr val="161B26"/>
                </a:solidFill>
                <a:latin typeface="Arial"/>
              </a:rPr>
              <a:t>LO3: Decompose a mission into a parent and specialist child issues, run the specialists sequentially and verify each hand-off against acceptance evidence.</a:t>
            </a:r>
          </a:p>
        </p:txBody>
      </p:sp>
      <p:sp>
        <p:nvSpPr>
          <p:cNvPr id="19" name="TextBox 18"/>
          <p:cNvSpPr txBox="1"/>
          <p:nvPr/>
        </p:nvSpPr>
        <p:spPr>
          <a:xfrm>
            <a:off x="777240" y="5669280"/>
            <a:ext cx="10607040" cy="640080"/>
          </a:xfrm>
          <a:prstGeom prst="rect">
            <a:avLst/>
          </a:prstGeom>
          <a:noFill/>
        </p:spPr>
        <p:txBody>
          <a:bodyPr wrap="square" anchor="t">
            <a:spAutoFit/>
          </a:bodyPr>
          <a:lstStyle/>
          <a:p>
            <a:pPr algn="l">
              <a:spcAft>
                <a:spcPts val="300"/>
              </a:spcAft>
            </a:pPr>
            <a:r>
              <a:rPr sz="1100" b="0">
                <a:solidFill>
                  <a:srgbClr val="5B6372"/>
                </a:solidFill>
                <a:latin typeface="Arial"/>
              </a:rPr>
              <a:t>Tools:  Paperclip Projects, Budgets, Issues, Agents and Runs; approved adapter runtime; Git; Markdown workspaces</a:t>
            </a:r>
          </a:p>
          <a:p>
            <a:pPr algn="l">
              <a:spcAft>
                <a:spcPts val="300"/>
              </a:spcAft>
            </a:pPr>
            <a:r>
              <a:rPr sz="1100" b="0">
                <a:solidFill>
                  <a:srgbClr val="5B6372"/>
                </a:solidFill>
                <a:latin typeface="Arial"/>
              </a:rPr>
              <a:t>Full step-by-step procedure: Learner Guide, Lab 4  ·  labs/ folder</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fast" advClick="1">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Create the close project</a:t>
            </a:r>
          </a:p>
        </p:txBody>
      </p:sp>
      <p:sp>
        <p:nvSpPr>
          <p:cNvPr id="12" name="TextBox 11"/>
          <p:cNvSpPr txBox="1"/>
          <p:nvPr/>
        </p:nvSpPr>
        <p:spPr>
          <a:xfrm>
            <a:off x="850392"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its own budget cap</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Parent issue, unassigned</a:t>
            </a:r>
          </a:p>
        </p:txBody>
      </p:sp>
      <p:sp>
        <p:nvSpPr>
          <p:cNvPr id="19" name="TextBox 18"/>
          <p:cNvSpPr txBox="1"/>
          <p:nvPr/>
        </p:nvSpPr>
        <p:spPr>
          <a:xfrm>
            <a:off x="3054096"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creation must not wake anyone</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Two child issues</a:t>
            </a:r>
          </a:p>
        </p:txBody>
      </p:sp>
      <p:sp>
        <p:nvSpPr>
          <p:cNvPr id="26" name="TextBox 25"/>
          <p:cNvSpPr txBox="1"/>
          <p:nvPr/>
        </p:nvSpPr>
        <p:spPr>
          <a:xfrm>
            <a:off x="5257800"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acceptance names the evidence</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Assign child 1 only</a:t>
            </a:r>
          </a:p>
        </p:txBody>
      </p:sp>
      <p:sp>
        <p:nvSpPr>
          <p:cNvPr id="33" name="TextBox 32"/>
          <p:cNvSpPr txBox="1"/>
          <p:nvPr/>
        </p:nvSpPr>
        <p:spPr>
          <a:xfrm>
            <a:off x="7461504"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assignment is the trigger</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Accept, then assign child 2</a:t>
            </a:r>
          </a:p>
        </p:txBody>
      </p:sp>
      <p:sp>
        <p:nvSpPr>
          <p:cNvPr id="40" name="TextBox 39"/>
          <p:cNvSpPr txBox="1"/>
          <p:nvPr/>
        </p:nvSpPr>
        <p:spPr>
          <a:xfrm>
            <a:off x="9665208"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sequential and attributable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LO3: Decompose a mission into a parent and specialist child issues, run the specialists sequentially and verify each hand-off against acceptance evidence.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Translate the Ledgerly Mission into Assigned Issues and Hand-Offs (Accounting)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Ledgerly project shows a saved cap above actual spend; the parent issue is still open and unassigned; both children are Done with a linked artifact and a recorded run ID; the two specialists ran SEQUENTIALLY (non-overlapping run timestamps); and the exceptions file demonstrably references the reconciliation figures.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Both specialists wake at the same time</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 child was assigned before the previous one was accepted. Pause the second agent, let the first run settle, then re-assign so the runs are sequential.</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child artifact exists but is missing fields</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acceptance criterion was written as an activity, not as evidence. Rewrite it naming the required fields and re-run — do not hand-edit the agent's artifact.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parent issue wakes unexpectedly</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It was assigned during creation. Clear the assignee; the parent stays unassigned until both children are accepted (that is Lab 6).</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fast" advClick="1">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LAB 4  ·  TROUBLESHOOTING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Translate the Ledgerly Mission into Assigned Issues and Hand-Offs (Accounting)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07040" cy="944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91440" cy="944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3852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Both specialists wake at the same time</a:t>
            </a:r>
          </a:p>
        </p:txBody>
      </p:sp>
      <p:sp>
        <p:nvSpPr>
          <p:cNvPr id="10" name="TextBox 9"/>
          <p:cNvSpPr txBox="1"/>
          <p:nvPr/>
        </p:nvSpPr>
        <p:spPr>
          <a:xfrm>
            <a:off x="1051560" y="2304288"/>
            <a:ext cx="10149840" cy="341376"/>
          </a:xfrm>
          <a:prstGeom prst="rect">
            <a:avLst/>
          </a:prstGeom>
          <a:noFill/>
        </p:spPr>
        <p:txBody>
          <a:bodyPr wrap="square" anchor="t">
            <a:spAutoFit/>
          </a:bodyPr>
          <a:lstStyle/>
          <a:p>
            <a:pPr algn="l">
              <a:spcAft>
                <a:spcPts val="400"/>
              </a:spcAft>
            </a:pPr>
            <a:r>
              <a:rPr sz="1150" b="0">
                <a:solidFill>
                  <a:srgbClr val="5B6372"/>
                </a:solidFill>
                <a:latin typeface="Arial"/>
              </a:rPr>
              <a:t>A child was assigned before the previous one was accepted. Pause the second agent, let the first run settle, then re-assign so the runs are sequential.</a:t>
            </a:r>
          </a:p>
        </p:txBody>
      </p:sp>
      <p:sp>
        <p:nvSpPr>
          <p:cNvPr id="11" name="Rectangle 10"/>
          <p:cNvSpPr/>
          <p:nvPr/>
        </p:nvSpPr>
        <p:spPr>
          <a:xfrm>
            <a:off x="777240" y="2938272"/>
            <a:ext cx="10607040" cy="944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938272"/>
            <a:ext cx="91440" cy="944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06628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The child artifact exists but is missing fields</a:t>
            </a:r>
          </a:p>
        </p:txBody>
      </p:sp>
      <p:sp>
        <p:nvSpPr>
          <p:cNvPr id="14" name="TextBox 13"/>
          <p:cNvSpPr txBox="1"/>
          <p:nvPr/>
        </p:nvSpPr>
        <p:spPr>
          <a:xfrm>
            <a:off x="1051560" y="3432048"/>
            <a:ext cx="10149840" cy="341376"/>
          </a:xfrm>
          <a:prstGeom prst="rect">
            <a:avLst/>
          </a:prstGeom>
          <a:noFill/>
        </p:spPr>
        <p:txBody>
          <a:bodyPr wrap="square" anchor="t">
            <a:spAutoFit/>
          </a:bodyPr>
          <a:lstStyle/>
          <a:p>
            <a:pPr algn="l">
              <a:spcAft>
                <a:spcPts val="400"/>
              </a:spcAft>
            </a:pPr>
            <a:r>
              <a:rPr sz="1150" b="0">
                <a:solidFill>
                  <a:srgbClr val="5B6372"/>
                </a:solidFill>
                <a:latin typeface="Arial"/>
              </a:rPr>
              <a:t>The acceptance criterion was written as an activity, not as evidence. Rewrite it naming the required fields and re-run — do not hand-edit the agent's artifact.</a:t>
            </a:r>
          </a:p>
        </p:txBody>
      </p:sp>
      <p:sp>
        <p:nvSpPr>
          <p:cNvPr id="15" name="Rectangle 14"/>
          <p:cNvSpPr/>
          <p:nvPr/>
        </p:nvSpPr>
        <p:spPr>
          <a:xfrm>
            <a:off x="777240" y="4066032"/>
            <a:ext cx="10607040" cy="944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066032"/>
            <a:ext cx="91440" cy="944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19404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The parent issue wakes unexpectedly</a:t>
            </a:r>
          </a:p>
        </p:txBody>
      </p:sp>
      <p:sp>
        <p:nvSpPr>
          <p:cNvPr id="18" name="TextBox 17"/>
          <p:cNvSpPr txBox="1"/>
          <p:nvPr/>
        </p:nvSpPr>
        <p:spPr>
          <a:xfrm>
            <a:off x="1051560" y="4559808"/>
            <a:ext cx="10149840" cy="341376"/>
          </a:xfrm>
          <a:prstGeom prst="rect">
            <a:avLst/>
          </a:prstGeom>
          <a:noFill/>
        </p:spPr>
        <p:txBody>
          <a:bodyPr wrap="square" anchor="t">
            <a:spAutoFit/>
          </a:bodyPr>
          <a:lstStyle/>
          <a:p>
            <a:pPr algn="l">
              <a:spcAft>
                <a:spcPts val="400"/>
              </a:spcAft>
            </a:pPr>
            <a:r>
              <a:rPr sz="1150" b="0">
                <a:solidFill>
                  <a:srgbClr val="5B6372"/>
                </a:solidFill>
                <a:latin typeface="Arial"/>
              </a:rPr>
              <a:t>It was assigned during creation. Clear the assignee; the parent stays unassigned until both children are accepted (that is Lab 6).</a:t>
            </a:r>
          </a:p>
        </p:txBody>
      </p:sp>
      <p:sp>
        <p:nvSpPr>
          <p:cNvPr id="19" name="Rectangle 18"/>
          <p:cNvSpPr/>
          <p:nvPr/>
        </p:nvSpPr>
        <p:spPr>
          <a:xfrm>
            <a:off x="777240" y="5230368"/>
            <a:ext cx="5212080"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230368"/>
            <a:ext cx="91440" cy="1005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5321808"/>
            <a:ext cx="4846320" cy="292608"/>
          </a:xfrm>
          <a:prstGeom prst="rect">
            <a:avLst/>
          </a:prstGeom>
          <a:noFill/>
        </p:spPr>
        <p:txBody>
          <a:bodyPr wrap="square" anchor="t">
            <a:spAutoFit/>
          </a:bodyPr>
          <a:lstStyle/>
          <a:p>
            <a:pPr algn="l">
              <a:spcAft>
                <a:spcPts val="400"/>
              </a:spcAft>
            </a:pPr>
            <a:r>
              <a:rPr sz="1150" b="1">
                <a:solidFill>
                  <a:srgbClr val="7C3AED"/>
                </a:solidFill>
                <a:latin typeface="Arial"/>
              </a:rPr>
              <a:t>CHALLENGE</a:t>
            </a:r>
          </a:p>
        </p:txBody>
      </p:sp>
      <p:sp>
        <p:nvSpPr>
          <p:cNvPr id="22" name="TextBox 21"/>
          <p:cNvSpPr txBox="1"/>
          <p:nvPr/>
        </p:nvSpPr>
        <p:spPr>
          <a:xfrm>
            <a:off x="1051560" y="5632704"/>
            <a:ext cx="4846320" cy="548640"/>
          </a:xfrm>
          <a:prstGeom prst="rect">
            <a:avLst/>
          </a:prstGeom>
          <a:noFill/>
        </p:spPr>
        <p:txBody>
          <a:bodyPr wrap="square" anchor="t">
            <a:spAutoFit/>
          </a:bodyPr>
          <a:lstStyle/>
          <a:p>
            <a:pPr algn="l">
              <a:spcAft>
                <a:spcPts val="400"/>
              </a:spcAft>
            </a:pPr>
            <a:r>
              <a:rPr sz="1050" b="0">
                <a:solidFill>
                  <a:srgbClr val="161B26"/>
                </a:solidFill>
                <a:latin typeface="Arial"/>
              </a:rPr>
              <a:t>Add a third child issue whose acceptance criterion deliberately names an artifact the previous child never produces, and record precisely how the failure surfaces in the run log.</a:t>
            </a:r>
          </a:p>
        </p:txBody>
      </p:sp>
      <p:sp>
        <p:nvSpPr>
          <p:cNvPr id="23" name="Rectangle 22"/>
          <p:cNvSpPr/>
          <p:nvPr/>
        </p:nvSpPr>
        <p:spPr>
          <a:xfrm>
            <a:off x="6172200" y="5230368"/>
            <a:ext cx="5212080"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5230368"/>
            <a:ext cx="91440"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5321808"/>
            <a:ext cx="4846320" cy="292608"/>
          </a:xfrm>
          <a:prstGeom prst="rect">
            <a:avLst/>
          </a:prstGeom>
          <a:noFill/>
        </p:spPr>
        <p:txBody>
          <a:bodyPr wrap="square" anchor="t">
            <a:spAutoFit/>
          </a:bodyPr>
          <a:lstStyle/>
          <a:p>
            <a:pPr algn="l">
              <a:spcAft>
                <a:spcPts val="400"/>
              </a:spcAft>
            </a:pPr>
            <a:r>
              <a:rPr sz="1150" b="1">
                <a:solidFill>
                  <a:srgbClr val="1F6FEB"/>
                </a:solidFill>
                <a:latin typeface="Arial"/>
              </a:rPr>
              <a:t>REFLECTION</a:t>
            </a:r>
          </a:p>
        </p:txBody>
      </p:sp>
      <p:sp>
        <p:nvSpPr>
          <p:cNvPr id="26" name="TextBox 25"/>
          <p:cNvSpPr txBox="1"/>
          <p:nvPr/>
        </p:nvSpPr>
        <p:spPr>
          <a:xfrm>
            <a:off x="6446520" y="5632704"/>
            <a:ext cx="4846320" cy="548640"/>
          </a:xfrm>
          <a:prstGeom prst="rect">
            <a:avLst/>
          </a:prstGeom>
          <a:noFill/>
        </p:spPr>
        <p:txBody>
          <a:bodyPr wrap="square" anchor="t">
            <a:spAutoFit/>
          </a:bodyPr>
          <a:lstStyle/>
          <a:p>
            <a:pPr algn="l">
              <a:spcAft>
                <a:spcPts val="400"/>
              </a:spcAft>
            </a:pPr>
            <a:r>
              <a:rPr sz="1050" b="0">
                <a:solidFill>
                  <a:srgbClr val="161B26"/>
                </a:solidFill>
                <a:latin typeface="Arial"/>
              </a:rPr>
              <a:t>Why does creating every issue unassigned change the risk profile of a multi-agent company, compared with assigning at creation time?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fast" advClick="1">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Verify NorthPoint Routines and Layered Budget Controls (Stock Trading Research)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07040"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10241280" cy="566928"/>
          </a:xfrm>
          <a:prstGeom prst="rect">
            <a:avLst/>
          </a:prstGeom>
          <a:noFill/>
        </p:spPr>
        <p:txBody>
          <a:bodyPr wrap="square" anchor="ctr">
            <a:spAutoFit/>
          </a:bodyPr>
          <a:lstStyle/>
          <a:p>
            <a:pPr algn="l">
              <a:spcAft>
                <a:spcPts val="400"/>
              </a:spcAft>
            </a:pPr>
            <a:r>
              <a:rPr sz="1300" b="1">
                <a:solidFill>
                  <a:srgbClr val="7C3AED"/>
                </a:solidFill>
                <a:latin typeface="Arial"/>
              </a:rPr>
              <a:t>SIMULATED COMPANY  ·  NorthPoint Trading Research (Stock Trading — research only)</a:t>
            </a:r>
          </a:p>
        </p:txBody>
      </p:sp>
      <p:sp>
        <p:nvSpPr>
          <p:cNvPr id="10" name="TextBox 9"/>
          <p:cNvSpPr txBox="1"/>
          <p:nvPr/>
        </p:nvSpPr>
        <p:spPr>
          <a:xfrm>
            <a:off x="777240" y="2514600"/>
            <a:ext cx="10607040" cy="1298448"/>
          </a:xfrm>
          <a:prstGeom prst="rect">
            <a:avLst/>
          </a:prstGeom>
          <a:noFill/>
        </p:spPr>
        <p:txBody>
          <a:bodyPr wrap="square" anchor="t">
            <a:spAutoFit/>
          </a:bodyPr>
          <a:lstStyle/>
          <a:p>
            <a:pPr algn="l">
              <a:spcAft>
                <a:spcPts val="400"/>
              </a:spcAft>
            </a:pPr>
            <a:r>
              <a:rPr sz="1350" b="0">
                <a:solidFill>
                  <a:srgbClr val="161B26"/>
                </a:solidFill>
                <a:latin typeface="Arial"/>
              </a:rPr>
              <a:t>NorthPoint Trading Research needs a daily pre-market brief — which makes it the right place to learn routines. You create the readiness routine PAUSED, add an explicit cron trigger with an IANA timezone, prove the routine once by hand, and leave it paused afterwards. You then verify all three budget layers against actual recorded spend. The rule the lab teaches: automation earns the schedule only after a human has watched it succeed once. This is research only — the company never places or recommends a trade.</a:t>
            </a:r>
          </a:p>
        </p:txBody>
      </p:sp>
      <p:sp>
        <p:nvSpPr>
          <p:cNvPr id="11" name="Rectangle 10"/>
          <p:cNvSpPr/>
          <p:nvPr/>
        </p:nvSpPr>
        <p:spPr>
          <a:xfrm>
            <a:off x="777240" y="3931920"/>
            <a:ext cx="6766560"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931920"/>
            <a:ext cx="676656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069080"/>
            <a:ext cx="6309360" cy="329184"/>
          </a:xfrm>
          <a:prstGeom prst="rect">
            <a:avLst/>
          </a:prstGeom>
          <a:noFill/>
        </p:spPr>
        <p:txBody>
          <a:bodyPr wrap="square" anchor="t">
            <a:spAutoFit/>
          </a:bodyPr>
          <a:lstStyle/>
          <a:p>
            <a:pPr algn="l">
              <a:spcAft>
                <a:spcPts val="400"/>
              </a:spcAft>
            </a:pPr>
            <a:r>
              <a:rPr sz="1200" b="1">
                <a:solidFill>
                  <a:srgbClr val="10B981"/>
                </a:solidFill>
                <a:latin typeface="Arial"/>
              </a:rPr>
              <a:t>YOU'LL BUILD</a:t>
            </a:r>
          </a:p>
        </p:txBody>
      </p:sp>
      <p:sp>
        <p:nvSpPr>
          <p:cNvPr id="14" name="TextBox 13"/>
          <p:cNvSpPr txBox="1"/>
          <p:nvPr/>
        </p:nvSpPr>
        <p:spPr>
          <a:xfrm>
            <a:off x="1005840" y="4416552"/>
            <a:ext cx="6309360" cy="1005840"/>
          </a:xfrm>
          <a:prstGeom prst="rect">
            <a:avLst/>
          </a:prstGeom>
          <a:noFill/>
        </p:spPr>
        <p:txBody>
          <a:bodyPr wrap="square" anchor="t">
            <a:spAutoFit/>
          </a:bodyPr>
          <a:lstStyle/>
          <a:p>
            <a:pPr algn="l">
              <a:spcAft>
                <a:spcPts val="400"/>
              </a:spcAft>
            </a:pPr>
            <a:r>
              <a:rPr sz="1150" b="0">
                <a:solidFill>
                  <a:srgbClr val="161B26"/>
                </a:solidFill>
                <a:latin typeface="Arial"/>
              </a:rPr>
              <a:t>A paused NorthPoint readiness routine with a saved 07:00 Asia/Singapore trigger, exactly one reviewed manual run, and a control table proving company, project and agent budget layers all remain above recorded spend.</a:t>
            </a:r>
          </a:p>
        </p:txBody>
      </p:sp>
      <p:sp>
        <p:nvSpPr>
          <p:cNvPr id="15" name="Rectangle 14"/>
          <p:cNvSpPr/>
          <p:nvPr/>
        </p:nvSpPr>
        <p:spPr>
          <a:xfrm>
            <a:off x="7818120" y="3931920"/>
            <a:ext cx="3566160"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818120" y="3931920"/>
            <a:ext cx="356616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0" y="4069080"/>
            <a:ext cx="3108960" cy="329184"/>
          </a:xfrm>
          <a:prstGeom prst="rect">
            <a:avLst/>
          </a:prstGeom>
          <a:noFill/>
        </p:spPr>
        <p:txBody>
          <a:bodyPr wrap="square" anchor="t">
            <a:spAutoFit/>
          </a:bodyPr>
          <a:lstStyle/>
          <a:p>
            <a:pPr algn="l">
              <a:spcAft>
                <a:spcPts val="400"/>
              </a:spcAft>
            </a:pPr>
            <a:r>
              <a:rPr sz="1200" b="1">
                <a:solidFill>
                  <a:srgbClr val="1F6FEB"/>
                </a:solidFill>
                <a:latin typeface="Arial"/>
              </a:rPr>
              <a:t>MAPS TO</a:t>
            </a:r>
          </a:p>
        </p:txBody>
      </p:sp>
      <p:sp>
        <p:nvSpPr>
          <p:cNvPr id="18" name="TextBox 17"/>
          <p:cNvSpPr txBox="1"/>
          <p:nvPr/>
        </p:nvSpPr>
        <p:spPr>
          <a:xfrm>
            <a:off x="8046720" y="4416552"/>
            <a:ext cx="3108960" cy="1005840"/>
          </a:xfrm>
          <a:prstGeom prst="rect">
            <a:avLst/>
          </a:prstGeom>
          <a:noFill/>
        </p:spPr>
        <p:txBody>
          <a:bodyPr wrap="square" anchor="t">
            <a:spAutoFit/>
          </a:bodyPr>
          <a:lstStyle/>
          <a:p>
            <a:pPr algn="l">
              <a:spcAft>
                <a:spcPts val="400"/>
              </a:spcAft>
            </a:pPr>
            <a:r>
              <a:rPr sz="1050" b="0">
                <a:solidFill>
                  <a:srgbClr val="161B26"/>
                </a:solidFill>
                <a:latin typeface="Arial"/>
              </a:rPr>
              <a:t>LO3: Test a scheduled routine and verify that every budget layer holds, using one bounded manual run before automation is allowed to own the schedule.</a:t>
            </a:r>
          </a:p>
        </p:txBody>
      </p:sp>
      <p:sp>
        <p:nvSpPr>
          <p:cNvPr id="19" name="TextBox 18"/>
          <p:cNvSpPr txBox="1"/>
          <p:nvPr/>
        </p:nvSpPr>
        <p:spPr>
          <a:xfrm>
            <a:off x="777240" y="5669280"/>
            <a:ext cx="10607040" cy="640080"/>
          </a:xfrm>
          <a:prstGeom prst="rect">
            <a:avLst/>
          </a:prstGeom>
          <a:noFill/>
        </p:spPr>
        <p:txBody>
          <a:bodyPr wrap="square" anchor="t">
            <a:spAutoFit/>
          </a:bodyPr>
          <a:lstStyle/>
          <a:p>
            <a:pPr algn="l">
              <a:spcAft>
                <a:spcPts val="300"/>
              </a:spcAft>
            </a:pPr>
            <a:r>
              <a:rPr sz="1100" b="0">
                <a:solidFill>
                  <a:srgbClr val="5B6372"/>
                </a:solidFill>
                <a:latin typeface="Arial"/>
              </a:rPr>
              <a:t>Tools:  Paperclip Routines, Costs and Budgets, Agent Budget tabs, Project settings, Activity</a:t>
            </a:r>
          </a:p>
          <a:p>
            <a:pPr algn="l">
              <a:spcAft>
                <a:spcPts val="300"/>
              </a:spcAft>
            </a:pPr>
            <a:r>
              <a:rPr sz="1100" b="0">
                <a:solidFill>
                  <a:srgbClr val="5B6372"/>
                </a:solidFill>
                <a:latin typeface="Arial"/>
              </a:rPr>
              <a:t>Full step-by-step procedure: Learner Guide, Lab 5  ·  labs/ folder</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fast" advClick="1">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Create NorthPoint</a:t>
            </a:r>
          </a:p>
        </p:txBody>
      </p:sp>
      <p:sp>
        <p:nvSpPr>
          <p:cNvPr id="12" name="TextBox 11"/>
          <p:cNvSpPr txBox="1"/>
          <p:nvPr/>
        </p:nvSpPr>
        <p:spPr>
          <a:xfrm>
            <a:off x="850392"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research only — never a trade</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Create the routine PAUSED</a:t>
            </a:r>
          </a:p>
        </p:txBody>
      </p:sp>
      <p:sp>
        <p:nvSpPr>
          <p:cNvPr id="19" name="TextBox 18"/>
          <p:cNvSpPr txBox="1"/>
          <p:nvPr/>
        </p:nvSpPr>
        <p:spPr>
          <a:xfrm>
            <a:off x="3054096"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unproven automation stays off</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Add the cron trigger</a:t>
            </a:r>
          </a:p>
        </p:txBody>
      </p:sp>
      <p:sp>
        <p:nvSpPr>
          <p:cNvPr id="26" name="TextBox 25"/>
          <p:cNvSpPr txBox="1"/>
          <p:nvPr/>
        </p:nvSpPr>
        <p:spPr>
          <a:xfrm>
            <a:off x="5257800"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0 7 * * * with Asia/Singapore</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Run once, bounded</a:t>
            </a:r>
          </a:p>
        </p:txBody>
      </p:sp>
      <p:sp>
        <p:nvSpPr>
          <p:cNvPr id="33" name="TextBox 32"/>
          <p:cNvSpPr txBox="1"/>
          <p:nvPr/>
        </p:nvSpPr>
        <p:spPr>
          <a:xfrm>
            <a:off x="7461504"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the human review earns the schedule</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Check every budget layer</a:t>
            </a:r>
          </a:p>
        </p:txBody>
      </p:sp>
      <p:sp>
        <p:nvSpPr>
          <p:cNvPr id="40" name="TextBox 39"/>
          <p:cNvSpPr txBox="1"/>
          <p:nvPr/>
        </p:nvSpPr>
        <p:spPr>
          <a:xfrm>
            <a:off x="9665208"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company, project and agent</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LO3: Test a scheduled routine and verify that every budget layer holds, using one bounded manual run before automation is allowed to own the schedule.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Verify NorthPoint Routines and Layered Budget Controls (Stock Trading Research)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routine carries an explicit 0 7 * * * Asia/Singapore trigger, has exactly ONE successful reviewed manual run, and finishes PAUSED; the brief exists and cites only the synthetic data with limitations stated and no trade recommendation; and the control table shows all three budget layers above recorded spend.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routine fires unexpectedly</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It was left active after the manual run. Pause it, then check the activity log for any additional runs and record them — do not delete the evidence.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cost shows as zero</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run may have failed before invoking the runtime. Read the run log for an adapter error rather than assuming the work was free.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timezone reverts or the schedule fires an hour out</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trigger was saved without an explicit IANA timezone and inherited the host's. Re-save the trigger with Asia/Singapore stated explicitly.</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fast" advClick="1">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LAB 5  ·  TROUBLESHOOTING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Verify NorthPoint Routines and Layered Budget Controls (Stock Trading Research)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07040" cy="944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91440" cy="944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3852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The routine fires unexpectedly</a:t>
            </a:r>
          </a:p>
        </p:txBody>
      </p:sp>
      <p:sp>
        <p:nvSpPr>
          <p:cNvPr id="10" name="TextBox 9"/>
          <p:cNvSpPr txBox="1"/>
          <p:nvPr/>
        </p:nvSpPr>
        <p:spPr>
          <a:xfrm>
            <a:off x="1051560" y="2304288"/>
            <a:ext cx="10149840" cy="341376"/>
          </a:xfrm>
          <a:prstGeom prst="rect">
            <a:avLst/>
          </a:prstGeom>
          <a:noFill/>
        </p:spPr>
        <p:txBody>
          <a:bodyPr wrap="square" anchor="t">
            <a:spAutoFit/>
          </a:bodyPr>
          <a:lstStyle/>
          <a:p>
            <a:pPr algn="l">
              <a:spcAft>
                <a:spcPts val="400"/>
              </a:spcAft>
            </a:pPr>
            <a:r>
              <a:rPr sz="1150" b="0">
                <a:solidFill>
                  <a:srgbClr val="5B6372"/>
                </a:solidFill>
                <a:latin typeface="Arial"/>
              </a:rPr>
              <a:t>It was left active after the manual run. Pause it, then check the activity log for any additional runs and record them — do not delete the evidence.</a:t>
            </a:r>
          </a:p>
        </p:txBody>
      </p:sp>
      <p:sp>
        <p:nvSpPr>
          <p:cNvPr id="11" name="Rectangle 10"/>
          <p:cNvSpPr/>
          <p:nvPr/>
        </p:nvSpPr>
        <p:spPr>
          <a:xfrm>
            <a:off x="777240" y="2938272"/>
            <a:ext cx="10607040" cy="944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938272"/>
            <a:ext cx="91440" cy="944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06628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The cost shows as zero</a:t>
            </a:r>
          </a:p>
        </p:txBody>
      </p:sp>
      <p:sp>
        <p:nvSpPr>
          <p:cNvPr id="14" name="TextBox 13"/>
          <p:cNvSpPr txBox="1"/>
          <p:nvPr/>
        </p:nvSpPr>
        <p:spPr>
          <a:xfrm>
            <a:off x="1051560" y="3432048"/>
            <a:ext cx="10149840" cy="341376"/>
          </a:xfrm>
          <a:prstGeom prst="rect">
            <a:avLst/>
          </a:prstGeom>
          <a:noFill/>
        </p:spPr>
        <p:txBody>
          <a:bodyPr wrap="square" anchor="t">
            <a:spAutoFit/>
          </a:bodyPr>
          <a:lstStyle/>
          <a:p>
            <a:pPr algn="l">
              <a:spcAft>
                <a:spcPts val="400"/>
              </a:spcAft>
            </a:pPr>
            <a:r>
              <a:rPr sz="1150" b="0">
                <a:solidFill>
                  <a:srgbClr val="5B6372"/>
                </a:solidFill>
                <a:latin typeface="Arial"/>
              </a:rPr>
              <a:t>The run may have failed before invoking the runtime. Read the run log for an adapter error rather than assuming the work was free.</a:t>
            </a:r>
          </a:p>
        </p:txBody>
      </p:sp>
      <p:sp>
        <p:nvSpPr>
          <p:cNvPr id="15" name="Rectangle 14"/>
          <p:cNvSpPr/>
          <p:nvPr/>
        </p:nvSpPr>
        <p:spPr>
          <a:xfrm>
            <a:off x="777240" y="4066032"/>
            <a:ext cx="10607040" cy="944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4066032"/>
            <a:ext cx="91440" cy="944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19404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The timezone reverts or the schedule fires an hour out</a:t>
            </a:r>
          </a:p>
        </p:txBody>
      </p:sp>
      <p:sp>
        <p:nvSpPr>
          <p:cNvPr id="18" name="TextBox 17"/>
          <p:cNvSpPr txBox="1"/>
          <p:nvPr/>
        </p:nvSpPr>
        <p:spPr>
          <a:xfrm>
            <a:off x="1051560" y="4559808"/>
            <a:ext cx="10149840" cy="341376"/>
          </a:xfrm>
          <a:prstGeom prst="rect">
            <a:avLst/>
          </a:prstGeom>
          <a:noFill/>
        </p:spPr>
        <p:txBody>
          <a:bodyPr wrap="square" anchor="t">
            <a:spAutoFit/>
          </a:bodyPr>
          <a:lstStyle/>
          <a:p>
            <a:pPr algn="l">
              <a:spcAft>
                <a:spcPts val="400"/>
              </a:spcAft>
            </a:pPr>
            <a:r>
              <a:rPr sz="1150" b="0">
                <a:solidFill>
                  <a:srgbClr val="5B6372"/>
                </a:solidFill>
                <a:latin typeface="Arial"/>
              </a:rPr>
              <a:t>The trigger was saved without an explicit IANA timezone and inherited the host's. Re-save the trigger with Asia/Singapore stated explicitly.</a:t>
            </a:r>
          </a:p>
        </p:txBody>
      </p:sp>
      <p:sp>
        <p:nvSpPr>
          <p:cNvPr id="19" name="Rectangle 18"/>
          <p:cNvSpPr/>
          <p:nvPr/>
        </p:nvSpPr>
        <p:spPr>
          <a:xfrm>
            <a:off x="777240" y="5230368"/>
            <a:ext cx="5212080"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230368"/>
            <a:ext cx="91440" cy="1005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5321808"/>
            <a:ext cx="4846320" cy="292608"/>
          </a:xfrm>
          <a:prstGeom prst="rect">
            <a:avLst/>
          </a:prstGeom>
          <a:noFill/>
        </p:spPr>
        <p:txBody>
          <a:bodyPr wrap="square" anchor="t">
            <a:spAutoFit/>
          </a:bodyPr>
          <a:lstStyle/>
          <a:p>
            <a:pPr algn="l">
              <a:spcAft>
                <a:spcPts val="400"/>
              </a:spcAft>
            </a:pPr>
            <a:r>
              <a:rPr sz="1150" b="1">
                <a:solidFill>
                  <a:srgbClr val="7C3AED"/>
                </a:solidFill>
                <a:latin typeface="Arial"/>
              </a:rPr>
              <a:t>CHALLENGE</a:t>
            </a:r>
          </a:p>
        </p:txBody>
      </p:sp>
      <p:sp>
        <p:nvSpPr>
          <p:cNvPr id="22" name="TextBox 21"/>
          <p:cNvSpPr txBox="1"/>
          <p:nvPr/>
        </p:nvSpPr>
        <p:spPr>
          <a:xfrm>
            <a:off x="1051560" y="5632704"/>
            <a:ext cx="4846320" cy="548640"/>
          </a:xfrm>
          <a:prstGeom prst="rect">
            <a:avLst/>
          </a:prstGeom>
          <a:noFill/>
        </p:spPr>
        <p:txBody>
          <a:bodyPr wrap="square" anchor="t">
            <a:spAutoFit/>
          </a:bodyPr>
          <a:lstStyle/>
          <a:p>
            <a:pPr algn="l">
              <a:spcAft>
                <a:spcPts val="400"/>
              </a:spcAft>
            </a:pPr>
            <a:r>
              <a:rPr sz="1050" b="0">
                <a:solidFill>
                  <a:srgbClr val="161B26"/>
                </a:solidFill>
                <a:latin typeface="Arial"/>
              </a:rPr>
              <a:t>Lower the Market Data Analyst cap below the recorded run cost, run the routine once more, and record exactly which layer stops the run and where it is reported.</a:t>
            </a:r>
          </a:p>
        </p:txBody>
      </p:sp>
      <p:sp>
        <p:nvSpPr>
          <p:cNvPr id="23" name="Rectangle 22"/>
          <p:cNvSpPr/>
          <p:nvPr/>
        </p:nvSpPr>
        <p:spPr>
          <a:xfrm>
            <a:off x="6172200" y="5230368"/>
            <a:ext cx="5212080"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2200" y="5230368"/>
            <a:ext cx="91440"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6520" y="5321808"/>
            <a:ext cx="4846320" cy="292608"/>
          </a:xfrm>
          <a:prstGeom prst="rect">
            <a:avLst/>
          </a:prstGeom>
          <a:noFill/>
        </p:spPr>
        <p:txBody>
          <a:bodyPr wrap="square" anchor="t">
            <a:spAutoFit/>
          </a:bodyPr>
          <a:lstStyle/>
          <a:p>
            <a:pPr algn="l">
              <a:spcAft>
                <a:spcPts val="400"/>
              </a:spcAft>
            </a:pPr>
            <a:r>
              <a:rPr sz="1150" b="1">
                <a:solidFill>
                  <a:srgbClr val="1F6FEB"/>
                </a:solidFill>
                <a:latin typeface="Arial"/>
              </a:rPr>
              <a:t>REFLECTION</a:t>
            </a:r>
          </a:p>
        </p:txBody>
      </p:sp>
      <p:sp>
        <p:nvSpPr>
          <p:cNvPr id="26" name="TextBox 25"/>
          <p:cNvSpPr txBox="1"/>
          <p:nvPr/>
        </p:nvSpPr>
        <p:spPr>
          <a:xfrm>
            <a:off x="6446520" y="5632704"/>
            <a:ext cx="4846320" cy="548640"/>
          </a:xfrm>
          <a:prstGeom prst="rect">
            <a:avLst/>
          </a:prstGeom>
          <a:noFill/>
        </p:spPr>
        <p:txBody>
          <a:bodyPr wrap="square" anchor="t">
            <a:spAutoFit/>
          </a:bodyPr>
          <a:lstStyle/>
          <a:p>
            <a:pPr algn="l">
              <a:spcAft>
                <a:spcPts val="400"/>
              </a:spcAft>
            </a:pPr>
            <a:r>
              <a:rPr sz="1050" b="0">
                <a:solidFill>
                  <a:srgbClr val="161B26"/>
                </a:solidFill>
                <a:latin typeface="Arial"/>
              </a:rPr>
              <a:t>Why must a routine be proved by one bounded manual run before the schedule is allowed to own it?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fast" advClick="1">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Developing Intelligent Multi-Agent Systems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You can now: LO3: Decompose a mission into a parent and specialist child issues, run the specialists sequentially and verify each hand-off against acceptance evidence.</a:t>
            </a:r>
          </a:p>
          <a:p>
            <a:pPr>
              <a:spcAft>
                <a:spcPts val="1000"/>
              </a:spcAft>
            </a:pPr>
            <a:r>
              <a:rPr sz="1500" b="0">
                <a:solidFill>
                  <a:srgbClr val="161B26"/>
                </a:solidFill>
                <a:latin typeface="Arial"/>
              </a:rPr>
              <a:t>•  You can now: LO3: Test a scheduled routine and verify that every budget layer holds, using one bounded manual run before automation is allowed to own the schedule.</a:t>
            </a:r>
          </a:p>
          <a:p>
            <a:pPr>
              <a:spcAft>
                <a:spcPts val="1000"/>
              </a:spcAft>
            </a:pPr>
            <a:r>
              <a:rPr sz="1500" b="0">
                <a:solidFill>
                  <a:srgbClr val="161B26"/>
                </a:solidFill>
                <a:latin typeface="Arial"/>
              </a:rPr>
              <a:t>•  Projects hold goals and issues and supply the context an agent reads at runtime, so tasks carry full goal ancestry — the agent sees why, not only what.</a:t>
            </a:r>
          </a:p>
          <a:p>
            <a:pPr>
              <a:spcAft>
                <a:spcPts val="1000"/>
              </a:spcAft>
            </a:pPr>
            <a:r>
              <a:rPr sz="1500" b="0">
                <a:solidFill>
                  <a:srgbClr val="161B26"/>
                </a:solidFill>
                <a:latin typeface="Arial"/>
              </a:rPr>
              <a:t>•  Goal lineage flows downward: company mission → project goal → parent issue → child issue. An agent that cannot trace its lineage is working without direction.</a:t>
            </a:r>
          </a:p>
          <a:p>
            <a:pPr>
              <a:spcAft>
                <a:spcPts val="1000"/>
              </a:spcAft>
            </a:pPr>
            <a:r>
              <a:rPr sz="1500" b="0">
                <a:solidFill>
                  <a:srgbClr val="161B26"/>
                </a:solidFill>
                <a:latin typeface="Arial"/>
              </a:rPr>
              <a:t>•  Issues move through seven states — backlog, todo, in_progress, in_review, done, plus blocked and cancelled. done and cancelled are TERMINAL: issues do not move backwards.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fast" advClick="1">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Deploying and Managing AI Agents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Routines and schedules · layered budgets · approvals and audit · operator intervention · deployment, portability and troubleshooting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med" advClick="1">
    <p:push dir="l"/>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Deploying and Managing AI Agents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A routine is recurring work triggered by cron, webhook or API. Create it paused, prove it once by hand, and only then let the schedule own 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A schedule trigger is explicit — 30 16 * * * with an IANA timezone such as Asia/Singapore. An implicit timezone is a production incident waiting to happen.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Budgets have three scopes enforced in PARALLEL: company (monthly), agent (monthly) and project (lifetime). An agent can be paused by its own cap even when the company has budget left.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Enforcement is a two-stage circuit breaker at exact thresholds: 80% utilisation records a warning and the agent keeps running; 100% pauses the agent automatically with pauseReason = budget. Enforcement happens at checkout, not at billing.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Treat the budget as a two-stage circuit breaker — warn, then stop — and record the baseline spend and expected run frequency before you rely on it.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fast" advClick="1">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Key Concepts — Deploying and Managing AI Agents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Cost is tracked at token level by provider, model, agent and project, which is what makes the per-agent cap meaningful rather than notional.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Approvals come in three types — CEO Strategy, Hire Agent and Budget Override — and you have three responses: approve, reject, or request revision. Approvals never expire on their own, so a silent company is often an unattended approval queue.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The activity log is a durable record of mutations, heartbeats, cost events and approvals — the audit loop closes when the whole operation reconstructs from it.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Use the least irreversible control first: inspect, pause, reassign, then terminate. Pause and heartbeat-off differ: heartbeat-off still wakes on assignment, comment, routine and on-demand; a paused agent wakes on nothing.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300" b="0">
                <a:solidFill>
                  <a:srgbClr val="161B26"/>
                </a:solidFill>
                <a:latin typeface="Arial"/>
              </a:rPr>
              <a:t>Deployment modes are local_trusted (the default, no login), authenticated+private and authenticated+public, set with paperclipai configure --section server.</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fast" advClick="1">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Key Concepts — Deploying and Managing AI Agents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A hosted deployment REQUIRES PAPERCLIP_AGENT_JWT_SECRET and DATABASE_URL; PAPERCLIP_TOOL_ACTION_SIGNING_SECRET is separately documented as required with no fallback for TOOL-ACTION approvals.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Portability means an entire company exports and imports with secrets scrubbed and collisions handled — the org chart is data, not a hand-built configuration.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300" b="0">
                <a:solidFill>
                  <a:srgbClr val="161B26"/>
                </a:solidFill>
                <a:latin typeface="Arial"/>
              </a:rPr>
              <a:t>Troubleshooting is a discipline: reproduce, isolate the layer, change one setting, re-verify with evidence, and record what the fix actually proved.</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fast" advClick="1">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LO4 · COST CONTROL AS A CIRCUIT BREAKER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Layered Budgets — Warn, Then Stop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iagram-layered-budgets.png"/>
          <p:cNvPicPr>
            <a:picLocks noChangeAspect="1"/>
          </p:cNvPicPr>
          <p:nvPr/>
        </p:nvPicPr>
        <p:blipFill>
          <a:blip r:embed="rId2"/>
          <a:stretch>
            <a:fillRect/>
          </a:stretch>
        </p:blipFill>
        <p:spPr>
          <a:xfrm>
            <a:off x="777240" y="2102522"/>
            <a:ext cx="6812280" cy="3640507"/>
          </a:xfrm>
          <a:prstGeom prst="rect">
            <a:avLst/>
          </a:prstGeom>
        </p:spPr>
      </p:pic>
      <p:sp>
        <p:nvSpPr>
          <p:cNvPr id="8" name="Rectangle 7"/>
          <p:cNvSpPr/>
          <p:nvPr/>
        </p:nvSpPr>
        <p:spPr>
          <a:xfrm>
            <a:off x="7882127" y="1810512"/>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82127" y="1810512"/>
            <a:ext cx="352958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3295" y="1975104"/>
            <a:ext cx="3127248" cy="310896"/>
          </a:xfrm>
          <a:prstGeom prst="rect">
            <a:avLst/>
          </a:prstGeom>
          <a:noFill/>
        </p:spPr>
        <p:txBody>
          <a:bodyPr wrap="square" anchor="t">
            <a:spAutoFit/>
          </a:bodyPr>
          <a:lstStyle/>
          <a:p>
            <a:pPr algn="l">
              <a:spcAft>
                <a:spcPts val="400"/>
              </a:spcAft>
            </a:pPr>
            <a:r>
              <a:rPr sz="1350" b="1">
                <a:solidFill>
                  <a:srgbClr val="1F6FEB"/>
                </a:solidFill>
                <a:latin typeface="Arial"/>
              </a:rPr>
              <a:t>Three rings</a:t>
            </a:r>
          </a:p>
        </p:txBody>
      </p:sp>
      <p:sp>
        <p:nvSpPr>
          <p:cNvPr id="11" name="TextBox 10"/>
          <p:cNvSpPr txBox="1"/>
          <p:nvPr/>
        </p:nvSpPr>
        <p:spPr>
          <a:xfrm>
            <a:off x="8083295" y="2322576"/>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Company, project and agent — the innermost cap that binds fires first.</a:t>
            </a:r>
          </a:p>
        </p:txBody>
      </p:sp>
      <p:sp>
        <p:nvSpPr>
          <p:cNvPr id="12" name="Rectangle 11"/>
          <p:cNvSpPr/>
          <p:nvPr/>
        </p:nvSpPr>
        <p:spPr>
          <a:xfrm>
            <a:off x="7882127" y="2944368"/>
            <a:ext cx="3529584"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882127" y="2944368"/>
            <a:ext cx="352958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3295" y="3108960"/>
            <a:ext cx="3127248" cy="310896"/>
          </a:xfrm>
          <a:prstGeom prst="rect">
            <a:avLst/>
          </a:prstGeom>
          <a:noFill/>
        </p:spPr>
        <p:txBody>
          <a:bodyPr wrap="square" anchor="t">
            <a:spAutoFit/>
          </a:bodyPr>
          <a:lstStyle/>
          <a:p>
            <a:pPr algn="l">
              <a:spcAft>
                <a:spcPts val="400"/>
              </a:spcAft>
            </a:pPr>
            <a:r>
              <a:rPr sz="1350" b="1">
                <a:solidFill>
                  <a:srgbClr val="10B981"/>
                </a:solidFill>
                <a:latin typeface="Arial"/>
              </a:rPr>
              <a:t>Enforced at checkout</a:t>
            </a:r>
          </a:p>
        </p:txBody>
      </p:sp>
      <p:sp>
        <p:nvSpPr>
          <p:cNvPr id="15" name="TextBox 14"/>
          <p:cNvSpPr txBox="1"/>
          <p:nvPr/>
        </p:nvSpPr>
        <p:spPr>
          <a:xfrm>
            <a:off x="8083295" y="3456432"/>
            <a:ext cx="3127248" cy="237744"/>
          </a:xfrm>
          <a:prstGeom prst="rect">
            <a:avLst/>
          </a:prstGeom>
          <a:noFill/>
        </p:spPr>
        <p:txBody>
          <a:bodyPr wrap="square" anchor="t">
            <a:spAutoFit/>
          </a:bodyPr>
          <a:lstStyle/>
          <a:p>
            <a:pPr algn="l">
              <a:spcAft>
                <a:spcPts val="400"/>
              </a:spcAft>
            </a:pPr>
            <a:r>
              <a:rPr sz="900" b="0">
                <a:solidFill>
                  <a:srgbClr val="161B26"/>
                </a:solidFill>
                <a:latin typeface="Arial"/>
              </a:rPr>
              <a:t>Not at billing. The loop stops at the ceiling.</a:t>
            </a:r>
          </a:p>
        </p:txBody>
      </p:sp>
      <p:sp>
        <p:nvSpPr>
          <p:cNvPr id="16" name="Rectangle 15"/>
          <p:cNvSpPr/>
          <p:nvPr/>
        </p:nvSpPr>
        <p:spPr>
          <a:xfrm>
            <a:off x="7882127" y="3931920"/>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3931920"/>
            <a:ext cx="3529584"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83295" y="4096512"/>
            <a:ext cx="3127248" cy="310896"/>
          </a:xfrm>
          <a:prstGeom prst="rect">
            <a:avLst/>
          </a:prstGeom>
          <a:noFill/>
        </p:spPr>
        <p:txBody>
          <a:bodyPr wrap="square" anchor="t">
            <a:spAutoFit/>
          </a:bodyPr>
          <a:lstStyle/>
          <a:p>
            <a:pPr algn="l">
              <a:spcAft>
                <a:spcPts val="400"/>
              </a:spcAft>
            </a:pPr>
            <a:r>
              <a:rPr sz="1350" b="1">
                <a:solidFill>
                  <a:srgbClr val="7C3AED"/>
                </a:solidFill>
                <a:latin typeface="Arial"/>
              </a:rPr>
              <a:t>Baseline first</a:t>
            </a:r>
          </a:p>
        </p:txBody>
      </p:sp>
      <p:sp>
        <p:nvSpPr>
          <p:cNvPr id="19" name="TextBox 18"/>
          <p:cNvSpPr txBox="1"/>
          <p:nvPr/>
        </p:nvSpPr>
        <p:spPr>
          <a:xfrm>
            <a:off x="8083295" y="4443984"/>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Record current spend and expected run frequency before you rely on a cap.</a:t>
            </a:r>
          </a:p>
        </p:txBody>
      </p:sp>
      <p:sp>
        <p:nvSpPr>
          <p:cNvPr id="20" name="Rectangle 19"/>
          <p:cNvSpPr/>
          <p:nvPr/>
        </p:nvSpPr>
        <p:spPr>
          <a:xfrm>
            <a:off x="7882127" y="5065776"/>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82127" y="5065776"/>
            <a:ext cx="352958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83295" y="5230368"/>
            <a:ext cx="3127248" cy="310896"/>
          </a:xfrm>
          <a:prstGeom prst="rect">
            <a:avLst/>
          </a:prstGeom>
          <a:noFill/>
        </p:spPr>
        <p:txBody>
          <a:bodyPr wrap="square" anchor="t">
            <a:spAutoFit/>
          </a:bodyPr>
          <a:lstStyle/>
          <a:p>
            <a:pPr algn="l">
              <a:spcAft>
                <a:spcPts val="400"/>
              </a:spcAft>
            </a:pPr>
            <a:r>
              <a:rPr sz="1350" b="1">
                <a:solidFill>
                  <a:srgbClr val="F59E0B"/>
                </a:solidFill>
                <a:latin typeface="Arial"/>
              </a:rPr>
              <a:t>Token-level costing</a:t>
            </a:r>
          </a:p>
        </p:txBody>
      </p:sp>
      <p:sp>
        <p:nvSpPr>
          <p:cNvPr id="23" name="TextBox 22"/>
          <p:cNvSpPr txBox="1"/>
          <p:nvPr/>
        </p:nvSpPr>
        <p:spPr>
          <a:xfrm>
            <a:off x="8083295" y="5577840"/>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Tracked by provider, model, agent and project — which is what makes the cap meaningful.</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fast" advClick="1">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LO4 · THE ENGINEERING ARGUMENT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Why the Cap Is Enforced at Checkout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hart-budget-burndown.png"/>
          <p:cNvPicPr>
            <a:picLocks noChangeAspect="1"/>
          </p:cNvPicPr>
          <p:nvPr/>
        </p:nvPicPr>
        <p:blipFill>
          <a:blip r:embed="rId2"/>
          <a:stretch>
            <a:fillRect/>
          </a:stretch>
        </p:blipFill>
        <p:spPr>
          <a:xfrm>
            <a:off x="777240" y="2205354"/>
            <a:ext cx="6812280" cy="3434843"/>
          </a:xfrm>
          <a:prstGeom prst="rect">
            <a:avLst/>
          </a:prstGeom>
        </p:spPr>
      </p:pic>
      <p:sp>
        <p:nvSpPr>
          <p:cNvPr id="8" name="Rectangle 7"/>
          <p:cNvSpPr/>
          <p:nvPr/>
        </p:nvSpPr>
        <p:spPr>
          <a:xfrm>
            <a:off x="7882127" y="1810512"/>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82127" y="1810512"/>
            <a:ext cx="352958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3295" y="1975104"/>
            <a:ext cx="3127248" cy="310896"/>
          </a:xfrm>
          <a:prstGeom prst="rect">
            <a:avLst/>
          </a:prstGeom>
          <a:noFill/>
        </p:spPr>
        <p:txBody>
          <a:bodyPr wrap="square" anchor="t">
            <a:spAutoFit/>
          </a:bodyPr>
          <a:lstStyle/>
          <a:p>
            <a:pPr algn="l">
              <a:spcAft>
                <a:spcPts val="400"/>
              </a:spcAft>
            </a:pPr>
            <a:r>
              <a:rPr sz="1350" b="1">
                <a:solidFill>
                  <a:srgbClr val="1F6FEB"/>
                </a:solidFill>
                <a:latin typeface="Arial"/>
              </a:rPr>
              <a:t>Without a cap</a:t>
            </a:r>
          </a:p>
        </p:txBody>
      </p:sp>
      <p:sp>
        <p:nvSpPr>
          <p:cNvPr id="11" name="TextBox 10"/>
          <p:cNvSpPr txBox="1"/>
          <p:nvPr/>
        </p:nvSpPr>
        <p:spPr>
          <a:xfrm>
            <a:off x="8083295" y="2322576"/>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A runaway loop keeps spending until someone notices the invoice.</a:t>
            </a:r>
          </a:p>
        </p:txBody>
      </p:sp>
      <p:sp>
        <p:nvSpPr>
          <p:cNvPr id="12" name="Rectangle 11"/>
          <p:cNvSpPr/>
          <p:nvPr/>
        </p:nvSpPr>
        <p:spPr>
          <a:xfrm>
            <a:off x="7882127" y="2944368"/>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882127" y="2944368"/>
            <a:ext cx="352958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3295" y="3108960"/>
            <a:ext cx="3127248" cy="310896"/>
          </a:xfrm>
          <a:prstGeom prst="rect">
            <a:avLst/>
          </a:prstGeom>
          <a:noFill/>
        </p:spPr>
        <p:txBody>
          <a:bodyPr wrap="square" anchor="t">
            <a:spAutoFit/>
          </a:bodyPr>
          <a:lstStyle/>
          <a:p>
            <a:pPr algn="l">
              <a:spcAft>
                <a:spcPts val="400"/>
              </a:spcAft>
            </a:pPr>
            <a:r>
              <a:rPr sz="1350" b="1">
                <a:solidFill>
                  <a:srgbClr val="10B981"/>
                </a:solidFill>
                <a:latin typeface="Arial"/>
              </a:rPr>
              <a:t>With a cap</a:t>
            </a:r>
          </a:p>
        </p:txBody>
      </p:sp>
      <p:sp>
        <p:nvSpPr>
          <p:cNvPr id="15" name="TextBox 14"/>
          <p:cNvSpPr txBox="1"/>
          <p:nvPr/>
        </p:nvSpPr>
        <p:spPr>
          <a:xfrm>
            <a:off x="8083295" y="3456432"/>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Spend flattens at the ceiling and the agent simply stops.</a:t>
            </a:r>
          </a:p>
        </p:txBody>
      </p:sp>
      <p:sp>
        <p:nvSpPr>
          <p:cNvPr id="16" name="Rectangle 15"/>
          <p:cNvSpPr/>
          <p:nvPr/>
        </p:nvSpPr>
        <p:spPr>
          <a:xfrm>
            <a:off x="7882127" y="4078224"/>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4078224"/>
            <a:ext cx="3529584"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83295" y="4242816"/>
            <a:ext cx="3127248" cy="310896"/>
          </a:xfrm>
          <a:prstGeom prst="rect">
            <a:avLst/>
          </a:prstGeom>
          <a:noFill/>
        </p:spPr>
        <p:txBody>
          <a:bodyPr wrap="square" anchor="t">
            <a:spAutoFit/>
          </a:bodyPr>
          <a:lstStyle/>
          <a:p>
            <a:pPr algn="l">
              <a:spcAft>
                <a:spcPts val="400"/>
              </a:spcAft>
            </a:pPr>
            <a:r>
              <a:rPr sz="1350" b="1">
                <a:solidFill>
                  <a:srgbClr val="7C3AED"/>
                </a:solidFill>
                <a:latin typeface="Arial"/>
              </a:rPr>
              <a:t>The cap is a control</a:t>
            </a:r>
          </a:p>
        </p:txBody>
      </p:sp>
      <p:sp>
        <p:nvSpPr>
          <p:cNvPr id="19" name="TextBox 18"/>
          <p:cNvSpPr txBox="1"/>
          <p:nvPr/>
        </p:nvSpPr>
        <p:spPr>
          <a:xfrm>
            <a:off x="8083295" y="4590288"/>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Not a budget estimate — it is the thing that makes unattended operation safe.</a:t>
            </a:r>
          </a:p>
        </p:txBody>
      </p:sp>
      <p:sp>
        <p:nvSpPr>
          <p:cNvPr id="20" name="Rectangle 19"/>
          <p:cNvSpPr/>
          <p:nvPr/>
        </p:nvSpPr>
        <p:spPr>
          <a:xfrm>
            <a:off x="7882127" y="5212080"/>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82127" y="5212080"/>
            <a:ext cx="352958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83295" y="5376672"/>
            <a:ext cx="3127248" cy="310896"/>
          </a:xfrm>
          <a:prstGeom prst="rect">
            <a:avLst/>
          </a:prstGeom>
          <a:noFill/>
        </p:spPr>
        <p:txBody>
          <a:bodyPr wrap="square" anchor="t">
            <a:spAutoFit/>
          </a:bodyPr>
          <a:lstStyle/>
          <a:p>
            <a:pPr algn="l">
              <a:spcAft>
                <a:spcPts val="400"/>
              </a:spcAft>
            </a:pPr>
            <a:r>
              <a:rPr sz="1350" b="1">
                <a:solidFill>
                  <a:srgbClr val="F59E0B"/>
                </a:solidFill>
                <a:latin typeface="Arial"/>
              </a:rPr>
              <a:t>Set it below the pain</a:t>
            </a:r>
          </a:p>
        </p:txBody>
      </p:sp>
      <p:sp>
        <p:nvSpPr>
          <p:cNvPr id="23" name="TextBox 22"/>
          <p:cNvSpPr txBox="1"/>
          <p:nvPr/>
        </p:nvSpPr>
        <p:spPr>
          <a:xfrm>
            <a:off x="8083295" y="5724144"/>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A cap you would be unhappy to actually pay is set too high.</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fast" advClick="1">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SCHEDULED WORK</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Routines — Automation Earns the Schedule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13274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75133"/>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75133"/>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94759"/>
            <a:ext cx="3973068" cy="973204"/>
          </a:xfrm>
          <a:prstGeom prst="rect">
            <a:avLst/>
          </a:prstGeom>
          <a:noFill/>
        </p:spPr>
        <p:txBody>
          <a:bodyPr wrap="square" anchor="ctr">
            <a:spAutoFit/>
          </a:bodyPr>
          <a:lstStyle/>
          <a:p>
            <a:pPr algn="l">
              <a:spcAft>
                <a:spcPts val="300"/>
              </a:spcAft>
            </a:pPr>
            <a:r>
              <a:rPr sz="1600" b="1">
                <a:solidFill>
                  <a:srgbClr val="161B26"/>
                </a:solidFill>
                <a:latin typeface="Arial"/>
              </a:rPr>
              <a:t>Create it PAUSED</a:t>
            </a:r>
          </a:p>
          <a:p>
            <a:pPr algn="l">
              <a:spcAft>
                <a:spcPts val="300"/>
              </a:spcAft>
            </a:pPr>
            <a:r>
              <a:rPr sz="1200" b="0">
                <a:solidFill>
                  <a:srgbClr val="5B6372"/>
                </a:solidFill>
                <a:latin typeface="Arial"/>
              </a:rPr>
              <a:t>A routine live before it has ever succeeded is unreviewed scheduled spend.</a:t>
            </a:r>
          </a:p>
        </p:txBody>
      </p:sp>
      <p:sp>
        <p:nvSpPr>
          <p:cNvPr id="12" name="Rectangle 11"/>
          <p:cNvSpPr/>
          <p:nvPr/>
        </p:nvSpPr>
        <p:spPr>
          <a:xfrm>
            <a:off x="6231636" y="1783080"/>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13274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075133"/>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075133"/>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94759"/>
            <a:ext cx="3973068" cy="973204"/>
          </a:xfrm>
          <a:prstGeom prst="rect">
            <a:avLst/>
          </a:prstGeom>
          <a:noFill/>
        </p:spPr>
        <p:txBody>
          <a:bodyPr wrap="square" anchor="ctr">
            <a:spAutoFit/>
          </a:bodyPr>
          <a:lstStyle/>
          <a:p>
            <a:pPr algn="l">
              <a:spcAft>
                <a:spcPts val="300"/>
              </a:spcAft>
            </a:pPr>
            <a:r>
              <a:rPr sz="1600" b="1">
                <a:solidFill>
                  <a:srgbClr val="161B26"/>
                </a:solidFill>
                <a:latin typeface="Arial"/>
              </a:rPr>
              <a:t>State the trigger explicitly</a:t>
            </a:r>
          </a:p>
          <a:p>
            <a:pPr algn="l">
              <a:spcAft>
                <a:spcPts val="300"/>
              </a:spcAft>
            </a:pPr>
            <a:r>
              <a:rPr sz="1200" b="0">
                <a:solidFill>
                  <a:srgbClr val="5B6372"/>
                </a:solidFill>
                <a:latin typeface="Arial"/>
              </a:rPr>
              <a:t>30 16 * * * WITH an IANA timezone such as Asia/Singapore.</a:t>
            </a:r>
          </a:p>
        </p:txBody>
      </p:sp>
      <p:sp>
        <p:nvSpPr>
          <p:cNvPr id="17" name="Rectangle 16"/>
          <p:cNvSpPr/>
          <p:nvPr/>
        </p:nvSpPr>
        <p:spPr>
          <a:xfrm>
            <a:off x="777240" y="312323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123231"/>
            <a:ext cx="91440" cy="113274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4152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4152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34910"/>
            <a:ext cx="3973068" cy="973204"/>
          </a:xfrm>
          <a:prstGeom prst="rect">
            <a:avLst/>
          </a:prstGeom>
          <a:noFill/>
        </p:spPr>
        <p:txBody>
          <a:bodyPr wrap="square" anchor="ctr">
            <a:spAutoFit/>
          </a:bodyPr>
          <a:lstStyle/>
          <a:p>
            <a:pPr algn="l">
              <a:spcAft>
                <a:spcPts val="300"/>
              </a:spcAft>
            </a:pPr>
            <a:r>
              <a:rPr sz="1600" b="1">
                <a:solidFill>
                  <a:srgbClr val="161B26"/>
                </a:solidFill>
                <a:latin typeface="Arial"/>
              </a:rPr>
              <a:t>Prove it once by hand</a:t>
            </a:r>
          </a:p>
          <a:p>
            <a:pPr algn="l">
              <a:spcAft>
                <a:spcPts val="300"/>
              </a:spcAft>
            </a:pPr>
            <a:r>
              <a:rPr sz="1200" b="0">
                <a:solidFill>
                  <a:srgbClr val="5B6372"/>
                </a:solidFill>
                <a:latin typeface="Arial"/>
              </a:rPr>
              <a:t>One bounded manual run, reviewed by a human.</a:t>
            </a:r>
          </a:p>
        </p:txBody>
      </p:sp>
      <p:sp>
        <p:nvSpPr>
          <p:cNvPr id="22" name="Rectangle 21"/>
          <p:cNvSpPr/>
          <p:nvPr/>
        </p:nvSpPr>
        <p:spPr>
          <a:xfrm>
            <a:off x="6231636" y="312323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123231"/>
            <a:ext cx="91440" cy="113274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4152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4152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234910"/>
            <a:ext cx="3973068" cy="973204"/>
          </a:xfrm>
          <a:prstGeom prst="rect">
            <a:avLst/>
          </a:prstGeom>
          <a:noFill/>
        </p:spPr>
        <p:txBody>
          <a:bodyPr wrap="square" anchor="ctr">
            <a:spAutoFit/>
          </a:bodyPr>
          <a:lstStyle/>
          <a:p>
            <a:pPr algn="l">
              <a:spcAft>
                <a:spcPts val="300"/>
              </a:spcAft>
            </a:pPr>
            <a:r>
              <a:rPr sz="1600" b="1">
                <a:solidFill>
                  <a:srgbClr val="161B26"/>
                </a:solidFill>
                <a:latin typeface="Arial"/>
              </a:rPr>
              <a:t>Leave it paused</a:t>
            </a:r>
          </a:p>
          <a:p>
            <a:pPr algn="l">
              <a:spcAft>
                <a:spcPts val="300"/>
              </a:spcAft>
            </a:pPr>
            <a:r>
              <a:rPr sz="1200" b="0">
                <a:solidFill>
                  <a:srgbClr val="5B6372"/>
                </a:solidFill>
                <a:latin typeface="Arial"/>
              </a:rPr>
              <a:t>Until you have read the generated issue, the run and the cost.</a:t>
            </a:r>
          </a:p>
        </p:txBody>
      </p:sp>
      <p:sp>
        <p:nvSpPr>
          <p:cNvPr id="27" name="Rectangle 26"/>
          <p:cNvSpPr/>
          <p:nvPr/>
        </p:nvSpPr>
        <p:spPr>
          <a:xfrm>
            <a:off x="777240" y="446338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463381"/>
            <a:ext cx="91440" cy="113274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75543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75543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575061"/>
            <a:ext cx="3973068" cy="973204"/>
          </a:xfrm>
          <a:prstGeom prst="rect">
            <a:avLst/>
          </a:prstGeom>
          <a:noFill/>
        </p:spPr>
        <p:txBody>
          <a:bodyPr wrap="square" anchor="ctr">
            <a:spAutoFit/>
          </a:bodyPr>
          <a:lstStyle/>
          <a:p>
            <a:pPr algn="l">
              <a:spcAft>
                <a:spcPts val="300"/>
              </a:spcAft>
            </a:pPr>
            <a:r>
              <a:rPr sz="1600" b="1">
                <a:solidFill>
                  <a:srgbClr val="161B26"/>
                </a:solidFill>
                <a:latin typeface="Arial"/>
              </a:rPr>
              <a:t>Name the artifact</a:t>
            </a:r>
          </a:p>
          <a:p>
            <a:pPr algn="l">
              <a:spcAft>
                <a:spcPts val="300"/>
              </a:spcAft>
            </a:pPr>
            <a:r>
              <a:rPr sz="1200" b="0">
                <a:solidFill>
                  <a:srgbClr val="5B6372"/>
                </a:solidFill>
                <a:latin typeface="Arial"/>
              </a:rPr>
              <a:t>The routine body must state what file it produces, or the run is unverifiable.</a:t>
            </a:r>
          </a:p>
        </p:txBody>
      </p:sp>
      <p:sp>
        <p:nvSpPr>
          <p:cNvPr id="32" name="Rectangle 31"/>
          <p:cNvSpPr/>
          <p:nvPr/>
        </p:nvSpPr>
        <p:spPr>
          <a:xfrm>
            <a:off x="6231636" y="446338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463381"/>
            <a:ext cx="91440" cy="113274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75543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75543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575061"/>
            <a:ext cx="3973068" cy="973204"/>
          </a:xfrm>
          <a:prstGeom prst="rect">
            <a:avLst/>
          </a:prstGeom>
          <a:noFill/>
        </p:spPr>
        <p:txBody>
          <a:bodyPr wrap="square" anchor="ctr">
            <a:spAutoFit/>
          </a:bodyPr>
          <a:lstStyle/>
          <a:p>
            <a:pPr algn="l">
              <a:spcAft>
                <a:spcPts val="300"/>
              </a:spcAft>
            </a:pPr>
            <a:r>
              <a:rPr sz="1600" b="1">
                <a:solidFill>
                  <a:srgbClr val="161B26"/>
                </a:solidFill>
                <a:latin typeface="Arial"/>
              </a:rPr>
              <a:t>Watch for concurrency</a:t>
            </a:r>
          </a:p>
          <a:p>
            <a:pPr algn="l">
              <a:spcAft>
                <a:spcPts val="300"/>
              </a:spcAft>
            </a:pPr>
            <a:r>
              <a:rPr sz="1200" b="0">
                <a:solidFill>
                  <a:srgbClr val="5B6372"/>
                </a:solidFill>
                <a:latin typeface="Arial"/>
              </a:rPr>
              <a:t>One event should not create many outcomes.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
        <p:nvSpPr>
          <p:cNvPr id="40" name="Rectangle 39"/>
          <p:cNvSpPr/>
          <p:nvPr/>
        </p:nvSpPr>
        <p:spPr>
          <a:xfrm>
            <a:off x="777240" y="5742432"/>
            <a:ext cx="10607040" cy="603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5742432"/>
            <a:ext cx="91440"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5742432"/>
            <a:ext cx="10241280" cy="603504"/>
          </a:xfrm>
          <a:prstGeom prst="rect">
            <a:avLst/>
          </a:prstGeom>
          <a:noFill/>
        </p:spPr>
        <p:txBody>
          <a:bodyPr wrap="square" anchor="ctr">
            <a:spAutoFit/>
          </a:bodyPr>
          <a:lstStyle/>
          <a:p>
            <a:pPr algn="l">
              <a:spcAft>
                <a:spcPts val="400"/>
              </a:spcAft>
            </a:pPr>
            <a:r>
              <a:rPr sz="1350" b="1">
                <a:solidFill>
                  <a:srgbClr val="161B26"/>
                </a:solidFill>
                <a:latin typeface="Arial"/>
              </a:rPr>
              <a:t>An implicit timezone is a production incident waiting to happen.</a:t>
            </a:r>
          </a:p>
        </p:txBody>
      </p:sp>
    </p:spTree>
  </p:cSld>
  <p:clrMapOvr>
    <a:masterClrMapping/>
  </p:clrMapOvr>
  <p:transition spd="fast" advClick="1">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HUMAN AUTHORITY STAYS EXPLICIT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Approval and Audit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iagram-approval-loop.png"/>
          <p:cNvPicPr>
            <a:picLocks noChangeAspect="1"/>
          </p:cNvPicPr>
          <p:nvPr/>
        </p:nvPicPr>
        <p:blipFill>
          <a:blip r:embed="rId2"/>
          <a:stretch>
            <a:fillRect/>
          </a:stretch>
        </p:blipFill>
        <p:spPr>
          <a:xfrm>
            <a:off x="777240" y="2581832"/>
            <a:ext cx="6812280" cy="2681887"/>
          </a:xfrm>
          <a:prstGeom prst="rect">
            <a:avLst/>
          </a:prstGeom>
        </p:spPr>
      </p:pic>
      <p:sp>
        <p:nvSpPr>
          <p:cNvPr id="8" name="Rectangle 7"/>
          <p:cNvSpPr/>
          <p:nvPr/>
        </p:nvSpPr>
        <p:spPr>
          <a:xfrm>
            <a:off x="7882127" y="1810512"/>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82127" y="1810512"/>
            <a:ext cx="352958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3295" y="1975104"/>
            <a:ext cx="3127248" cy="310896"/>
          </a:xfrm>
          <a:prstGeom prst="rect">
            <a:avLst/>
          </a:prstGeom>
          <a:noFill/>
        </p:spPr>
        <p:txBody>
          <a:bodyPr wrap="square" anchor="t">
            <a:spAutoFit/>
          </a:bodyPr>
          <a:lstStyle/>
          <a:p>
            <a:pPr algn="l">
              <a:spcAft>
                <a:spcPts val="400"/>
              </a:spcAft>
            </a:pPr>
            <a:r>
              <a:rPr sz="1350" b="1">
                <a:solidFill>
                  <a:srgbClr val="1F6FEB"/>
                </a:solidFill>
                <a:latin typeface="Arial"/>
              </a:rPr>
              <a:t>Propose, then hold</a:t>
            </a:r>
          </a:p>
        </p:txBody>
      </p:sp>
      <p:sp>
        <p:nvSpPr>
          <p:cNvPr id="11" name="TextBox 10"/>
          <p:cNvSpPr txBox="1"/>
          <p:nvPr/>
        </p:nvSpPr>
        <p:spPr>
          <a:xfrm>
            <a:off x="8083295" y="2322576"/>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The governed action does not execute while it is pending.</a:t>
            </a:r>
          </a:p>
        </p:txBody>
      </p:sp>
      <p:sp>
        <p:nvSpPr>
          <p:cNvPr id="12" name="Rectangle 11"/>
          <p:cNvSpPr/>
          <p:nvPr/>
        </p:nvSpPr>
        <p:spPr>
          <a:xfrm>
            <a:off x="7882127" y="2944368"/>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882127" y="2944368"/>
            <a:ext cx="352958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3295" y="3108960"/>
            <a:ext cx="3127248" cy="310896"/>
          </a:xfrm>
          <a:prstGeom prst="rect">
            <a:avLst/>
          </a:prstGeom>
          <a:noFill/>
        </p:spPr>
        <p:txBody>
          <a:bodyPr wrap="square" anchor="t">
            <a:spAutoFit/>
          </a:bodyPr>
          <a:lstStyle/>
          <a:p>
            <a:pPr algn="l">
              <a:spcAft>
                <a:spcPts val="400"/>
              </a:spcAft>
            </a:pPr>
            <a:r>
              <a:rPr sz="1350" b="1">
                <a:solidFill>
                  <a:srgbClr val="10B981"/>
                </a:solidFill>
                <a:latin typeface="Arial"/>
              </a:rPr>
              <a:t>A human decides</a:t>
            </a:r>
          </a:p>
        </p:txBody>
      </p:sp>
      <p:sp>
        <p:nvSpPr>
          <p:cNvPr id="15" name="TextBox 14"/>
          <p:cNvSpPr txBox="1"/>
          <p:nvPr/>
        </p:nvSpPr>
        <p:spPr>
          <a:xfrm>
            <a:off x="8083295" y="3456432"/>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With a RECORDED rationale — that sentence is the audit.</a:t>
            </a:r>
          </a:p>
        </p:txBody>
      </p:sp>
      <p:sp>
        <p:nvSpPr>
          <p:cNvPr id="16" name="Rectangle 15"/>
          <p:cNvSpPr/>
          <p:nvPr/>
        </p:nvSpPr>
        <p:spPr>
          <a:xfrm>
            <a:off x="7882127" y="4078224"/>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4078224"/>
            <a:ext cx="3529584"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83295" y="4242816"/>
            <a:ext cx="3127248" cy="310896"/>
          </a:xfrm>
          <a:prstGeom prst="rect">
            <a:avLst/>
          </a:prstGeom>
          <a:noFill/>
        </p:spPr>
        <p:txBody>
          <a:bodyPr wrap="square" anchor="t">
            <a:spAutoFit/>
          </a:bodyPr>
          <a:lstStyle/>
          <a:p>
            <a:pPr algn="l">
              <a:spcAft>
                <a:spcPts val="400"/>
              </a:spcAft>
            </a:pPr>
            <a:r>
              <a:rPr sz="1350" b="1">
                <a:solidFill>
                  <a:srgbClr val="7C3AED"/>
                </a:solidFill>
                <a:latin typeface="Arial"/>
              </a:rPr>
              <a:t>The log is durable</a:t>
            </a:r>
          </a:p>
        </p:txBody>
      </p:sp>
      <p:sp>
        <p:nvSpPr>
          <p:cNvPr id="19" name="TextBox 18"/>
          <p:cNvSpPr txBox="1"/>
          <p:nvPr/>
        </p:nvSpPr>
        <p:spPr>
          <a:xfrm>
            <a:off x="8083295" y="4590288"/>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Mutations, heartbeats, cost events and approvals all land in Activity.</a:t>
            </a:r>
          </a:p>
        </p:txBody>
      </p:sp>
      <p:sp>
        <p:nvSpPr>
          <p:cNvPr id="20" name="Rectangle 19"/>
          <p:cNvSpPr/>
          <p:nvPr/>
        </p:nvSpPr>
        <p:spPr>
          <a:xfrm>
            <a:off x="7882127" y="5212080"/>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82127" y="5212080"/>
            <a:ext cx="352958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83295" y="5376672"/>
            <a:ext cx="3127248" cy="310896"/>
          </a:xfrm>
          <a:prstGeom prst="rect">
            <a:avLst/>
          </a:prstGeom>
          <a:noFill/>
        </p:spPr>
        <p:txBody>
          <a:bodyPr wrap="square" anchor="t">
            <a:spAutoFit/>
          </a:bodyPr>
          <a:lstStyle/>
          <a:p>
            <a:pPr algn="l">
              <a:spcAft>
                <a:spcPts val="400"/>
              </a:spcAft>
            </a:pPr>
            <a:r>
              <a:rPr sz="1350" b="1">
                <a:solidFill>
                  <a:srgbClr val="F59E0B"/>
                </a:solidFill>
                <a:latin typeface="Arial"/>
              </a:rPr>
              <a:t>The loop closes</a:t>
            </a:r>
          </a:p>
        </p:txBody>
      </p:sp>
      <p:sp>
        <p:nvSpPr>
          <p:cNvPr id="23" name="TextBox 22"/>
          <p:cNvSpPr txBox="1"/>
          <p:nvPr/>
        </p:nvSpPr>
        <p:spPr>
          <a:xfrm>
            <a:off x="8083295" y="5724144"/>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When the whole operation can be reconstructed from the log alone.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fast" advClick="1">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LO4 · USE THE LEAST IRREVERSIBLE CONTROL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Operator Intervention Ladder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iagram-intervention-ladder.png"/>
          <p:cNvPicPr>
            <a:picLocks noChangeAspect="1"/>
          </p:cNvPicPr>
          <p:nvPr/>
        </p:nvPicPr>
        <p:blipFill>
          <a:blip r:embed="rId2"/>
          <a:stretch>
            <a:fillRect/>
          </a:stretch>
        </p:blipFill>
        <p:spPr>
          <a:xfrm>
            <a:off x="777240" y="2222310"/>
            <a:ext cx="6812280" cy="3400931"/>
          </a:xfrm>
          <a:prstGeom prst="rect">
            <a:avLst/>
          </a:prstGeom>
        </p:spPr>
      </p:pic>
      <p:sp>
        <p:nvSpPr>
          <p:cNvPr id="8" name="Rectangle 7"/>
          <p:cNvSpPr/>
          <p:nvPr/>
        </p:nvSpPr>
        <p:spPr>
          <a:xfrm>
            <a:off x="7882127" y="1810512"/>
            <a:ext cx="3529584" cy="108051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82127" y="1810512"/>
            <a:ext cx="352958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3295" y="1975104"/>
            <a:ext cx="3127248" cy="310896"/>
          </a:xfrm>
          <a:prstGeom prst="rect">
            <a:avLst/>
          </a:prstGeom>
          <a:noFill/>
        </p:spPr>
        <p:txBody>
          <a:bodyPr wrap="square" anchor="t">
            <a:spAutoFit/>
          </a:bodyPr>
          <a:lstStyle/>
          <a:p>
            <a:pPr algn="l">
              <a:spcAft>
                <a:spcPts val="400"/>
              </a:spcAft>
            </a:pPr>
            <a:r>
              <a:rPr sz="1350" b="1">
                <a:solidFill>
                  <a:srgbClr val="1F6FEB"/>
                </a:solidFill>
                <a:latin typeface="Arial"/>
              </a:rPr>
              <a:t>Inspect</a:t>
            </a:r>
          </a:p>
        </p:txBody>
      </p:sp>
      <p:sp>
        <p:nvSpPr>
          <p:cNvPr id="11" name="TextBox 10"/>
          <p:cNvSpPr txBox="1"/>
          <p:nvPr/>
        </p:nvSpPr>
        <p:spPr>
          <a:xfrm>
            <a:off x="8083295" y="2322576"/>
            <a:ext cx="3127248" cy="477012"/>
          </a:xfrm>
          <a:prstGeom prst="rect">
            <a:avLst/>
          </a:prstGeom>
          <a:noFill/>
        </p:spPr>
        <p:txBody>
          <a:bodyPr wrap="square" anchor="t">
            <a:spAutoFit/>
          </a:bodyPr>
          <a:lstStyle/>
          <a:p>
            <a:pPr algn="l">
              <a:spcAft>
                <a:spcPts val="400"/>
              </a:spcAft>
            </a:pPr>
            <a:r>
              <a:rPr sz="1100" b="0">
                <a:solidFill>
                  <a:srgbClr val="161B26"/>
                </a:solidFill>
                <a:latin typeface="Arial"/>
              </a:rPr>
              <a:t>Read task, run, cost and activity evidence BEFORE acting.</a:t>
            </a:r>
          </a:p>
        </p:txBody>
      </p:sp>
      <p:sp>
        <p:nvSpPr>
          <p:cNvPr id="12" name="Rectangle 11"/>
          <p:cNvSpPr/>
          <p:nvPr/>
        </p:nvSpPr>
        <p:spPr>
          <a:xfrm>
            <a:off x="7882127" y="3037332"/>
            <a:ext cx="3529584" cy="9017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882127" y="3037332"/>
            <a:ext cx="352958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3295" y="3201924"/>
            <a:ext cx="3127248" cy="310896"/>
          </a:xfrm>
          <a:prstGeom prst="rect">
            <a:avLst/>
          </a:prstGeom>
          <a:noFill/>
        </p:spPr>
        <p:txBody>
          <a:bodyPr wrap="square" anchor="t">
            <a:spAutoFit/>
          </a:bodyPr>
          <a:lstStyle/>
          <a:p>
            <a:pPr algn="l">
              <a:spcAft>
                <a:spcPts val="400"/>
              </a:spcAft>
            </a:pPr>
            <a:r>
              <a:rPr sz="1350" b="1">
                <a:solidFill>
                  <a:srgbClr val="10B981"/>
                </a:solidFill>
                <a:latin typeface="Arial"/>
              </a:rPr>
              <a:t>Pause</a:t>
            </a:r>
          </a:p>
        </p:txBody>
      </p:sp>
      <p:sp>
        <p:nvSpPr>
          <p:cNvPr id="15" name="TextBox 14"/>
          <p:cNvSpPr txBox="1"/>
          <p:nvPr/>
        </p:nvSpPr>
        <p:spPr>
          <a:xfrm>
            <a:off x="8083295" y="3549396"/>
            <a:ext cx="3127248" cy="298196"/>
          </a:xfrm>
          <a:prstGeom prst="rect">
            <a:avLst/>
          </a:prstGeom>
          <a:noFill/>
        </p:spPr>
        <p:txBody>
          <a:bodyPr wrap="square" anchor="t">
            <a:spAutoFit/>
          </a:bodyPr>
          <a:lstStyle/>
          <a:p>
            <a:pPr algn="l">
              <a:spcAft>
                <a:spcPts val="400"/>
              </a:spcAft>
            </a:pPr>
            <a:r>
              <a:rPr sz="1100" b="0">
                <a:solidFill>
                  <a:srgbClr val="161B26"/>
                </a:solidFill>
                <a:latin typeface="Arial"/>
              </a:rPr>
              <a:t>Stop new heartbeats while keeping all state.</a:t>
            </a:r>
          </a:p>
        </p:txBody>
      </p:sp>
      <p:sp>
        <p:nvSpPr>
          <p:cNvPr id="16" name="Rectangle 15"/>
          <p:cNvSpPr/>
          <p:nvPr/>
        </p:nvSpPr>
        <p:spPr>
          <a:xfrm>
            <a:off x="7882127" y="4085336"/>
            <a:ext cx="3529584" cy="9017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4085336"/>
            <a:ext cx="3529584"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83295" y="4249928"/>
            <a:ext cx="3127248" cy="310896"/>
          </a:xfrm>
          <a:prstGeom prst="rect">
            <a:avLst/>
          </a:prstGeom>
          <a:noFill/>
        </p:spPr>
        <p:txBody>
          <a:bodyPr wrap="square" anchor="t">
            <a:spAutoFit/>
          </a:bodyPr>
          <a:lstStyle/>
          <a:p>
            <a:pPr algn="l">
              <a:spcAft>
                <a:spcPts val="400"/>
              </a:spcAft>
            </a:pPr>
            <a:r>
              <a:rPr sz="1350" b="1">
                <a:solidFill>
                  <a:srgbClr val="7C3AED"/>
                </a:solidFill>
                <a:latin typeface="Arial"/>
              </a:rPr>
              <a:t>Reassign</a:t>
            </a:r>
          </a:p>
        </p:txBody>
      </p:sp>
      <p:sp>
        <p:nvSpPr>
          <p:cNvPr id="19" name="TextBox 18"/>
          <p:cNvSpPr txBox="1"/>
          <p:nvPr/>
        </p:nvSpPr>
        <p:spPr>
          <a:xfrm>
            <a:off x="8083295" y="4597400"/>
            <a:ext cx="3127248" cy="298196"/>
          </a:xfrm>
          <a:prstGeom prst="rect">
            <a:avLst/>
          </a:prstGeom>
          <a:noFill/>
        </p:spPr>
        <p:txBody>
          <a:bodyPr wrap="square" anchor="t">
            <a:spAutoFit/>
          </a:bodyPr>
          <a:lstStyle/>
          <a:p>
            <a:pPr algn="l">
              <a:spcAft>
                <a:spcPts val="400"/>
              </a:spcAft>
            </a:pPr>
            <a:r>
              <a:rPr sz="1100" b="0">
                <a:solidFill>
                  <a:srgbClr val="161B26"/>
                </a:solidFill>
                <a:latin typeface="Arial"/>
              </a:rPr>
              <a:t>Move the work to another role.</a:t>
            </a:r>
          </a:p>
        </p:txBody>
      </p:sp>
      <p:sp>
        <p:nvSpPr>
          <p:cNvPr id="20" name="Rectangle 19"/>
          <p:cNvSpPr/>
          <p:nvPr/>
        </p:nvSpPr>
        <p:spPr>
          <a:xfrm>
            <a:off x="7882127" y="5133340"/>
            <a:ext cx="3529584" cy="9017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82127" y="5133340"/>
            <a:ext cx="352958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83295" y="5297932"/>
            <a:ext cx="3127248" cy="310896"/>
          </a:xfrm>
          <a:prstGeom prst="rect">
            <a:avLst/>
          </a:prstGeom>
          <a:noFill/>
        </p:spPr>
        <p:txBody>
          <a:bodyPr wrap="square" anchor="t">
            <a:spAutoFit/>
          </a:bodyPr>
          <a:lstStyle/>
          <a:p>
            <a:pPr algn="l">
              <a:spcAft>
                <a:spcPts val="400"/>
              </a:spcAft>
            </a:pPr>
            <a:r>
              <a:rPr sz="1350" b="1">
                <a:solidFill>
                  <a:srgbClr val="F59E0B"/>
                </a:solidFill>
                <a:latin typeface="Arial"/>
              </a:rPr>
              <a:t>Terminate</a:t>
            </a:r>
          </a:p>
        </p:txBody>
      </p:sp>
      <p:sp>
        <p:nvSpPr>
          <p:cNvPr id="23" name="TextBox 22"/>
          <p:cNvSpPr txBox="1"/>
          <p:nvPr/>
        </p:nvSpPr>
        <p:spPr>
          <a:xfrm>
            <a:off x="8083295" y="5645404"/>
            <a:ext cx="3127248" cy="298196"/>
          </a:xfrm>
          <a:prstGeom prst="rect">
            <a:avLst/>
          </a:prstGeom>
          <a:noFill/>
        </p:spPr>
        <p:txBody>
          <a:bodyPr wrap="square" anchor="t">
            <a:spAutoFit/>
          </a:bodyPr>
          <a:lstStyle/>
          <a:p>
            <a:pPr algn="l">
              <a:spcAft>
                <a:spcPts val="400"/>
              </a:spcAft>
            </a:pPr>
            <a:r>
              <a:rPr sz="1100" b="0">
                <a:solidFill>
                  <a:srgbClr val="161B26"/>
                </a:solidFill>
                <a:latin typeface="Arial"/>
              </a:rPr>
              <a:t>The last rung — and it is not reversible.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spd="fast" advClick="1">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TAKING IT BEYOND THE LAPTOP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Deployment Options — Exposure Is a Decision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iagram-deployment.png"/>
          <p:cNvPicPr>
            <a:picLocks noChangeAspect="1"/>
          </p:cNvPicPr>
          <p:nvPr/>
        </p:nvPicPr>
        <p:blipFill>
          <a:blip r:embed="rId2"/>
          <a:stretch>
            <a:fillRect/>
          </a:stretch>
        </p:blipFill>
        <p:spPr>
          <a:xfrm>
            <a:off x="777240" y="2526856"/>
            <a:ext cx="6812280" cy="2791839"/>
          </a:xfrm>
          <a:prstGeom prst="rect">
            <a:avLst/>
          </a:prstGeom>
        </p:spPr>
      </p:pic>
      <p:sp>
        <p:nvSpPr>
          <p:cNvPr id="8" name="Rectangle 7"/>
          <p:cNvSpPr/>
          <p:nvPr/>
        </p:nvSpPr>
        <p:spPr>
          <a:xfrm>
            <a:off x="7882127" y="1810512"/>
            <a:ext cx="3529584"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82127" y="1810512"/>
            <a:ext cx="3529584"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83295" y="1975104"/>
            <a:ext cx="3127248" cy="310896"/>
          </a:xfrm>
          <a:prstGeom prst="rect">
            <a:avLst/>
          </a:prstGeom>
          <a:noFill/>
        </p:spPr>
        <p:txBody>
          <a:bodyPr wrap="square" anchor="t">
            <a:spAutoFit/>
          </a:bodyPr>
          <a:lstStyle/>
          <a:p>
            <a:pPr algn="l">
              <a:spcAft>
                <a:spcPts val="400"/>
              </a:spcAft>
            </a:pPr>
            <a:r>
              <a:rPr sz="1350" b="1">
                <a:solidFill>
                  <a:srgbClr val="1F6FEB"/>
                </a:solidFill>
                <a:latin typeface="Arial"/>
              </a:rPr>
              <a:t>Loopback</a:t>
            </a:r>
          </a:p>
        </p:txBody>
      </p:sp>
      <p:sp>
        <p:nvSpPr>
          <p:cNvPr id="11" name="TextBox 10"/>
          <p:cNvSpPr txBox="1"/>
          <p:nvPr/>
        </p:nvSpPr>
        <p:spPr>
          <a:xfrm>
            <a:off x="8083295" y="2322576"/>
            <a:ext cx="3127248" cy="237744"/>
          </a:xfrm>
          <a:prstGeom prst="rect">
            <a:avLst/>
          </a:prstGeom>
          <a:noFill/>
        </p:spPr>
        <p:txBody>
          <a:bodyPr wrap="square" anchor="t">
            <a:spAutoFit/>
          </a:bodyPr>
          <a:lstStyle/>
          <a:p>
            <a:pPr algn="l">
              <a:spcAft>
                <a:spcPts val="400"/>
              </a:spcAft>
            </a:pPr>
            <a:r>
              <a:rPr sz="900" b="0">
                <a:solidFill>
                  <a:srgbClr val="161B26"/>
                </a:solidFill>
                <a:latin typeface="Arial"/>
              </a:rPr>
              <a:t>The default and least exposed — trusted local only.</a:t>
            </a:r>
          </a:p>
        </p:txBody>
      </p:sp>
      <p:sp>
        <p:nvSpPr>
          <p:cNvPr id="12" name="Rectangle 11"/>
          <p:cNvSpPr/>
          <p:nvPr/>
        </p:nvSpPr>
        <p:spPr>
          <a:xfrm>
            <a:off x="7882127" y="2798064"/>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882127" y="2798064"/>
            <a:ext cx="3529584"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83295" y="2962656"/>
            <a:ext cx="3127248" cy="310896"/>
          </a:xfrm>
          <a:prstGeom prst="rect">
            <a:avLst/>
          </a:prstGeom>
          <a:noFill/>
        </p:spPr>
        <p:txBody>
          <a:bodyPr wrap="square" anchor="t">
            <a:spAutoFit/>
          </a:bodyPr>
          <a:lstStyle/>
          <a:p>
            <a:pPr algn="l">
              <a:spcAft>
                <a:spcPts val="400"/>
              </a:spcAft>
            </a:pPr>
            <a:r>
              <a:rPr sz="1350" b="1">
                <a:solidFill>
                  <a:srgbClr val="10B981"/>
                </a:solidFill>
                <a:latin typeface="Arial"/>
              </a:rPr>
              <a:t>LAN / tailnet</a:t>
            </a:r>
          </a:p>
        </p:txBody>
      </p:sp>
      <p:sp>
        <p:nvSpPr>
          <p:cNvPr id="15" name="TextBox 14"/>
          <p:cNvSpPr txBox="1"/>
          <p:nvPr/>
        </p:nvSpPr>
        <p:spPr>
          <a:xfrm>
            <a:off x="8083295" y="3310128"/>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--bind lan or --bind tailnet widen reach and REQUIRE authentication.</a:t>
            </a:r>
          </a:p>
        </p:txBody>
      </p:sp>
      <p:sp>
        <p:nvSpPr>
          <p:cNvPr id="16" name="Rectangle 15"/>
          <p:cNvSpPr/>
          <p:nvPr/>
        </p:nvSpPr>
        <p:spPr>
          <a:xfrm>
            <a:off x="7882127" y="3931920"/>
            <a:ext cx="3529584" cy="11338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882127" y="3931920"/>
            <a:ext cx="3529584"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83295" y="4096512"/>
            <a:ext cx="3127248" cy="310896"/>
          </a:xfrm>
          <a:prstGeom prst="rect">
            <a:avLst/>
          </a:prstGeom>
          <a:noFill/>
        </p:spPr>
        <p:txBody>
          <a:bodyPr wrap="square" anchor="t">
            <a:spAutoFit/>
          </a:bodyPr>
          <a:lstStyle/>
          <a:p>
            <a:pPr algn="l">
              <a:spcAft>
                <a:spcPts val="400"/>
              </a:spcAft>
            </a:pPr>
            <a:r>
              <a:rPr sz="1350" b="1">
                <a:solidFill>
                  <a:srgbClr val="7C3AED"/>
                </a:solidFill>
                <a:latin typeface="Arial"/>
              </a:rPr>
              <a:t>Hosted</a:t>
            </a:r>
          </a:p>
        </p:txBody>
      </p:sp>
      <p:sp>
        <p:nvSpPr>
          <p:cNvPr id="19" name="TextBox 18"/>
          <p:cNvSpPr txBox="1"/>
          <p:nvPr/>
        </p:nvSpPr>
        <p:spPr>
          <a:xfrm>
            <a:off x="8083295" y="4443984"/>
            <a:ext cx="3127248" cy="530352"/>
          </a:xfrm>
          <a:prstGeom prst="rect">
            <a:avLst/>
          </a:prstGeom>
          <a:noFill/>
        </p:spPr>
        <p:txBody>
          <a:bodyPr wrap="square" anchor="t">
            <a:spAutoFit/>
          </a:bodyPr>
          <a:lstStyle/>
          <a:p>
            <a:pPr algn="l">
              <a:spcAft>
                <a:spcPts val="400"/>
              </a:spcAft>
            </a:pPr>
            <a:r>
              <a:rPr sz="900" b="0">
                <a:solidFill>
                  <a:srgbClr val="161B26"/>
                </a:solidFill>
                <a:latin typeface="Arial"/>
              </a:rPr>
              <a:t>Container plus external PostgreSQL, a persistent volume, a signing secret and an allowed-hostnames list.</a:t>
            </a:r>
          </a:p>
        </p:txBody>
      </p:sp>
      <p:sp>
        <p:nvSpPr>
          <p:cNvPr id="20" name="Rectangle 19"/>
          <p:cNvSpPr/>
          <p:nvPr/>
        </p:nvSpPr>
        <p:spPr>
          <a:xfrm>
            <a:off x="7882127" y="5212080"/>
            <a:ext cx="3529584" cy="987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82127" y="5212080"/>
            <a:ext cx="352958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83295" y="5376672"/>
            <a:ext cx="3127248" cy="310896"/>
          </a:xfrm>
          <a:prstGeom prst="rect">
            <a:avLst/>
          </a:prstGeom>
          <a:noFill/>
        </p:spPr>
        <p:txBody>
          <a:bodyPr wrap="square" anchor="t">
            <a:spAutoFit/>
          </a:bodyPr>
          <a:lstStyle/>
          <a:p>
            <a:pPr algn="l">
              <a:spcAft>
                <a:spcPts val="400"/>
              </a:spcAft>
            </a:pPr>
            <a:r>
              <a:rPr sz="1350" b="1">
                <a:solidFill>
                  <a:srgbClr val="F59E0B"/>
                </a:solidFill>
                <a:latin typeface="Arial"/>
              </a:rPr>
              <a:t>Portability</a:t>
            </a:r>
          </a:p>
        </p:txBody>
      </p:sp>
      <p:sp>
        <p:nvSpPr>
          <p:cNvPr id="23" name="TextBox 22"/>
          <p:cNvSpPr txBox="1"/>
          <p:nvPr/>
        </p:nvSpPr>
        <p:spPr>
          <a:xfrm>
            <a:off x="8083295" y="5724144"/>
            <a:ext cx="3127248" cy="384048"/>
          </a:xfrm>
          <a:prstGeom prst="rect">
            <a:avLst/>
          </a:prstGeom>
          <a:noFill/>
        </p:spPr>
        <p:txBody>
          <a:bodyPr wrap="square" anchor="t">
            <a:spAutoFit/>
          </a:bodyPr>
          <a:lstStyle/>
          <a:p>
            <a:pPr algn="l">
              <a:spcAft>
                <a:spcPts val="400"/>
              </a:spcAft>
            </a:pPr>
            <a:r>
              <a:rPr sz="900" b="0">
                <a:solidFill>
                  <a:srgbClr val="161B26"/>
                </a:solidFill>
                <a:latin typeface="Arial"/>
              </a:rPr>
              <a:t>A whole company exports and imports with secrets scrubbed and collisions re-mapped.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spd="fast" advClick="1">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LO4 · THE MOST EXPENSIVE MISUNDERSTANDING IN THE COURSE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Three Budget Scopes — Parallel, Not Nested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Scope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Period</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Applies to</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Company budget</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Monthly</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The total ceiling for the entire company.</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Per-agent budget</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Monthly</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One individual agent's ceiling.</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Project budget</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Lifetime</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An execution-bound project, for the whole of its life.</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The consequence</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They are independent</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An agent can be paused by its OWN budget limit even if the company has remaining budget.</a:t>
            </a:r>
          </a:p>
        </p:txBody>
      </p:sp>
      <p:sp>
        <p:nvSpPr>
          <p:cNvPr id="37" name="Rectangle 3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312664"/>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Do not picture nested rings where the outer one always binds first. Picture three separate trip switches, any one of which can fire.</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fast" advClick="1">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LO4 · A TWO-STAGE CIRCUIT BREAKER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Thresholds and Utilisation Colours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13274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75133"/>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75133"/>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94759"/>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80% utilisation</a:t>
            </a:r>
          </a:p>
          <a:p>
            <a:pPr algn="l">
              <a:spcAft>
                <a:spcPts val="300"/>
              </a:spcAft>
            </a:pPr>
            <a:r>
              <a:rPr sz="1100" b="0">
                <a:solidFill>
                  <a:srgbClr val="5B6372"/>
                </a:solidFill>
                <a:latin typeface="Arial"/>
              </a:rPr>
              <a:t>A WARNING is recorded so you can intervene. The agent CONTINUES running — nothing stops.</a:t>
            </a:r>
          </a:p>
        </p:txBody>
      </p:sp>
      <p:sp>
        <p:nvSpPr>
          <p:cNvPr id="12" name="Rectangle 11"/>
          <p:cNvSpPr/>
          <p:nvPr/>
        </p:nvSpPr>
        <p:spPr>
          <a:xfrm>
            <a:off x="6231636" y="1783080"/>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13274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075133"/>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075133"/>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94759"/>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100% utilisation</a:t>
            </a:r>
          </a:p>
          <a:p>
            <a:pPr algn="l">
              <a:spcAft>
                <a:spcPts val="300"/>
              </a:spcAft>
            </a:pPr>
            <a:r>
              <a:rPr sz="1100" b="0">
                <a:solidFill>
                  <a:srgbClr val="5B6372"/>
                </a:solidFill>
                <a:latin typeface="Arial"/>
              </a:rPr>
              <a:t>The agent is automatically PAUSED. No further heartbeats fire, and pauseReason is set to budget.</a:t>
            </a:r>
          </a:p>
        </p:txBody>
      </p:sp>
      <p:sp>
        <p:nvSpPr>
          <p:cNvPr id="17" name="Rectangle 16"/>
          <p:cNvSpPr/>
          <p:nvPr/>
        </p:nvSpPr>
        <p:spPr>
          <a:xfrm>
            <a:off x="777240" y="312323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123231"/>
            <a:ext cx="91440" cy="113274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4152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4152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34910"/>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Green · below 70%</a:t>
            </a:r>
          </a:p>
          <a:p>
            <a:pPr algn="l">
              <a:spcAft>
                <a:spcPts val="300"/>
              </a:spcAft>
            </a:pPr>
            <a:r>
              <a:rPr sz="1100" b="0">
                <a:solidFill>
                  <a:srgbClr val="5B6372"/>
                </a:solidFill>
                <a:latin typeface="Arial"/>
              </a:rPr>
              <a:t>Read the utilisation bar for company health at a glance.</a:t>
            </a:r>
          </a:p>
        </p:txBody>
      </p:sp>
      <p:sp>
        <p:nvSpPr>
          <p:cNvPr id="22" name="Rectangle 21"/>
          <p:cNvSpPr/>
          <p:nvPr/>
        </p:nvSpPr>
        <p:spPr>
          <a:xfrm>
            <a:off x="6231636" y="312323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123231"/>
            <a:ext cx="91440" cy="113274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4152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4152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234910"/>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Yellow · 70 to 90%</a:t>
            </a:r>
          </a:p>
          <a:p>
            <a:pPr algn="l">
              <a:spcAft>
                <a:spcPts val="300"/>
              </a:spcAft>
            </a:pPr>
            <a:r>
              <a:rPr sz="1100" b="0">
                <a:solidFill>
                  <a:srgbClr val="5B6372"/>
                </a:solidFill>
                <a:latin typeface="Arial"/>
              </a:rPr>
              <a:t>Look closer. Something is either busier or more expensive than you planned.</a:t>
            </a:r>
          </a:p>
        </p:txBody>
      </p:sp>
      <p:sp>
        <p:nvSpPr>
          <p:cNvPr id="27" name="Rectangle 26"/>
          <p:cNvSpPr/>
          <p:nvPr/>
        </p:nvSpPr>
        <p:spPr>
          <a:xfrm>
            <a:off x="777240" y="446338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463381"/>
            <a:ext cx="91440" cy="113274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75543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75543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575061"/>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Red · above 90%</a:t>
            </a:r>
          </a:p>
          <a:p>
            <a:pPr algn="l">
              <a:spcAft>
                <a:spcPts val="300"/>
              </a:spcAft>
            </a:pPr>
            <a:r>
              <a:rPr sz="1100" b="0">
                <a:solidFill>
                  <a:srgbClr val="5B6372"/>
                </a:solidFill>
                <a:latin typeface="Arial"/>
              </a:rPr>
              <a:t>Intervene now — the hard stop at 100% is close.</a:t>
            </a:r>
          </a:p>
        </p:txBody>
      </p:sp>
      <p:sp>
        <p:nvSpPr>
          <p:cNvPr id="32" name="Rectangle 31"/>
          <p:cNvSpPr/>
          <p:nvPr/>
        </p:nvSpPr>
        <p:spPr>
          <a:xfrm>
            <a:off x="6231636" y="446338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463381"/>
            <a:ext cx="91440" cy="113274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75543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75543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575061"/>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Enforced AT CHECKOUT</a:t>
            </a:r>
          </a:p>
          <a:p>
            <a:pPr algn="l">
              <a:spcAft>
                <a:spcPts val="300"/>
              </a:spcAft>
            </a:pPr>
            <a:r>
              <a:rPr sz="1100" b="0">
                <a:solidFill>
                  <a:srgbClr val="5B6372"/>
                </a:solidFill>
                <a:latin typeface="Arial"/>
              </a:rPr>
              <a:t>Before the work runs, not when the invoice arrives. That is what makes unattended operation safe.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
        <p:nvSpPr>
          <p:cNvPr id="40" name="Rectangle 39"/>
          <p:cNvSpPr/>
          <p:nvPr/>
        </p:nvSpPr>
        <p:spPr>
          <a:xfrm>
            <a:off x="777240" y="5742432"/>
            <a:ext cx="10607040" cy="603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5742432"/>
            <a:ext cx="91440"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5742432"/>
            <a:ext cx="10241280" cy="603504"/>
          </a:xfrm>
          <a:prstGeom prst="rect">
            <a:avLst/>
          </a:prstGeom>
          <a:noFill/>
        </p:spPr>
        <p:txBody>
          <a:bodyPr wrap="square" anchor="ctr">
            <a:spAutoFit/>
          </a:bodyPr>
          <a:lstStyle/>
          <a:p>
            <a:pPr algn="l">
              <a:spcAft>
                <a:spcPts val="400"/>
              </a:spcAft>
            </a:pPr>
            <a:r>
              <a:rPr sz="1350" b="1">
                <a:solidFill>
                  <a:srgbClr val="161B26"/>
                </a:solidFill>
                <a:latin typeface="Arial"/>
              </a:rPr>
              <a:t>A cap you would be unhappy to actually pay is set too high.</a:t>
            </a:r>
          </a:p>
        </p:txBody>
      </p:sp>
    </p:spTree>
  </p:cSld>
  <p:clrMapOvr>
    <a:masterClrMapping/>
  </p:clrMapOvr>
  <p:transition spd="fast" advClick="1">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TOKEN-LEVEL COSTING IS WHAT MAKES A CAP MEANINGFUL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Inference Spend versus Finance Events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Inference spend</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Finance events</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What it records</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Per-request model cost</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Subscriptions, invoices, credits, refunds, adjustments</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Tracked by</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Provider, model, agent and project</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The commercial relationship, not the run</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Drives the cap</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YES — this is what utilisation measures</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No — a credit does not raise an agent's ceiling</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The mistake</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Reading one and thinking you have seen the other</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The Costs page separates them deliberately</a:t>
            </a:r>
          </a:p>
        </p:txBody>
      </p:sp>
      <p:sp>
        <p:nvSpPr>
          <p:cNvPr id="37" name="Rectangle 3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31266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Baseline current spend and expected run frequency BEFORE you rely on a cap. A ceiling you have not calibrated is a guess with a number on it.</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spd="fast" advClick="1">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WHERE HUMAN AUTHORITY IS MADE EXPLICIT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Three Approval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CEO Strategy</a:t>
            </a:r>
          </a:p>
          <a:p>
            <a:pPr algn="l">
              <a:spcAft>
                <a:spcPts val="300"/>
              </a:spcAft>
            </a:pPr>
            <a:r>
              <a:rPr sz="1100" b="0">
                <a:solidFill>
                  <a:srgbClr val="5B6372"/>
                </a:solidFill>
                <a:latin typeface="Arial"/>
              </a:rPr>
              <a:t>Raised when the CEO produces a strategic plan after its first heartbeat. The CEO cannot move tasks to in-progress until you approve 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Hire Agent</a:t>
            </a:r>
          </a:p>
          <a:p>
            <a:pPr algn="l">
              <a:spcAft>
                <a:spcPts val="300"/>
              </a:spcAft>
            </a:pPr>
            <a:r>
              <a:rPr sz="1100" b="0">
                <a:solidFill>
                  <a:srgbClr val="5B6372"/>
                </a:solidFill>
                <a:latin typeface="Arial"/>
              </a:rPr>
              <a:t>Raised when an agent — usually the CEO or a manager — proposes a subordinate.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hire payload</a:t>
            </a:r>
          </a:p>
          <a:p>
            <a:pPr algn="l">
              <a:spcAft>
                <a:spcPts val="300"/>
              </a:spcAft>
            </a:pPr>
            <a:r>
              <a:rPr sz="1100" b="0">
                <a:solidFill>
                  <a:srgbClr val="5B6372"/>
                </a:solidFill>
                <a:latin typeface="Arial"/>
              </a:rPr>
              <a:t>Name, role, capabilities, adapter configuration, monthly budget and reporting line. Read every field before approving.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Budget Override</a:t>
            </a:r>
          </a:p>
          <a:p>
            <a:pPr algn="l">
              <a:spcAft>
                <a:spcPts val="300"/>
              </a:spcAft>
            </a:pPr>
            <a:r>
              <a:rPr sz="1100" b="0">
                <a:solidFill>
                  <a:srgbClr val="5B6372"/>
                </a:solidFill>
                <a:latin typeface="Arial"/>
              </a:rPr>
              <a:t>Raised when a budget policy hits a hard stop and someone asks to proceed anyway. This is the one to slow down 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Approvals never expire</a:t>
            </a:r>
          </a:p>
          <a:p>
            <a:pPr algn="l">
              <a:spcAft>
                <a:spcPts val="300"/>
              </a:spcAft>
            </a:pPr>
            <a:r>
              <a:rPr sz="1100" b="0">
                <a:solidFill>
                  <a:srgbClr val="5B6372"/>
                </a:solidFill>
                <a:latin typeface="Arial"/>
              </a:rPr>
              <a:t>An agent waiting on a pending approval pauses indefinitely. A silent company is very often an unattended queue.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board override</a:t>
            </a:r>
          </a:p>
          <a:p>
            <a:pPr algn="l">
              <a:spcAft>
                <a:spcPts val="300"/>
              </a:spcAft>
            </a:pPr>
            <a:r>
              <a:rPr sz="1100" b="0">
                <a:solidFill>
                  <a:srgbClr val="5B6372"/>
                </a:solidFill>
                <a:latin typeface="Arial"/>
              </a:rPr>
              <a:t>The board may pause any agent and resume any paused agent, bypassing the approval flow entirely.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ransition spd="fast" advClick="1">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THE THIRD RESPONSE IS THE USEFUL ONE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Three Approval Responses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APPROVE</a:t>
            </a:r>
          </a:p>
          <a:p>
            <a:pPr algn="l">
              <a:spcAft>
                <a:spcPts val="300"/>
              </a:spcAft>
            </a:pPr>
            <a:r>
              <a:rPr sz="1100" b="0">
                <a:solidFill>
                  <a:srgbClr val="5B6372"/>
                </a:solidFill>
                <a:latin typeface="Arial"/>
              </a:rPr>
              <a:t>The action proceeds. For a hire, the agent is created, configured and queued to wake automatically.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REJECT</a:t>
            </a:r>
          </a:p>
          <a:p>
            <a:pPr algn="l">
              <a:spcAft>
                <a:spcPts val="300"/>
              </a:spcAft>
            </a:pPr>
            <a:r>
              <a:rPr sz="1100" b="0">
                <a:solidFill>
                  <a:srgbClr val="5B6372"/>
                </a:solidFill>
                <a:latin typeface="Arial"/>
              </a:rPr>
              <a:t>The action is denied. The requesting agent is notified and will not retry unless instructed.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REQUEST REVISION</a:t>
            </a:r>
          </a:p>
          <a:p>
            <a:pPr algn="l">
              <a:spcAft>
                <a:spcPts val="300"/>
              </a:spcAft>
            </a:pPr>
            <a:r>
              <a:rPr sz="1100" b="0">
                <a:solidFill>
                  <a:srgbClr val="5B6372"/>
                </a:solidFill>
                <a:latin typeface="Arial"/>
              </a:rPr>
              <a:t>You are not approving as-is, but you are not saying no. The agent revises and resubmits. This is the one people forget exists.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state machine</a:t>
            </a:r>
          </a:p>
          <a:p>
            <a:pPr algn="l">
              <a:spcAft>
                <a:spcPts val="300"/>
              </a:spcAft>
            </a:pPr>
            <a:r>
              <a:rPr sz="1100" b="0">
                <a:solidFill>
                  <a:srgbClr val="5B6372"/>
                </a:solidFill>
                <a:latin typeface="Arial"/>
              </a:rPr>
              <a:t>pending goes to approved, rejected, or revision_requested — then resubmitted, and back to pending.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RECORD THE RATIONALE</a:t>
            </a:r>
          </a:p>
          <a:p>
            <a:pPr algn="l">
              <a:spcAft>
                <a:spcPts val="300"/>
              </a:spcAft>
            </a:pPr>
            <a:r>
              <a:rPr sz="1100" b="0">
                <a:solidFill>
                  <a:srgbClr val="5B6372"/>
                </a:solidFill>
                <a:latin typeface="Arial"/>
              </a:rPr>
              <a:t>One sentence explaining why is the difference between a decision and an unaudited event.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Months later</a:t>
            </a:r>
          </a:p>
          <a:p>
            <a:pPr algn="l">
              <a:spcAft>
                <a:spcPts val="300"/>
              </a:spcAft>
            </a:pPr>
            <a:r>
              <a:rPr sz="1100" b="0">
                <a:solidFill>
                  <a:srgbClr val="5B6372"/>
                </a:solidFill>
                <a:latin typeface="Arial"/>
              </a:rPr>
              <a:t>The rationale is the only thing that will tell you — or a regulator — what you were thinking.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ransition spd="fast" advClick="1">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AUTOMATION EARNS THE SCHEDULE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Routine Safety Sequence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Create it PAUSED</a:t>
            </a:r>
          </a:p>
        </p:txBody>
      </p:sp>
      <p:sp>
        <p:nvSpPr>
          <p:cNvPr id="12" name="TextBox 11"/>
          <p:cNvSpPr txBox="1"/>
          <p:nvPr/>
        </p:nvSpPr>
        <p:spPr>
          <a:xfrm>
            <a:off x="850392"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Never live before it has ever succeeded</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State the trigger</a:t>
            </a:r>
          </a:p>
        </p:txBody>
      </p:sp>
      <p:sp>
        <p:nvSpPr>
          <p:cNvPr id="19" name="TextBox 18"/>
          <p:cNvSpPr txBox="1"/>
          <p:nvPr/>
        </p:nvSpPr>
        <p:spPr>
          <a:xfrm>
            <a:off x="3054096"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Cron expression AND an IANA timezone</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Name the artifact</a:t>
            </a:r>
          </a:p>
        </p:txBody>
      </p:sp>
      <p:sp>
        <p:nvSpPr>
          <p:cNvPr id="26" name="TextBox 25"/>
          <p:cNvSpPr txBox="1"/>
          <p:nvPr/>
        </p:nvSpPr>
        <p:spPr>
          <a:xfrm>
            <a:off x="5257800"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Or the run succeeds but is unverifiable</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Run once by hand</a:t>
            </a:r>
          </a:p>
        </p:txBody>
      </p:sp>
      <p:sp>
        <p:nvSpPr>
          <p:cNvPr id="33" name="TextBox 32"/>
          <p:cNvSpPr txBox="1"/>
          <p:nvPr/>
        </p:nvSpPr>
        <p:spPr>
          <a:xfrm>
            <a:off x="7461504"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Bounded wait; read issue, run and cost</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Only then unpause</a:t>
            </a:r>
          </a:p>
        </p:txBody>
      </p:sp>
      <p:sp>
        <p:nvSpPr>
          <p:cNvPr id="40" name="TextBox 39"/>
          <p:cNvSpPr txBox="1"/>
          <p:nvPr/>
        </p:nvSpPr>
        <p:spPr>
          <a:xfrm>
            <a:off x="9665208"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The schedule now owns reviewed work</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WHY THE TIMEZONE IS NOT A FORMALITY</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cron expression without a timezone runs in whatever zone the host happens to be in — fine until the host moves, the clock changes, or someone deploys to another region. Write Asia/Singapore explicitly.</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LO4 · ONLY ONE STATUS ACTUALLY FIRES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Routine States and Defaults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13274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75133"/>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75133"/>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94759"/>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active</a:t>
            </a:r>
          </a:p>
          <a:p>
            <a:pPr algn="l">
              <a:spcAft>
                <a:spcPts val="300"/>
              </a:spcAft>
            </a:pPr>
            <a:r>
              <a:rPr sz="1100" b="0">
                <a:solidFill>
                  <a:srgbClr val="5B6372"/>
                </a:solidFill>
                <a:latin typeface="Arial"/>
              </a:rPr>
              <a:t>The only status that actually fires. Everything else is dormant.</a:t>
            </a:r>
          </a:p>
        </p:txBody>
      </p:sp>
      <p:sp>
        <p:nvSpPr>
          <p:cNvPr id="12" name="Rectangle 11"/>
          <p:cNvSpPr/>
          <p:nvPr/>
        </p:nvSpPr>
        <p:spPr>
          <a:xfrm>
            <a:off x="6231636" y="1783080"/>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13274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075133"/>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075133"/>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94759"/>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paused</a:t>
            </a:r>
          </a:p>
          <a:p>
            <a:pPr algn="l">
              <a:spcAft>
                <a:spcPts val="300"/>
              </a:spcAft>
            </a:pPr>
            <a:r>
              <a:rPr sz="1100" b="0">
                <a:solidFill>
                  <a:srgbClr val="5B6372"/>
                </a:solidFill>
                <a:latin typeface="Arial"/>
              </a:rPr>
              <a:t>Created here, and it stays here until you have proved it by hand.</a:t>
            </a:r>
          </a:p>
        </p:txBody>
      </p:sp>
      <p:sp>
        <p:nvSpPr>
          <p:cNvPr id="17" name="Rectangle 16"/>
          <p:cNvSpPr/>
          <p:nvPr/>
        </p:nvSpPr>
        <p:spPr>
          <a:xfrm>
            <a:off x="777240" y="312323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123231"/>
            <a:ext cx="91440" cy="113274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4152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4152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34910"/>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archived</a:t>
            </a:r>
          </a:p>
          <a:p>
            <a:pPr algn="l">
              <a:spcAft>
                <a:spcPts val="300"/>
              </a:spcAft>
            </a:pPr>
            <a:r>
              <a:rPr sz="1100" b="0">
                <a:solidFill>
                  <a:srgbClr val="5B6372"/>
                </a:solidFill>
                <a:latin typeface="Arial"/>
              </a:rPr>
              <a:t>Retired. Kept for the audit trail, not for execution.</a:t>
            </a:r>
          </a:p>
        </p:txBody>
      </p:sp>
      <p:sp>
        <p:nvSpPr>
          <p:cNvPr id="22" name="Rectangle 21"/>
          <p:cNvSpPr/>
          <p:nvPr/>
        </p:nvSpPr>
        <p:spPr>
          <a:xfrm>
            <a:off x="6231636" y="312323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123231"/>
            <a:ext cx="91440" cy="113274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4152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4152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234910"/>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draft · running · succeeded · failed</a:t>
            </a:r>
          </a:p>
          <a:p>
            <a:pPr algn="l">
              <a:spcAft>
                <a:spcPts val="300"/>
              </a:spcAft>
            </a:pPr>
            <a:r>
              <a:rPr sz="1100" b="0">
                <a:solidFill>
                  <a:srgbClr val="5B6372"/>
                </a:solidFill>
                <a:latin typeface="Arial"/>
              </a:rPr>
              <a:t>List-view badges, not statuses — do not confuse a badge with the routine's real state.</a:t>
            </a:r>
          </a:p>
        </p:txBody>
      </p:sp>
      <p:sp>
        <p:nvSpPr>
          <p:cNvPr id="27" name="Rectangle 26"/>
          <p:cNvSpPr/>
          <p:nvPr/>
        </p:nvSpPr>
        <p:spPr>
          <a:xfrm>
            <a:off x="777240" y="446338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463381"/>
            <a:ext cx="91440" cy="113274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75543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75543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575061"/>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Five-minute granularity</a:t>
            </a:r>
          </a:p>
          <a:p>
            <a:pPr algn="l">
              <a:spcAft>
                <a:spcPts val="300"/>
              </a:spcAft>
            </a:pPr>
            <a:r>
              <a:rPr sz="1100" b="0">
                <a:solidFill>
                  <a:srgbClr val="5B6372"/>
                </a:solidFill>
                <a:latin typeface="Arial"/>
              </a:rPr>
              <a:t>The routine editor snaps minutes to five-minute increments. Plan the schedule around that.</a:t>
            </a:r>
          </a:p>
        </p:txBody>
      </p:sp>
      <p:sp>
        <p:nvSpPr>
          <p:cNvPr id="32" name="Rectangle 31"/>
          <p:cNvSpPr/>
          <p:nvPr/>
        </p:nvSpPr>
        <p:spPr>
          <a:xfrm>
            <a:off x="6231636" y="446338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463381"/>
            <a:ext cx="91440" cy="113274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75543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75543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575061"/>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Coalesce if active, skip missed</a:t>
            </a:r>
          </a:p>
          <a:p>
            <a:pPr algn="l">
              <a:spcAft>
                <a:spcPts val="300"/>
              </a:spcAft>
            </a:pPr>
            <a:r>
              <a:rPr sz="1100" b="0">
                <a:solidFill>
                  <a:srgbClr val="5B6372"/>
                </a:solidFill>
                <a:latin typeface="Arial"/>
              </a:rPr>
              <a:t>The concurrency default: a routine already running will not start a second copy, and a missed window is skipped.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
        <p:nvSpPr>
          <p:cNvPr id="40" name="Rectangle 39"/>
          <p:cNvSpPr/>
          <p:nvPr/>
        </p:nvSpPr>
        <p:spPr>
          <a:xfrm>
            <a:off x="777240" y="5742432"/>
            <a:ext cx="10607040" cy="603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5742432"/>
            <a:ext cx="91440"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5742432"/>
            <a:ext cx="10241280" cy="603504"/>
          </a:xfrm>
          <a:prstGeom prst="rect">
            <a:avLst/>
          </a:prstGeom>
          <a:noFill/>
        </p:spPr>
        <p:txBody>
          <a:bodyPr wrap="square" anchor="ctr">
            <a:spAutoFit/>
          </a:bodyPr>
          <a:lstStyle/>
          <a:p>
            <a:pPr algn="l">
              <a:spcAft>
                <a:spcPts val="400"/>
              </a:spcAft>
            </a:pPr>
            <a:r>
              <a:rPr sz="1350" b="1">
                <a:solidFill>
                  <a:srgbClr val="161B26"/>
                </a:solidFill>
                <a:latin typeface="Arial"/>
              </a:rPr>
              <a:t>A routine stuck in running with nothing happening usually means a lost process.</a:t>
            </a:r>
          </a:p>
        </p:txBody>
      </p:sp>
    </p:spTree>
  </p:cSld>
  <p:clrMapOvr>
    <a:masterClrMapping/>
  </p:clrMapOvr>
  <p:transition spd="fast" advClick="1">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LO4 · ESCALATE ONLY WHEN THE RUNG BELOW HAS FAILED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Intervention Ladder — Least Irreversible First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Rung</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Action</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Reversible?</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Use when</a:t>
            </a:r>
          </a:p>
        </p:txBody>
      </p:sp>
      <p:sp>
        <p:nvSpPr>
          <p:cNvPr id="15" name="Rectangle 14"/>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1</a:t>
            </a:r>
          </a:p>
        </p:txBody>
      </p:sp>
      <p:sp>
        <p:nvSpPr>
          <p:cNvPr id="17" name="Rectangle 16"/>
          <p:cNvSpPr/>
          <p:nvPr/>
        </p:nvSpPr>
        <p:spPr>
          <a:xfrm>
            <a:off x="354220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INSPECT — read task, run, cost and activity evidence</a:t>
            </a:r>
          </a:p>
        </p:txBody>
      </p:sp>
      <p:sp>
        <p:nvSpPr>
          <p:cNvPr id="19" name="Rectangle 18"/>
          <p:cNvSpPr/>
          <p:nvPr/>
        </p:nvSpPr>
        <p:spPr>
          <a:xfrm>
            <a:off x="616537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Yes — nothing changes</a:t>
            </a:r>
          </a:p>
        </p:txBody>
      </p:sp>
      <p:sp>
        <p:nvSpPr>
          <p:cNvPr id="21" name="Rectangle 20"/>
          <p:cNvSpPr/>
          <p:nvPr/>
        </p:nvSpPr>
        <p:spPr>
          <a:xfrm>
            <a:off x="878854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Always. Never act before you have looked.</a:t>
            </a:r>
          </a:p>
        </p:txBody>
      </p:sp>
      <p:sp>
        <p:nvSpPr>
          <p:cNvPr id="23" name="Rectangle 22"/>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2</a:t>
            </a:r>
          </a:p>
        </p:txBody>
      </p:sp>
      <p:sp>
        <p:nvSpPr>
          <p:cNvPr id="25" name="Rectangle 24"/>
          <p:cNvSpPr/>
          <p:nvPr/>
        </p:nvSpPr>
        <p:spPr>
          <a:xfrm>
            <a:off x="354220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PAUSE — stop new heartbeats, keep all state</a:t>
            </a:r>
          </a:p>
        </p:txBody>
      </p:sp>
      <p:sp>
        <p:nvSpPr>
          <p:cNvPr id="27" name="Rectangle 26"/>
          <p:cNvSpPr/>
          <p:nvPr/>
        </p:nvSpPr>
        <p:spPr>
          <a:xfrm>
            <a:off x="616537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Yes</a:t>
            </a:r>
          </a:p>
        </p:txBody>
      </p:sp>
      <p:sp>
        <p:nvSpPr>
          <p:cNvPr id="29" name="Rectangle 28"/>
          <p:cNvSpPr/>
          <p:nvPr/>
        </p:nvSpPr>
        <p:spPr>
          <a:xfrm>
            <a:off x="878854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The agent is doing something wrong and must stop now.</a:t>
            </a:r>
          </a:p>
        </p:txBody>
      </p:sp>
      <p:sp>
        <p:nvSpPr>
          <p:cNvPr id="31" name="Rectangle 30"/>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3</a:t>
            </a:r>
          </a:p>
        </p:txBody>
      </p:sp>
      <p:sp>
        <p:nvSpPr>
          <p:cNvPr id="33" name="Rectangle 32"/>
          <p:cNvSpPr/>
          <p:nvPr/>
        </p:nvSpPr>
        <p:spPr>
          <a:xfrm>
            <a:off x="354220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REASSIGN — move the work to another role</a:t>
            </a:r>
          </a:p>
        </p:txBody>
      </p:sp>
      <p:sp>
        <p:nvSpPr>
          <p:cNvPr id="35" name="Rectangle 34"/>
          <p:cNvSpPr/>
          <p:nvPr/>
        </p:nvSpPr>
        <p:spPr>
          <a:xfrm>
            <a:off x="616537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Yes</a:t>
            </a:r>
          </a:p>
        </p:txBody>
      </p:sp>
      <p:sp>
        <p:nvSpPr>
          <p:cNvPr id="37" name="Rectangle 36"/>
          <p:cNvSpPr/>
          <p:nvPr/>
        </p:nvSpPr>
        <p:spPr>
          <a:xfrm>
            <a:off x="878854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The work is valid but this agent is the wrong owner.</a:t>
            </a:r>
          </a:p>
        </p:txBody>
      </p:sp>
      <p:sp>
        <p:nvSpPr>
          <p:cNvPr id="39" name="Rectangle 38"/>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4</a:t>
            </a:r>
          </a:p>
        </p:txBody>
      </p:sp>
      <p:sp>
        <p:nvSpPr>
          <p:cNvPr id="41" name="Rectangle 40"/>
          <p:cNvSpPr/>
          <p:nvPr/>
        </p:nvSpPr>
        <p:spPr>
          <a:xfrm>
            <a:off x="354220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TERMINATE — retire the agent</a:t>
            </a:r>
          </a:p>
        </p:txBody>
      </p:sp>
      <p:sp>
        <p:nvSpPr>
          <p:cNvPr id="43" name="Rectangle 42"/>
          <p:cNvSpPr/>
          <p:nvPr/>
        </p:nvSpPr>
        <p:spPr>
          <a:xfrm>
            <a:off x="616537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NO</a:t>
            </a:r>
          </a:p>
        </p:txBody>
      </p:sp>
      <p:sp>
        <p:nvSpPr>
          <p:cNvPr id="45" name="Rectangle 44"/>
          <p:cNvSpPr/>
          <p:nvPr/>
        </p:nvSpPr>
        <p:spPr>
          <a:xfrm>
            <a:off x="878854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The role should not exist at all. Last resort only.</a:t>
            </a:r>
          </a:p>
        </p:txBody>
      </p:sp>
      <p:sp>
        <p:nvSpPr>
          <p:cNvPr id="47" name="Rectangle 4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77240" y="5312664"/>
            <a:ext cx="100584"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F59E0B"/>
                </a:solidFill>
                <a:latin typeface="Arial"/>
              </a:rPr>
              <a:t>WHEN IT MATTERS  </a:t>
            </a:r>
            <a:r>
              <a:rPr sz="1200" b="0">
                <a:solidFill>
                  <a:srgbClr val="161B26"/>
                </a:solidFill>
                <a:latin typeface="Arial"/>
              </a:rPr>
              <a:t>Practise Terminate only on a role you deliberately created as disposable — never as a first response to a misbehaving production agent.</a:t>
            </a:r>
          </a:p>
        </p:txBody>
      </p:sp>
      <p:sp>
        <p:nvSpPr>
          <p:cNvPr id="50" name="TextBox 4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51" name="TextBox 5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2" name="TextBox 5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transition spd="fast" advClick="1">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FOUR ROLES, AN UNSET STATE, 21 PERMISSION KEYS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RBAC — Company Roles and Their Grants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Role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Description</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Implicit grants</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Owner</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people who run the company</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All eight — agents, skills, environments, users, tasks and joins</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Admin</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Trusted operators who onboard people and agents</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As Owner, MINUS users:manage_permissions</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Operator</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Hands-on members who help run the work</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tasks:assign</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Viewer</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Read-only observers</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None</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Unset</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No implicit grants at all</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Hand-picked explicit grants only — the tightest configuration available</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Owner's eight: agents:create, agents:configure, skills:create, environments:manage, users:invite, users:manage_permissions, tasks:assign, joins:approve. An explicit grant PERSISTS across a role change, and there is NO DENY LAYER — you cannot subtract a permission.</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transition spd="fast" advClick="1">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THREE MODES, THREE LEVELS OF EXPOSURE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Deployment Modes — Exposure Is a Decision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Mode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Login</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Use it when</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local_trusted (the default)</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No login required</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A single operator on their own machine. This is the mode used throughout this course.</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authenticated + private</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Login required, not publicly reachable</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A small team on a trusted network or a private mesh.</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authenticated + public</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Login required, publicly reachable</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A hosted deployment. Requires the most care: real auth, real secrets, real exposure.</a:t>
            </a:r>
          </a:p>
        </p:txBody>
      </p:sp>
      <p:sp>
        <p:nvSpPr>
          <p:cNvPr id="31" name="Rectangle 30"/>
          <p:cNvSpPr/>
          <p:nvPr/>
        </p:nvSpPr>
        <p:spPr>
          <a:xfrm>
            <a:off x="777240" y="4599432"/>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4599432"/>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51560" y="4709160"/>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Set with configure --section server, or the PAPERCLIP_DEPLOYMENT_MODE environment variable. You inherit the default only if you never decide.</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transition spd="fast" advClick="1">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LO4 · TWO ARE MARKED REQUIRED; A THIRD HAS NO FALLBACK</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Environment Variables You Cannot Skip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PAPERCLIP_AGENT_JWT_SECRET</a:t>
            </a:r>
          </a:p>
          <a:p>
            <a:pPr algn="l">
              <a:spcAft>
                <a:spcPts val="300"/>
              </a:spcAft>
            </a:pPr>
            <a:r>
              <a:rPr sz="1100" b="0">
                <a:solidFill>
                  <a:srgbClr val="5B6372"/>
                </a:solidFill>
                <a:latin typeface="Arial"/>
              </a:rPr>
              <a:t>Signs agent tokens. REQUIRED — and it doubles as the fallback for the auth secret.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DATABASE_URL</a:t>
            </a:r>
          </a:p>
          <a:p>
            <a:pPr algn="l">
              <a:spcAft>
                <a:spcPts val="300"/>
              </a:spcAft>
            </a:pPr>
            <a:r>
              <a:rPr sz="1100" b="0">
                <a:solidFill>
                  <a:srgbClr val="5B6372"/>
                </a:solidFill>
                <a:latin typeface="Arial"/>
              </a:rPr>
              <a:t>The PostgreSQL connection string. REQUIRED.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TOOL_ACTION_SIGNING_SECRET</a:t>
            </a:r>
          </a:p>
          <a:p>
            <a:pPr algn="l">
              <a:spcAft>
                <a:spcPts val="300"/>
              </a:spcAft>
            </a:pPr>
            <a:r>
              <a:rPr sz="1100" b="0">
                <a:solidFill>
                  <a:srgbClr val="5B6372"/>
                </a:solidFill>
                <a:latin typeface="Arial"/>
              </a:rPr>
              <a:t>The PAPERCLIP_ prefixed variable that signs tool-action approvals. Documented as required, with NO fallback.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PAPERCLIP_ALLOWED_HOSTNAMES</a:t>
            </a:r>
          </a:p>
          <a:p>
            <a:pPr algn="l">
              <a:spcAft>
                <a:spcPts val="300"/>
              </a:spcAft>
            </a:pPr>
            <a:r>
              <a:rPr sz="1100" b="0">
                <a:solidFill>
                  <a:srgbClr val="5B6372"/>
                </a:solidFill>
                <a:latin typeface="Arial"/>
              </a:rPr>
              <a:t>The hostnames the server will answer for. Add your custom domain here.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PAPERCLIP_TELEMETRY_DISABLED</a:t>
            </a:r>
          </a:p>
          <a:p>
            <a:pPr algn="l">
              <a:spcAft>
                <a:spcPts val="300"/>
              </a:spcAft>
            </a:pPr>
            <a:r>
              <a:rPr sz="1100" b="0">
                <a:solidFill>
                  <a:srgbClr val="5B6372"/>
                </a:solidFill>
                <a:latin typeface="Arial"/>
              </a:rPr>
              <a:t>Set to 1 to disable telemetry. DO_NOT_TRACK works the same way.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Roughly seventy in total</a:t>
            </a:r>
          </a:p>
          <a:p>
            <a:pPr algn="l">
              <a:spcAft>
                <a:spcPts val="300"/>
              </a:spcAft>
            </a:pPr>
            <a:r>
              <a:rPr sz="1100" b="0">
                <a:solidFill>
                  <a:srgbClr val="5B6372"/>
                </a:solidFill>
                <a:latin typeface="Arial"/>
              </a:rPr>
              <a:t>Across nine categories. You do not need to memorise them — you do need to know which are required.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transition spd="fast" advClick="1">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CONCRETELY, WHAT AN AUDITOR WOULD ASK YOU FOR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Mission-to-Evidence Audit Map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13274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75133"/>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75133"/>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94759"/>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Mission claim</a:t>
            </a:r>
          </a:p>
          <a:p>
            <a:pPr algn="l">
              <a:spcAft>
                <a:spcPts val="300"/>
              </a:spcAft>
            </a:pPr>
            <a:r>
              <a:rPr sz="1100" b="0">
                <a:solidFill>
                  <a:srgbClr val="5B6372"/>
                </a:solidFill>
                <a:latin typeface="Arial"/>
              </a:rPr>
              <a:t>One row per claim the company makes about what it achieved.</a:t>
            </a:r>
          </a:p>
        </p:txBody>
      </p:sp>
      <p:sp>
        <p:nvSpPr>
          <p:cNvPr id="12" name="Rectangle 11"/>
          <p:cNvSpPr/>
          <p:nvPr/>
        </p:nvSpPr>
        <p:spPr>
          <a:xfrm>
            <a:off x="6231636" y="1783080"/>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13274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075133"/>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075133"/>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94759"/>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Issue</a:t>
            </a:r>
          </a:p>
          <a:p>
            <a:pPr algn="l">
              <a:spcAft>
                <a:spcPts val="300"/>
              </a:spcAft>
            </a:pPr>
            <a:r>
              <a:rPr sz="1100" b="0">
                <a:solidFill>
                  <a:srgbClr val="5B6372"/>
                </a:solidFill>
                <a:latin typeface="Arial"/>
              </a:rPr>
              <a:t>Which unit of work was supposed to produce it, and under which lineage.</a:t>
            </a:r>
          </a:p>
        </p:txBody>
      </p:sp>
      <p:sp>
        <p:nvSpPr>
          <p:cNvPr id="17" name="Rectangle 16"/>
          <p:cNvSpPr/>
          <p:nvPr/>
        </p:nvSpPr>
        <p:spPr>
          <a:xfrm>
            <a:off x="777240" y="312323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123231"/>
            <a:ext cx="91440" cy="113274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4152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4152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34910"/>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Run</a:t>
            </a:r>
          </a:p>
          <a:p>
            <a:pPr algn="l">
              <a:spcAft>
                <a:spcPts val="300"/>
              </a:spcAft>
            </a:pPr>
            <a:r>
              <a:rPr sz="1100" b="0">
                <a:solidFill>
                  <a:srgbClr val="5B6372"/>
                </a:solidFill>
                <a:latin typeface="Arial"/>
              </a:rPr>
              <a:t>Which execution actually ran, and whether it errored.</a:t>
            </a:r>
          </a:p>
        </p:txBody>
      </p:sp>
      <p:sp>
        <p:nvSpPr>
          <p:cNvPr id="22" name="Rectangle 21"/>
          <p:cNvSpPr/>
          <p:nvPr/>
        </p:nvSpPr>
        <p:spPr>
          <a:xfrm>
            <a:off x="6231636" y="312323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123231"/>
            <a:ext cx="91440" cy="113274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4152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4152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234910"/>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Artifact</a:t>
            </a:r>
          </a:p>
          <a:p>
            <a:pPr algn="l">
              <a:spcAft>
                <a:spcPts val="300"/>
              </a:spcAft>
            </a:pPr>
            <a:r>
              <a:rPr sz="1100" b="0">
                <a:solidFill>
                  <a:srgbClr val="5B6372"/>
                </a:solidFill>
                <a:latin typeface="Arial"/>
              </a:rPr>
              <a:t>The file on disk, at a named path, with the fields you specified.</a:t>
            </a:r>
          </a:p>
        </p:txBody>
      </p:sp>
      <p:sp>
        <p:nvSpPr>
          <p:cNvPr id="27" name="Rectangle 26"/>
          <p:cNvSpPr/>
          <p:nvPr/>
        </p:nvSpPr>
        <p:spPr>
          <a:xfrm>
            <a:off x="777240" y="446338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463381"/>
            <a:ext cx="91440" cy="113274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75543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75543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575061"/>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Cost</a:t>
            </a:r>
          </a:p>
          <a:p>
            <a:pPr algn="l">
              <a:spcAft>
                <a:spcPts val="300"/>
              </a:spcAft>
            </a:pPr>
            <a:r>
              <a:rPr sz="1100" b="0">
                <a:solidFill>
                  <a:srgbClr val="5B6372"/>
                </a:solidFill>
                <a:latin typeface="Arial"/>
              </a:rPr>
              <a:t>What it spent — and whether that is plausible for the work claimed.</a:t>
            </a:r>
          </a:p>
        </p:txBody>
      </p:sp>
      <p:sp>
        <p:nvSpPr>
          <p:cNvPr id="32" name="Rectangle 31"/>
          <p:cNvSpPr/>
          <p:nvPr/>
        </p:nvSpPr>
        <p:spPr>
          <a:xfrm>
            <a:off x="6231636" y="446338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463381"/>
            <a:ext cx="91440" cy="113274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75543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75543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575061"/>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Approval</a:t>
            </a:r>
          </a:p>
          <a:p>
            <a:pPr algn="l">
              <a:spcAft>
                <a:spcPts val="300"/>
              </a:spcAft>
            </a:pPr>
            <a:r>
              <a:rPr sz="1100" b="0">
                <a:solidFill>
                  <a:srgbClr val="5B6372"/>
                </a:solidFill>
                <a:latin typeface="Arial"/>
              </a:rPr>
              <a:t>The human decision, with its recorded rationale.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
        <p:nvSpPr>
          <p:cNvPr id="40" name="Rectangle 39"/>
          <p:cNvSpPr/>
          <p:nvPr/>
        </p:nvSpPr>
        <p:spPr>
          <a:xfrm>
            <a:off x="777240" y="5742432"/>
            <a:ext cx="10607040" cy="603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5742432"/>
            <a:ext cx="91440"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5742432"/>
            <a:ext cx="10241280" cy="603504"/>
          </a:xfrm>
          <a:prstGeom prst="rect">
            <a:avLst/>
          </a:prstGeom>
          <a:noFill/>
        </p:spPr>
        <p:txBody>
          <a:bodyPr wrap="square" anchor="ctr">
            <a:spAutoFit/>
          </a:bodyPr>
          <a:lstStyle/>
          <a:p>
            <a:pPr algn="l">
              <a:spcAft>
                <a:spcPts val="400"/>
              </a:spcAft>
            </a:pPr>
            <a:r>
              <a:rPr sz="1350" b="1">
                <a:solidFill>
                  <a:srgbClr val="161B26"/>
                </a:solidFill>
                <a:latin typeface="Arial"/>
              </a:rPr>
              <a:t>The loop closes when the whole operation reconstructs from the log alone.</a:t>
            </a:r>
          </a:p>
        </p:txBody>
      </p:sp>
    </p:spTree>
  </p:cSld>
  <p:clrMapOvr>
    <a:masterClrMapping/>
  </p:clrMapOvr>
  <p:transition spd="fast" advClick="1">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LO4 · ACTIVITY IS WHAT MAKES EVERYTHING ELSE DEFENSIBLE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Reading the Activity Log for Gaps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What you see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What it usually means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What to do</a:t>
            </a:r>
          </a:p>
        </p:txBody>
      </p:sp>
      <p:sp>
        <p:nvSpPr>
          <p:cNvPr id="13" name="Rectangle 12"/>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 steady, ordered sequence of runs</a:t>
            </a:r>
          </a:p>
        </p:txBody>
      </p:sp>
      <p:sp>
        <p:nvSpPr>
          <p:cNvPr id="15" name="Rectangle 14"/>
          <p:cNvSpPr/>
          <p:nvPr/>
        </p:nvSpPr>
        <p:spPr>
          <a:xfrm>
            <a:off x="3542202"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The audit loop is closed</a:t>
            </a:r>
          </a:p>
        </p:txBody>
      </p:sp>
      <p:sp>
        <p:nvSpPr>
          <p:cNvPr id="17" name="Rectangle 16"/>
          <p:cNvSpPr/>
          <p:nvPr/>
        </p:nvSpPr>
        <p:spPr>
          <a:xfrm>
            <a:off x="7476957" y="2258568"/>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Nothing. This is the state you are working towards.</a:t>
            </a:r>
          </a:p>
        </p:txBody>
      </p:sp>
      <p:sp>
        <p:nvSpPr>
          <p:cNvPr id="19" name="Rectangle 18"/>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 workspace change with no run</a:t>
            </a:r>
          </a:p>
        </p:txBody>
      </p:sp>
      <p:sp>
        <p:nvSpPr>
          <p:cNvPr id="21" name="Rectangle 20"/>
          <p:cNvSpPr/>
          <p:nvPr/>
        </p:nvSpPr>
        <p:spPr>
          <a:xfrm>
            <a:off x="3542202"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Work was done OUTSIDE a run — typically hand-edited</a:t>
            </a:r>
          </a:p>
        </p:txBody>
      </p:sp>
      <p:sp>
        <p:nvSpPr>
          <p:cNvPr id="23" name="Rectangle 22"/>
          <p:cNvSpPr/>
          <p:nvPr/>
        </p:nvSpPr>
        <p:spPr>
          <a:xfrm>
            <a:off x="7476957" y="2971800"/>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971800"/>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Record it honestly. The gap is itself an audit finding.</a:t>
            </a:r>
          </a:p>
        </p:txBody>
      </p:sp>
      <p:sp>
        <p:nvSpPr>
          <p:cNvPr id="25" name="Rectangle 24"/>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Long silence, no runs and no spend</a:t>
            </a:r>
          </a:p>
        </p:txBody>
      </p:sp>
      <p:sp>
        <p:nvSpPr>
          <p:cNvPr id="27" name="Rectangle 26"/>
          <p:cNvSpPr/>
          <p:nvPr/>
        </p:nvSpPr>
        <p:spPr>
          <a:xfrm>
            <a:off x="3542202"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An unattended approval queue</a:t>
            </a:r>
          </a:p>
        </p:txBody>
      </p:sp>
      <p:sp>
        <p:nvSpPr>
          <p:cNvPr id="29" name="Rectangle 28"/>
          <p:cNvSpPr/>
          <p:nvPr/>
        </p:nvSpPr>
        <p:spPr>
          <a:xfrm>
            <a:off x="7476957" y="3685032"/>
            <a:ext cx="3934755"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685032"/>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Open Approvals first. Approvals never expire on their own.</a:t>
            </a:r>
          </a:p>
        </p:txBody>
      </p:sp>
      <p:sp>
        <p:nvSpPr>
          <p:cNvPr id="31" name="Rectangle 30"/>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An agent stopped mid-work</a:t>
            </a:r>
          </a:p>
        </p:txBody>
      </p:sp>
      <p:sp>
        <p:nvSpPr>
          <p:cNvPr id="33" name="Rectangle 32"/>
          <p:cNvSpPr/>
          <p:nvPr/>
        </p:nvSpPr>
        <p:spPr>
          <a:xfrm>
            <a:off x="3542202"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The budget hard stop at 100%</a:t>
            </a:r>
          </a:p>
        </p:txBody>
      </p:sp>
      <p:sp>
        <p:nvSpPr>
          <p:cNvPr id="35" name="Rectangle 34"/>
          <p:cNvSpPr/>
          <p:nvPr/>
        </p:nvSpPr>
        <p:spPr>
          <a:xfrm>
            <a:off x="7476957" y="4398264"/>
            <a:ext cx="3934755"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4398264"/>
            <a:ext cx="3678723" cy="713232"/>
          </a:xfrm>
          <a:prstGeom prst="rect">
            <a:avLst/>
          </a:prstGeom>
          <a:noFill/>
        </p:spPr>
        <p:txBody>
          <a:bodyPr wrap="square" anchor="ctr">
            <a:spAutoFit/>
          </a:bodyPr>
          <a:lstStyle/>
          <a:p>
            <a:pPr algn="l">
              <a:spcAft>
                <a:spcPts val="400"/>
              </a:spcAft>
            </a:pPr>
            <a:r>
              <a:rPr sz="1150" b="0">
                <a:solidFill>
                  <a:srgbClr val="5B6372"/>
                </a:solidFill>
                <a:latin typeface="Arial"/>
              </a:rPr>
              <a:t>Check utilisation and pauseReason. Raise the cap deliberately, or let it stop.</a:t>
            </a:r>
          </a:p>
        </p:txBody>
      </p:sp>
      <p:sp>
        <p:nvSpPr>
          <p:cNvPr id="37" name="Rectangle 3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312664"/>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Concealing a gap is far worse than having one. An honest note explaining a hand-edit costs you nothing; a silent gap costs you the whole audit.</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transition spd="fast" advClick="1">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WHERE THE MONEY ACTUALLY GOES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Cost Engineering Levers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13274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75133"/>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75133"/>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94759"/>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Turn the interval OFF</a:t>
            </a:r>
          </a:p>
          <a:p>
            <a:pPr algn="l">
              <a:spcAft>
                <a:spcPts val="300"/>
              </a:spcAft>
            </a:pPr>
            <a:r>
              <a:rPr sz="1100" b="0">
                <a:solidFill>
                  <a:srgbClr val="5B6372"/>
                </a:solidFill>
                <a:latin typeface="Arial"/>
              </a:rPr>
              <a:t>It is off by default. An interval wakes the agent whether or not there is work, and each wake costs money.</a:t>
            </a:r>
          </a:p>
        </p:txBody>
      </p:sp>
      <p:sp>
        <p:nvSpPr>
          <p:cNvPr id="12" name="Rectangle 11"/>
          <p:cNvSpPr/>
          <p:nvPr/>
        </p:nvSpPr>
        <p:spPr>
          <a:xfrm>
            <a:off x="6231636" y="1783080"/>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13274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075133"/>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075133"/>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94759"/>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Split the instruction files</a:t>
            </a:r>
          </a:p>
          <a:p>
            <a:pPr algn="l">
              <a:spcAft>
                <a:spcPts val="300"/>
              </a:spcAft>
            </a:pPr>
            <a:r>
              <a:rPr sz="1100" b="0">
                <a:solidFill>
                  <a:srgbClr val="5B6372"/>
                </a:solidFill>
                <a:latin typeface="Arial"/>
              </a:rPr>
              <a:t>Only HEARTBEAT.md is needed on every wake. Move occasional material out of the per-run path.</a:t>
            </a:r>
          </a:p>
        </p:txBody>
      </p:sp>
      <p:sp>
        <p:nvSpPr>
          <p:cNvPr id="17" name="Rectangle 16"/>
          <p:cNvSpPr/>
          <p:nvPr/>
        </p:nvSpPr>
        <p:spPr>
          <a:xfrm>
            <a:off x="777240" y="312323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123231"/>
            <a:ext cx="91440" cy="113274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4152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4152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34910"/>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Use skills, not bigger prompts</a:t>
            </a:r>
          </a:p>
          <a:p>
            <a:pPr algn="l">
              <a:spcAft>
                <a:spcPts val="300"/>
              </a:spcAft>
            </a:pPr>
            <a:r>
              <a:rPr sz="1100" b="0">
                <a:solidFill>
                  <a:srgbClr val="5B6372"/>
                </a:solidFill>
                <a:latin typeface="Arial"/>
              </a:rPr>
              <a:t>Ten skills does not mean ten skills loaded per heartbeat — the agent loads only what it decides is relevant.</a:t>
            </a:r>
          </a:p>
        </p:txBody>
      </p:sp>
      <p:sp>
        <p:nvSpPr>
          <p:cNvPr id="22" name="Rectangle 21"/>
          <p:cNvSpPr/>
          <p:nvPr/>
        </p:nvSpPr>
        <p:spPr>
          <a:xfrm>
            <a:off x="6231636" y="312323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123231"/>
            <a:ext cx="91440" cy="113274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4152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4152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234910"/>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Cap at the agent, not just the company</a:t>
            </a:r>
          </a:p>
          <a:p>
            <a:pPr algn="l">
              <a:spcAft>
                <a:spcPts val="300"/>
              </a:spcAft>
            </a:pPr>
            <a:r>
              <a:rPr sz="1100" b="0">
                <a:solidFill>
                  <a:srgbClr val="5B6372"/>
                </a:solidFill>
                <a:latin typeface="Arial"/>
              </a:rPr>
              <a:t>The scopes are parallel, so the agent cap is what stops one runaway role.</a:t>
            </a:r>
          </a:p>
        </p:txBody>
      </p:sp>
      <p:sp>
        <p:nvSpPr>
          <p:cNvPr id="27" name="Rectangle 26"/>
          <p:cNvSpPr/>
          <p:nvPr/>
        </p:nvSpPr>
        <p:spPr>
          <a:xfrm>
            <a:off x="777240" y="446338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463381"/>
            <a:ext cx="91440" cy="113274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75543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75543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575061"/>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Read the adapter defaults</a:t>
            </a:r>
          </a:p>
          <a:p>
            <a:pPr algn="l">
              <a:spcAft>
                <a:spcPts val="300"/>
              </a:spcAft>
            </a:pPr>
            <a:r>
              <a:rPr sz="1100" b="0">
                <a:solidFill>
                  <a:srgbClr val="5B6372"/>
                </a:solidFill>
                <a:latin typeface="Arial"/>
              </a:rPr>
              <a:t>300 turns per run and a four-hour sandbox timeout are large numbers to leave unexamined.</a:t>
            </a:r>
          </a:p>
        </p:txBody>
      </p:sp>
      <p:sp>
        <p:nvSpPr>
          <p:cNvPr id="32" name="Rectangle 31"/>
          <p:cNvSpPr/>
          <p:nvPr/>
        </p:nvSpPr>
        <p:spPr>
          <a:xfrm>
            <a:off x="6231636" y="446338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463381"/>
            <a:ext cx="91440" cy="113274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75543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75543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575061"/>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Keep lineage intact</a:t>
            </a:r>
          </a:p>
          <a:p>
            <a:pPr algn="l">
              <a:spcAft>
                <a:spcPts val="300"/>
              </a:spcAft>
            </a:pPr>
            <a:r>
              <a:rPr sz="1100" b="0">
                <a:solidFill>
                  <a:srgbClr val="5B6372"/>
                </a:solidFill>
                <a:latin typeface="Arial"/>
              </a:rPr>
              <a:t>Re-explaining the goal in every issue body means paying for the same context over and over.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
        <p:nvSpPr>
          <p:cNvPr id="40" name="Rectangle 39"/>
          <p:cNvSpPr/>
          <p:nvPr/>
        </p:nvSpPr>
        <p:spPr>
          <a:xfrm>
            <a:off x="777240" y="5742432"/>
            <a:ext cx="10607040" cy="603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5742432"/>
            <a:ext cx="91440"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5742432"/>
            <a:ext cx="10241280" cy="603504"/>
          </a:xfrm>
          <a:prstGeom prst="rect">
            <a:avLst/>
          </a:prstGeom>
          <a:noFill/>
        </p:spPr>
        <p:txBody>
          <a:bodyPr wrap="square" anchor="ctr">
            <a:spAutoFit/>
          </a:bodyPr>
          <a:lstStyle/>
          <a:p>
            <a:pPr algn="l">
              <a:spcAft>
                <a:spcPts val="400"/>
              </a:spcAft>
            </a:pPr>
            <a:r>
              <a:rPr sz="1350" b="1">
                <a:solidFill>
                  <a:srgbClr val="161B26"/>
                </a:solidFill>
                <a:latin typeface="Arial"/>
              </a:rPr>
              <a:t>Every lever here reduces tokens per run — which is the only cost that compounds.</a:t>
            </a:r>
          </a:p>
        </p:txBody>
      </p:sp>
    </p:spTree>
  </p:cSld>
  <p:clrMapOvr>
    <a:masterClrMapping/>
  </p:clrMapOvr>
  <p:transition spd="fast" advClick="1">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LO4 · MOVING A WHOLE COMPANY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Portability — A Company Is Data, Not a Craft Object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13274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075133"/>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075133"/>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94759"/>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Export the whole company</a:t>
            </a:r>
          </a:p>
          <a:p>
            <a:pPr algn="l">
              <a:spcAft>
                <a:spcPts val="300"/>
              </a:spcAft>
            </a:pPr>
            <a:r>
              <a:rPr sz="1100" b="0">
                <a:solidFill>
                  <a:srgbClr val="5B6372"/>
                </a:solidFill>
                <a:latin typeface="Arial"/>
              </a:rPr>
              <a:t>Org chart, projects, issues, routines and configuration move together as one unit.</a:t>
            </a:r>
          </a:p>
        </p:txBody>
      </p:sp>
      <p:sp>
        <p:nvSpPr>
          <p:cNvPr id="12" name="Rectangle 11"/>
          <p:cNvSpPr/>
          <p:nvPr/>
        </p:nvSpPr>
        <p:spPr>
          <a:xfrm>
            <a:off x="6231636" y="1783080"/>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13274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075133"/>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075133"/>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94759"/>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Secrets are scrubbed</a:t>
            </a:r>
          </a:p>
          <a:p>
            <a:pPr algn="l">
              <a:spcAft>
                <a:spcPts val="300"/>
              </a:spcAft>
            </a:pPr>
            <a:r>
              <a:rPr sz="1100" b="0">
                <a:solidFill>
                  <a:srgbClr val="5B6372"/>
                </a:solidFill>
                <a:latin typeface="Arial"/>
              </a:rPr>
              <a:t>Credentials do not travel in the export. They are re-provisioned at the destination.</a:t>
            </a:r>
          </a:p>
        </p:txBody>
      </p:sp>
      <p:sp>
        <p:nvSpPr>
          <p:cNvPr id="17" name="Rectangle 16"/>
          <p:cNvSpPr/>
          <p:nvPr/>
        </p:nvSpPr>
        <p:spPr>
          <a:xfrm>
            <a:off x="777240" y="312323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123231"/>
            <a:ext cx="91440" cy="113274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4152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4152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34910"/>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Collisions are re-mapped</a:t>
            </a:r>
          </a:p>
          <a:p>
            <a:pPr algn="l">
              <a:spcAft>
                <a:spcPts val="300"/>
              </a:spcAft>
            </a:pPr>
            <a:r>
              <a:rPr sz="1100" b="0">
                <a:solidFill>
                  <a:srgbClr val="5B6372"/>
                </a:solidFill>
                <a:latin typeface="Arial"/>
              </a:rPr>
              <a:t>Identifier clashes at the destination are resolved on import rather than failing the whole load.</a:t>
            </a:r>
          </a:p>
        </p:txBody>
      </p:sp>
      <p:sp>
        <p:nvSpPr>
          <p:cNvPr id="22" name="Rectangle 21"/>
          <p:cNvSpPr/>
          <p:nvPr/>
        </p:nvSpPr>
        <p:spPr>
          <a:xfrm>
            <a:off x="6231636" y="312323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123231"/>
            <a:ext cx="91440" cy="113274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4152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4152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234910"/>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Back up before a risky change</a:t>
            </a:r>
          </a:p>
          <a:p>
            <a:pPr algn="l">
              <a:spcAft>
                <a:spcPts val="300"/>
              </a:spcAft>
            </a:pPr>
            <a:r>
              <a:rPr sz="1100" b="0">
                <a:solidFill>
                  <a:srgbClr val="5B6372"/>
                </a:solidFill>
                <a:latin typeface="Arial"/>
              </a:rPr>
              <a:t>The cheapest insurance available before you restructure an org chart.</a:t>
            </a:r>
          </a:p>
        </p:txBody>
      </p:sp>
      <p:sp>
        <p:nvSpPr>
          <p:cNvPr id="27" name="Rectangle 26"/>
          <p:cNvSpPr/>
          <p:nvPr/>
        </p:nvSpPr>
        <p:spPr>
          <a:xfrm>
            <a:off x="777240" y="446338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463381"/>
            <a:ext cx="91440" cy="113274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75543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75543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575061"/>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Clone a proven structure</a:t>
            </a:r>
          </a:p>
          <a:p>
            <a:pPr algn="l">
              <a:spcAft>
                <a:spcPts val="300"/>
              </a:spcAft>
            </a:pPr>
            <a:r>
              <a:rPr sz="1100" b="0">
                <a:solidFill>
                  <a:srgbClr val="5B6372"/>
                </a:solidFill>
                <a:latin typeface="Arial"/>
              </a:rPr>
              <a:t>A second business line starts from a shape you have already debugged.</a:t>
            </a:r>
          </a:p>
        </p:txBody>
      </p:sp>
      <p:sp>
        <p:nvSpPr>
          <p:cNvPr id="32" name="Rectangle 31"/>
          <p:cNvSpPr/>
          <p:nvPr/>
        </p:nvSpPr>
        <p:spPr>
          <a:xfrm>
            <a:off x="6231636" y="4463381"/>
            <a:ext cx="5180076" cy="11327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463381"/>
            <a:ext cx="91440" cy="113274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75543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75543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575061"/>
            <a:ext cx="3973068" cy="973204"/>
          </a:xfrm>
          <a:prstGeom prst="rect">
            <a:avLst/>
          </a:prstGeom>
          <a:noFill/>
        </p:spPr>
        <p:txBody>
          <a:bodyPr wrap="square" anchor="ctr">
            <a:spAutoFit/>
          </a:bodyPr>
          <a:lstStyle/>
          <a:p>
            <a:pPr algn="l">
              <a:spcAft>
                <a:spcPts val="300"/>
              </a:spcAft>
            </a:pPr>
            <a:r>
              <a:rPr sz="1500" b="1">
                <a:solidFill>
                  <a:srgbClr val="161B26"/>
                </a:solidFill>
                <a:latin typeface="Arial"/>
              </a:rPr>
              <a:t>Laptop to hosted</a:t>
            </a:r>
          </a:p>
          <a:p>
            <a:pPr algn="l">
              <a:spcAft>
                <a:spcPts val="300"/>
              </a:spcAft>
            </a:pPr>
            <a:r>
              <a:rPr sz="1100" b="0">
                <a:solidFill>
                  <a:srgbClr val="5B6372"/>
                </a:solidFill>
                <a:latin typeface="Arial"/>
              </a:rPr>
              <a:t>This is how a course company becomes a production one — and how you hand it to a colleague.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
        <p:nvSpPr>
          <p:cNvPr id="40" name="Rectangle 39"/>
          <p:cNvSpPr/>
          <p:nvPr/>
        </p:nvSpPr>
        <p:spPr>
          <a:xfrm>
            <a:off x="777240" y="5742432"/>
            <a:ext cx="10607040" cy="6035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77240" y="5742432"/>
            <a:ext cx="91440"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5742432"/>
            <a:ext cx="10241280" cy="603504"/>
          </a:xfrm>
          <a:prstGeom prst="rect">
            <a:avLst/>
          </a:prstGeom>
          <a:noFill/>
        </p:spPr>
        <p:txBody>
          <a:bodyPr wrap="square" anchor="ctr">
            <a:spAutoFit/>
          </a:bodyPr>
          <a:lstStyle/>
          <a:p>
            <a:pPr algn="l">
              <a:spcAft>
                <a:spcPts val="400"/>
              </a:spcAft>
            </a:pPr>
            <a:r>
              <a:rPr sz="1350" b="1">
                <a:solidFill>
                  <a:srgbClr val="161B26"/>
                </a:solidFill>
                <a:latin typeface="Arial"/>
              </a:rPr>
              <a:t>If you are afraid to touch a configuration, it is not portable — it is a liability.</a:t>
            </a:r>
          </a:p>
        </p:txBody>
      </p:sp>
    </p:spTree>
  </p:cSld>
  <p:clrMapOvr>
    <a:masterClrMapping/>
  </p:clrMapOvr>
  <p:transition spd="fast" advClick="1">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Deploying and Managing AI Agents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6</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Run the Governed TalentBridge Operation and Close the Audit Loop (HR)</a:t>
            </a:r>
          </a:p>
          <a:p>
            <a:pPr>
              <a:spcAft>
                <a:spcPts val="900"/>
              </a:spcAft>
            </a:pPr>
            <a:r>
              <a:rPr sz="1400" b="0">
                <a:solidFill>
                  <a:srgbClr val="161B26"/>
                </a:solidFill>
                <a:latin typeface="Arial"/>
              </a:rPr>
              <a:t>•  TalentBridge People Ops (HR — sourcing, interview, policy, onboarding)</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F59E0B"/>
                </a:solidFill>
                <a:latin typeface="Arial"/>
              </a:rPr>
              <a: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F59E0B"/>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transition spd="fast" advClick="1">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Run the Governed TalentBridge Operation and Close the Audit Loop (HR)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07040" cy="5669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783080"/>
            <a:ext cx="10241280" cy="566928"/>
          </a:xfrm>
          <a:prstGeom prst="rect">
            <a:avLst/>
          </a:prstGeom>
          <a:noFill/>
        </p:spPr>
        <p:txBody>
          <a:bodyPr wrap="square" anchor="ctr">
            <a:spAutoFit/>
          </a:bodyPr>
          <a:lstStyle/>
          <a:p>
            <a:pPr algn="l">
              <a:spcAft>
                <a:spcPts val="400"/>
              </a:spcAft>
            </a:pPr>
            <a:r>
              <a:rPr sz="1300" b="1">
                <a:solidFill>
                  <a:srgbClr val="7C3AED"/>
                </a:solidFill>
                <a:latin typeface="Arial"/>
              </a:rPr>
              <a:t>SIMULATED COMPANY  ·  TalentBridge People Ops (HR — sourcing, interview, policy, onboarding)</a:t>
            </a:r>
          </a:p>
        </p:txBody>
      </p:sp>
      <p:sp>
        <p:nvSpPr>
          <p:cNvPr id="10" name="TextBox 9"/>
          <p:cNvSpPr txBox="1"/>
          <p:nvPr/>
        </p:nvSpPr>
        <p:spPr>
          <a:xfrm>
            <a:off x="777240" y="2514600"/>
            <a:ext cx="10607040" cy="1298448"/>
          </a:xfrm>
          <a:prstGeom prst="rect">
            <a:avLst/>
          </a:prstGeom>
          <a:noFill/>
        </p:spPr>
        <p:txBody>
          <a:bodyPr wrap="square" anchor="t">
            <a:spAutoFit/>
          </a:bodyPr>
          <a:lstStyle/>
          <a:p>
            <a:pPr algn="l">
              <a:spcAft>
                <a:spcPts val="400"/>
              </a:spcAft>
            </a:pPr>
            <a:r>
              <a:rPr sz="1350" b="0">
                <a:solidFill>
                  <a:srgbClr val="161B26"/>
                </a:solidFill>
                <a:latin typeface="Arial"/>
              </a:rPr>
              <a:t>TalentBridge People Ops is the highest-stakes simulation in the course: hiring decisions affect real people, so every control you have learned is now mandatory rather than advisable. You complete the sourcing-to-onboarding operation, review the final synthesis against a workspace DIFF before the board closes it, process a bounded hire approval with a recorded rationale, practise the intervention ladder on a disposable role only, and finally reconstruct the entire operation from the activity log. The audit loop closes when the log alone tells the whole story.</a:t>
            </a:r>
          </a:p>
        </p:txBody>
      </p:sp>
      <p:sp>
        <p:nvSpPr>
          <p:cNvPr id="11" name="Rectangle 10"/>
          <p:cNvSpPr/>
          <p:nvPr/>
        </p:nvSpPr>
        <p:spPr>
          <a:xfrm>
            <a:off x="777240" y="3931920"/>
            <a:ext cx="6766560"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931920"/>
            <a:ext cx="676656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069080"/>
            <a:ext cx="6309360" cy="329184"/>
          </a:xfrm>
          <a:prstGeom prst="rect">
            <a:avLst/>
          </a:prstGeom>
          <a:noFill/>
        </p:spPr>
        <p:txBody>
          <a:bodyPr wrap="square" anchor="t">
            <a:spAutoFit/>
          </a:bodyPr>
          <a:lstStyle/>
          <a:p>
            <a:pPr algn="l">
              <a:spcAft>
                <a:spcPts val="400"/>
              </a:spcAft>
            </a:pPr>
            <a:r>
              <a:rPr sz="1200" b="1">
                <a:solidFill>
                  <a:srgbClr val="10B981"/>
                </a:solidFill>
                <a:latin typeface="Arial"/>
              </a:rPr>
              <a:t>YOU'LL BUILD</a:t>
            </a:r>
          </a:p>
        </p:txBody>
      </p:sp>
      <p:sp>
        <p:nvSpPr>
          <p:cNvPr id="14" name="TextBox 13"/>
          <p:cNvSpPr txBox="1"/>
          <p:nvPr/>
        </p:nvSpPr>
        <p:spPr>
          <a:xfrm>
            <a:off x="1005840" y="4416552"/>
            <a:ext cx="6309360" cy="1005840"/>
          </a:xfrm>
          <a:prstGeom prst="rect">
            <a:avLst/>
          </a:prstGeom>
          <a:noFill/>
        </p:spPr>
        <p:txBody>
          <a:bodyPr wrap="square" anchor="t">
            <a:spAutoFit/>
          </a:bodyPr>
          <a:lstStyle/>
          <a:p>
            <a:pPr algn="l">
              <a:spcAft>
                <a:spcPts val="400"/>
              </a:spcAft>
            </a:pPr>
            <a:r>
              <a:rPr sz="1150" b="0">
                <a:solidFill>
                  <a:srgbClr val="161B26"/>
                </a:solidFill>
                <a:latin typeface="Arial"/>
              </a:rPr>
              <a:t>A diff-reviewed TalentBridge hiring brief, a separately confined reviewer with a recorded approval rationale, a lifecycle intervention record, and a mission-to-evidence audit map reconstructed from the activity log alone.</a:t>
            </a:r>
          </a:p>
        </p:txBody>
      </p:sp>
      <p:sp>
        <p:nvSpPr>
          <p:cNvPr id="15" name="Rectangle 14"/>
          <p:cNvSpPr/>
          <p:nvPr/>
        </p:nvSpPr>
        <p:spPr>
          <a:xfrm>
            <a:off x="7818120" y="3931920"/>
            <a:ext cx="3566160"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818120" y="3931920"/>
            <a:ext cx="356616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0" y="4069080"/>
            <a:ext cx="3108960" cy="329184"/>
          </a:xfrm>
          <a:prstGeom prst="rect">
            <a:avLst/>
          </a:prstGeom>
          <a:noFill/>
        </p:spPr>
        <p:txBody>
          <a:bodyPr wrap="square" anchor="t">
            <a:spAutoFit/>
          </a:bodyPr>
          <a:lstStyle/>
          <a:p>
            <a:pPr algn="l">
              <a:spcAft>
                <a:spcPts val="400"/>
              </a:spcAft>
            </a:pPr>
            <a:r>
              <a:rPr sz="1200" b="1">
                <a:solidFill>
                  <a:srgbClr val="1F6FEB"/>
                </a:solidFill>
                <a:latin typeface="Arial"/>
              </a:rPr>
              <a:t>MAPS TO</a:t>
            </a:r>
          </a:p>
        </p:txBody>
      </p:sp>
      <p:sp>
        <p:nvSpPr>
          <p:cNvPr id="18" name="TextBox 17"/>
          <p:cNvSpPr txBox="1"/>
          <p:nvPr/>
        </p:nvSpPr>
        <p:spPr>
          <a:xfrm>
            <a:off x="8046720" y="4416552"/>
            <a:ext cx="3108960" cy="1005840"/>
          </a:xfrm>
          <a:prstGeom prst="rect">
            <a:avLst/>
          </a:prstGeom>
          <a:noFill/>
        </p:spPr>
        <p:txBody>
          <a:bodyPr wrap="square" anchor="t">
            <a:spAutoFit/>
          </a:bodyPr>
          <a:lstStyle/>
          <a:p>
            <a:pPr algn="l">
              <a:spcAft>
                <a:spcPts val="400"/>
              </a:spcAft>
            </a:pPr>
            <a:r>
              <a:rPr sz="1050" b="0">
                <a:solidFill>
                  <a:srgbClr val="161B26"/>
                </a:solidFill>
                <a:latin typeface="Arial"/>
              </a:rPr>
              <a:t>LO4: Resolve issues and modify a running agent company through approvals, the operator intervention ladder and a reconstructed audit trail.</a:t>
            </a:r>
          </a:p>
        </p:txBody>
      </p:sp>
      <p:sp>
        <p:nvSpPr>
          <p:cNvPr id="19" name="TextBox 18"/>
          <p:cNvSpPr txBox="1"/>
          <p:nvPr/>
        </p:nvSpPr>
        <p:spPr>
          <a:xfrm>
            <a:off x="777240" y="5669280"/>
            <a:ext cx="10607040" cy="640080"/>
          </a:xfrm>
          <a:prstGeom prst="rect">
            <a:avLst/>
          </a:prstGeom>
          <a:noFill/>
        </p:spPr>
        <p:txBody>
          <a:bodyPr wrap="square" anchor="t">
            <a:spAutoFit/>
          </a:bodyPr>
          <a:lstStyle/>
          <a:p>
            <a:pPr algn="l">
              <a:spcAft>
                <a:spcPts val="300"/>
              </a:spcAft>
            </a:pPr>
            <a:r>
              <a:rPr sz="1100" b="0">
                <a:solidFill>
                  <a:srgbClr val="5B6372"/>
                </a:solidFill>
                <a:latin typeface="Arial"/>
              </a:rPr>
              <a:t>Tools:  Paperclip Issues, Agents, Runs, Approvals, Activity, Costs and local Markdown artifacts</a:t>
            </a:r>
          </a:p>
          <a:p>
            <a:pPr algn="l">
              <a:spcAft>
                <a:spcPts val="300"/>
              </a:spcAft>
            </a:pPr>
            <a:r>
              <a:rPr sz="1100" b="0">
                <a:solidFill>
                  <a:srgbClr val="5B6372"/>
                </a:solidFill>
                <a:latin typeface="Arial"/>
              </a:rPr>
              <a:t>Full step-by-step procedure: Learner Guide, Lab 6  ·  labs/ folder</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transition spd="fast" advClick="1">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6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Create TalentBridge</a:t>
            </a:r>
          </a:p>
        </p:txBody>
      </p:sp>
      <p:sp>
        <p:nvSpPr>
          <p:cNvPr id="12" name="TextBox 11"/>
          <p:cNvSpPr txBox="1"/>
          <p:nvPr/>
        </p:nvSpPr>
        <p:spPr>
          <a:xfrm>
            <a:off x="850392"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synthetic candidates only</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Run the issue tree</a:t>
            </a:r>
          </a:p>
        </p:txBody>
      </p:sp>
      <p:sp>
        <p:nvSpPr>
          <p:cNvPr id="19" name="TextBox 18"/>
          <p:cNvSpPr txBox="1"/>
          <p:nvPr/>
        </p:nvSpPr>
        <p:spPr>
          <a:xfrm>
            <a:off x="3054096"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children accepted before the parent</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Review the workspace diff</a:t>
            </a:r>
          </a:p>
        </p:txBody>
      </p:sp>
      <p:sp>
        <p:nvSpPr>
          <p:cNvPr id="26" name="TextBox 25"/>
          <p:cNvSpPr txBox="1"/>
          <p:nvPr/>
        </p:nvSpPr>
        <p:spPr>
          <a:xfrm>
            <a:off x="5257800"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not the agent's own summary</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Decide the approval</a:t>
            </a:r>
          </a:p>
        </p:txBody>
      </p:sp>
      <p:sp>
        <p:nvSpPr>
          <p:cNvPr id="33" name="TextBox 32"/>
          <p:cNvSpPr txBox="1"/>
          <p:nvPr/>
        </p:nvSpPr>
        <p:spPr>
          <a:xfrm>
            <a:off x="7461504"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record the rationale</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Close the audit loop</a:t>
            </a:r>
          </a:p>
        </p:txBody>
      </p:sp>
      <p:sp>
        <p:nvSpPr>
          <p:cNvPr id="40" name="TextBox 39"/>
          <p:cNvSpPr txBox="1"/>
          <p:nvPr/>
        </p:nvSpPr>
        <p:spPr>
          <a:xfrm>
            <a:off x="9665208"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reconstruct from Activity alone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LO4: Resolve issues and modify a running agent company through approvals, the operator intervention ladder and a reconstructed audit trail.</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Run the Governed TalentBridge Operation and Close the Audit Loop (HR)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hiring brief is the only later People Ops Lead workspace change and its diff passes the rubric-traceability and fairness checks; the approval carries a recorded rationale; the intervention ladder was applied to the disposable role only and in order; and the audit map reconstructs every mission claim from activity-log entries with no gap.</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CEO synthesises incomplete work</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parent was assigned before both children were accepted. Reopen the parent, accept the outstanding child on named evidence, then re-assign.</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approval cannot be decided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Approvals do not expire on their own — an undecided approval simply waits, and any agent blocked on it waits too. Open Approvals and approve, reject or request revision.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Terminate removes more than intended</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Terminate is the LAST rung and is not reversible. Pause and reassign first; only terminate the role you deliberately created as disposable.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transition spd="fast" advClick="1">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LAB 6  ·  TROUBLESHOOTING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Run the Governed TalentBridge Operation and Close the Audit Loop (HR)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10512"/>
            <a:ext cx="10607040" cy="6629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10512"/>
            <a:ext cx="91440" cy="6629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93852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The CEO synthesises incomplete work</a:t>
            </a:r>
          </a:p>
        </p:txBody>
      </p:sp>
      <p:sp>
        <p:nvSpPr>
          <p:cNvPr id="10" name="TextBox 9"/>
          <p:cNvSpPr txBox="1"/>
          <p:nvPr/>
        </p:nvSpPr>
        <p:spPr>
          <a:xfrm>
            <a:off x="1051560" y="2304288"/>
            <a:ext cx="10149840" cy="59436"/>
          </a:xfrm>
          <a:prstGeom prst="rect">
            <a:avLst/>
          </a:prstGeom>
          <a:noFill/>
        </p:spPr>
        <p:txBody>
          <a:bodyPr wrap="square" anchor="t">
            <a:spAutoFit/>
          </a:bodyPr>
          <a:lstStyle/>
          <a:p>
            <a:pPr algn="l">
              <a:spcAft>
                <a:spcPts val="400"/>
              </a:spcAft>
            </a:pPr>
            <a:r>
              <a:rPr sz="1150" b="0">
                <a:solidFill>
                  <a:srgbClr val="5B6372"/>
                </a:solidFill>
                <a:latin typeface="Arial"/>
              </a:rPr>
              <a:t>The parent was assigned before both children were accepted. Reopen the parent, accept the outstanding child on named evidence, then re-assign.</a:t>
            </a:r>
          </a:p>
        </p:txBody>
      </p:sp>
      <p:sp>
        <p:nvSpPr>
          <p:cNvPr id="11" name="Rectangle 10"/>
          <p:cNvSpPr/>
          <p:nvPr/>
        </p:nvSpPr>
        <p:spPr>
          <a:xfrm>
            <a:off x="777240" y="2656332"/>
            <a:ext cx="10607040" cy="6629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656332"/>
            <a:ext cx="91440" cy="6629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278434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The approval cannot be decided</a:t>
            </a:r>
          </a:p>
        </p:txBody>
      </p:sp>
      <p:sp>
        <p:nvSpPr>
          <p:cNvPr id="14" name="TextBox 13"/>
          <p:cNvSpPr txBox="1"/>
          <p:nvPr/>
        </p:nvSpPr>
        <p:spPr>
          <a:xfrm>
            <a:off x="1051560" y="3150108"/>
            <a:ext cx="10149840" cy="59436"/>
          </a:xfrm>
          <a:prstGeom prst="rect">
            <a:avLst/>
          </a:prstGeom>
          <a:noFill/>
        </p:spPr>
        <p:txBody>
          <a:bodyPr wrap="square" anchor="t">
            <a:spAutoFit/>
          </a:bodyPr>
          <a:lstStyle/>
          <a:p>
            <a:pPr algn="l">
              <a:spcAft>
                <a:spcPts val="400"/>
              </a:spcAft>
            </a:pPr>
            <a:r>
              <a:rPr sz="1150" b="0">
                <a:solidFill>
                  <a:srgbClr val="5B6372"/>
                </a:solidFill>
                <a:latin typeface="Arial"/>
              </a:rPr>
              <a:t>Approvals do not expire on their own — an undecided approval simply waits, and any agent blocked on it waits too. Open Approvals and approve, reject or request revision.</a:t>
            </a:r>
          </a:p>
        </p:txBody>
      </p:sp>
      <p:sp>
        <p:nvSpPr>
          <p:cNvPr id="15" name="Rectangle 14"/>
          <p:cNvSpPr/>
          <p:nvPr/>
        </p:nvSpPr>
        <p:spPr>
          <a:xfrm>
            <a:off x="777240" y="3502152"/>
            <a:ext cx="10607040" cy="6629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502152"/>
            <a:ext cx="91440" cy="6629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363016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Terminate removes more than intended</a:t>
            </a:r>
          </a:p>
        </p:txBody>
      </p:sp>
      <p:sp>
        <p:nvSpPr>
          <p:cNvPr id="18" name="TextBox 17"/>
          <p:cNvSpPr txBox="1"/>
          <p:nvPr/>
        </p:nvSpPr>
        <p:spPr>
          <a:xfrm>
            <a:off x="1051560" y="3995928"/>
            <a:ext cx="10149840" cy="59436"/>
          </a:xfrm>
          <a:prstGeom prst="rect">
            <a:avLst/>
          </a:prstGeom>
          <a:noFill/>
        </p:spPr>
        <p:txBody>
          <a:bodyPr wrap="square" anchor="t">
            <a:spAutoFit/>
          </a:bodyPr>
          <a:lstStyle/>
          <a:p>
            <a:pPr algn="l">
              <a:spcAft>
                <a:spcPts val="400"/>
              </a:spcAft>
            </a:pPr>
            <a:r>
              <a:rPr sz="1150" b="0">
                <a:solidFill>
                  <a:srgbClr val="5B6372"/>
                </a:solidFill>
                <a:latin typeface="Arial"/>
              </a:rPr>
              <a:t>Terminate is the LAST rung and is not reversible. Pause and reassign first; only terminate the role you deliberately created as disposable.</a:t>
            </a:r>
          </a:p>
        </p:txBody>
      </p:sp>
      <p:sp>
        <p:nvSpPr>
          <p:cNvPr id="19" name="Rectangle 18"/>
          <p:cNvSpPr/>
          <p:nvPr/>
        </p:nvSpPr>
        <p:spPr>
          <a:xfrm>
            <a:off x="777240" y="4347972"/>
            <a:ext cx="10607040" cy="6629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347972"/>
            <a:ext cx="91440" cy="6629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4475988"/>
            <a:ext cx="10149840" cy="329184"/>
          </a:xfrm>
          <a:prstGeom prst="rect">
            <a:avLst/>
          </a:prstGeom>
          <a:noFill/>
        </p:spPr>
        <p:txBody>
          <a:bodyPr wrap="square" anchor="t">
            <a:spAutoFit/>
          </a:bodyPr>
          <a:lstStyle/>
          <a:p>
            <a:pPr algn="l">
              <a:spcAft>
                <a:spcPts val="400"/>
              </a:spcAft>
            </a:pPr>
            <a:r>
              <a:rPr sz="1300" b="1">
                <a:solidFill>
                  <a:srgbClr val="161B26"/>
                </a:solidFill>
                <a:latin typeface="Arial"/>
              </a:rPr>
              <a:t>⚠  The activity log has a gap</a:t>
            </a:r>
          </a:p>
        </p:txBody>
      </p:sp>
      <p:sp>
        <p:nvSpPr>
          <p:cNvPr id="22" name="TextBox 21"/>
          <p:cNvSpPr txBox="1"/>
          <p:nvPr/>
        </p:nvSpPr>
        <p:spPr>
          <a:xfrm>
            <a:off x="1051560" y="4841748"/>
            <a:ext cx="10149840" cy="59436"/>
          </a:xfrm>
          <a:prstGeom prst="rect">
            <a:avLst/>
          </a:prstGeom>
          <a:noFill/>
        </p:spPr>
        <p:txBody>
          <a:bodyPr wrap="square" anchor="t">
            <a:spAutoFit/>
          </a:bodyPr>
          <a:lstStyle/>
          <a:p>
            <a:pPr algn="l">
              <a:spcAft>
                <a:spcPts val="400"/>
              </a:spcAft>
            </a:pPr>
            <a:r>
              <a:rPr sz="1150" b="0">
                <a:solidFill>
                  <a:srgbClr val="5B6372"/>
                </a:solidFill>
                <a:latin typeface="Arial"/>
              </a:rPr>
              <a:t>Work was done outside a run — for example hand-edited in the workspace. Note it honestly in the audit map; an unexplained gap is itself an audit finding.</a:t>
            </a:r>
          </a:p>
        </p:txBody>
      </p:sp>
      <p:sp>
        <p:nvSpPr>
          <p:cNvPr id="23" name="Rectangle 22"/>
          <p:cNvSpPr/>
          <p:nvPr/>
        </p:nvSpPr>
        <p:spPr>
          <a:xfrm>
            <a:off x="777240" y="5230368"/>
            <a:ext cx="5212080"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77240" y="5230368"/>
            <a:ext cx="91440" cy="1005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5321808"/>
            <a:ext cx="4846320" cy="292608"/>
          </a:xfrm>
          <a:prstGeom prst="rect">
            <a:avLst/>
          </a:prstGeom>
          <a:noFill/>
        </p:spPr>
        <p:txBody>
          <a:bodyPr wrap="square" anchor="t">
            <a:spAutoFit/>
          </a:bodyPr>
          <a:lstStyle/>
          <a:p>
            <a:pPr algn="l">
              <a:spcAft>
                <a:spcPts val="400"/>
              </a:spcAft>
            </a:pPr>
            <a:r>
              <a:rPr sz="1150" b="1">
                <a:solidFill>
                  <a:srgbClr val="7C3AED"/>
                </a:solidFill>
                <a:latin typeface="Arial"/>
              </a:rPr>
              <a:t>CHALLENGE</a:t>
            </a:r>
          </a:p>
        </p:txBody>
      </p:sp>
      <p:sp>
        <p:nvSpPr>
          <p:cNvPr id="26" name="TextBox 25"/>
          <p:cNvSpPr txBox="1"/>
          <p:nvPr/>
        </p:nvSpPr>
        <p:spPr>
          <a:xfrm>
            <a:off x="1051560" y="5632704"/>
            <a:ext cx="4846320" cy="548640"/>
          </a:xfrm>
          <a:prstGeom prst="rect">
            <a:avLst/>
          </a:prstGeom>
          <a:noFill/>
        </p:spPr>
        <p:txBody>
          <a:bodyPr wrap="square" anchor="t">
            <a:spAutoFit/>
          </a:bodyPr>
          <a:lstStyle/>
          <a:p>
            <a:pPr algn="l">
              <a:spcAft>
                <a:spcPts val="400"/>
              </a:spcAft>
            </a:pPr>
            <a:r>
              <a:rPr sz="1050" b="0">
                <a:solidFill>
                  <a:srgbClr val="161B26"/>
                </a:solidFill>
                <a:latin typeface="Arial"/>
              </a:rPr>
              <a:t>Export the TalentBridge company, confirm the export scrubs secrets, then import it as a second company and record which identifiers Paperclip had to re-map on collision.</a:t>
            </a:r>
          </a:p>
        </p:txBody>
      </p:sp>
      <p:sp>
        <p:nvSpPr>
          <p:cNvPr id="27" name="Rectangle 26"/>
          <p:cNvSpPr/>
          <p:nvPr/>
        </p:nvSpPr>
        <p:spPr>
          <a:xfrm>
            <a:off x="6172200" y="5230368"/>
            <a:ext cx="5212080"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72200" y="5230368"/>
            <a:ext cx="91440"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46520" y="5321808"/>
            <a:ext cx="4846320" cy="292608"/>
          </a:xfrm>
          <a:prstGeom prst="rect">
            <a:avLst/>
          </a:prstGeom>
          <a:noFill/>
        </p:spPr>
        <p:txBody>
          <a:bodyPr wrap="square" anchor="t">
            <a:spAutoFit/>
          </a:bodyPr>
          <a:lstStyle/>
          <a:p>
            <a:pPr algn="l">
              <a:spcAft>
                <a:spcPts val="400"/>
              </a:spcAft>
            </a:pPr>
            <a:r>
              <a:rPr sz="1150" b="1">
                <a:solidFill>
                  <a:srgbClr val="1F6FEB"/>
                </a:solidFill>
                <a:latin typeface="Arial"/>
              </a:rPr>
              <a:t>REFLECTION</a:t>
            </a:r>
          </a:p>
        </p:txBody>
      </p:sp>
      <p:sp>
        <p:nvSpPr>
          <p:cNvPr id="30" name="TextBox 29"/>
          <p:cNvSpPr txBox="1"/>
          <p:nvPr/>
        </p:nvSpPr>
        <p:spPr>
          <a:xfrm>
            <a:off x="6446520" y="5632704"/>
            <a:ext cx="4846320" cy="548640"/>
          </a:xfrm>
          <a:prstGeom prst="rect">
            <a:avLst/>
          </a:prstGeom>
          <a:noFill/>
        </p:spPr>
        <p:txBody>
          <a:bodyPr wrap="square" anchor="t">
            <a:spAutoFit/>
          </a:bodyPr>
          <a:lstStyle/>
          <a:p>
            <a:pPr algn="l">
              <a:spcAft>
                <a:spcPts val="400"/>
              </a:spcAft>
            </a:pPr>
            <a:r>
              <a:rPr sz="1050" b="0">
                <a:solidFill>
                  <a:srgbClr val="161B26"/>
                </a:solidFill>
                <a:latin typeface="Arial"/>
              </a:rPr>
              <a:t>Your audit map is the deliverable a regulator would actually ask for. Which single row in it is the weakest, and what evidence would strengthen it?</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transition spd="fast" advClick="1">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Deploying and Managing AI Agents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500" b="0">
                <a:solidFill>
                  <a:srgbClr val="161B26"/>
                </a:solidFill>
                <a:latin typeface="Arial"/>
              </a:rPr>
              <a:t>•  You can now: LO4: Resolve issues and modify a running agent company through approvals, the operator intervention ladder and a reconstructed audit trail.</a:t>
            </a:r>
          </a:p>
          <a:p>
            <a:pPr>
              <a:spcAft>
                <a:spcPts val="1000"/>
              </a:spcAft>
            </a:pPr>
            <a:r>
              <a:rPr sz="1500" b="0">
                <a:solidFill>
                  <a:srgbClr val="161B26"/>
                </a:solidFill>
                <a:latin typeface="Arial"/>
              </a:rPr>
              <a:t>•  A routine is recurring work triggered by cron, webhook or API. Create it paused, prove it once by hand, and only then let the schedule own it.</a:t>
            </a:r>
          </a:p>
          <a:p>
            <a:pPr>
              <a:spcAft>
                <a:spcPts val="1000"/>
              </a:spcAft>
            </a:pPr>
            <a:r>
              <a:rPr sz="1500" b="0">
                <a:solidFill>
                  <a:srgbClr val="161B26"/>
                </a:solidFill>
                <a:latin typeface="Arial"/>
              </a:rPr>
              <a:t>•  A schedule trigger is explicit — 30 16 * * * with an IANA timezone such as Asia/Singapore. An implicit timezone is a production incident waiting to happen.</a:t>
            </a:r>
          </a:p>
          <a:p>
            <a:pPr>
              <a:spcAft>
                <a:spcPts val="1000"/>
              </a:spcAft>
            </a:pPr>
            <a:r>
              <a:rPr sz="1500" b="0">
                <a:solidFill>
                  <a:srgbClr val="161B26"/>
                </a:solidFill>
                <a:latin typeface="Arial"/>
              </a:rPr>
              <a:t>•  Budgets have three scopes enforced in PARALLEL: company (monthly), agent (monthly) and project (lifetime). An agent can be paused by its own cap even when the company has budget left.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transition spd="fast" advClick="1">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transition spd="med" advClick="1">
    <p:push dir="l"/>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LO1 · Identify &amp; scan feasibility</a:t>
            </a:r>
          </a:p>
          <a:p>
            <a:pPr algn="l">
              <a:spcAft>
                <a:spcPts val="300"/>
              </a:spcAft>
            </a:pPr>
            <a:r>
              <a:rPr sz="1200" b="0">
                <a:solidFill>
                  <a:srgbClr val="5B6372"/>
                </a:solidFill>
                <a:latin typeface="Arial"/>
              </a:rPr>
              <a:t>Explain the Paperclip control-plane model and judge when a managed multi-agent company earns its coordination cost.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LO2 · Integrate &amp; develop</a:t>
            </a:r>
          </a:p>
          <a:p>
            <a:pPr algn="l">
              <a:spcAft>
                <a:spcPts val="300"/>
              </a:spcAft>
            </a:pPr>
            <a:r>
              <a:rPr sz="1200" b="0">
                <a:solidFill>
                  <a:srgbClr val="5B6372"/>
                </a:solidFill>
                <a:latin typeface="Arial"/>
              </a:rPr>
              <a:t>Install Paperclip, create a goal-aligned company, build the reporting tree and connect agent runtimes, skills and workspaces safely.</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LO3 · Test &amp; verify</a:t>
            </a:r>
          </a:p>
          <a:p>
            <a:pPr algn="l">
              <a:spcAft>
                <a:spcPts val="300"/>
              </a:spcAft>
            </a:pPr>
            <a:r>
              <a:rPr sz="1200" b="0">
                <a:solidFill>
                  <a:srgbClr val="5B6372"/>
                </a:solidFill>
                <a:latin typeface="Arial"/>
              </a:rPr>
              <a:t>Decompose a mission into issues, run bounded heartbeats and verify hand-offs through runs, comments, artifacts and the activity log.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LO4 · Resolve &amp; modify</a:t>
            </a:r>
          </a:p>
          <a:p>
            <a:pPr algn="l">
              <a:spcAft>
                <a:spcPts val="300"/>
              </a:spcAft>
            </a:pPr>
            <a:r>
              <a:rPr sz="1200" b="0">
                <a:solidFill>
                  <a:srgbClr val="5B6372"/>
                </a:solidFill>
                <a:latin typeface="Arial"/>
              </a:rPr>
              <a:t>Diagnose adapter, budget and routine failures, and modify governance, approvals and cost boundaries to keep the operation safe.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transition spd="fast" advClick="1">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TAKE THIS BACK TO WORK</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 Governed Multi-Agent Operating Checklist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Mission is measurable</a:t>
            </a:r>
          </a:p>
          <a:p>
            <a:pPr algn="l">
              <a:spcAft>
                <a:spcPts val="300"/>
              </a:spcAft>
            </a:pPr>
            <a:r>
              <a:rPr sz="1200" b="0">
                <a:solidFill>
                  <a:srgbClr val="5B6372"/>
                </a:solidFill>
                <a:latin typeface="Arial"/>
              </a:rPr>
              <a:t>A target, a metric and a boundary — or it cannot be verified.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Caps exist before runtimes</a:t>
            </a:r>
          </a:p>
          <a:p>
            <a:pPr algn="l">
              <a:spcAft>
                <a:spcPts val="300"/>
              </a:spcAft>
            </a:pPr>
            <a:r>
              <a:rPr sz="1200" b="0">
                <a:solidFill>
                  <a:srgbClr val="5B6372"/>
                </a:solidFill>
                <a:latin typeface="Arial"/>
              </a:rPr>
              <a:t>Company, then project, then agent — set before anything runs.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Every role is confined</a:t>
            </a:r>
          </a:p>
          <a:p>
            <a:pPr algn="l">
              <a:spcAft>
                <a:spcPts val="300"/>
              </a:spcAft>
            </a:pPr>
            <a:r>
              <a:rPr sz="1200" b="0">
                <a:solidFill>
                  <a:srgbClr val="5B6372"/>
                </a:solidFill>
                <a:latin typeface="Arial"/>
              </a:rPr>
              <a:t>Its own workspace, instruction file, adapter and budget.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Issues are created unassigned</a:t>
            </a:r>
          </a:p>
          <a:p>
            <a:pPr algn="l">
              <a:spcAft>
                <a:spcPts val="300"/>
              </a:spcAft>
            </a:pPr>
            <a:r>
              <a:rPr sz="1200" b="0">
                <a:solidFill>
                  <a:srgbClr val="5B6372"/>
                </a:solidFill>
                <a:latin typeface="Arial"/>
              </a:rPr>
              <a:t>Assignment is the trigger; assign one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Acceptance names the evidence</a:t>
            </a:r>
          </a:p>
          <a:p>
            <a:pPr algn="l">
              <a:spcAft>
                <a:spcPts val="300"/>
              </a:spcAft>
            </a:pPr>
            <a:r>
              <a:rPr sz="1200" b="0">
                <a:solidFill>
                  <a:srgbClr val="5B6372"/>
                </a:solidFill>
                <a:latin typeface="Arial"/>
              </a:rPr>
              <a:t>The artifact, its path and its required fields.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The audit reconstructs</a:t>
            </a:r>
          </a:p>
          <a:p>
            <a:pPr algn="l">
              <a:spcAft>
                <a:spcPts val="300"/>
              </a:spcAft>
            </a:pPr>
            <a:r>
              <a:rPr sz="1200" b="0">
                <a:solidFill>
                  <a:srgbClr val="5B6372"/>
                </a:solidFill>
                <a:latin typeface="Arial"/>
              </a:rPr>
              <a:t>Activity alone tells the whole story, with no unexplained gap.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transition spd="fast" advClick="1">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Continue Your Learning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Official project</a:t>
            </a:r>
          </a:p>
          <a:p>
            <a:pPr algn="l">
              <a:spcAft>
                <a:spcPts val="300"/>
              </a:spcAft>
            </a:pPr>
            <a:r>
              <a:rPr sz="1200" b="0">
                <a:solidFill>
                  <a:srgbClr val="5B6372"/>
                </a:solidFill>
                <a:latin typeface="Arial"/>
              </a:rPr>
              <a:t>https://github.com/paperclipai/paperclip — the source, the docs and the release notes.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Hosted Paperclip</a:t>
            </a:r>
          </a:p>
          <a:p>
            <a:pPr algn="l">
              <a:spcAft>
                <a:spcPts val="300"/>
              </a:spcAft>
            </a:pPr>
            <a:r>
              <a:rPr sz="1200" b="0">
                <a:solidFill>
                  <a:srgbClr val="5B6372"/>
                </a:solidFill>
                <a:latin typeface="Arial"/>
              </a:rPr>
              <a:t>https://paperclip.inc — the managed control plane if you do not want to self-host.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Rebuild the labs</a:t>
            </a:r>
          </a:p>
          <a:p>
            <a:pPr algn="l">
              <a:spcAft>
                <a:spcPts val="300"/>
              </a:spcAft>
            </a:pPr>
            <a:r>
              <a:rPr sz="1200" b="0">
                <a:solidFill>
                  <a:srgbClr val="5B6372"/>
                </a:solidFill>
                <a:latin typeface="Arial"/>
              </a:rPr>
              <a:t>Redo each of the six companies from scratch until the control sequence is automatic.</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Start with one real workflow</a:t>
            </a:r>
          </a:p>
          <a:p>
            <a:pPr algn="l">
              <a:spcAft>
                <a:spcPts val="300"/>
              </a:spcAft>
            </a:pPr>
            <a:r>
              <a:rPr sz="1200" b="0">
                <a:solidFill>
                  <a:srgbClr val="5B6372"/>
                </a:solidFill>
                <a:latin typeface="Arial"/>
              </a:rPr>
              <a:t>Choose an internal task whose inputs and outputs are already observable.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Keep the caps low</a:t>
            </a:r>
          </a:p>
          <a:p>
            <a:pPr algn="l">
              <a:spcAft>
                <a:spcPts val="300"/>
              </a:spcAft>
            </a:pPr>
            <a:r>
              <a:rPr sz="1200" b="0">
                <a:solidFill>
                  <a:srgbClr val="5B6372"/>
                </a:solidFill>
                <a:latin typeface="Arial"/>
              </a:rPr>
              <a:t>Your first real company should be capped far below what you would be willing to pay.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Audit before you scale</a:t>
            </a:r>
          </a:p>
          <a:p>
            <a:pPr algn="l">
              <a:spcAft>
                <a:spcPts val="300"/>
              </a:spcAft>
            </a:pPr>
            <a:r>
              <a:rPr sz="1200" b="0">
                <a:solidFill>
                  <a:srgbClr val="5B6372"/>
                </a:solidFill>
                <a:latin typeface="Arial"/>
              </a:rPr>
              <a:t>Prove you can reconstruct one operation before you run two.</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transition spd="fast" advClick="1">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CONTINUE WITH TERTIARY INFOTECH</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Recommended Courses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WSQ - Develop Multi AI Agent Applications with Gemini Agent ADK</a:t>
            </a:r>
          </a:p>
          <a:p>
            <a:pPr algn="l">
              <a:spcAft>
                <a:spcPts val="300"/>
              </a:spcAft>
            </a:pPr>
            <a:r>
              <a:rPr sz="1300" b="0">
                <a:solidFill>
                  <a:srgbClr val="5B6372"/>
                </a:solidFill>
                <a:latin typeface="Arial"/>
              </a:rPr>
              <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WSQ - Build LLM Applications Using Flowise and LangChain</a:t>
            </a:r>
          </a:p>
          <a:p>
            <a:pPr algn="l">
              <a:spcAft>
                <a:spcPts val="300"/>
              </a:spcAft>
            </a:pPr>
            <a:r>
              <a:rPr sz="1300" b="0">
                <a:solidFill>
                  <a:srgbClr val="5B6372"/>
                </a:solidFill>
                <a:latin typeface="Arial"/>
              </a:rPr>
              <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WSQ - Generative AI for Productivity</a:t>
            </a:r>
          </a:p>
          <a:p>
            <a:pPr algn="l">
              <a:spcAft>
                <a:spcPts val="300"/>
              </a:spcAft>
            </a:pPr>
            <a:r>
              <a:rPr sz="1300" b="0">
                <a:solidFill>
                  <a:srgbClr val="5B6372"/>
                </a:solidFill>
                <a:latin typeface="Arial"/>
              </a:rPr>
              <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WSQ - Prompt Engineering for Business</a:t>
            </a:r>
          </a:p>
          <a:p>
            <a:pPr algn="l">
              <a:spcAft>
                <a:spcPts val="300"/>
              </a:spcAft>
            </a:pPr>
            <a:r>
              <a:rPr sz="1300" b="0">
                <a:solidFill>
                  <a:srgbClr val="5B6372"/>
                </a:solidFill>
                <a:latin typeface="Arial"/>
              </a:rPr>
              <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transition spd="fast" advClick="1">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WE'RE HERE TO HELP — DURING AND AFTER THE CLASS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Email</a:t>
            </a:r>
          </a:p>
          <a:p>
            <a:pPr algn="l">
              <a:spcAft>
                <a:spcPts val="300"/>
              </a:spcAft>
            </a:pPr>
            <a:r>
              <a:rPr sz="1200" b="0">
                <a:solidFill>
                  <a:srgbClr val="5B6372"/>
                </a:solidFill>
                <a:latin typeface="Arial"/>
              </a:rPr>
              <a:t>enquiry@tertiaryinfotech.com</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Telephone</a:t>
            </a:r>
          </a:p>
          <a:p>
            <a:pPr algn="l">
              <a:spcAft>
                <a:spcPts val="300"/>
              </a:spcAft>
            </a:pPr>
            <a:r>
              <a:rPr sz="1200" b="0">
                <a:solidFill>
                  <a:srgbClr val="5B6372"/>
                </a:solidFill>
                <a:latin typeface="Arial"/>
              </a:rPr>
              <a:t>+65 6100 0613</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Website</a:t>
            </a:r>
          </a:p>
          <a:p>
            <a:pPr algn="l">
              <a:spcAft>
                <a:spcPts val="300"/>
              </a:spcAft>
            </a:pPr>
            <a:r>
              <a:rPr sz="1200" b="0">
                <a:solidFill>
                  <a:srgbClr val="5B6372"/>
                </a:solidFill>
                <a:latin typeface="Arial"/>
              </a:rPr>
              <a:t>www.tertiarycourses.com.sg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LMS / TMS</a:t>
            </a:r>
          </a:p>
          <a:p>
            <a:pPr algn="l">
              <a:spcAft>
                <a:spcPts val="300"/>
              </a:spcAft>
            </a:pPr>
            <a:r>
              <a:rPr sz="1200" b="0">
                <a:solidFill>
                  <a:srgbClr val="5B6372"/>
                </a:solidFill>
                <a:latin typeface="Arial"/>
              </a:rPr>
              <a:t>https://lms-tms.tertiaryinfotech.com</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Practice exam</a:t>
            </a:r>
          </a:p>
          <a:p>
            <a:pPr algn="l">
              <a:spcAft>
                <a:spcPts val="300"/>
              </a:spcAft>
            </a:pPr>
            <a:r>
              <a:rPr sz="1200" b="0">
                <a:solidFill>
                  <a:srgbClr val="5B6372"/>
                </a:solidFill>
                <a:latin typeface="Arial"/>
              </a:rPr>
              <a:t>https://exams.tertiaryinfotech.com</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Course page</a:t>
            </a:r>
          </a:p>
          <a:p>
            <a:pPr algn="l">
              <a:spcAft>
                <a:spcPts val="300"/>
              </a:spcAft>
            </a:pPr>
            <a:r>
              <a:rPr sz="1200" b="0">
                <a:solidFill>
                  <a:srgbClr val="5B6372"/>
                </a:solidFill>
                <a:latin typeface="Arial"/>
              </a:rPr>
              <a:t>www.tertiarycourses.com.sg/wsq-manage-ai-agents-with-paperclip.html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transition spd="fast" advClick="1">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BEFORE YOU START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Clear your desk</a:t>
            </a:r>
          </a:p>
          <a:p>
            <a:pPr algn="l">
              <a:spcAft>
                <a:spcPts val="300"/>
              </a:spcAft>
            </a:pPr>
            <a:r>
              <a:rPr sz="1200" b="0">
                <a:solidFill>
                  <a:srgbClr val="5B6372"/>
                </a:solidFill>
                <a:latin typeface="Arial"/>
              </a:rPr>
              <a:t>Place phones and other materials under the table or on the floor.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recording</a:t>
            </a:r>
          </a:p>
          <a:p>
            <a:pPr algn="l">
              <a:spcAft>
                <a:spcPts val="300"/>
              </a:spcAft>
            </a:pPr>
            <a:r>
              <a:rPr sz="1200" b="0">
                <a:solidFill>
                  <a:srgbClr val="5B6372"/>
                </a:solidFill>
                <a:latin typeface="Arial"/>
              </a:rPr>
              <a:t>No photos or recording of assessment scripts.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discussion</a:t>
            </a:r>
          </a:p>
          <a:p>
            <a:pPr algn="l">
              <a:spcAft>
                <a:spcPts val="300"/>
              </a:spcAft>
            </a:pPr>
            <a:r>
              <a:rPr sz="1200" b="0">
                <a:solidFill>
                  <a:srgbClr val="5B6372"/>
                </a:solidFill>
                <a:latin typeface="Arial"/>
              </a:rPr>
              <a:t>Work individually — no discussion during the assessment.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Black or blue pen</a:t>
            </a:r>
          </a:p>
          <a:p>
            <a:pPr algn="l">
              <a:spcAft>
                <a:spcPts val="300"/>
              </a:spcAft>
            </a:pPr>
            <a:r>
              <a:rPr sz="1200" b="0">
                <a:solidFill>
                  <a:srgbClr val="5B6372"/>
                </a:solidFill>
                <a:latin typeface="Arial"/>
              </a:rPr>
              <a:t>Use a black or blue pen for hard-copy assessments.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correction fluid</a:t>
            </a:r>
          </a:p>
          <a:p>
            <a:pPr algn="l">
              <a:spcAft>
                <a:spcPts val="300"/>
              </a:spcAft>
            </a:pPr>
            <a:r>
              <a:rPr sz="1200" b="0">
                <a:solidFill>
                  <a:srgbClr val="5B6372"/>
                </a:solidFill>
                <a:latin typeface="Arial"/>
              </a:rPr>
              <a:t>No liquid paper or correction tape may be used.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Stop on time</a:t>
            </a:r>
          </a:p>
          <a:p>
            <a:pPr algn="l">
              <a:spcAft>
                <a:spcPts val="300"/>
              </a:spcAft>
            </a:pPr>
            <a:r>
              <a:rPr sz="1200" b="0">
                <a:solidFill>
                  <a:srgbClr val="5B6372"/>
                </a:solidFill>
                <a:latin typeface="Arial"/>
              </a:rPr>
              <a:t>Scripts are collected when time is up.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transition spd="fast" advClick="1">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Written Assessment (SAQ)</a:t>
            </a:r>
          </a:p>
          <a:p>
            <a:pPr algn="l">
              <a:spcAft>
                <a:spcPts val="300"/>
              </a:spcAft>
            </a:pPr>
            <a:r>
              <a:rPr sz="1300" b="0">
                <a:solidFill>
                  <a:srgbClr val="5B6372"/>
                </a:solidFill>
                <a:latin typeface="Arial"/>
              </a:rPr>
              <a:t>5 short-answer knowledge questions · 1 hour · open book.</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Practical Performance (PP)</a:t>
            </a:r>
          </a:p>
          <a:p>
            <a:pPr algn="l">
              <a:spcAft>
                <a:spcPts val="300"/>
              </a:spcAft>
            </a:pPr>
            <a:r>
              <a:rPr sz="1300" b="0">
                <a:solidFill>
                  <a:srgbClr val="5B6372"/>
                </a:solidFill>
                <a:latin typeface="Arial"/>
              </a:rPr>
              <a:t>4 hands-on Paperclip tasks · 1 hour · open book.</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Digital attendance</a:t>
            </a:r>
          </a:p>
          <a:p>
            <a:pPr algn="l">
              <a:spcAft>
                <a:spcPts val="300"/>
              </a:spcAft>
            </a:pPr>
            <a:r>
              <a:rPr sz="1300" b="0">
                <a:solidFill>
                  <a:srgbClr val="5B6372"/>
                </a:solidFill>
                <a:latin typeface="Arial"/>
              </a:rPr>
              <a:t>Remember to take the Assessment digital attendance before you start.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Submit on the LMS</a:t>
            </a:r>
          </a:p>
          <a:p>
            <a:pPr algn="l">
              <a:spcAft>
                <a:spcPts val="300"/>
              </a:spcAft>
            </a:pPr>
            <a:r>
              <a:rPr sz="1300" b="0">
                <a:solidFill>
                  <a:srgbClr val="5B6372"/>
                </a:solidFill>
                <a:latin typeface="Arial"/>
              </a:rPr>
              <a:t>Upload your completed answers at https://lms-tms.tertiaryinfotech.com/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transition spd="med" advClick="1">
    <p:push dir="l"/>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TRAQOM survey</a:t>
            </a:r>
          </a:p>
        </p:txBody>
      </p:sp>
      <p:sp>
        <p:nvSpPr>
          <p:cNvPr id="12" name="TextBox 11"/>
          <p:cNvSpPr txBox="1"/>
          <p:nvPr/>
        </p:nvSpPr>
        <p:spPr>
          <a:xfrm>
            <a:off x="850392"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Scan the QR code on the LMS</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Digital attendance</a:t>
            </a:r>
          </a:p>
        </p:txBody>
      </p:sp>
      <p:sp>
        <p:nvSpPr>
          <p:cNvPr id="19" name="TextBox 18"/>
          <p:cNvSpPr txBox="1"/>
          <p:nvPr/>
        </p:nvSpPr>
        <p:spPr>
          <a:xfrm>
            <a:off x="3054096"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Scan the SSG assessment QR</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Sit WA then PP</a:t>
            </a:r>
          </a:p>
        </p:txBody>
      </p:sp>
      <p:sp>
        <p:nvSpPr>
          <p:cNvPr id="26" name="TextBox 25"/>
          <p:cNvSpPr txBox="1"/>
          <p:nvPr/>
        </p:nvSpPr>
        <p:spPr>
          <a:xfrm>
            <a:off x="5257800"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Open book · 1 hour each</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Submit on the LMS</a:t>
            </a:r>
          </a:p>
        </p:txBody>
      </p:sp>
      <p:sp>
        <p:nvSpPr>
          <p:cNvPr id="33" name="TextBox 32"/>
          <p:cNvSpPr txBox="1"/>
          <p:nvPr/>
        </p:nvSpPr>
        <p:spPr>
          <a:xfrm>
            <a:off x="7461504"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Upload your completed answers</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081528"/>
            <a:ext cx="1563624" cy="786384"/>
          </a:xfrm>
          <a:prstGeom prst="rect">
            <a:avLst/>
          </a:prstGeom>
          <a:noFill/>
        </p:spPr>
        <p:txBody>
          <a:bodyPr wrap="square" anchor="ctr">
            <a:spAutoFit/>
          </a:bodyPr>
          <a:lstStyle/>
          <a:p>
            <a:pPr algn="ctr">
              <a:spcAft>
                <a:spcPts val="0"/>
              </a:spcAft>
            </a:pPr>
            <a:r>
              <a:rPr sz="1300" b="1">
                <a:solidFill>
                  <a:srgbClr val="161B26"/>
                </a:solidFill>
                <a:latin typeface="Arial"/>
              </a:rPr>
              <a:t>Sign the record</a:t>
            </a:r>
          </a:p>
        </p:txBody>
      </p:sp>
      <p:sp>
        <p:nvSpPr>
          <p:cNvPr id="40" name="TextBox 39"/>
          <p:cNvSpPr txBox="1"/>
          <p:nvPr/>
        </p:nvSpPr>
        <p:spPr>
          <a:xfrm>
            <a:off x="9665208" y="3584448"/>
            <a:ext cx="1673352" cy="603504"/>
          </a:xfrm>
          <a:prstGeom prst="rect">
            <a:avLst/>
          </a:prstGeom>
          <a:noFill/>
        </p:spPr>
        <p:txBody>
          <a:bodyPr wrap="square" anchor="ctr">
            <a:spAutoFit/>
          </a:bodyPr>
          <a:lstStyle/>
          <a:p>
            <a:pPr algn="ctr">
              <a:spcAft>
                <a:spcPts val="0"/>
              </a:spcAft>
            </a:pPr>
            <a:r>
              <a:rPr sz="900" b="0">
                <a:solidFill>
                  <a:srgbClr val="5B6372"/>
                </a:solidFill>
                <a:latin typeface="Arial"/>
              </a:rPr>
              <a:t>Sign the Assessment Summary Record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REMEMBER</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All five steps are mandatory for WSQ funding — missing the digital attendance or the TRAQOM survey can invalidate your claim.</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Three times a day</a:t>
            </a:r>
          </a:p>
          <a:p>
            <a:pPr algn="l">
              <a:spcAft>
                <a:spcPts val="300"/>
              </a:spcAft>
            </a:pPr>
            <a:r>
              <a:rPr sz="1300" b="0">
                <a:solidFill>
                  <a:srgbClr val="5B6372"/>
                </a:solidFill>
                <a:latin typeface="Arial"/>
              </a:rPr>
              <a:t>Take the AM, PM and Assessment digital attendance — mandatory for every WSQ-funded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Trainer shows the QR</a:t>
            </a:r>
          </a:p>
          <a:p>
            <a:pPr algn="l">
              <a:spcAft>
                <a:spcPts val="300"/>
              </a:spcAft>
            </a:pPr>
            <a:r>
              <a:rPr sz="1300" b="0">
                <a:solidFill>
                  <a:srgbClr val="5B6372"/>
                </a:solidFill>
                <a:latin typeface="Arial"/>
              </a:rPr>
              <a:t>The trainer or administrator displays the digital attendance QR code from the SSG portal.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Scan and submit</a:t>
            </a:r>
          </a:p>
          <a:p>
            <a:pPr algn="l">
              <a:spcAft>
                <a:spcPts val="300"/>
              </a:spcAft>
            </a:pPr>
            <a:r>
              <a:rPr sz="1300" b="0">
                <a:solidFill>
                  <a:srgbClr val="5B6372"/>
                </a:solidFill>
                <a:latin typeface="Arial"/>
              </a:rPr>
              <a:t>Scan the QR code with your mobile phone camera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transition spd="fast" advClick="1">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HAPPY BUILDING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build, coordinate and govern a Paperclip AI agent company from mission to audited outcome.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transition spd="fast" advClick="1">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Login to LMS and Download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Manage AI Agents with Paperclip (TGS-2023036646)  ·  TGS-2023036646</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pic>
        <p:nvPicPr>
          <p:cNvPr id="40" name="Picture 39" descr="ref_login.png"/>
          <p:cNvPicPr>
            <a:picLocks noChangeAspect="1"/>
          </p:cNvPicPr>
          <p:nvPr/>
        </p:nvPicPr>
        <p:blipFill>
          <a:blip r:embed="rId2"/>
          <a:stretch>
            <a:fillRect/>
          </a:stretch>
        </p:blipFill>
        <p:spPr>
          <a:xfrm>
            <a:off x="1983345" y="1723644"/>
            <a:ext cx="8225005" cy="4091940"/>
          </a:xfrm>
          <a:prstGeom prst="rect">
            <a:avLst/>
          </a:prstGeom>
          <a:ln w="12700">
            <a:solidFill>
              <a:srgbClr val="E2E8F0"/>
            </a:solidFill>
          </a:ln>
        </p:spPr>
      </p:pic>
      <p:sp>
        <p:nvSpPr>
          <p:cNvPr id="41" name="TextBox 40"/>
          <p:cNvSpPr txBox="1"/>
          <p:nvPr/>
        </p:nvSpPr>
        <p:spPr>
          <a:xfrm>
            <a:off x="777240" y="5897880"/>
            <a:ext cx="10637215" cy="459486"/>
          </a:xfrm>
          <a:prstGeom prst="rect">
            <a:avLst/>
          </a:prstGeom>
          <a:noFill/>
        </p:spPr>
        <p:txBody>
          <a:bodyPr wrap="square">
            <a:spAutoFit/>
          </a:bodyPr>
          <a:lstStyle/>
          <a:p>
            <a:pPr algn="ctr"/>
            <a:r>
              <a:rPr sz="1150">
                <a:solidFill>
                  <a:srgbClr val="475569"/>
                </a:solidFill>
                <a:latin typeface="Arial"/>
              </a:rPr>
              <a:t>Log in at lms-tms.tertiaryinfotech.com with your registered email and the OTP sent to your inbox, then open this course to download the slides and Learner 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