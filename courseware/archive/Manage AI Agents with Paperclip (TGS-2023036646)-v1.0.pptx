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Share of course (%)</c:v>
                </c:pt>
              </c:strCache>
            </c:strRef>
          </c:tx>
          <c:spPr>
            <a:solidFill>
              <a:srgbClr val="1F6FEB"/>
            </a:solidFill>
          </c:spPr>
          <c:cat>
            <c:strRef>
              <c:f>Sheet1!$A$2:$A$5</c:f>
              <c:strCache>
                <c:ptCount val="4"/>
                <c:pt idx="0">
                  <c:v>Topic 01</c:v>
                </c:pt>
                <c:pt idx="1">
                  <c:v>Topic 02</c:v>
                </c:pt>
                <c:pt idx="2">
                  <c:v>Topic 03</c:v>
                </c:pt>
                <c:pt idx="3">
                  <c:v>Topic 04</c:v>
                </c:pt>
              </c:strCache>
            </c:strRef>
          </c:cat>
          <c:val>
            <c:numRef>
              <c:f>Sheet1!$B$2:$B$5</c:f>
              <c:numCache>
                <c:formatCode>0"%"</c:formatCode>
                <c:ptCount val="4"/>
                <c:pt idx="0">
                  <c:v>25</c:v>
                </c:pt>
                <c:pt idx="1">
                  <c:v>25</c:v>
                </c:pt>
                <c:pt idx="2">
                  <c:v>25</c:v>
                </c:pt>
                <c:pt idx="3">
                  <c:v>25</c:v>
                </c:pt>
              </c:numCache>
            </c:numRef>
          </c:val>
        </c:ser>
        <c:dLbls>
          <c:numFmt formatCode="0&quot;%&quot;"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692640" y="603504"/>
            <a:ext cx="1828800"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713232"/>
            <a:ext cx="1828800" cy="475488"/>
          </a:xfrm>
          <a:prstGeom prst="rect">
            <a:avLst/>
          </a:prstGeom>
          <a:noFill/>
        </p:spPr>
        <p:txBody>
          <a:bodyPr wrap="square" anchor="t">
            <a:spAutoFit/>
          </a:bodyPr>
          <a:lstStyle/>
          <a:p>
            <a:pPr algn="ctr">
              <a:spcAft>
                <a:spcPts val="400"/>
              </a:spcAft>
            </a:pPr>
            <a:r>
              <a:rPr sz="1700" b="1">
                <a:solidFill>
                  <a:srgbClr val="FFFFFF"/>
                </a:solidFill>
                <a:latin typeface="Arial"/>
              </a:rPr>
              <a:t>PAPERCLIP</a:t>
            </a:r>
          </a:p>
        </p:txBody>
      </p:sp>
      <p:sp>
        <p:nvSpPr>
          <p:cNvPr id="8" name="TextBox 7"/>
          <p:cNvSpPr txBox="1"/>
          <p:nvPr/>
        </p:nvSpPr>
        <p:spPr>
          <a:xfrm>
            <a:off x="9692640" y="1207008"/>
            <a:ext cx="1828800" cy="365760"/>
          </a:xfrm>
          <a:prstGeom prst="rect">
            <a:avLst/>
          </a:prstGeom>
          <a:noFill/>
        </p:spPr>
        <p:txBody>
          <a:bodyPr wrap="square" anchor="t">
            <a:spAutoFit/>
          </a:bodyPr>
          <a:lstStyle/>
          <a:p>
            <a:pPr algn="ctr">
              <a:spcAft>
                <a:spcPts val="400"/>
              </a:spcAft>
            </a:pPr>
            <a:r>
              <a:rPr sz="800" b="1">
                <a:solidFill>
                  <a:srgbClr val="FFFFFF"/>
                </a:solidFill>
                <a:latin typeface="Arial"/>
              </a:rPr>
              <a:t>AI AGENT COMPANY OS</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Manage AI Agents with Paperclip</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TGS-2023036646</a:t>
            </a:r>
          </a:p>
          <a:p>
            <a:pPr algn="l">
              <a:spcAft>
                <a:spcPts val="600"/>
              </a:spcAft>
            </a:pPr>
            <a:r>
              <a:rPr sz="1300" b="0">
                <a:solidFill>
                  <a:srgbClr val="5B6372"/>
                </a:solidFill>
                <a:latin typeface="Arial"/>
              </a:rPr>
              <a:t>TSC: Applications Integration  ·  ICT-DIT-3003-1.1</a:t>
            </a:r>
          </a:p>
          <a:p>
            <a:pPr algn="l">
              <a:spcAft>
                <a:spcPts val="600"/>
              </a:spcAft>
            </a:pPr>
            <a:r>
              <a:rPr sz="13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28 August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advClick="1">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200"/>
              </a:spcAft>
            </a:pPr>
            <a:r>
              <a:rPr sz="1300" b="0">
                <a:solidFill>
                  <a:srgbClr val="5B6372"/>
                </a:solidFill>
                <a:latin typeface="Arial"/>
              </a:rPr>
              <a:t>General Trainer template —</a:t>
            </a:r>
          </a:p>
          <a:p>
            <a:pPr algn="ctr">
              <a:spcAft>
                <a:spcPts val="200"/>
              </a:spcAft>
            </a:pPr>
            <a:r>
              <a:rPr sz="1300" b="0">
                <a:solidFill>
                  <a:srgbClr val="5B6372"/>
                </a:solidFill>
                <a:latin typeface="Arial"/>
              </a:rPr>
              <a:t>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200"/>
              </a:spcAft>
            </a:pPr>
            <a:r>
              <a:rPr sz="1300" b="0">
                <a:solidFill>
                  <a:srgbClr val="5B6372"/>
                </a:solidFill>
                <a:latin typeface="Arial"/>
              </a:rPr>
              <a:t>Principal Trainer</a:t>
            </a:r>
          </a:p>
          <a:p>
            <a:pPr algn="ctr">
              <a:spcAft>
                <a:spcPts val="200"/>
              </a:spcAft>
            </a:pPr>
            <a:r>
              <a:rPr sz="1300" b="0">
                <a:solidFill>
                  <a:srgbClr val="5B6372"/>
                </a:solidFill>
                <a:latin typeface="Arial"/>
              </a:rPr>
              <a:t>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Generative AI, large language models, agentic AI systems and applied machine learning.</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AI, agentic AI, LLM application development, prompt engineering and data science.</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ICE-BREAKER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Who you are</a:t>
            </a:r>
          </a:p>
          <a:p>
            <a:pPr algn="l">
              <a:spcAft>
                <a:spcPts val="300"/>
              </a:spcAft>
            </a:pPr>
            <a:r>
              <a:rPr sz="1300" b="0">
                <a:solidFill>
                  <a:srgbClr val="5B6372"/>
                </a:solidFill>
                <a:latin typeface="Arial"/>
              </a:rPr>
              <a:t>Your name, your organisation and the role you play in it.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What you've used</a:t>
            </a:r>
          </a:p>
          <a:p>
            <a:pPr algn="l">
              <a:spcAft>
                <a:spcPts val="300"/>
              </a:spcAft>
            </a:pPr>
            <a:r>
              <a:rPr sz="1300" b="0">
                <a:solidFill>
                  <a:srgbClr val="5B6372"/>
                </a:solidFill>
                <a:latin typeface="Arial"/>
              </a:rPr>
              <a:t>Your experience with AI agents, automation or command-line tools — if any. No experience needed.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What you'd delegate</a:t>
            </a:r>
          </a:p>
          <a:p>
            <a:pPr algn="l">
              <a:spcAft>
                <a:spcPts val="300"/>
              </a:spcAft>
            </a:pPr>
            <a:r>
              <a:rPr sz="1300" b="0">
                <a:solidFill>
                  <a:srgbClr val="5B6372"/>
                </a:solidFill>
                <a:latin typeface="Arial"/>
              </a:rPr>
              <a:t>One task in your work you would hand to a team of AI agents.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What you wouldn't</a:t>
            </a:r>
          </a:p>
          <a:p>
            <a:pPr algn="l">
              <a:spcAft>
                <a:spcPts val="300"/>
              </a:spcAft>
            </a:pPr>
            <a:r>
              <a:rPr sz="1300" b="0">
                <a:solidFill>
                  <a:srgbClr val="5B6372"/>
                </a:solidFill>
                <a:latin typeface="Arial"/>
              </a:rPr>
              <a:t>One task you would NOT delegate — and the reason why. We come back to this in Topic 1.</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LMS / TMS  ·  lms-tms.tertiaryinfotech.com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 to the LMS portal</a:t>
            </a:r>
          </a:p>
          <a:p>
            <a:pPr algn="l">
              <a:spcAft>
                <a:spcPts val="300"/>
              </a:spcAft>
            </a:pPr>
            <a:r>
              <a:rPr sz="1200" b="0">
                <a:solidFill>
                  <a:srgbClr val="5B6372"/>
                </a:solidFill>
                <a:latin typeface="Arial"/>
              </a:rPr>
              <a:t>Open https://lms-tms.tertiaryinfotech.com in your browser.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Log in</a:t>
            </a:r>
          </a:p>
          <a:p>
            <a:pPr algn="l">
              <a:spcAft>
                <a:spcPts val="300"/>
              </a:spcAft>
            </a:pPr>
            <a:r>
              <a:rPr sz="1200" b="0">
                <a:solidFill>
                  <a:srgbClr val="5B6372"/>
                </a:solidFill>
                <a:latin typeface="Arial"/>
              </a:rPr>
              <a:t>Sign in with the account e-mail you used to register for this course.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this course</a:t>
            </a:r>
          </a:p>
          <a:p>
            <a:pPr algn="l">
              <a:spcAft>
                <a:spcPts val="300"/>
              </a:spcAft>
            </a:pPr>
            <a:r>
              <a:rPr sz="1200" b="0">
                <a:solidFill>
                  <a:srgbClr val="5B6372"/>
                </a:solidFill>
                <a:latin typeface="Arial"/>
              </a:rPr>
              <a:t>Select 'Manage AI Agents with Paperclip'.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Download</a:t>
            </a:r>
          </a:p>
          <a:p>
            <a:pPr algn="l">
              <a:spcAft>
                <a:spcPts val="300"/>
              </a:spcAft>
            </a:pPr>
            <a:r>
              <a:rPr sz="1200" b="0">
                <a:solidFill>
                  <a:srgbClr val="5B6372"/>
                </a:solidFill>
                <a:latin typeface="Arial"/>
              </a:rPr>
              <a:t>Download the Trainer Slides, Learner Guide and Lesson Plan (PDF).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Get the labs</a:t>
            </a:r>
          </a:p>
          <a:p>
            <a:pPr algn="l">
              <a:spcAft>
                <a:spcPts val="300"/>
              </a:spcAft>
            </a:pPr>
            <a:r>
              <a:rPr sz="1200" b="0">
                <a:solidFill>
                  <a:srgbClr val="5B6372"/>
                </a:solidFill>
                <a:latin typeface="Arial"/>
              </a:rPr>
              <a:t>Clone the lab repository from GitHub — the link is on the course page.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Keep them open</a:t>
            </a:r>
          </a:p>
          <a:p>
            <a:pPr algn="l">
              <a:spcAft>
                <a:spcPts val="300"/>
              </a:spcAft>
            </a:pPr>
            <a:r>
              <a:rPr sz="1200" b="0">
                <a:solidFill>
                  <a:srgbClr val="5B6372"/>
                </a:solidFill>
                <a:latin typeface="Arial"/>
              </a:rPr>
              <a:t>You may use these materials during the open-book assessment.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SKILLS FRAMEWORK  ·  TSC</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Skills Framework Alignment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TSC Title</a:t>
            </a:r>
          </a:p>
          <a:p>
            <a:pPr algn="l">
              <a:spcAft>
                <a:spcPts val="300"/>
              </a:spcAft>
            </a:pPr>
            <a:r>
              <a:rPr sz="1200" b="0">
                <a:solidFill>
                  <a:srgbClr val="5B6372"/>
                </a:solidFill>
                <a:latin typeface="Arial"/>
              </a:rPr>
              <a:t>Applications Integration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TSC Code</a:t>
            </a:r>
          </a:p>
          <a:p>
            <a:pPr algn="l">
              <a:spcAft>
                <a:spcPts val="300"/>
              </a:spcAft>
            </a:pPr>
            <a:r>
              <a:rPr sz="1200" b="0">
                <a:solidFill>
                  <a:srgbClr val="5B6372"/>
                </a:solidFill>
                <a:latin typeface="Arial"/>
              </a:rPr>
              <a:t>ICT-DIT-3003-1.1</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Training hours</a:t>
            </a:r>
          </a:p>
          <a:p>
            <a:pPr algn="l">
              <a:spcAft>
                <a:spcPts val="300"/>
              </a:spcAft>
            </a:pPr>
            <a:r>
              <a:rPr sz="1200" b="0">
                <a:solidFill>
                  <a:srgbClr val="5B6372"/>
                </a:solidFill>
                <a:latin typeface="Arial"/>
              </a:rPr>
              <a:t>14 hours across 2 days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Assessment hours</a:t>
            </a:r>
          </a:p>
          <a:p>
            <a:pPr algn="l">
              <a:spcAft>
                <a:spcPts val="300"/>
              </a:spcAft>
            </a:pPr>
            <a:r>
              <a:rPr sz="1200" b="0">
                <a:solidFill>
                  <a:srgbClr val="5B6372"/>
                </a:solidFill>
                <a:latin typeface="Arial"/>
              </a:rPr>
              <a:t>2 hours — Written Assessment + Practical Performance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Level</a:t>
            </a:r>
          </a:p>
          <a:p>
            <a:pPr algn="l">
              <a:spcAft>
                <a:spcPts val="300"/>
              </a:spcAft>
            </a:pPr>
            <a:r>
              <a:rPr sz="1200" b="0">
                <a:solidFill>
                  <a:srgbClr val="5B6372"/>
                </a:solidFill>
                <a:latin typeface="Arial"/>
              </a:rPr>
              <a:t>Beginner to Intermediate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Mode</a:t>
            </a:r>
          </a:p>
          <a:p>
            <a:pPr algn="l">
              <a:spcAft>
                <a:spcPts val="300"/>
              </a:spcAft>
            </a:pPr>
            <a:r>
              <a:rPr sz="1200" b="0">
                <a:solidFill>
                  <a:srgbClr val="5B6372"/>
                </a:solidFill>
                <a:latin typeface="Arial"/>
              </a:rPr>
              <a:t>Physical, instructor-led with hands-on labs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2 Days, 8 hours/day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Agentic AI foundations, the Paperclip control plane, and building your first goal-aligned AI agent company</a:t>
            </a:r>
          </a:p>
          <a:p>
            <a:pPr>
              <a:spcAft>
                <a:spcPts val="1000"/>
              </a:spcAft>
            </a:pPr>
            <a:r>
              <a:rPr sz="1400" b="0">
                <a:solidFill>
                  <a:srgbClr val="5B6372"/>
                </a:solidFill>
                <a:latin typeface="Arial"/>
              </a:rPr>
              <a:t>–  Digital Attendance (AM) · Introductions · Learning Outcomes</a:t>
            </a:r>
          </a:p>
          <a:p>
            <a:pPr>
              <a:spcAft>
                <a:spcPts val="1000"/>
              </a:spcAft>
            </a:pPr>
            <a:r>
              <a:rPr sz="1400" b="0">
                <a:solidFill>
                  <a:srgbClr val="5B6372"/>
                </a:solidFill>
                <a:latin typeface="Arial"/>
              </a:rPr>
              <a:t>–  Topic 1: Fundamentals of Agentic AI and Paperclip (Lab 1)</a:t>
            </a:r>
          </a:p>
          <a:p>
            <a:pPr>
              <a:spcAft>
                <a:spcPts val="1000"/>
              </a:spcAft>
            </a:pPr>
            <a:r>
              <a:rPr sz="1400" b="0">
                <a:solidFill>
                  <a:srgbClr val="5B6372"/>
                </a:solidFill>
                <a:latin typeface="Arial"/>
              </a:rPr>
              <a:t>–  Lunch Break · Digital Attendance (PM)</a:t>
            </a:r>
          </a:p>
          <a:p>
            <a:pPr>
              <a:spcAft>
                <a:spcPts val="1000"/>
              </a:spcAft>
            </a:pPr>
            <a:r>
              <a:rPr sz="1400" b="0">
                <a:solidFill>
                  <a:srgbClr val="5B6372"/>
                </a:solidFill>
                <a:latin typeface="Arial"/>
              </a:rPr>
              <a:t>–  Topic 2: Building AI Agents with Paperclip (Labs 2–3)</a:t>
            </a:r>
          </a:p>
          <a:p>
            <a:pPr>
              <a:spcAft>
                <a:spcPts val="1000"/>
              </a:spcAft>
            </a:pPr>
            <a:r>
              <a:rPr sz="1400" b="0">
                <a:solidFill>
                  <a:srgbClr val="5B6372"/>
                </a:solidFill>
                <a:latin typeface="Arial"/>
              </a:rPr>
              <a:t>–  Day 1 recap</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Multi-agent operations: decomposition, hand-offs, routines, budgets, approvals and the closed audit loop</a:t>
            </a:r>
          </a:p>
          <a:p>
            <a:pPr>
              <a:spcAft>
                <a:spcPts val="1000"/>
              </a:spcAft>
            </a:pPr>
            <a:r>
              <a:rPr sz="1400" b="0">
                <a:solidFill>
                  <a:srgbClr val="5B6372"/>
                </a:solidFill>
                <a:latin typeface="Arial"/>
              </a:rPr>
              <a:t>–  Digital Attendance (AM) · Day 1 recap</a:t>
            </a:r>
          </a:p>
          <a:p>
            <a:pPr>
              <a:spcAft>
                <a:spcPts val="1000"/>
              </a:spcAft>
            </a:pPr>
            <a:r>
              <a:rPr sz="1400" b="0">
                <a:solidFill>
                  <a:srgbClr val="5B6372"/>
                </a:solidFill>
                <a:latin typeface="Arial"/>
              </a:rPr>
              <a:t>–  Topic 3: Developing Intelligent Multi-Agent Systems (Labs 4–5)</a:t>
            </a:r>
          </a:p>
          <a:p>
            <a:pPr>
              <a:spcAft>
                <a:spcPts val="1000"/>
              </a:spcAft>
            </a:pPr>
            <a:r>
              <a:rPr sz="1400" b="0">
                <a:solidFill>
                  <a:srgbClr val="5B6372"/>
                </a:solidFill>
                <a:latin typeface="Arial"/>
              </a:rPr>
              <a:t>–  Lunch Break · Digital Attendance (PM)</a:t>
            </a:r>
          </a:p>
          <a:p>
            <a:pPr>
              <a:spcAft>
                <a:spcPts val="1000"/>
              </a:spcAft>
            </a:pPr>
            <a:r>
              <a:rPr sz="1400" b="0">
                <a:solidFill>
                  <a:srgbClr val="5B6372"/>
                </a:solidFill>
                <a:latin typeface="Arial"/>
              </a:rPr>
              <a:t>–  Topic 4: Deploying and Managing AI Agents (Lab 6)</a:t>
            </a:r>
          </a:p>
          <a:p>
            <a:pPr>
              <a:spcAft>
                <a:spcPts val="1000"/>
              </a:spcAft>
            </a:pPr>
            <a:r>
              <a:rPr sz="1400" b="0">
                <a:solidFill>
                  <a:srgbClr val="5B6372"/>
                </a:solidFill>
                <a:latin typeface="Arial"/>
              </a:rPr>
              <a:t>–  TRAQOM Survey · Digital Attendance (Assessment)</a:t>
            </a:r>
          </a:p>
          <a:p>
            <a:pPr>
              <a:spcAft>
                <a:spcPts val="1000"/>
              </a:spcAft>
            </a:pPr>
            <a:r>
              <a:rPr sz="1400" b="0">
                <a:solidFill>
                  <a:srgbClr val="5B6372"/>
                </a:solidFill>
                <a:latin typeface="Arial"/>
              </a:rPr>
              <a:t>–  Final Assessment (WA + PP) — 2 hours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LO1 · Identify &amp; scan feasibility</a:t>
            </a:r>
          </a:p>
          <a:p>
            <a:pPr algn="l">
              <a:spcAft>
                <a:spcPts val="300"/>
              </a:spcAft>
            </a:pPr>
            <a:r>
              <a:rPr sz="1300" b="0">
                <a:solidFill>
                  <a:srgbClr val="5B6372"/>
                </a:solidFill>
                <a:latin typeface="Arial"/>
              </a:rPr>
              <a:t>Explain the Paperclip control-plane model and judge when a managed multi-agent company earns its coordination cost.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LO2 · Integrate &amp; develop</a:t>
            </a:r>
          </a:p>
          <a:p>
            <a:pPr algn="l">
              <a:spcAft>
                <a:spcPts val="300"/>
              </a:spcAft>
            </a:pPr>
            <a:r>
              <a:rPr sz="1300" b="0">
                <a:solidFill>
                  <a:srgbClr val="5B6372"/>
                </a:solidFill>
                <a:latin typeface="Arial"/>
              </a:rPr>
              <a:t>Install Paperclip, create a goal-aligned company, build the reporting tree and connect agent runtimes, skills and workspaces safely.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LO3 · Test &amp; verify</a:t>
            </a:r>
          </a:p>
          <a:p>
            <a:pPr algn="l">
              <a:spcAft>
                <a:spcPts val="300"/>
              </a:spcAft>
            </a:pPr>
            <a:r>
              <a:rPr sz="1300" b="0">
                <a:solidFill>
                  <a:srgbClr val="5B6372"/>
                </a:solidFill>
                <a:latin typeface="Arial"/>
              </a:rPr>
              <a:t>Decompose a mission into issues, run bounded heartbeats and verify hand-offs through runs, comments, artifacts and the activity log.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LO4 · Resolve &amp; modify</a:t>
            </a:r>
          </a:p>
          <a:p>
            <a:pPr algn="l">
              <a:spcAft>
                <a:spcPts val="300"/>
              </a:spcAft>
            </a:pPr>
            <a:r>
              <a:rPr sz="1300" b="0">
                <a:solidFill>
                  <a:srgbClr val="5B6372"/>
                </a:solidFill>
                <a:latin typeface="Arial"/>
              </a:rPr>
              <a:t>Diagnose adapter, budget and routine failures, and modify governance, approvals and cost boundaries to keep the operation safe.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TOPICS  ·  6 HANDS-ON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01 — Fundamentals of Agentic AI and Paperclip</a:t>
            </a:r>
          </a:p>
          <a:p>
            <a:pPr algn="l">
              <a:spcAft>
                <a:spcPts val="300"/>
              </a:spcAft>
            </a:pPr>
            <a:r>
              <a:rPr sz="1300" b="0">
                <a:solidFill>
                  <a:srgbClr val="5B6372"/>
                </a:solidFill>
                <a:latin typeface="Arial"/>
              </a:rPr>
              <a:t>Agentic AI foundations · the control-plane model · the twelve subsystems · feasibility and when NOT to use multi-agent</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02 — Building AI Agents with Paperclip</a:t>
            </a:r>
          </a:p>
          <a:p>
            <a:pPr algn="l">
              <a:spcAft>
                <a:spcPts val="300"/>
              </a:spcAft>
            </a:pPr>
            <a:r>
              <a:rPr sz="1300" b="0">
                <a:solidFill>
                  <a:srgbClr val="5B6372"/>
                </a:solidFill>
                <a:latin typeface="Arial"/>
              </a:rPr>
              <a:t>Install and verify · company and mission · the CEO · org chart · runtime adapters · workspaces, instructions and secrets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03 — Developing Intelligent Multi-Agent Systems</a:t>
            </a:r>
          </a:p>
          <a:p>
            <a:pPr algn="l">
              <a:spcAft>
                <a:spcPts val="300"/>
              </a:spcAft>
            </a:pPr>
            <a:r>
              <a:rPr sz="1300" b="0">
                <a:solidFill>
                  <a:srgbClr val="5B6372"/>
                </a:solidFill>
                <a:latin typeface="Arial"/>
              </a:rPr>
              <a:t>Projects, goals and lineage · issue decomposition · assignment and hand-off · sequential specialists · verifying between disparate components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04 — Deploying and Managing AI Agents</a:t>
            </a:r>
          </a:p>
          <a:p>
            <a:pPr algn="l">
              <a:spcAft>
                <a:spcPts val="300"/>
              </a:spcAft>
            </a:pPr>
            <a:r>
              <a:rPr sz="1300" b="0">
                <a:solidFill>
                  <a:srgbClr val="5B6372"/>
                </a:solidFill>
                <a:latin typeface="Arial"/>
              </a:rPr>
              <a:t>Routines and schedules · layered budgets · approvals and audit · operator intervention · deployment, portability and troubleshooting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COURSE SIMULATION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Six One-Person AI Agent Companies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six-companies.png"/>
          <p:cNvPicPr>
            <a:picLocks noChangeAspect="1"/>
          </p:cNvPicPr>
          <p:nvPr/>
        </p:nvPicPr>
        <p:blipFill>
          <a:blip r:embed="rId2"/>
          <a:stretch>
            <a:fillRect/>
          </a:stretch>
        </p:blipFill>
        <p:spPr>
          <a:xfrm>
            <a:off x="1685653" y="1810512"/>
            <a:ext cx="8790214" cy="3886200"/>
          </a:xfrm>
          <a:prstGeom prst="rect">
            <a:avLst/>
          </a:prstGeom>
        </p:spPr>
      </p:pic>
      <p:sp>
        <p:nvSpPr>
          <p:cNvPr id="8" name="Rectangle 7"/>
          <p:cNvSpPr/>
          <p:nvPr/>
        </p:nvSpPr>
        <p:spPr>
          <a:xfrm>
            <a:off x="777240" y="5779008"/>
            <a:ext cx="10607040"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79008"/>
            <a:ext cx="914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779008"/>
            <a:ext cx="10241280" cy="566928"/>
          </a:xfrm>
          <a:prstGeom prst="rect">
            <a:avLst/>
          </a:prstGeom>
          <a:noFill/>
        </p:spPr>
        <p:txBody>
          <a:bodyPr wrap="square" anchor="ctr">
            <a:spAutoFit/>
          </a:bodyPr>
          <a:lstStyle/>
          <a:p>
            <a:pPr algn="l">
              <a:spcAft>
                <a:spcPts val="400"/>
              </a:spcAft>
            </a:pPr>
            <a:r>
              <a:rPr sz="1300" b="0">
                <a:solidFill>
                  <a:srgbClr val="161B26"/>
                </a:solidFill>
                <a:latin typeface="Arial"/>
              </a:rPr>
              <a:t>Each lab builds a different one-person company — so you see the same control model applied to six very different businesses.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START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Clear your desk</a:t>
            </a:r>
          </a:p>
          <a:p>
            <a:pPr algn="l">
              <a:spcAft>
                <a:spcPts val="300"/>
              </a:spcAft>
            </a:pPr>
            <a:r>
              <a:rPr sz="120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recording</a:t>
            </a:r>
          </a:p>
          <a:p>
            <a:pPr algn="l">
              <a:spcAft>
                <a:spcPts val="300"/>
              </a:spcAft>
            </a:pPr>
            <a:r>
              <a:rPr sz="1200" b="0">
                <a:solidFill>
                  <a:srgbClr val="5B6372"/>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discussion</a:t>
            </a:r>
          </a:p>
          <a:p>
            <a:pPr algn="l">
              <a:spcAft>
                <a:spcPts val="300"/>
              </a:spcAft>
            </a:pPr>
            <a:r>
              <a:rPr sz="1200" b="0">
                <a:solidFill>
                  <a:srgbClr val="5B6372"/>
                </a:solidFill>
                <a:latin typeface="Arial"/>
              </a:rPr>
              <a:t>Work individually — 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Black or blue pen</a:t>
            </a:r>
          </a:p>
          <a:p>
            <a:pPr algn="l">
              <a:spcAft>
                <a:spcPts val="300"/>
              </a:spcAft>
            </a:pPr>
            <a:r>
              <a:rPr sz="1200" b="0">
                <a:solidFill>
                  <a:srgbClr val="5B6372"/>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correction fluid</a:t>
            </a:r>
          </a:p>
          <a:p>
            <a:pPr algn="l">
              <a:spcAft>
                <a:spcPts val="300"/>
              </a:spcAft>
            </a:pPr>
            <a:r>
              <a:rPr sz="1200" b="0">
                <a:solidFill>
                  <a:srgbClr val="5B6372"/>
                </a:solidFill>
                <a:latin typeface="Arial"/>
              </a:rPr>
              <a:t>No liquid paper or correction tape may be used.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Stop on time</a:t>
            </a:r>
          </a:p>
          <a:p>
            <a:pPr algn="l">
              <a:spcAft>
                <a:spcPts val="300"/>
              </a:spcAft>
            </a:pPr>
            <a:r>
              <a:rPr sz="1200" b="0">
                <a:solidFill>
                  <a:srgbClr val="5B6372"/>
                </a:solidFill>
                <a:latin typeface="Arial"/>
              </a:rPr>
              <a:t>Scripts are collected when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Written Assessment (WA)</a:t>
            </a:r>
          </a:p>
          <a:p>
            <a:pPr algn="l">
              <a:spcAft>
                <a:spcPts val="300"/>
              </a:spcAft>
            </a:pPr>
            <a:r>
              <a:rPr sz="1200" b="0">
                <a:solidFill>
                  <a:srgbClr val="5B6372"/>
                </a:solidFill>
                <a:latin typeface="Arial"/>
              </a:rPr>
              <a:t>Short-Answer Questions (SAQ) · 5 questions · 1 hour · open book. Tests the underpinning knowledge (K1–K5).</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Practical Performance (PP)</a:t>
            </a:r>
          </a:p>
          <a:p>
            <a:pPr algn="l">
              <a:spcAft>
                <a:spcPts val="300"/>
              </a:spcAft>
            </a:pPr>
            <a:r>
              <a:rPr sz="1200" b="0">
                <a:solidFill>
                  <a:srgbClr val="5B6372"/>
                </a:solidFill>
                <a:latin typeface="Arial"/>
              </a:rPr>
              <a:t>4 hands-on Paperclip tasks · 1 hour · open book. Tests the ability you built in the labs (A1–A4).</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You may use the course slides, the Learner Guide and approved materials only.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Eligibility</a:t>
            </a:r>
          </a:p>
          <a:p>
            <a:pPr algn="l">
              <a:spcAft>
                <a:spcPts val="300"/>
              </a:spcAft>
            </a:pPr>
            <a:r>
              <a:rPr sz="1200" b="0">
                <a:solidFill>
                  <a:srgbClr val="5B6372"/>
                </a:solidFill>
                <a:latin typeface="Arial"/>
              </a:rPr>
              <a:t>A minimum of 75% attendance is required to be eligible for assessment and funding.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Result</a:t>
            </a:r>
          </a:p>
          <a:p>
            <a:pPr algn="l">
              <a:spcAft>
                <a:spcPts val="300"/>
              </a:spcAft>
            </a:pPr>
            <a:r>
              <a:rPr sz="1200" b="0">
                <a:solidFill>
                  <a:srgbClr val="5B6372"/>
                </a:solidFill>
                <a:latin typeface="Arial"/>
              </a:rPr>
              <a:t>You are assessed as Competent (C) or Not Yet Competent (NYC) on each instrument.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Appeals</a:t>
            </a:r>
          </a:p>
          <a:p>
            <a:pPr algn="l">
              <a:spcAft>
                <a:spcPts val="300"/>
              </a:spcAft>
            </a:pPr>
            <a:r>
              <a:rPr sz="1200" b="0">
                <a:solidFill>
                  <a:srgbClr val="5B6372"/>
                </a:solidFill>
                <a:latin typeface="Arial"/>
              </a:rPr>
              <a:t>An appeal process is available if you wish to contest an assessment outcome.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50392"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Scan the QR code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54096"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Scan the SSG assessment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Sit WA then PP</a:t>
            </a:r>
          </a:p>
        </p:txBody>
      </p:sp>
      <p:sp>
        <p:nvSpPr>
          <p:cNvPr id="26" name="TextBox 25"/>
          <p:cNvSpPr txBox="1"/>
          <p:nvPr/>
        </p:nvSpPr>
        <p:spPr>
          <a:xfrm>
            <a:off x="5257800"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Open book · 1 hour each</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61504"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Upload your completed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65208"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Sign the Assessment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EXAMS.TERTIARYINFOTECH.COM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Practice Exam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Practise before the real thing</a:t>
            </a:r>
          </a:p>
          <a:p>
            <a:pPr algn="l">
              <a:spcAft>
                <a:spcPts val="300"/>
              </a:spcAft>
            </a:pPr>
            <a:r>
              <a:rPr sz="1300" b="0">
                <a:solidFill>
                  <a:srgbClr val="5B6372"/>
                </a:solidFill>
                <a:latin typeface="Arial"/>
              </a:rPr>
              <a:t>Try the practice questions at https://exams.tertiaryinfotech.com before the final assessment.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Same format</a:t>
            </a:r>
          </a:p>
          <a:p>
            <a:pPr algn="l">
              <a:spcAft>
                <a:spcPts val="300"/>
              </a:spcAft>
            </a:pPr>
            <a:r>
              <a:rPr sz="1300" b="0">
                <a:solidFill>
                  <a:srgbClr val="5B6372"/>
                </a:solidFill>
                <a:latin typeface="Arial"/>
              </a:rPr>
              <a:t>Short-answer knowledge questions in the same style as the Written Assessment.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Self-marked</a:t>
            </a:r>
          </a:p>
          <a:p>
            <a:pPr algn="l">
              <a:spcAft>
                <a:spcPts val="300"/>
              </a:spcAft>
            </a:pPr>
            <a:r>
              <a:rPr sz="1300" b="0">
                <a:solidFill>
                  <a:srgbClr val="5B6372"/>
                </a:solidFill>
                <a:latin typeface="Arial"/>
              </a:rPr>
              <a:t>Use it to find the topics you need to revisit, not to score yourself.</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Free and unlimited</a:t>
            </a:r>
          </a:p>
          <a:p>
            <a:pPr algn="l">
              <a:spcAft>
                <a:spcPts val="300"/>
              </a:spcAft>
            </a:pPr>
            <a:r>
              <a:rPr sz="1300" b="0">
                <a:solidFill>
                  <a:srgbClr val="5B6372"/>
                </a:solidFill>
                <a:latin typeface="Arial"/>
              </a:rPr>
              <a:t>Attempt it as many times as you like during the course.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WSQ FUNDING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A minimum attendance rate of 75%, based on the SSG Digital Attendance record.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a:t>
            </a:r>
          </a:p>
          <a:p>
            <a:pPr algn="l">
              <a:spcAft>
                <a:spcPts val="300"/>
              </a:spcAft>
            </a:pPr>
            <a:r>
              <a:rPr sz="1300" b="0">
                <a:solidFill>
                  <a:srgbClr val="5B6372"/>
                </a:solidFill>
                <a:latin typeface="Arial"/>
              </a:rPr>
              <a:t>Complete both assessment components and be assessed as 'Competent'.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Scan the SSG QR code for AM, PM and Assessment on every training day.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TRAQOM survey</a:t>
            </a:r>
          </a:p>
          <a:p>
            <a:pPr algn="l">
              <a:spcAft>
                <a:spcPts val="300"/>
              </a:spcAft>
            </a:pPr>
            <a:r>
              <a:rPr sz="1300" b="0">
                <a:solidFill>
                  <a:srgbClr val="5B6372"/>
                </a:solidFill>
                <a:latin typeface="Arial"/>
              </a:rPr>
              <a:t>Complete the mandatory TRAQOM course feedback survey on the LMS.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ENVIRONMENT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Set Up Before We Start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Node.js 20 or later</a:t>
            </a:r>
          </a:p>
          <a:p>
            <a:pPr algn="l">
              <a:spcAft>
                <a:spcPts val="300"/>
              </a:spcAft>
            </a:pPr>
            <a:r>
              <a:rPr sz="1200" b="0">
                <a:solidFill>
                  <a:srgbClr val="5B6372"/>
                </a:solidFill>
                <a:latin typeface="Arial"/>
              </a:rPr>
              <a:t>Paperclip requires Node 20+. Check with node --version.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 normal user shell</a:t>
            </a:r>
          </a:p>
          <a:p>
            <a:pPr algn="l">
              <a:spcAft>
                <a:spcPts val="300"/>
              </a:spcAft>
            </a:pPr>
            <a:r>
              <a:rPr sz="1200" b="0">
                <a:solidFill>
                  <a:srgbClr val="5B6372"/>
                </a:solidFill>
                <a:latin typeface="Arial"/>
              </a:rPr>
              <a:t>Never run onboarding from an elevated Administrator or root shell.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 agent runtime</a:t>
            </a:r>
          </a:p>
          <a:p>
            <a:pPr algn="l">
              <a:spcAft>
                <a:spcPts val="300"/>
              </a:spcAft>
            </a:pPr>
            <a:r>
              <a:rPr sz="1200" b="0">
                <a:solidFill>
                  <a:srgbClr val="5B6372"/>
                </a:solidFill>
                <a:latin typeface="Arial"/>
              </a:rPr>
              <a:t>One trainer-approved CLI runtime (e.g. Claude Code, Codex, Gemini CLI).</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Git</a:t>
            </a:r>
          </a:p>
          <a:p>
            <a:pPr algn="l">
              <a:spcAft>
                <a:spcPts val="300"/>
              </a:spcAft>
            </a:pPr>
            <a:r>
              <a:rPr sz="1200" b="0">
                <a:solidFill>
                  <a:srgbClr val="5B6372"/>
                </a:solidFill>
                <a:latin typeface="Arial"/>
              </a:rPr>
              <a:t>Used to baseline each agent workspace so every change is a readable diff.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Lab repository</a:t>
            </a:r>
          </a:p>
          <a:p>
            <a:pPr algn="l">
              <a:spcAft>
                <a:spcPts val="300"/>
              </a:spcAft>
            </a:pPr>
            <a:r>
              <a:rPr sz="1200" b="0">
                <a:solidFill>
                  <a:srgbClr val="5B6372"/>
                </a:solidFill>
                <a:latin typeface="Arial"/>
              </a:rPr>
              <a:t>Clone the course labs — the link is on your LMS course page.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Synthetic data only</a:t>
            </a:r>
          </a:p>
          <a:p>
            <a:pPr algn="l">
              <a:spcAft>
                <a:spcPts val="300"/>
              </a:spcAft>
            </a:pPr>
            <a:r>
              <a:rPr sz="1200" b="0">
                <a:solidFill>
                  <a:srgbClr val="5B6372"/>
                </a:solidFill>
                <a:latin typeface="Arial"/>
              </a:rPr>
              <a:t>All six company data sets are fabricated for training. Never load real company, market or candidate data.</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From a Single Agent to a Managed Agent Company</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advClick="1">
    <p:push dir="l"/>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SIX INGREDIENTS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Makes a System 'Agentic'?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Reasoning</a:t>
            </a:r>
          </a:p>
          <a:p>
            <a:pPr algn="l">
              <a:spcAft>
                <a:spcPts val="300"/>
              </a:spcAft>
            </a:pPr>
            <a:r>
              <a:rPr sz="1200" b="0">
                <a:solidFill>
                  <a:srgbClr val="5B6372"/>
                </a:solidFill>
                <a:latin typeface="Arial"/>
              </a:rPr>
              <a:t>The model plans a sequence of steps instead of answering in one shot.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Tool use</a:t>
            </a:r>
          </a:p>
          <a:p>
            <a:pPr algn="l">
              <a:spcAft>
                <a:spcPts val="300"/>
              </a:spcAft>
            </a:pPr>
            <a:r>
              <a:rPr sz="1200" b="0">
                <a:solidFill>
                  <a:srgbClr val="5B6372"/>
                </a:solidFill>
                <a:latin typeface="Arial"/>
              </a:rPr>
              <a:t>It calls functions, CLIs and APIs to fetch live data or take real actions.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Memory</a:t>
            </a:r>
          </a:p>
          <a:p>
            <a:pPr algn="l">
              <a:spcAft>
                <a:spcPts val="300"/>
              </a:spcAft>
            </a:pPr>
            <a:r>
              <a:rPr sz="1200" b="0">
                <a:solidFill>
                  <a:srgbClr val="5B6372"/>
                </a:solidFill>
                <a:latin typeface="Arial"/>
              </a:rPr>
              <a:t>State carries context across turns — and, in Paperclip, across heartbeats.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Autonomy</a:t>
            </a:r>
          </a:p>
          <a:p>
            <a:pPr algn="l">
              <a:spcAft>
                <a:spcPts val="300"/>
              </a:spcAft>
            </a:pPr>
            <a:r>
              <a:rPr sz="1200" b="0">
                <a:solidFill>
                  <a:srgbClr val="5B6372"/>
                </a:solidFill>
                <a:latin typeface="Arial"/>
              </a:rPr>
              <a:t>It decides which tool to use and when the work is actually finished.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Collaboration</a:t>
            </a:r>
          </a:p>
          <a:p>
            <a:pPr algn="l">
              <a:spcAft>
                <a:spcPts val="300"/>
              </a:spcAft>
            </a:pPr>
            <a:r>
              <a:rPr sz="1200" b="0">
                <a:solidFill>
                  <a:srgbClr val="5B6372"/>
                </a:solidFill>
                <a:latin typeface="Arial"/>
              </a:rPr>
              <a:t>Several specialised agents divide the work and hand off between themselves.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Guardrails</a:t>
            </a:r>
          </a:p>
          <a:p>
            <a:pPr algn="l">
              <a:spcAft>
                <a:spcPts val="300"/>
              </a:spcAft>
            </a:pPr>
            <a:r>
              <a:rPr sz="1200" b="0">
                <a:solidFill>
                  <a:srgbClr val="5B6372"/>
                </a:solidFill>
                <a:latin typeface="Arial"/>
              </a:rPr>
              <a:t>Policies, budgets and approvals constrain what the agent may do.</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A CONTROL PLANE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 LLM answers. An agent acts. A company coordinates.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Paperclip is the third layer — it does not make your agents smarter, it makes a team of them accountable.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ORCHESTRATE, DO NOT REPLACE, THE RUNTIME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Paperclip Control-Plane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rch-control-plane.png"/>
          <p:cNvPicPr>
            <a:picLocks noChangeAspect="1"/>
          </p:cNvPicPr>
          <p:nvPr/>
        </p:nvPicPr>
        <p:blipFill>
          <a:blip r:embed="rId2"/>
          <a:stretch>
            <a:fillRect/>
          </a:stretch>
        </p:blipFill>
        <p:spPr>
          <a:xfrm>
            <a:off x="777240" y="2084656"/>
            <a:ext cx="6812280" cy="3676240"/>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Board · you</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You set direction, approve governed actions and intervene. Authority never leaves the human.</a:t>
            </a:r>
          </a:p>
        </p:txBody>
      </p:sp>
      <p:sp>
        <p:nvSpPr>
          <p:cNvPr id="12" name="Rectangle 11"/>
          <p:cNvSpPr/>
          <p:nvPr/>
        </p:nvSpPr>
        <p:spPr>
          <a:xfrm>
            <a:off x="7882127" y="2944368"/>
            <a:ext cx="3529584"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The control plane</a:t>
            </a:r>
          </a:p>
        </p:txBody>
      </p:sp>
      <p:sp>
        <p:nvSpPr>
          <p:cNvPr id="15" name="TextBox 14"/>
          <p:cNvSpPr txBox="1"/>
          <p:nvPr/>
        </p:nvSpPr>
        <p:spPr>
          <a:xfrm>
            <a:off x="8083295" y="3456432"/>
            <a:ext cx="3127248" cy="530352"/>
          </a:xfrm>
          <a:prstGeom prst="rect">
            <a:avLst/>
          </a:prstGeom>
          <a:noFill/>
        </p:spPr>
        <p:txBody>
          <a:bodyPr wrap="square" anchor="t">
            <a:spAutoFit/>
          </a:bodyPr>
          <a:lstStyle/>
          <a:p>
            <a:pPr algn="l">
              <a:spcAft>
                <a:spcPts val="400"/>
              </a:spcAft>
            </a:pPr>
            <a:r>
              <a:rPr sz="900" b="0">
                <a:solidFill>
                  <a:srgbClr val="161B26"/>
                </a:solidFill>
                <a:latin typeface="Arial"/>
              </a:rPr>
              <a:t>Stores companies, org charts, issues, budgets, secrets and the audit trail. Node.js + React on port 3100.</a:t>
            </a:r>
          </a:p>
        </p:txBody>
      </p:sp>
      <p:sp>
        <p:nvSpPr>
          <p:cNvPr id="16" name="Rectangle 15"/>
          <p:cNvSpPr/>
          <p:nvPr/>
        </p:nvSpPr>
        <p:spPr>
          <a:xfrm>
            <a:off x="7882127" y="4224528"/>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4224528"/>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389120"/>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The adapters</a:t>
            </a:r>
          </a:p>
        </p:txBody>
      </p:sp>
      <p:sp>
        <p:nvSpPr>
          <p:cNvPr id="19" name="TextBox 18"/>
          <p:cNvSpPr txBox="1"/>
          <p:nvPr/>
        </p:nvSpPr>
        <p:spPr>
          <a:xfrm>
            <a:off x="8083295" y="4736592"/>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Claude Code, Codex, Cursor, Gemini CLI, bash or an HTTP bot — these do the actual reasoning.</a:t>
            </a:r>
          </a:p>
        </p:txBody>
      </p:sp>
      <p:sp>
        <p:nvSpPr>
          <p:cNvPr id="20" name="Rectangle 19"/>
          <p:cNvSpPr/>
          <p:nvPr/>
        </p:nvSpPr>
        <p:spPr>
          <a:xfrm>
            <a:off x="7882127" y="5358384"/>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358384"/>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522976"/>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The separation</a:t>
            </a:r>
          </a:p>
        </p:txBody>
      </p:sp>
      <p:sp>
        <p:nvSpPr>
          <p:cNvPr id="23" name="TextBox 22"/>
          <p:cNvSpPr txBox="1"/>
          <p:nvPr/>
        </p:nvSpPr>
        <p:spPr>
          <a:xfrm>
            <a:off x="8083295" y="5870448"/>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Organisational authority, runtime capability and verification evidence are kept deliberately apart.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SCOPE THE TOOL CORRECTLY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Paperclip Is — and Is Not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IS · an organisational control plane</a:t>
            </a:r>
          </a:p>
          <a:p>
            <a:pPr algn="l">
              <a:spcAft>
                <a:spcPts val="300"/>
              </a:spcAft>
            </a:pPr>
            <a:r>
              <a:rPr sz="1200" b="0">
                <a:solidFill>
                  <a:srgbClr val="5B6372"/>
                </a:solidFill>
                <a:latin typeface="Arial"/>
              </a:rPr>
              <a:t>Org charts, issues, budgets, approvals and a durable audit trail for a team of agents.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IS · a runtime-agnostic scheduler</a:t>
            </a:r>
          </a:p>
          <a:p>
            <a:pPr algn="l">
              <a:spcAft>
                <a:spcPts val="300"/>
              </a:spcAft>
            </a:pPr>
            <a:r>
              <a:rPr sz="1200" b="0">
                <a:solidFill>
                  <a:srgbClr val="5B6372"/>
                </a:solidFill>
                <a:latin typeface="Arial"/>
              </a:rPr>
              <a:t>'If it can receive a heartbeat, it's hired.' It schedules and budgets agents without replacing them.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IS NOT · an agent framework</a:t>
            </a:r>
          </a:p>
          <a:p>
            <a:pPr algn="l">
              <a:spcAft>
                <a:spcPts val="300"/>
              </a:spcAft>
            </a:pPr>
            <a:r>
              <a:rPr sz="1200" b="0">
                <a:solidFill>
                  <a:srgbClr val="5B6372"/>
                </a:solidFill>
                <a:latin typeface="Arial"/>
              </a:rPr>
              <a:t>It does not dictate how your agent reasons, prompts or calls tools. That is the adapter's job.</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IS NOT · a chatbot or workflow builder</a:t>
            </a:r>
          </a:p>
          <a:p>
            <a:pPr algn="l">
              <a:spcAft>
                <a:spcPts val="300"/>
              </a:spcAft>
            </a:pPr>
            <a:r>
              <a:rPr sz="1200" b="0">
                <a:solidFill>
                  <a:srgbClr val="5B6372"/>
                </a:solidFill>
                <a:latin typeface="Arial"/>
              </a:rPr>
              <a:t>No drag-and-drop canvas, no prompt manager, and not designed for a single-agent use case.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
        <p:nvSpPr>
          <p:cNvPr id="30" name="Rectangle 29"/>
          <p:cNvSpPr/>
          <p:nvPr/>
        </p:nvSpPr>
        <p:spPr>
          <a:xfrm>
            <a:off x="777240" y="5742432"/>
            <a:ext cx="10607040"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742432"/>
            <a:ext cx="91440"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5742432"/>
            <a:ext cx="10241280" cy="603504"/>
          </a:xfrm>
          <a:prstGeom prst="rect">
            <a:avLst/>
          </a:prstGeom>
          <a:noFill/>
        </p:spPr>
        <p:txBody>
          <a:bodyPr wrap="square" anchor="ctr">
            <a:spAutoFit/>
          </a:bodyPr>
          <a:lstStyle/>
          <a:p>
            <a:pPr algn="l">
              <a:spcAft>
                <a:spcPts val="400"/>
              </a:spcAft>
            </a:pPr>
            <a:r>
              <a:rPr sz="1350" b="1">
                <a:solidFill>
                  <a:srgbClr val="161B26"/>
                </a:solidFill>
                <a:latin typeface="Arial"/>
              </a:rPr>
              <a:t>Choosing Paperclip is an organisational decision, not a modelling decision.</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THE PRODUCT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Four Pillars of Paperclip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aperclip-four-pillars.png"/>
          <p:cNvPicPr>
            <a:picLocks noChangeAspect="1"/>
          </p:cNvPicPr>
          <p:nvPr/>
        </p:nvPicPr>
        <p:blipFill>
          <a:blip r:embed="rId2"/>
          <a:stretch>
            <a:fillRect/>
          </a:stretch>
        </p:blipFill>
        <p:spPr>
          <a:xfrm>
            <a:off x="2626360" y="1810512"/>
            <a:ext cx="6908800" cy="3886200"/>
          </a:xfrm>
          <a:prstGeom prst="rect">
            <a:avLst/>
          </a:prstGeom>
        </p:spPr>
      </p:pic>
      <p:sp>
        <p:nvSpPr>
          <p:cNvPr id="8" name="Rectangle 7"/>
          <p:cNvSpPr/>
          <p:nvPr/>
        </p:nvSpPr>
        <p:spPr>
          <a:xfrm>
            <a:off x="777240" y="5779008"/>
            <a:ext cx="10607040"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79008"/>
            <a:ext cx="914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779008"/>
            <a:ext cx="10241280" cy="566928"/>
          </a:xfrm>
          <a:prstGeom prst="rect">
            <a:avLst/>
          </a:prstGeom>
          <a:noFill/>
        </p:spPr>
        <p:txBody>
          <a:bodyPr wrap="square" anchor="ctr">
            <a:spAutoFit/>
          </a:bodyPr>
          <a:lstStyle/>
          <a:p>
            <a:pPr algn="l">
              <a:spcAft>
                <a:spcPts val="400"/>
              </a:spcAft>
            </a:pPr>
            <a:r>
              <a:rPr sz="1300" b="0">
                <a:solidFill>
                  <a:srgbClr val="161B26"/>
                </a:solidFill>
                <a:latin typeface="Arial"/>
              </a:rPr>
              <a:t>Agentic task manager · org chart for agents · agent employee training · agentic OS. Source: the official Paperclip project.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WHAT THE PLATFORM ACTUALLY CONTAINS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Twelve Subsystems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Identity &amp; org chart</a:t>
            </a:r>
          </a:p>
          <a:p>
            <a:pPr algn="l">
              <a:spcAft>
                <a:spcPts val="300"/>
              </a:spcAft>
            </a:pPr>
            <a:r>
              <a:rPr sz="1200" b="0">
                <a:solidFill>
                  <a:srgbClr val="5B6372"/>
                </a:solidFill>
                <a:latin typeface="Arial"/>
              </a:rPr>
              <a:t>Who exists, who reports to whom, and what each role may do.</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Work &amp; heartbeat</a:t>
            </a:r>
          </a:p>
          <a:p>
            <a:pPr algn="l">
              <a:spcAft>
                <a:spcPts val="300"/>
              </a:spcAft>
            </a:pPr>
            <a:r>
              <a:rPr sz="1200" b="0">
                <a:solidFill>
                  <a:srgbClr val="5B6372"/>
                </a:solidFill>
                <a:latin typeface="Arial"/>
              </a:rPr>
              <a:t>Issues with atomic checkout, woken by bounded execution bursts.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Workspaces &amp; runtime</a:t>
            </a:r>
          </a:p>
          <a:p>
            <a:pPr algn="l">
              <a:spcAft>
                <a:spcPts val="300"/>
              </a:spcAft>
            </a:pPr>
            <a:r>
              <a:rPr sz="1200" b="0">
                <a:solidFill>
                  <a:srgbClr val="5B6372"/>
                </a:solidFill>
                <a:latin typeface="Arial"/>
              </a:rPr>
              <a:t>Isolated roots (git worktrees) and the adapter that runs there.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Governance &amp; budget</a:t>
            </a:r>
          </a:p>
          <a:p>
            <a:pPr algn="l">
              <a:spcAft>
                <a:spcPts val="300"/>
              </a:spcAft>
            </a:pPr>
            <a:r>
              <a:rPr sz="1200" b="0">
                <a:solidFill>
                  <a:srgbClr val="5B6372"/>
                </a:solidFill>
                <a:latin typeface="Arial"/>
              </a:rPr>
              <a:t>Approval gates and caps enforced at checkout, not at billing.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Routines &amp; plugins</a:t>
            </a:r>
          </a:p>
          <a:p>
            <a:pPr algn="l">
              <a:spcAft>
                <a:spcPts val="300"/>
              </a:spcAft>
            </a:pPr>
            <a:r>
              <a:rPr sz="1200" b="0">
                <a:solidFill>
                  <a:srgbClr val="5B6372"/>
                </a:solidFill>
                <a:latin typeface="Arial"/>
              </a:rPr>
              <a:t>Scheduled recurring work, and the skills library agents draw 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Secrets, activity &amp; portability</a:t>
            </a:r>
          </a:p>
          <a:p>
            <a:pPr algn="l">
              <a:spcAft>
                <a:spcPts val="300"/>
              </a:spcAft>
            </a:pPr>
            <a:r>
              <a:rPr sz="1200" b="0">
                <a:solidFill>
                  <a:srgbClr val="5B6372"/>
                </a:solidFill>
                <a:latin typeface="Arial"/>
              </a:rPr>
              <a:t>Scoped injection, a durable audit log, and export/import of a whole company.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THE EXECUTION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The Heartbeat — Bounded Execution, Not a Running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heartbeat.png"/>
          <p:cNvPicPr>
            <a:picLocks noChangeAspect="1"/>
          </p:cNvPicPr>
          <p:nvPr/>
        </p:nvPicPr>
        <p:blipFill>
          <a:blip r:embed="rId2"/>
          <a:stretch>
            <a:fillRect/>
          </a:stretch>
        </p:blipFill>
        <p:spPr>
          <a:xfrm>
            <a:off x="777240" y="2361927"/>
            <a:ext cx="6812280" cy="3121697"/>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Dormant by default</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Between heartbeats the agent is not idling and not billing.</a:t>
            </a:r>
          </a:p>
        </p:txBody>
      </p:sp>
      <p:sp>
        <p:nvSpPr>
          <p:cNvPr id="12" name="Rectangle 11"/>
          <p:cNvSpPr/>
          <p:nvPr/>
        </p:nvSpPr>
        <p:spPr>
          <a:xfrm>
            <a:off x="7882127" y="2944368"/>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Four triggers</a:t>
            </a:r>
          </a:p>
        </p:txBody>
      </p:sp>
      <p:sp>
        <p:nvSpPr>
          <p:cNvPr id="15" name="TextBox 14"/>
          <p:cNvSpPr txBox="1"/>
          <p:nvPr/>
        </p:nvSpPr>
        <p:spPr>
          <a:xfrm>
            <a:off x="8083295" y="3456432"/>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A timer, an assignment, an on-demand wake, or a routine.</a:t>
            </a:r>
          </a:p>
        </p:txBody>
      </p:sp>
      <p:sp>
        <p:nvSpPr>
          <p:cNvPr id="16" name="Rectangle 15"/>
          <p:cNvSpPr/>
          <p:nvPr/>
        </p:nvSpPr>
        <p:spPr>
          <a:xfrm>
            <a:off x="7882127" y="4078224"/>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4078224"/>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242816"/>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Atomic checkout</a:t>
            </a:r>
          </a:p>
        </p:txBody>
      </p:sp>
      <p:sp>
        <p:nvSpPr>
          <p:cNvPr id="19" name="TextBox 18"/>
          <p:cNvSpPr txBox="1"/>
          <p:nvPr/>
        </p:nvSpPr>
        <p:spPr>
          <a:xfrm>
            <a:off x="8083295" y="4590288"/>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An execution lock means two heartbeats can never double-work the same issue.</a:t>
            </a:r>
          </a:p>
        </p:txBody>
      </p:sp>
      <p:sp>
        <p:nvSpPr>
          <p:cNvPr id="20" name="Rectangle 19"/>
          <p:cNvSpPr/>
          <p:nvPr/>
        </p:nvSpPr>
        <p:spPr>
          <a:xfrm>
            <a:off x="7882127" y="521208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212080"/>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376672"/>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Budget checked first</a:t>
            </a:r>
          </a:p>
        </p:txBody>
      </p:sp>
      <p:sp>
        <p:nvSpPr>
          <p:cNvPr id="23" name="TextBox 22"/>
          <p:cNvSpPr txBox="1"/>
          <p:nvPr/>
        </p:nvSpPr>
        <p:spPr>
          <a:xfrm>
            <a:off x="8083295" y="572414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The cap is tested at checkout — a runaway loop stops at the ceiling.</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LO1 · THE MOST IMPORTANT DECISION IN THE COURSE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Feasibility Scan — Does Coordination Earn Its Cost?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feasibility.png"/>
          <p:cNvPicPr>
            <a:picLocks noChangeAspect="1"/>
          </p:cNvPicPr>
          <p:nvPr/>
        </p:nvPicPr>
        <p:blipFill>
          <a:blip r:embed="rId2"/>
          <a:stretch>
            <a:fillRect/>
          </a:stretch>
        </p:blipFill>
        <p:spPr>
          <a:xfrm>
            <a:off x="777240" y="2351862"/>
            <a:ext cx="6812279" cy="3141827"/>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Use ONE agent</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When inputs, tools, authority and verification are the same across the whole task.</a:t>
            </a:r>
          </a:p>
        </p:txBody>
      </p:sp>
      <p:sp>
        <p:nvSpPr>
          <p:cNvPr id="12" name="Rectangle 11"/>
          <p:cNvSpPr/>
          <p:nvPr/>
        </p:nvSpPr>
        <p:spPr>
          <a:xfrm>
            <a:off x="7882127" y="2944368"/>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Add a specialist</a:t>
            </a:r>
          </a:p>
        </p:txBody>
      </p:sp>
      <p:sp>
        <p:nvSpPr>
          <p:cNvPr id="15" name="TextBox 14"/>
          <p:cNvSpPr txBox="1"/>
          <p:nvPr/>
        </p:nvSpPr>
        <p:spPr>
          <a:xfrm>
            <a:off x="8083295" y="3456432"/>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Only when different expertise is required, or evidence must be produced independently.</a:t>
            </a:r>
          </a:p>
        </p:txBody>
      </p:sp>
      <p:sp>
        <p:nvSpPr>
          <p:cNvPr id="16" name="Rectangle 15"/>
          <p:cNvSpPr/>
          <p:nvPr/>
        </p:nvSpPr>
        <p:spPr>
          <a:xfrm>
            <a:off x="7882127" y="4078224"/>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4078224"/>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242816"/>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The real cost</a:t>
            </a:r>
          </a:p>
        </p:txBody>
      </p:sp>
      <p:sp>
        <p:nvSpPr>
          <p:cNvPr id="19" name="TextBox 18"/>
          <p:cNvSpPr txBox="1"/>
          <p:nvPr/>
        </p:nvSpPr>
        <p:spPr>
          <a:xfrm>
            <a:off x="8083295" y="4590288"/>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Every extra agent is another workspace, budget, instruction and audit trail to maintain.</a:t>
            </a:r>
          </a:p>
        </p:txBody>
      </p:sp>
      <p:sp>
        <p:nvSpPr>
          <p:cNvPr id="20" name="Rectangle 19"/>
          <p:cNvSpPr/>
          <p:nvPr/>
        </p:nvSpPr>
        <p:spPr>
          <a:xfrm>
            <a:off x="7882127" y="521208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212080"/>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376672"/>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Start single</a:t>
            </a:r>
          </a:p>
        </p:txBody>
      </p:sp>
      <p:sp>
        <p:nvSpPr>
          <p:cNvPr id="23" name="TextBox 22"/>
          <p:cNvSpPr txBox="1"/>
          <p:nvPr/>
        </p:nvSpPr>
        <p:spPr>
          <a:xfrm>
            <a:off x="8083295" y="572414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Split only when one instruction can no longer describe the job clearly.</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WHEN THE CONTROL PLANE PAYS FOR ITSELF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One Agent vs a Paperclip Agent Company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Dimension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One agent, run by hand</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A Paperclip agent company</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Direction</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Restated in every prompt</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mission that flows down as goal lineage</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Memory</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Ends with the session</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Persists across heartbeats in the control plane</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Cost</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Discovered on the invoice</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Capped at checkout per company, project and agent</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Authority</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Implicit — whatever you allow</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Explicit — org chart, roles and approvals</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Evidence</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Scrollback you must trust</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Runs, comments, diffs and a durable activity log</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Main risk</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Context saturation</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Coordination overhead you did not need</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The right answer is often still ONE agent. Reach for the company when the work has genuinely separable roles that must each be evidenced.</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LESSON PLAN · TIME ALLOCATION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Where Course Time Goes — Topic Weighting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The four topics carry equal weighting — but Topics 3 and 4 are where the assessable practical skill sits, because that is where governance and verification are actually exercised.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Fundamentals of Agentic AI and Paperclip</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Agentic AI foundations · the control-plane model · the twelve subsystems · feasibility and when NOT to use multi-agent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advClick="1">
    <p:push dir="l"/>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Fundamentals of Agentic AI and Paperclip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Agentic AI adds reasoning, tool use, memory and autonomy on top of a language model, so the system completes work rather than only producing text.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Paperclip is an organisational control plane — a Node.js server with a React UI that coordinates agents, goals, work, cost and governance. It is not an agent framework and it does not perform the reasoning itself.</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The defining separation: Paperclip manages the company; adapters run the agents. Organisational authority, runtime capability and verification evidence stay apart.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 company is the boundary for one mission, its human members, AI employees, projects, issues, budget and activity history. One deployment holds many companies.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Key Concepts — Fundamentals of Agentic AI and Paperclip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The four pillars are the agentic task manager, the org chart for agents, agent employee training (skills and evaluations) and the agentic OS (runtime, sandboxing, MCP, RBAC and cost control).</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Twelve subsystems make up the platform: identity, org chart, work, heartbeat, workspaces, governance, budget, routines, plugins, secrets, activity and portability.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 heartbeat is a bounded execution window with FIVE triggers: a schedule/interval tick, a task assignment, an @-mention in a comment, a manual Run Heartbeat, or an approval being resolved. Between heartbeats the agent is dormant — not idling and not billing.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Work is checked out atomically with an execution lock, so two heartbeats can never double-work the same issue or race past a budget ceiling.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Key Concepts — Fundamentals of Agentic AI and Paperclip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'If it can receive a heartbeat, it's hired' — adapter type keys include claude_local, codex_local, gemini_local, opencode_local, cursor, pi_local and hermes_local, plus process, http and openclaw_gateway.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Feasibility comes before architecture: use one agent when the inputs, tools, authority and verification are the same across the whole task.</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Add a specialist only when different expertise is genuinely required, or when evidence must be produced independently of the agent that will use it.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Installation is ready only when Node.js, the Paperclip configuration, the embedded database, server health, the browser UI and the doctor diagnostic all agree.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LO4 · TROUBLESHOOTING DISCIPLINE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Diagnosis Ladder — Fix the Earliest Broken Link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diagnosis-ladder.png"/>
          <p:cNvPicPr>
            <a:picLocks noChangeAspect="1"/>
          </p:cNvPicPr>
          <p:nvPr/>
        </p:nvPicPr>
        <p:blipFill>
          <a:blip r:embed="rId2"/>
          <a:stretch>
            <a:fillRect/>
          </a:stretch>
        </p:blipFill>
        <p:spPr>
          <a:xfrm>
            <a:off x="777240" y="2409213"/>
            <a:ext cx="6812279" cy="3027125"/>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Host first</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Node 20+, a normal non-elevated user, a writable practice root.</a:t>
            </a:r>
          </a:p>
        </p:txBody>
      </p:sp>
      <p:sp>
        <p:nvSpPr>
          <p:cNvPr id="12" name="Rectangle 11"/>
          <p:cNvSpPr/>
          <p:nvPr/>
        </p:nvSpPr>
        <p:spPr>
          <a:xfrm>
            <a:off x="7882127" y="2944368"/>
            <a:ext cx="3529584"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Then the control plane</a:t>
            </a:r>
          </a:p>
        </p:txBody>
      </p:sp>
      <p:sp>
        <p:nvSpPr>
          <p:cNvPr id="15" name="TextBox 14"/>
          <p:cNvSpPr txBox="1"/>
          <p:nvPr/>
        </p:nvSpPr>
        <p:spPr>
          <a:xfrm>
            <a:off x="8083295" y="3456432"/>
            <a:ext cx="3127248" cy="237744"/>
          </a:xfrm>
          <a:prstGeom prst="rect">
            <a:avLst/>
          </a:prstGeom>
          <a:noFill/>
        </p:spPr>
        <p:txBody>
          <a:bodyPr wrap="square" anchor="t">
            <a:spAutoFit/>
          </a:bodyPr>
          <a:lstStyle/>
          <a:p>
            <a:pPr algn="l">
              <a:spcAft>
                <a:spcPts val="400"/>
              </a:spcAft>
            </a:pPr>
            <a:r>
              <a:rPr sz="900" b="0">
                <a:solidFill>
                  <a:srgbClr val="161B26"/>
                </a:solidFill>
                <a:latin typeface="Arial"/>
              </a:rPr>
              <a:t>doctor is clean and /api/health returns ok.</a:t>
            </a:r>
          </a:p>
        </p:txBody>
      </p:sp>
      <p:sp>
        <p:nvSpPr>
          <p:cNvPr id="16" name="Rectangle 15"/>
          <p:cNvSpPr/>
          <p:nvPr/>
        </p:nvSpPr>
        <p:spPr>
          <a:xfrm>
            <a:off x="7882127" y="393192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3931920"/>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096512"/>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Then the adapter</a:t>
            </a:r>
          </a:p>
        </p:txBody>
      </p:sp>
      <p:sp>
        <p:nvSpPr>
          <p:cNvPr id="19" name="TextBox 18"/>
          <p:cNvSpPr txBox="1"/>
          <p:nvPr/>
        </p:nvSpPr>
        <p:spPr>
          <a:xfrm>
            <a:off x="8083295" y="444398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The runtime must authenticate OUTSIDE Paperclip first.</a:t>
            </a:r>
          </a:p>
        </p:txBody>
      </p:sp>
      <p:sp>
        <p:nvSpPr>
          <p:cNvPr id="20" name="Rectangle 19"/>
          <p:cNvSpPr/>
          <p:nvPr/>
        </p:nvSpPr>
        <p:spPr>
          <a:xfrm>
            <a:off x="7882127" y="5065776"/>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065776"/>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230368"/>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Then the agent</a:t>
            </a:r>
          </a:p>
        </p:txBody>
      </p:sp>
      <p:sp>
        <p:nvSpPr>
          <p:cNvPr id="23" name="TextBox 22"/>
          <p:cNvSpPr txBox="1"/>
          <p:nvPr/>
        </p:nvSpPr>
        <p:spPr>
          <a:xfrm>
            <a:off x="8083295" y="5577840"/>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A marker run puts a real artifact in the right workspace.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THE READINESS CHECKLIST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Installation Is Ready Only When Everything Agrees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Node.js</a:t>
            </a:r>
          </a:p>
          <a:p>
            <a:pPr algn="l">
              <a:spcAft>
                <a:spcPts val="300"/>
              </a:spcAft>
            </a:pPr>
            <a:r>
              <a:rPr sz="1200" b="0">
                <a:solidFill>
                  <a:srgbClr val="5B6372"/>
                </a:solidFill>
                <a:latin typeface="Arial"/>
              </a:rPr>
              <a:t>Major version 20 or later — the most common cause of a failed onboard.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Configuration &amp; database</a:t>
            </a:r>
          </a:p>
          <a:p>
            <a:pPr algn="l">
              <a:spcAft>
                <a:spcPts val="300"/>
              </a:spcAft>
            </a:pPr>
            <a:r>
              <a:rPr sz="1200" b="0">
                <a:solidFill>
                  <a:srgbClr val="5B6372"/>
                </a:solidFill>
                <a:latin typeface="Arial"/>
              </a:rPr>
              <a:t>Written by onboard; the embedded PostgreSQL starts as the normal user.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Server health</a:t>
            </a:r>
          </a:p>
          <a:p>
            <a:pPr algn="l">
              <a:spcAft>
                <a:spcPts val="300"/>
              </a:spcAft>
            </a:pPr>
            <a:r>
              <a:rPr sz="1200" b="0">
                <a:solidFill>
                  <a:srgbClr val="5B6372"/>
                </a:solidFill>
                <a:latin typeface="Arial"/>
              </a:rPr>
              <a:t>GET /api/health returns an ok status.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Browser UI</a:t>
            </a:r>
          </a:p>
          <a:p>
            <a:pPr algn="l">
              <a:spcAft>
                <a:spcPts val="300"/>
              </a:spcAft>
            </a:pPr>
            <a:r>
              <a:rPr sz="1200" b="0">
                <a:solidFill>
                  <a:srgbClr val="5B6372"/>
                </a:solidFill>
                <a:latin typeface="Arial"/>
              </a:rPr>
              <a:t>http://localhost:3100 loads without a connection error.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Doctor</a:t>
            </a:r>
          </a:p>
          <a:p>
            <a:pPr algn="l">
              <a:spcAft>
                <a:spcPts val="300"/>
              </a:spcAft>
            </a:pPr>
            <a:r>
              <a:rPr sz="1200" b="0">
                <a:solidFill>
                  <a:srgbClr val="5B6372"/>
                </a:solidFill>
                <a:latin typeface="Arial"/>
              </a:rPr>
              <a:t>npx paperclipai doctor completes with no blocking error.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Evidence</a:t>
            </a:r>
          </a:p>
          <a:p>
            <a:pPr algn="l">
              <a:spcAft>
                <a:spcPts val="300"/>
              </a:spcAft>
            </a:pPr>
            <a:r>
              <a:rPr sz="1200" b="0">
                <a:solidFill>
                  <a:srgbClr val="5B6372"/>
                </a:solidFill>
                <a:latin typeface="Arial"/>
              </a:rPr>
              <a:t>All of the above recorded — with no credential ever captured.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
        <p:nvSpPr>
          <p:cNvPr id="40" name="Rectangle 39"/>
          <p:cNvSpPr/>
          <p:nvPr/>
        </p:nvSpPr>
        <p:spPr>
          <a:xfrm>
            <a:off x="777240" y="5742432"/>
            <a:ext cx="10607040"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742432"/>
            <a:ext cx="91440"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5742432"/>
            <a:ext cx="10241280" cy="603504"/>
          </a:xfrm>
          <a:prstGeom prst="rect">
            <a:avLst/>
          </a:prstGeom>
          <a:noFill/>
        </p:spPr>
        <p:txBody>
          <a:bodyPr wrap="square" anchor="ctr">
            <a:spAutoFit/>
          </a:bodyPr>
          <a:lstStyle/>
          <a:p>
            <a:pPr algn="l">
              <a:spcAft>
                <a:spcPts val="400"/>
              </a:spcAft>
            </a:pPr>
            <a:r>
              <a:rPr sz="1350" b="1">
                <a:solidFill>
                  <a:srgbClr val="161B26"/>
                </a:solidFill>
                <a:latin typeface="Arial"/>
              </a:rPr>
              <a:t>A green badge is not evidence. An observable artifact is.</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Hands-On Labs — Fundamentals of Agentic AI and Paperclip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Install Paperclip and Prove the Control Plane (ClipReel Studio)</a:t>
            </a:r>
          </a:p>
          <a:p>
            <a:pPr>
              <a:spcAft>
                <a:spcPts val="900"/>
              </a:spcAft>
            </a:pPr>
            <a:r>
              <a:rPr sz="1400" b="0">
                <a:solidFill>
                  <a:srgbClr val="161B26"/>
                </a:solidFill>
                <a:latin typeface="Arial"/>
              </a:rPr>
              <a:t>•  ClipReel Studio (Short Video Production)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Install Paperclip and Prove the Control Plane (ClipReel Studio)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07040"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241280" cy="566928"/>
          </a:xfrm>
          <a:prstGeom prst="rect">
            <a:avLst/>
          </a:prstGeom>
          <a:noFill/>
        </p:spPr>
        <p:txBody>
          <a:bodyPr wrap="square" anchor="ctr">
            <a:spAutoFit/>
          </a:bodyPr>
          <a:lstStyle/>
          <a:p>
            <a:pPr algn="l">
              <a:spcAft>
                <a:spcPts val="400"/>
              </a:spcAft>
            </a:pPr>
            <a:r>
              <a:rPr sz="1300" b="1">
                <a:solidFill>
                  <a:srgbClr val="7C3AED"/>
                </a:solidFill>
                <a:latin typeface="Arial"/>
              </a:rPr>
              <a:t>SIMULATED COMPANY  ·  ClipReel Studio (Short Video Production)</a:t>
            </a:r>
          </a:p>
        </p:txBody>
      </p:sp>
      <p:sp>
        <p:nvSpPr>
          <p:cNvPr id="10" name="TextBox 9"/>
          <p:cNvSpPr txBox="1"/>
          <p:nvPr/>
        </p:nvSpPr>
        <p:spPr>
          <a:xfrm>
            <a:off x="777240" y="2514600"/>
            <a:ext cx="10607040" cy="1298448"/>
          </a:xfrm>
          <a:prstGeom prst="rect">
            <a:avLst/>
          </a:prstGeom>
          <a:noFill/>
        </p:spPr>
        <p:txBody>
          <a:bodyPr wrap="square" anchor="t">
            <a:spAutoFit/>
          </a:bodyPr>
          <a:lstStyle/>
          <a:p>
            <a:pPr algn="l">
              <a:spcAft>
                <a:spcPts val="400"/>
              </a:spcAft>
            </a:pPr>
            <a:r>
              <a:rPr sz="1350" b="0">
                <a:solidFill>
                  <a:srgbClr val="161B26"/>
                </a:solidFill>
                <a:latin typeface="Arial"/>
              </a:rPr>
              <a:t>You prepare a dedicated synthetic practice root for ClipReel Studio, a one-person short-video production company, verify the supported Node.js runtime, onboard Paperclip as a normal (non-elevated) user, and then inspect BOTH the built-in diagnostic and the live health endpoint. Proving the control plane before you hire any agent matters because every later adapter, budget or heartbeat failure is far easier to isolate when the platform itself has a recorded clean baseline.</a:t>
            </a:r>
          </a:p>
        </p:txBody>
      </p:sp>
      <p:sp>
        <p:nvSpPr>
          <p:cNvPr id="11" name="Rectangle 10"/>
          <p:cNvSpPr/>
          <p:nvPr/>
        </p:nvSpPr>
        <p:spPr>
          <a:xfrm>
            <a:off x="777240" y="3931920"/>
            <a:ext cx="67665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931920"/>
            <a:ext cx="676656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069080"/>
            <a:ext cx="6309360" cy="329184"/>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1005840" y="4416552"/>
            <a:ext cx="6309360" cy="1005840"/>
          </a:xfrm>
          <a:prstGeom prst="rect">
            <a:avLst/>
          </a:prstGeom>
          <a:noFill/>
        </p:spPr>
        <p:txBody>
          <a:bodyPr wrap="square" anchor="t">
            <a:spAutoFit/>
          </a:bodyPr>
          <a:lstStyle/>
          <a:p>
            <a:pPr algn="l">
              <a:spcAft>
                <a:spcPts val="400"/>
              </a:spcAft>
            </a:pPr>
            <a:r>
              <a:rPr sz="1150" b="0">
                <a:solidFill>
                  <a:srgbClr val="161B26"/>
                </a:solidFill>
                <a:latin typeface="Arial"/>
              </a:rPr>
              <a:t>A running Paperclip instance at http://localhost:3100 plus evidence/lab01-installation.md recording the Node/npm versions, the doctor summary and the /api/health response — with no credentials captured.</a:t>
            </a:r>
          </a:p>
        </p:txBody>
      </p:sp>
      <p:sp>
        <p:nvSpPr>
          <p:cNvPr id="15" name="Rectangle 14"/>
          <p:cNvSpPr/>
          <p:nvPr/>
        </p:nvSpPr>
        <p:spPr>
          <a:xfrm>
            <a:off x="7818120" y="3931920"/>
            <a:ext cx="35661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18120" y="3931920"/>
            <a:ext cx="356616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4069080"/>
            <a:ext cx="3108960" cy="329184"/>
          </a:xfrm>
          <a:prstGeom prst="rect">
            <a:avLst/>
          </a:prstGeom>
          <a:noFill/>
        </p:spPr>
        <p:txBody>
          <a:bodyPr wrap="square" anchor="t">
            <a:spAutoFit/>
          </a:bodyPr>
          <a:lstStyle/>
          <a:p>
            <a:pPr algn="l">
              <a:spcAft>
                <a:spcPts val="400"/>
              </a:spcAft>
            </a:pPr>
            <a:r>
              <a:rPr sz="1200" b="1">
                <a:solidFill>
                  <a:srgbClr val="1F6FEB"/>
                </a:solidFill>
                <a:latin typeface="Arial"/>
              </a:rPr>
              <a:t>MAPS TO</a:t>
            </a:r>
          </a:p>
        </p:txBody>
      </p:sp>
      <p:sp>
        <p:nvSpPr>
          <p:cNvPr id="18" name="TextBox 17"/>
          <p:cNvSpPr txBox="1"/>
          <p:nvPr/>
        </p:nvSpPr>
        <p:spPr>
          <a:xfrm>
            <a:off x="8046720" y="4416552"/>
            <a:ext cx="3108960" cy="1005840"/>
          </a:xfrm>
          <a:prstGeom prst="rect">
            <a:avLst/>
          </a:prstGeom>
          <a:noFill/>
        </p:spPr>
        <p:txBody>
          <a:bodyPr wrap="square" anchor="t">
            <a:spAutoFit/>
          </a:bodyPr>
          <a:lstStyle/>
          <a:p>
            <a:pPr algn="l">
              <a:spcAft>
                <a:spcPts val="400"/>
              </a:spcAft>
            </a:pPr>
            <a:r>
              <a:rPr sz="1050" b="0">
                <a:solidFill>
                  <a:srgbClr val="161B26"/>
                </a:solidFill>
                <a:latin typeface="Arial"/>
              </a:rPr>
              <a:t>LO1: Explain the control-plane / runtime boundary and verify a healthy local Paperclip installation with observable evidence.</a:t>
            </a:r>
          </a:p>
        </p:txBody>
      </p:sp>
      <p:sp>
        <p:nvSpPr>
          <p:cNvPr id="19" name="TextBox 18"/>
          <p:cNvSpPr txBox="1"/>
          <p:nvPr/>
        </p:nvSpPr>
        <p:spPr>
          <a:xfrm>
            <a:off x="777240" y="5669280"/>
            <a:ext cx="10607040" cy="640080"/>
          </a:xfrm>
          <a:prstGeom prst="rect">
            <a:avLst/>
          </a:prstGeom>
          <a:noFill/>
        </p:spPr>
        <p:txBody>
          <a:bodyPr wrap="square" anchor="t">
            <a:spAutoFit/>
          </a:bodyPr>
          <a:lstStyle/>
          <a:p>
            <a:pPr algn="l">
              <a:spcAft>
                <a:spcPts val="300"/>
              </a:spcAft>
            </a:pPr>
            <a:r>
              <a:rPr sz="1100" b="0">
                <a:solidFill>
                  <a:srgbClr val="5B6372"/>
                </a:solidFill>
                <a:latin typeface="Arial"/>
              </a:rPr>
              <a:t>Tools:  Node.js 20+, npm/npx, Paperclip CLI, browser, terminal or PowerShell</a:t>
            </a:r>
          </a:p>
          <a:p>
            <a:pPr algn="l">
              <a:spcAft>
                <a:spcPts val="300"/>
              </a:spcAft>
            </a:pPr>
            <a:r>
              <a:rPr sz="1100" b="0">
                <a:solidFill>
                  <a:srgbClr val="5B6372"/>
                </a:solidFill>
                <a:latin typeface="Arial"/>
              </a:rPr>
              <a:t>Full step-by-step procedure: Learner Guide, Lab 1  ·  labs/ folder</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Prepare the practice root</a:t>
            </a:r>
          </a:p>
        </p:txBody>
      </p:sp>
      <p:sp>
        <p:nvSpPr>
          <p:cNvPr id="12" name="TextBox 11"/>
          <p:cNvSpPr txBox="1"/>
          <p:nvPr/>
        </p:nvSpPr>
        <p:spPr>
          <a:xfrm>
            <a:off x="850392"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separate workspace + evidence folders</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Verify Node.js 20+</a:t>
            </a:r>
          </a:p>
        </p:txBody>
      </p:sp>
      <p:sp>
        <p:nvSpPr>
          <p:cNvPr id="19" name="TextBox 18"/>
          <p:cNvSpPr txBox="1"/>
          <p:nvPr/>
        </p:nvSpPr>
        <p:spPr>
          <a:xfrm>
            <a:off x="3054096"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the top cause of a failed onboard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Onboard Paperclip</a:t>
            </a:r>
          </a:p>
        </p:txBody>
      </p:sp>
      <p:sp>
        <p:nvSpPr>
          <p:cNvPr id="26" name="TextBox 25"/>
          <p:cNvSpPr txBox="1"/>
          <p:nvPr/>
        </p:nvSpPr>
        <p:spPr>
          <a:xfrm>
            <a:off x="5257800"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normal user shell — never sudo</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Run doctor</a:t>
            </a:r>
          </a:p>
        </p:txBody>
      </p:sp>
      <p:sp>
        <p:nvSpPr>
          <p:cNvPr id="33" name="TextBox 32"/>
          <p:cNvSpPr txBox="1"/>
          <p:nvPr/>
        </p:nvSpPr>
        <p:spPr>
          <a:xfrm>
            <a:off x="7461504"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fix the EARLIEST error first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Prove /api/health</a:t>
            </a:r>
          </a:p>
        </p:txBody>
      </p:sp>
      <p:sp>
        <p:nvSpPr>
          <p:cNvPr id="40" name="TextBox 39"/>
          <p:cNvSpPr txBox="1"/>
          <p:nvPr/>
        </p:nvSpPr>
        <p:spPr>
          <a:xfrm>
            <a:off x="9665208"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record the clean baseline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LO1: Explain the control-plane / runtime boundary and verify a healthy local Paperclip installation with observable evidence.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Install Paperclip and Prove the Control Plane (ClipReel Studio)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npx paperclipai doctor completes with no unresolved blocking error, GET http://localhost:3100/api/health returns status ok, the browser loads the Paperclip UI, and evidence/lab01-installation.md records all three checks with no credential or personal identifier.</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Embedded PostgreSQL refuses to start</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the shell is NOT elevated. Stop the process and re-run onboarding as the normal user who owns the practice folder.</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browser cannot reach port 3100</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npx paperclipai doctor, then npx paperclipai run, and query /api/health again BEFORE touching any firewall setting.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npx resolves against a private registry</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Retry with npx --registry https://registry.npmjs.org paperclipai onboard --yes and review the global npm registry configuration afterwards.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 1  ·  TROUBLESHOOTING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Install Paperclip and Prove the Control Plane (ClipReel Studio)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3852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Embedded PostgreSQL refuses to start</a:t>
            </a:r>
          </a:p>
        </p:txBody>
      </p:sp>
      <p:sp>
        <p:nvSpPr>
          <p:cNvPr id="10" name="TextBox 9"/>
          <p:cNvSpPr txBox="1"/>
          <p:nvPr/>
        </p:nvSpPr>
        <p:spPr>
          <a:xfrm>
            <a:off x="1051560" y="230428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Confirm the shell is NOT elevated. Stop the process and re-run onboarding as the normal user who owns the practice folder.</a:t>
            </a:r>
          </a:p>
        </p:txBody>
      </p:sp>
      <p:sp>
        <p:nvSpPr>
          <p:cNvPr id="11" name="Rectangle 10"/>
          <p:cNvSpPr/>
          <p:nvPr/>
        </p:nvSpPr>
        <p:spPr>
          <a:xfrm>
            <a:off x="777240" y="293827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827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06628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browser cannot reach port 3100</a:t>
            </a:r>
          </a:p>
        </p:txBody>
      </p:sp>
      <p:sp>
        <p:nvSpPr>
          <p:cNvPr id="14" name="TextBox 13"/>
          <p:cNvSpPr txBox="1"/>
          <p:nvPr/>
        </p:nvSpPr>
        <p:spPr>
          <a:xfrm>
            <a:off x="1051560" y="343204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Run npx paperclipai doctor, then npx paperclipai run, and query /api/health again BEFORE touching any firewall setting.</a:t>
            </a:r>
          </a:p>
        </p:txBody>
      </p:sp>
      <p:sp>
        <p:nvSpPr>
          <p:cNvPr id="15" name="Rectangle 14"/>
          <p:cNvSpPr/>
          <p:nvPr/>
        </p:nvSpPr>
        <p:spPr>
          <a:xfrm>
            <a:off x="777240" y="406603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06603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19404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npx resolves against a private registry</a:t>
            </a:r>
          </a:p>
        </p:txBody>
      </p:sp>
      <p:sp>
        <p:nvSpPr>
          <p:cNvPr id="18" name="TextBox 17"/>
          <p:cNvSpPr txBox="1"/>
          <p:nvPr/>
        </p:nvSpPr>
        <p:spPr>
          <a:xfrm>
            <a:off x="1051560" y="455980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Retry with npx --registry https://registry.npmjs.org paperclipai onboard --yes and review the global npm registry configuration afterwards.</a:t>
            </a:r>
          </a:p>
        </p:txBody>
      </p:sp>
      <p:sp>
        <p:nvSpPr>
          <p:cNvPr id="19" name="Rectangle 18"/>
          <p:cNvSpPr/>
          <p:nvPr/>
        </p:nvSpPr>
        <p:spPr>
          <a:xfrm>
            <a:off x="77724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230368"/>
            <a:ext cx="91440" cy="1005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321808"/>
            <a:ext cx="4846320" cy="292608"/>
          </a:xfrm>
          <a:prstGeom prst="rect">
            <a:avLst/>
          </a:prstGeom>
          <a:noFill/>
        </p:spPr>
        <p:txBody>
          <a:bodyPr wrap="square" anchor="t">
            <a:spAutoFit/>
          </a:bodyPr>
          <a:lstStyle/>
          <a:p>
            <a:pPr algn="l">
              <a:spcAft>
                <a:spcPts val="400"/>
              </a:spcAft>
            </a:pPr>
            <a:r>
              <a:rPr sz="1150" b="1">
                <a:solidFill>
                  <a:srgbClr val="7C3AED"/>
                </a:solidFill>
                <a:latin typeface="Arial"/>
              </a:rPr>
              <a:t>CHALLENGE</a:t>
            </a:r>
          </a:p>
        </p:txBody>
      </p:sp>
      <p:sp>
        <p:nvSpPr>
          <p:cNvPr id="22" name="TextBox 21"/>
          <p:cNvSpPr txBox="1"/>
          <p:nvPr/>
        </p:nvSpPr>
        <p:spPr>
          <a:xfrm>
            <a:off x="105156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Run npx paperclipai env and record ONLY the non-sensitive instance name, bind mode and port in your evidence note. Do not paste the full output.</a:t>
            </a:r>
          </a:p>
        </p:txBody>
      </p:sp>
      <p:sp>
        <p:nvSpPr>
          <p:cNvPr id="23" name="Rectangle 22"/>
          <p:cNvSpPr/>
          <p:nvPr/>
        </p:nvSpPr>
        <p:spPr>
          <a:xfrm>
            <a:off x="617220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5230368"/>
            <a:ext cx="91440"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5321808"/>
            <a:ext cx="4846320" cy="292608"/>
          </a:xfrm>
          <a:prstGeom prst="rect">
            <a:avLst/>
          </a:prstGeom>
          <a:noFill/>
        </p:spPr>
        <p:txBody>
          <a:bodyPr wrap="square" anchor="t">
            <a:spAutoFit/>
          </a:bodyPr>
          <a:lstStyle/>
          <a:p>
            <a:pPr algn="l">
              <a:spcAft>
                <a:spcPts val="400"/>
              </a:spcAft>
            </a:pPr>
            <a:r>
              <a:rPr sz="1150" b="1">
                <a:solidFill>
                  <a:srgbClr val="1F6FEB"/>
                </a:solidFill>
                <a:latin typeface="Arial"/>
              </a:rPr>
              <a:t>REFLECTION</a:t>
            </a:r>
          </a:p>
        </p:txBody>
      </p:sp>
      <p:sp>
        <p:nvSpPr>
          <p:cNvPr id="26" name="TextBox 25"/>
          <p:cNvSpPr txBox="1"/>
          <p:nvPr/>
        </p:nvSpPr>
        <p:spPr>
          <a:xfrm>
            <a:off x="644652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Why does a healthy Paperclip API prove the control plane but say nothing about whether a Claude Code, Codex, Gemini or Cursor runtime is ready?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Fundamentals of Agentic AI and Paperclip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LO1: Explain the control-plane / runtime boundary and verify a healthy local Paperclip installation with observable evidence.</a:t>
            </a:r>
          </a:p>
          <a:p>
            <a:pPr>
              <a:spcAft>
                <a:spcPts val="1000"/>
              </a:spcAft>
            </a:pPr>
            <a:r>
              <a:rPr sz="1500" b="0">
                <a:solidFill>
                  <a:srgbClr val="161B26"/>
                </a:solidFill>
                <a:latin typeface="Arial"/>
              </a:rPr>
              <a:t>•  Agentic AI adds reasoning, tool use, memory and autonomy on top of a language model, so the system completes work rather than only producing text.</a:t>
            </a:r>
          </a:p>
          <a:p>
            <a:pPr>
              <a:spcAft>
                <a:spcPts val="1000"/>
              </a:spcAft>
            </a:pPr>
            <a:r>
              <a:rPr sz="1500" b="0">
                <a:solidFill>
                  <a:srgbClr val="161B26"/>
                </a:solidFill>
                <a:latin typeface="Arial"/>
              </a:rPr>
              <a:t>•  Paperclip is an organisational control plane — a Node.js server with a React UI that coordinates agents, goals, work, cost and governance. It is not an agent framework and it does not perform the reasoning itself.</a:t>
            </a:r>
          </a:p>
          <a:p>
            <a:pPr>
              <a:spcAft>
                <a:spcPts val="1000"/>
              </a:spcAft>
            </a:pPr>
            <a:r>
              <a:rPr sz="1500" b="0">
                <a:solidFill>
                  <a:srgbClr val="161B26"/>
                </a:solidFill>
                <a:latin typeface="Arial"/>
              </a:rPr>
              <a:t>•  The defining separation: Paperclip manages the company; adapters run the agents. Organisational authority, runtime capability and verification evidence stay apart.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Building AI Agents with Paperclip</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Install and verify · company and mission · the CEO · org chart · runtime adapters · workspaces, instructions and secrets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advClick="1">
    <p:push dir="l"/>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Building AI Agents with Paperclip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Onboarding with paperclipai onboard --yes downloads Paperclip, writes the configuration, initialises the embedded PostgreSQL and serves the UI on port 3100.</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Deployment mode is a security decision: local_trusted is the default and requires no login; authenticated+private and authenticated+public widen reach and require real authentication.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The onboarding wizard captures the company name, the mission statement and the team lead, then verifies connectivity to your chosen local agent runtime.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 mission must be measurable. 'Grow the channel' cannot be verified; 'publish 8 short videos per month at ≥5% average watch-through' can.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Building AI Agents with Paperclip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Paperclip enforces a strict hierarchy: every agent reports to exactly ONE manager, and the CEO is the only agent with no manager. The CEO owns goal alignment, decomposition and final synthesis, and may propose further hires under approval.</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Every agent carries a role, a manager, an adapter, an instruction file, a heartbeat and an individual budget. Those six fields are the agent's whole contract.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 role instruction states purpose, allowed inputs, the output schema, explicit exclusions and the escalation path — not a personality.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Each agent gets a dedicated workspace: a separate local root for one role's files and evidence, isolated with git worktrees so changes are attributable.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Building AI Agents with Paperclip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Secrets live in the runtime or in Paperclip's secret store with scoped injection at heartbeat time. They never appear in prompts, lab notes or Git.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Skills are reusable agent capabilities imported from a path or URL into an org-wide library, then attached to specific agents — capability without retraining.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Adapter readiness is proved by a marker run, not by the presence of configuration: an agent that cannot produce an observable artifact is not connected.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Diagnose along a ladder — host, control plane, adapter, agent — and fix the earliest broken link before changing anything downstream.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ACCOUNTABILITY HAS A SHAPE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Agent Org Chart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org-chart.png"/>
          <p:cNvPicPr>
            <a:picLocks noChangeAspect="1"/>
          </p:cNvPicPr>
          <p:nvPr/>
        </p:nvPicPr>
        <p:blipFill>
          <a:blip r:embed="rId2"/>
          <a:stretch>
            <a:fillRect/>
          </a:stretch>
        </p:blipFill>
        <p:spPr>
          <a:xfrm>
            <a:off x="777240" y="2306951"/>
            <a:ext cx="6812280" cy="3231650"/>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Board approves</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Hires, strategy and material exceptions stay with the human.</a:t>
            </a:r>
          </a:p>
        </p:txBody>
      </p:sp>
      <p:sp>
        <p:nvSpPr>
          <p:cNvPr id="12" name="Rectangle 11"/>
          <p:cNvSpPr/>
          <p:nvPr/>
        </p:nvSpPr>
        <p:spPr>
          <a:xfrm>
            <a:off x="7882127" y="2944368"/>
            <a:ext cx="3529584"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The CEO owns alignment</a:t>
            </a:r>
          </a:p>
        </p:txBody>
      </p:sp>
      <p:sp>
        <p:nvSpPr>
          <p:cNvPr id="15" name="TextBox 14"/>
          <p:cNvSpPr txBox="1"/>
          <p:nvPr/>
        </p:nvSpPr>
        <p:spPr>
          <a:xfrm>
            <a:off x="8083295" y="3456432"/>
            <a:ext cx="3127248" cy="237744"/>
          </a:xfrm>
          <a:prstGeom prst="rect">
            <a:avLst/>
          </a:prstGeom>
          <a:noFill/>
        </p:spPr>
        <p:txBody>
          <a:bodyPr wrap="square" anchor="t">
            <a:spAutoFit/>
          </a:bodyPr>
          <a:lstStyle/>
          <a:p>
            <a:pPr algn="l">
              <a:spcAft>
                <a:spcPts val="400"/>
              </a:spcAft>
            </a:pPr>
            <a:r>
              <a:rPr sz="900" b="0">
                <a:solidFill>
                  <a:srgbClr val="161B26"/>
                </a:solidFill>
                <a:latin typeface="Arial"/>
              </a:rPr>
              <a:t>Goal alignment, decomposition and final synthesis.</a:t>
            </a:r>
          </a:p>
        </p:txBody>
      </p:sp>
      <p:sp>
        <p:nvSpPr>
          <p:cNvPr id="16" name="Rectangle 15"/>
          <p:cNvSpPr/>
          <p:nvPr/>
        </p:nvSpPr>
        <p:spPr>
          <a:xfrm>
            <a:off x="7882127" y="393192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3931920"/>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096512"/>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Specialists own transformations</a:t>
            </a:r>
          </a:p>
        </p:txBody>
      </p:sp>
      <p:sp>
        <p:nvSpPr>
          <p:cNvPr id="19" name="TextBox 18"/>
          <p:cNvSpPr txBox="1"/>
          <p:nvPr/>
        </p:nvSpPr>
        <p:spPr>
          <a:xfrm>
            <a:off x="8083295" y="444398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One distinct job, one authority boundary, one deliverable.</a:t>
            </a:r>
          </a:p>
        </p:txBody>
      </p:sp>
      <p:sp>
        <p:nvSpPr>
          <p:cNvPr id="20" name="Rectangle 19"/>
          <p:cNvSpPr/>
          <p:nvPr/>
        </p:nvSpPr>
        <p:spPr>
          <a:xfrm>
            <a:off x="7882127" y="5065776"/>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065776"/>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230368"/>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Six fields per agent</a:t>
            </a:r>
          </a:p>
        </p:txBody>
      </p:sp>
      <p:sp>
        <p:nvSpPr>
          <p:cNvPr id="23" name="TextBox 22"/>
          <p:cNvSpPr txBox="1"/>
          <p:nvPr/>
        </p:nvSpPr>
        <p:spPr>
          <a:xfrm>
            <a:off x="8083295" y="5577840"/>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Role · manager · adapter · instructions · heartbeat · budget.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WRITING THE ROLE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Role Instruction Is a Contract, Not a Personality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Section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it states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Why it matters</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Purpose</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The single transformation this role owns</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Prevents scope drift</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Allowed inputs</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Which files, data and sources may be read</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Confines the blast radius</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Output schema</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The artifact, its path and its required fields</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Makes acceptance objective</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Exclusions</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What this role must never do</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The most valuable section</a:t>
            </a:r>
          </a:p>
        </p:txBody>
      </p:sp>
      <p:sp>
        <p:nvSpPr>
          <p:cNvPr id="37" name="Rectangle 36"/>
          <p:cNvSpPr/>
          <p:nvPr/>
        </p:nvSpPr>
        <p:spPr>
          <a:xfrm>
            <a:off x="777240" y="5111496"/>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5111496"/>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Escalation</a:t>
            </a:r>
          </a:p>
        </p:txBody>
      </p:sp>
      <p:sp>
        <p:nvSpPr>
          <p:cNvPr id="39" name="Rectangle 38"/>
          <p:cNvSpPr/>
          <p:nvPr/>
        </p:nvSpPr>
        <p:spPr>
          <a:xfrm>
            <a:off x="3542202" y="5111496"/>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5111496"/>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When to stop and ask the board</a:t>
            </a:r>
          </a:p>
        </p:txBody>
      </p:sp>
      <p:sp>
        <p:nvSpPr>
          <p:cNvPr id="41" name="Rectangle 40"/>
          <p:cNvSpPr/>
          <p:nvPr/>
        </p:nvSpPr>
        <p:spPr>
          <a:xfrm>
            <a:off x="7476957" y="5111496"/>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5111496"/>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Keeps authority explicit</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
        <p:nvSpPr>
          <p:cNvPr id="46" name="Rectangle 45"/>
          <p:cNvSpPr/>
          <p:nvPr/>
        </p:nvSpPr>
        <p:spPr>
          <a:xfrm>
            <a:off x="777240" y="5742432"/>
            <a:ext cx="10607040"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742432"/>
            <a:ext cx="91440"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51560" y="5742432"/>
            <a:ext cx="10241280" cy="603504"/>
          </a:xfrm>
          <a:prstGeom prst="rect">
            <a:avLst/>
          </a:prstGeom>
          <a:noFill/>
        </p:spPr>
        <p:txBody>
          <a:bodyPr wrap="square" anchor="ctr">
            <a:spAutoFit/>
          </a:bodyPr>
          <a:lstStyle/>
          <a:p>
            <a:pPr algn="l">
              <a:spcAft>
                <a:spcPts val="400"/>
              </a:spcAft>
            </a:pPr>
            <a:r>
              <a:rPr sz="1350" b="1">
                <a:solidFill>
                  <a:srgbClr val="161B26"/>
                </a:solidFill>
                <a:latin typeface="Arial"/>
              </a:rPr>
              <a:t>If two roles could both plausibly do the task, your instructions are not finished.</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LO2 · SEPARATE CONTEXT FROM AUTHORITY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Workspaces, Secrets and Skills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Dedicated workspace</a:t>
            </a:r>
          </a:p>
          <a:p>
            <a:pPr algn="l">
              <a:spcAft>
                <a:spcPts val="300"/>
              </a:spcAft>
            </a:pPr>
            <a:r>
              <a:rPr sz="1200" b="0">
                <a:solidFill>
                  <a:srgbClr val="5B6372"/>
                </a:solidFill>
                <a:latin typeface="Arial"/>
              </a:rPr>
              <a:t>One local root per role, isolated with git worktrees so every change is attributable to exactly one agent.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Git baseline</a:t>
            </a:r>
          </a:p>
          <a:p>
            <a:pPr algn="l">
              <a:spcAft>
                <a:spcPts val="300"/>
              </a:spcAft>
            </a:pPr>
            <a:r>
              <a:rPr sz="1200" b="0">
                <a:solidFill>
                  <a:srgbClr val="5B6372"/>
                </a:solidFill>
                <a:latin typeface="Arial"/>
              </a:rPr>
              <a:t>Commit an empty baseline so the later diff means what you think it means.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Secrets stay out</a:t>
            </a:r>
          </a:p>
          <a:p>
            <a:pPr algn="l">
              <a:spcAft>
                <a:spcPts val="300"/>
              </a:spcAft>
            </a:pPr>
            <a:r>
              <a:rPr sz="1200" b="0">
                <a:solidFill>
                  <a:srgbClr val="5B6372"/>
                </a:solidFill>
                <a:latin typeface="Arial"/>
              </a:rPr>
              <a:t>Credentials live in the runtime or the Paperclip secret store, injected at heartbeat time — never in prompts, notes or Git.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Skills are capability</a:t>
            </a:r>
          </a:p>
          <a:p>
            <a:pPr algn="l">
              <a:spcAft>
                <a:spcPts val="300"/>
              </a:spcAft>
            </a:pPr>
            <a:r>
              <a:rPr sz="1200" b="0">
                <a:solidFill>
                  <a:srgbClr val="5B6372"/>
                </a:solidFill>
                <a:latin typeface="Arial"/>
              </a:rPr>
              <a:t>Import a skill from a path or URL into the org-wide library, then attach it to a specific agent.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Adapters bridge capability</a:t>
            </a:r>
          </a:p>
          <a:p>
            <a:pPr algn="l">
              <a:spcAft>
                <a:spcPts val="300"/>
              </a:spcAft>
            </a:pPr>
            <a:r>
              <a:rPr sz="1200" b="0">
                <a:solidFill>
                  <a:srgbClr val="5B6372"/>
                </a:solidFill>
                <a:latin typeface="Arial"/>
              </a:rPr>
              <a:t>Match role complexity, session needs and tool access to the adapter you choose.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Prove it with a marker run</a:t>
            </a:r>
          </a:p>
          <a:p>
            <a:pPr algn="l">
              <a:spcAft>
                <a:spcPts val="300"/>
              </a:spcAft>
            </a:pPr>
            <a:r>
              <a:rPr sz="1200" b="0">
                <a:solidFill>
                  <a:srgbClr val="5B6372"/>
                </a:solidFill>
                <a:latin typeface="Arial"/>
              </a:rPr>
              <a:t>Configuration that has never produced an artifact is not a connection.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Building AI Agents with Paperclip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Create the BrightFunnel Company, Mission and CEO (Digital Marketing)</a:t>
            </a:r>
          </a:p>
          <a:p>
            <a:pPr>
              <a:spcAft>
                <a:spcPts val="900"/>
              </a:spcAft>
            </a:pPr>
            <a:r>
              <a:rPr sz="1400" b="0">
                <a:solidFill>
                  <a:srgbClr val="161B26"/>
                </a:solidFill>
                <a:latin typeface="Arial"/>
              </a:rPr>
              <a:t>•  BrightFunnel Marketing (Digital Marketing)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3</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Meridian Reporting Tree and Validate Runtime Boundaries (Finance)</a:t>
            </a:r>
          </a:p>
          <a:p>
            <a:pPr>
              <a:spcAft>
                <a:spcPts val="900"/>
              </a:spcAft>
            </a:pPr>
            <a:r>
              <a:rPr sz="1400" b="0">
                <a:solidFill>
                  <a:srgbClr val="161B26"/>
                </a:solidFill>
                <a:latin typeface="Arial"/>
              </a:rPr>
              <a:t>•  Meridian Finance Desk (Finance)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Create the BrightFunnel Company, Mission and CEO (Digital Marketing)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07040"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241280" cy="566928"/>
          </a:xfrm>
          <a:prstGeom prst="rect">
            <a:avLst/>
          </a:prstGeom>
          <a:noFill/>
        </p:spPr>
        <p:txBody>
          <a:bodyPr wrap="square" anchor="ctr">
            <a:spAutoFit/>
          </a:bodyPr>
          <a:lstStyle/>
          <a:p>
            <a:pPr algn="l">
              <a:spcAft>
                <a:spcPts val="400"/>
              </a:spcAft>
            </a:pPr>
            <a:r>
              <a:rPr sz="1300" b="1">
                <a:solidFill>
                  <a:srgbClr val="7C3AED"/>
                </a:solidFill>
                <a:latin typeface="Arial"/>
              </a:rPr>
              <a:t>SIMULATED COMPANY  ·  BrightFunnel Marketing (Digital Marketing)</a:t>
            </a:r>
          </a:p>
        </p:txBody>
      </p:sp>
      <p:sp>
        <p:nvSpPr>
          <p:cNvPr id="10" name="TextBox 9"/>
          <p:cNvSpPr txBox="1"/>
          <p:nvPr/>
        </p:nvSpPr>
        <p:spPr>
          <a:xfrm>
            <a:off x="777240" y="2514600"/>
            <a:ext cx="10607040" cy="1298448"/>
          </a:xfrm>
          <a:prstGeom prst="rect">
            <a:avLst/>
          </a:prstGeom>
          <a:noFill/>
        </p:spPr>
        <p:txBody>
          <a:bodyPr wrap="square" anchor="t">
            <a:spAutoFit/>
          </a:bodyPr>
          <a:lstStyle/>
          <a:p>
            <a:pPr algn="l">
              <a:spcAft>
                <a:spcPts val="400"/>
              </a:spcAft>
            </a:pPr>
            <a:r>
              <a:rPr sz="1350" b="0">
                <a:solidFill>
                  <a:srgbClr val="161B26"/>
                </a:solidFill>
                <a:latin typeface="Arial"/>
              </a:rPr>
              <a:t>You stand up BrightFunnel Marketing — a one-person digital marketing company — as a Paperclip company. You write a MEASURABLE mission (a target, a metric and a boundary), hire the Marketing Director as CEO, connect one trainer-approved agent runtime, and set the company budget cap BEFORE any agent is allowed to run. The order matters: a company that gains a runtime before it gains a cap can spend without a ceiling.</a:t>
            </a:r>
          </a:p>
        </p:txBody>
      </p:sp>
      <p:sp>
        <p:nvSpPr>
          <p:cNvPr id="11" name="Rectangle 10"/>
          <p:cNvSpPr/>
          <p:nvPr/>
        </p:nvSpPr>
        <p:spPr>
          <a:xfrm>
            <a:off x="777240" y="3931920"/>
            <a:ext cx="67665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931920"/>
            <a:ext cx="676656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069080"/>
            <a:ext cx="6309360" cy="329184"/>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1005840" y="4416552"/>
            <a:ext cx="6309360" cy="1005840"/>
          </a:xfrm>
          <a:prstGeom prst="rect">
            <a:avLst/>
          </a:prstGeom>
          <a:noFill/>
        </p:spPr>
        <p:txBody>
          <a:bodyPr wrap="square" anchor="t">
            <a:spAutoFit/>
          </a:bodyPr>
          <a:lstStyle/>
          <a:p>
            <a:pPr algn="l">
              <a:spcAft>
                <a:spcPts val="400"/>
              </a:spcAft>
            </a:pPr>
            <a:r>
              <a:rPr sz="1150" b="0">
                <a:solidFill>
                  <a:srgbClr val="161B26"/>
                </a:solidFill>
                <a:latin typeface="Arial"/>
              </a:rPr>
              <a:t>A BrightFunnel company in Paperclip with the exact synthetic mission, a hardened Marketing Director CEO on a verified adapter, a saved company budget cap, a dedicated workspace and a redacted configuration baseline in evidence/.</a:t>
            </a:r>
          </a:p>
        </p:txBody>
      </p:sp>
      <p:sp>
        <p:nvSpPr>
          <p:cNvPr id="15" name="Rectangle 14"/>
          <p:cNvSpPr/>
          <p:nvPr/>
        </p:nvSpPr>
        <p:spPr>
          <a:xfrm>
            <a:off x="7818120" y="3931920"/>
            <a:ext cx="35661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18120" y="3931920"/>
            <a:ext cx="356616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4069080"/>
            <a:ext cx="3108960" cy="329184"/>
          </a:xfrm>
          <a:prstGeom prst="rect">
            <a:avLst/>
          </a:prstGeom>
          <a:noFill/>
        </p:spPr>
        <p:txBody>
          <a:bodyPr wrap="square" anchor="t">
            <a:spAutoFit/>
          </a:bodyPr>
          <a:lstStyle/>
          <a:p>
            <a:pPr algn="l">
              <a:spcAft>
                <a:spcPts val="400"/>
              </a:spcAft>
            </a:pPr>
            <a:r>
              <a:rPr sz="1200" b="1">
                <a:solidFill>
                  <a:srgbClr val="1F6FEB"/>
                </a:solidFill>
                <a:latin typeface="Arial"/>
              </a:rPr>
              <a:t>MAPS TO</a:t>
            </a:r>
          </a:p>
        </p:txBody>
      </p:sp>
      <p:sp>
        <p:nvSpPr>
          <p:cNvPr id="18" name="TextBox 17"/>
          <p:cNvSpPr txBox="1"/>
          <p:nvPr/>
        </p:nvSpPr>
        <p:spPr>
          <a:xfrm>
            <a:off x="8046720" y="4416552"/>
            <a:ext cx="3108960" cy="1005840"/>
          </a:xfrm>
          <a:prstGeom prst="rect">
            <a:avLst/>
          </a:prstGeom>
          <a:noFill/>
        </p:spPr>
        <p:txBody>
          <a:bodyPr wrap="square" anchor="t">
            <a:spAutoFit/>
          </a:bodyPr>
          <a:lstStyle/>
          <a:p>
            <a:pPr algn="l">
              <a:spcAft>
                <a:spcPts val="400"/>
              </a:spcAft>
            </a:pPr>
            <a:r>
              <a:rPr sz="1050" b="0">
                <a:solidFill>
                  <a:srgbClr val="161B26"/>
                </a:solidFill>
                <a:latin typeface="Arial"/>
              </a:rPr>
              <a:t>LO2: Create a goal-aligned Paperclip company with a measurable mission, a hardened CEO agent and enforced company-level caps.</a:t>
            </a:r>
          </a:p>
        </p:txBody>
      </p:sp>
      <p:sp>
        <p:nvSpPr>
          <p:cNvPr id="19" name="TextBox 18"/>
          <p:cNvSpPr txBox="1"/>
          <p:nvPr/>
        </p:nvSpPr>
        <p:spPr>
          <a:xfrm>
            <a:off x="777240" y="5669280"/>
            <a:ext cx="10607040" cy="640080"/>
          </a:xfrm>
          <a:prstGeom prst="rect">
            <a:avLst/>
          </a:prstGeom>
          <a:noFill/>
        </p:spPr>
        <p:txBody>
          <a:bodyPr wrap="square" anchor="t">
            <a:spAutoFit/>
          </a:bodyPr>
          <a:lstStyle/>
          <a:p>
            <a:pPr algn="l">
              <a:spcAft>
                <a:spcPts val="300"/>
              </a:spcAft>
            </a:pPr>
            <a:r>
              <a:rPr sz="1100" b="0">
                <a:solidFill>
                  <a:srgbClr val="5B6372"/>
                </a:solidFill>
                <a:latin typeface="Arial"/>
              </a:rPr>
              <a:t>Tools:  Paperclip onboarding wizard, Agent Configuration, one approved adapter runtime, text editor</a:t>
            </a:r>
          </a:p>
          <a:p>
            <a:pPr algn="l">
              <a:spcAft>
                <a:spcPts val="300"/>
              </a:spcAft>
            </a:pPr>
            <a:r>
              <a:rPr sz="1100" b="0">
                <a:solidFill>
                  <a:srgbClr val="5B6372"/>
                </a:solidFill>
                <a:latin typeface="Arial"/>
              </a:rPr>
              <a:t>Full step-by-step procedure: Learner Guide, Lab 2  ·  labs/ folder</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the company</a:t>
            </a:r>
          </a:p>
        </p:txBody>
      </p:sp>
      <p:sp>
        <p:nvSpPr>
          <p:cNvPr id="12" name="TextBox 11"/>
          <p:cNvSpPr txBox="1"/>
          <p:nvPr/>
        </p:nvSpPr>
        <p:spPr>
          <a:xfrm>
            <a:off x="850392"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the exact measurable mission</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Set the company cap</a:t>
            </a:r>
          </a:p>
        </p:txBody>
      </p:sp>
      <p:sp>
        <p:nvSpPr>
          <p:cNvPr id="19" name="TextBox 18"/>
          <p:cNvSpPr txBox="1"/>
          <p:nvPr/>
        </p:nvSpPr>
        <p:spPr>
          <a:xfrm>
            <a:off x="3054096"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the outermost ring, before hiring</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Hire the CEO</a:t>
            </a:r>
          </a:p>
        </p:txBody>
      </p:sp>
      <p:sp>
        <p:nvSpPr>
          <p:cNvPr id="26" name="TextBox 25"/>
          <p:cNvSpPr txBox="1"/>
          <p:nvPr/>
        </p:nvSpPr>
        <p:spPr>
          <a:xfrm>
            <a:off x="5257800"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Marketing Director owns alignment</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Write the role contract</a:t>
            </a:r>
          </a:p>
        </p:txBody>
      </p:sp>
      <p:sp>
        <p:nvSpPr>
          <p:cNvPr id="33" name="TextBox 32"/>
          <p:cNvSpPr txBox="1"/>
          <p:nvPr/>
        </p:nvSpPr>
        <p:spPr>
          <a:xfrm>
            <a:off x="7461504"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purpose, inputs, schema, exclusions</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Confine + verify runtime</a:t>
            </a:r>
          </a:p>
        </p:txBody>
      </p:sp>
      <p:sp>
        <p:nvSpPr>
          <p:cNvPr id="40" name="TextBox 39"/>
          <p:cNvSpPr txBox="1"/>
          <p:nvPr/>
        </p:nvSpPr>
        <p:spPr>
          <a:xfrm>
            <a:off x="9665208"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own workspace, then agent cap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LO2: Create a goal-aligned Paperclip company with a measurable mission, a hardened CEO agent and enforced company-level caps.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Create the BrightFunnel Company, Mission and CEO (Digital Marketing)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BrightFunnel exists with the exact mission text; the Marketing Director is the sole top-level agent with a verified adapter, a confined workspace and an instruction file; the agent cap (SGD 15) is below the company cap (SGD 40); and the baseline note contains no key, token or connection string.</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adapter verification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the underlying CLI runtime is installed and authenticated OUTSIDE Paperclip first, then re-verify. Paperclip cannot authenticate a runtime for you.</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mission field rejects the text</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Remove smart quotes and line breaks pasted from a word processor; enter the mission as plain text.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budget cap will not save</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Set the company cap before the agent cap — an agent cap above a missing or smaller company cap is rejected.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 2  ·  TROUBLESHOOTING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Create the BrightFunnel Company, Mission and CEO (Digital Marketing)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3852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adapter verification fails</a:t>
            </a:r>
          </a:p>
        </p:txBody>
      </p:sp>
      <p:sp>
        <p:nvSpPr>
          <p:cNvPr id="10" name="TextBox 9"/>
          <p:cNvSpPr txBox="1"/>
          <p:nvPr/>
        </p:nvSpPr>
        <p:spPr>
          <a:xfrm>
            <a:off x="1051560" y="230428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Confirm the underlying CLI runtime is installed and authenticated OUTSIDE Paperclip first, then re-verify. Paperclip cannot authenticate a runtime for you.</a:t>
            </a:r>
          </a:p>
        </p:txBody>
      </p:sp>
      <p:sp>
        <p:nvSpPr>
          <p:cNvPr id="11" name="Rectangle 10"/>
          <p:cNvSpPr/>
          <p:nvPr/>
        </p:nvSpPr>
        <p:spPr>
          <a:xfrm>
            <a:off x="777240" y="293827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827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06628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mission field rejects the text</a:t>
            </a:r>
          </a:p>
        </p:txBody>
      </p:sp>
      <p:sp>
        <p:nvSpPr>
          <p:cNvPr id="14" name="TextBox 13"/>
          <p:cNvSpPr txBox="1"/>
          <p:nvPr/>
        </p:nvSpPr>
        <p:spPr>
          <a:xfrm>
            <a:off x="1051560" y="343204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Remove smart quotes and line breaks pasted from a word processor; enter the mission as plain text.</a:t>
            </a:r>
          </a:p>
        </p:txBody>
      </p:sp>
      <p:sp>
        <p:nvSpPr>
          <p:cNvPr id="15" name="Rectangle 14"/>
          <p:cNvSpPr/>
          <p:nvPr/>
        </p:nvSpPr>
        <p:spPr>
          <a:xfrm>
            <a:off x="777240" y="406603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06603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19404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budget cap will not save</a:t>
            </a:r>
          </a:p>
        </p:txBody>
      </p:sp>
      <p:sp>
        <p:nvSpPr>
          <p:cNvPr id="18" name="TextBox 17"/>
          <p:cNvSpPr txBox="1"/>
          <p:nvPr/>
        </p:nvSpPr>
        <p:spPr>
          <a:xfrm>
            <a:off x="1051560" y="455980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Set the company cap before the agent cap — an agent cap above a missing or smaller company cap is rejected.</a:t>
            </a:r>
          </a:p>
        </p:txBody>
      </p:sp>
      <p:sp>
        <p:nvSpPr>
          <p:cNvPr id="19" name="Rectangle 18"/>
          <p:cNvSpPr/>
          <p:nvPr/>
        </p:nvSpPr>
        <p:spPr>
          <a:xfrm>
            <a:off x="77724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230368"/>
            <a:ext cx="91440" cy="1005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321808"/>
            <a:ext cx="4846320" cy="292608"/>
          </a:xfrm>
          <a:prstGeom prst="rect">
            <a:avLst/>
          </a:prstGeom>
          <a:noFill/>
        </p:spPr>
        <p:txBody>
          <a:bodyPr wrap="square" anchor="t">
            <a:spAutoFit/>
          </a:bodyPr>
          <a:lstStyle/>
          <a:p>
            <a:pPr algn="l">
              <a:spcAft>
                <a:spcPts val="400"/>
              </a:spcAft>
            </a:pPr>
            <a:r>
              <a:rPr sz="1150" b="1">
                <a:solidFill>
                  <a:srgbClr val="7C3AED"/>
                </a:solidFill>
                <a:latin typeface="Arial"/>
              </a:rPr>
              <a:t>CHALLENGE</a:t>
            </a:r>
          </a:p>
        </p:txBody>
      </p:sp>
      <p:sp>
        <p:nvSpPr>
          <p:cNvPr id="22" name="TextBox 21"/>
          <p:cNvSpPr txBox="1"/>
          <p:nvPr/>
        </p:nvSpPr>
        <p:spPr>
          <a:xfrm>
            <a:off x="105156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Rewrite the BrightFunnel mission so it would FAIL a feasibility scan, then state in one sentence exactly which property (target, metric or boundary) you removed.</a:t>
            </a:r>
          </a:p>
        </p:txBody>
      </p:sp>
      <p:sp>
        <p:nvSpPr>
          <p:cNvPr id="23" name="Rectangle 22"/>
          <p:cNvSpPr/>
          <p:nvPr/>
        </p:nvSpPr>
        <p:spPr>
          <a:xfrm>
            <a:off x="617220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5230368"/>
            <a:ext cx="91440"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5321808"/>
            <a:ext cx="4846320" cy="292608"/>
          </a:xfrm>
          <a:prstGeom prst="rect">
            <a:avLst/>
          </a:prstGeom>
          <a:noFill/>
        </p:spPr>
        <p:txBody>
          <a:bodyPr wrap="square" anchor="t">
            <a:spAutoFit/>
          </a:bodyPr>
          <a:lstStyle/>
          <a:p>
            <a:pPr algn="l">
              <a:spcAft>
                <a:spcPts val="400"/>
              </a:spcAft>
            </a:pPr>
            <a:r>
              <a:rPr sz="1150" b="1">
                <a:solidFill>
                  <a:srgbClr val="1F6FEB"/>
                </a:solidFill>
                <a:latin typeface="Arial"/>
              </a:rPr>
              <a:t>REFLECTION</a:t>
            </a:r>
          </a:p>
        </p:txBody>
      </p:sp>
      <p:sp>
        <p:nvSpPr>
          <p:cNvPr id="26" name="TextBox 25"/>
          <p:cNvSpPr txBox="1"/>
          <p:nvPr/>
        </p:nvSpPr>
        <p:spPr>
          <a:xfrm>
            <a:off x="644652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Why is setting the company budget cap before hiring the CEO a control decision rather than an administrative one?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Build the Meridian Reporting Tree and Validate Runtime Boundaries (Finance)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07040"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241280" cy="566928"/>
          </a:xfrm>
          <a:prstGeom prst="rect">
            <a:avLst/>
          </a:prstGeom>
          <a:noFill/>
        </p:spPr>
        <p:txBody>
          <a:bodyPr wrap="square" anchor="ctr">
            <a:spAutoFit/>
          </a:bodyPr>
          <a:lstStyle/>
          <a:p>
            <a:pPr algn="l">
              <a:spcAft>
                <a:spcPts val="400"/>
              </a:spcAft>
            </a:pPr>
            <a:r>
              <a:rPr sz="1300" b="1">
                <a:solidFill>
                  <a:srgbClr val="7C3AED"/>
                </a:solidFill>
                <a:latin typeface="Arial"/>
              </a:rPr>
              <a:t>SIMULATED COMPANY  ·  Meridian Finance Desk (Finance)</a:t>
            </a:r>
          </a:p>
        </p:txBody>
      </p:sp>
      <p:sp>
        <p:nvSpPr>
          <p:cNvPr id="10" name="TextBox 9"/>
          <p:cNvSpPr txBox="1"/>
          <p:nvPr/>
        </p:nvSpPr>
        <p:spPr>
          <a:xfrm>
            <a:off x="777240" y="2514600"/>
            <a:ext cx="10607040" cy="1298448"/>
          </a:xfrm>
          <a:prstGeom prst="rect">
            <a:avLst/>
          </a:prstGeom>
          <a:noFill/>
        </p:spPr>
        <p:txBody>
          <a:bodyPr wrap="square" anchor="t">
            <a:spAutoFit/>
          </a:bodyPr>
          <a:lstStyle/>
          <a:p>
            <a:pPr algn="l">
              <a:spcAft>
                <a:spcPts val="400"/>
              </a:spcAft>
            </a:pPr>
            <a:r>
              <a:rPr sz="1350" b="0">
                <a:solidFill>
                  <a:srgbClr val="161B26"/>
                </a:solidFill>
                <a:latin typeface="Arial"/>
              </a:rPr>
              <a:t>You extend the pattern into Meridian Finance Desk and build a real three-agent org chart: a Finance Lead with an FP&amp;A Analyst and a Treasury Analyst reporting to it. Each specialist receives its OWN workspace, its OWN instruction file and its OWN budget. You then prove every runtime boundary with a marker run — a deliberately trivial task whose only purpose is to produce an observable artifact in the correct workspace. Configuration that has never produced an artifact is not a connection.</a:t>
            </a:r>
          </a:p>
        </p:txBody>
      </p:sp>
      <p:sp>
        <p:nvSpPr>
          <p:cNvPr id="11" name="Rectangle 10"/>
          <p:cNvSpPr/>
          <p:nvPr/>
        </p:nvSpPr>
        <p:spPr>
          <a:xfrm>
            <a:off x="777240" y="3931920"/>
            <a:ext cx="67665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931920"/>
            <a:ext cx="676656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069080"/>
            <a:ext cx="6309360" cy="329184"/>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1005840" y="4416552"/>
            <a:ext cx="6309360" cy="1005840"/>
          </a:xfrm>
          <a:prstGeom prst="rect">
            <a:avLst/>
          </a:prstGeom>
          <a:noFill/>
        </p:spPr>
        <p:txBody>
          <a:bodyPr wrap="square" anchor="t">
            <a:spAutoFit/>
          </a:bodyPr>
          <a:lstStyle/>
          <a:p>
            <a:pPr algn="l">
              <a:spcAft>
                <a:spcPts val="400"/>
              </a:spcAft>
            </a:pPr>
            <a:r>
              <a:rPr sz="1150" b="0">
                <a:solidFill>
                  <a:srgbClr val="161B26"/>
                </a:solidFill>
                <a:latin typeface="Arial"/>
              </a:rPr>
              <a:t>A three-agent Meridian org chart with separate budgeted workspaces, role instruction files, clean Git baselines and one marker-run artifact per agent proving its runtime boundary.</a:t>
            </a:r>
          </a:p>
        </p:txBody>
      </p:sp>
      <p:sp>
        <p:nvSpPr>
          <p:cNvPr id="15" name="Rectangle 14"/>
          <p:cNvSpPr/>
          <p:nvPr/>
        </p:nvSpPr>
        <p:spPr>
          <a:xfrm>
            <a:off x="7818120" y="3931920"/>
            <a:ext cx="35661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18120" y="3931920"/>
            <a:ext cx="356616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4069080"/>
            <a:ext cx="3108960" cy="329184"/>
          </a:xfrm>
          <a:prstGeom prst="rect">
            <a:avLst/>
          </a:prstGeom>
          <a:noFill/>
        </p:spPr>
        <p:txBody>
          <a:bodyPr wrap="square" anchor="t">
            <a:spAutoFit/>
          </a:bodyPr>
          <a:lstStyle/>
          <a:p>
            <a:pPr algn="l">
              <a:spcAft>
                <a:spcPts val="400"/>
              </a:spcAft>
            </a:pPr>
            <a:r>
              <a:rPr sz="1200" b="1">
                <a:solidFill>
                  <a:srgbClr val="1F6FEB"/>
                </a:solidFill>
                <a:latin typeface="Arial"/>
              </a:rPr>
              <a:t>MAPS TO</a:t>
            </a:r>
          </a:p>
        </p:txBody>
      </p:sp>
      <p:sp>
        <p:nvSpPr>
          <p:cNvPr id="18" name="TextBox 17"/>
          <p:cNvSpPr txBox="1"/>
          <p:nvPr/>
        </p:nvSpPr>
        <p:spPr>
          <a:xfrm>
            <a:off x="8046720" y="4416552"/>
            <a:ext cx="3108960" cy="1005840"/>
          </a:xfrm>
          <a:prstGeom prst="rect">
            <a:avLst/>
          </a:prstGeom>
          <a:noFill/>
        </p:spPr>
        <p:txBody>
          <a:bodyPr wrap="square" anchor="t">
            <a:spAutoFit/>
          </a:bodyPr>
          <a:lstStyle/>
          <a:p>
            <a:pPr algn="l">
              <a:spcAft>
                <a:spcPts val="400"/>
              </a:spcAft>
            </a:pPr>
            <a:r>
              <a:rPr sz="1050" b="0">
                <a:solidFill>
                  <a:srgbClr val="161B26"/>
                </a:solidFill>
                <a:latin typeface="Arial"/>
              </a:rPr>
              <a:t>LO2: Build a multi-agent reporting hierarchy with distinct, budgeted and confined workspaces, and prove each runtime boundary with a marker run.</a:t>
            </a:r>
          </a:p>
        </p:txBody>
      </p:sp>
      <p:sp>
        <p:nvSpPr>
          <p:cNvPr id="19" name="TextBox 18"/>
          <p:cNvSpPr txBox="1"/>
          <p:nvPr/>
        </p:nvSpPr>
        <p:spPr>
          <a:xfrm>
            <a:off x="777240" y="5669280"/>
            <a:ext cx="10607040" cy="640080"/>
          </a:xfrm>
          <a:prstGeom prst="rect">
            <a:avLst/>
          </a:prstGeom>
          <a:noFill/>
        </p:spPr>
        <p:txBody>
          <a:bodyPr wrap="square" anchor="t">
            <a:spAutoFit/>
          </a:bodyPr>
          <a:lstStyle/>
          <a:p>
            <a:pPr algn="l">
              <a:spcAft>
                <a:spcPts val="300"/>
              </a:spcAft>
            </a:pPr>
            <a:r>
              <a:rPr sz="1100" b="0">
                <a:solidFill>
                  <a:srgbClr val="5B6372"/>
                </a:solidFill>
                <a:latin typeface="Arial"/>
              </a:rPr>
              <a:t>Tools:  Paperclip Agents, Org and Runs pages; approved adapter runtime; Git; Markdown editor</a:t>
            </a:r>
          </a:p>
          <a:p>
            <a:pPr algn="l">
              <a:spcAft>
                <a:spcPts val="300"/>
              </a:spcAft>
            </a:pPr>
            <a:r>
              <a:rPr sz="1100" b="0">
                <a:solidFill>
                  <a:srgbClr val="5B6372"/>
                </a:solidFill>
                <a:latin typeface="Arial"/>
              </a:rPr>
              <a:t>Full step-by-step procedure: Learner Guide, Lab 3  ·  labs/ folder</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Meridian</a:t>
            </a:r>
          </a:p>
        </p:txBody>
      </p:sp>
      <p:sp>
        <p:nvSpPr>
          <p:cNvPr id="12" name="TextBox 11"/>
          <p:cNvSpPr txBox="1"/>
          <p:nvPr/>
        </p:nvSpPr>
        <p:spPr>
          <a:xfrm>
            <a:off x="850392"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company mission and cap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Hire the tree</a:t>
            </a:r>
          </a:p>
        </p:txBody>
      </p:sp>
      <p:sp>
        <p:nvSpPr>
          <p:cNvPr id="19" name="TextBox 18"/>
          <p:cNvSpPr txBox="1"/>
          <p:nvPr/>
        </p:nvSpPr>
        <p:spPr>
          <a:xfrm>
            <a:off x="3054096"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two analysts report to the lead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Split the workspaces</a:t>
            </a:r>
          </a:p>
        </p:txBody>
      </p:sp>
      <p:sp>
        <p:nvSpPr>
          <p:cNvPr id="26" name="TextBox 25"/>
          <p:cNvSpPr txBox="1"/>
          <p:nvPr/>
        </p:nvSpPr>
        <p:spPr>
          <a:xfrm>
            <a:off x="5257800"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one root per role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Git baseline each root</a:t>
            </a:r>
          </a:p>
        </p:txBody>
      </p:sp>
      <p:sp>
        <p:nvSpPr>
          <p:cNvPr id="33" name="TextBox 32"/>
          <p:cNvSpPr txBox="1"/>
          <p:nvPr/>
        </p:nvSpPr>
        <p:spPr>
          <a:xfrm>
            <a:off x="7461504"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so the diff means something</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Marker run per agent</a:t>
            </a:r>
          </a:p>
        </p:txBody>
      </p:sp>
      <p:sp>
        <p:nvSpPr>
          <p:cNvPr id="40" name="TextBox 39"/>
          <p:cNvSpPr txBox="1"/>
          <p:nvPr/>
        </p:nvSpPr>
        <p:spPr>
          <a:xfrm>
            <a:off x="9665208"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prove the runtime boundary</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LO2: Build a multi-agent reporting hierarchy with distinct, budgeted and confined workspaces, and prove each runtime boundary with a marker run.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Build the Meridian Reporting Tree and Validate Runtime Boundaries (Finance)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paperclip → Org shows a three-agent tree with both analysts reporting to the Finance Lead; each workspace contains exactly ONE marker.md attributable to its own agent; every agent has an individual cap and the sum of agent caps does not exceed the company cap; and each marker run has a recorded run ID.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marker file appears in the wrong workspace</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agent's workspace path is misbound. Correct the path on the AGENT (not the company), delete the stray file, and re-run the marker.</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specialist never wakes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the issue is ASSIGNED to that agent — creating an issue does not wake anyone. Then check the agent's adapter verification and its budget headroom.</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Git reports the workspace is dirty before the marker run</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Something was written outside a run. Reset to the baseline commit and re-run so the diff means what you think it means.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 3  ·  TROUBLESHOOTING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Build the Meridian Reporting Tree and Validate Runtime Boundaries (Finance)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3852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A marker file appears in the wrong workspace</a:t>
            </a:r>
          </a:p>
        </p:txBody>
      </p:sp>
      <p:sp>
        <p:nvSpPr>
          <p:cNvPr id="10" name="TextBox 9"/>
          <p:cNvSpPr txBox="1"/>
          <p:nvPr/>
        </p:nvSpPr>
        <p:spPr>
          <a:xfrm>
            <a:off x="1051560" y="230428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The agent's workspace path is misbound. Correct the path on the AGENT (not the company), delete the stray file, and re-run the marker.</a:t>
            </a:r>
          </a:p>
        </p:txBody>
      </p:sp>
      <p:sp>
        <p:nvSpPr>
          <p:cNvPr id="11" name="Rectangle 10"/>
          <p:cNvSpPr/>
          <p:nvPr/>
        </p:nvSpPr>
        <p:spPr>
          <a:xfrm>
            <a:off x="777240" y="293827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827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06628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A specialist never wakes</a:t>
            </a:r>
          </a:p>
        </p:txBody>
      </p:sp>
      <p:sp>
        <p:nvSpPr>
          <p:cNvPr id="14" name="TextBox 13"/>
          <p:cNvSpPr txBox="1"/>
          <p:nvPr/>
        </p:nvSpPr>
        <p:spPr>
          <a:xfrm>
            <a:off x="1051560" y="343204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Confirm the issue is ASSIGNED to that agent — creating an issue does not wake anyone. Then check the agent's adapter verification and its budget headroom.</a:t>
            </a:r>
          </a:p>
        </p:txBody>
      </p:sp>
      <p:sp>
        <p:nvSpPr>
          <p:cNvPr id="15" name="Rectangle 14"/>
          <p:cNvSpPr/>
          <p:nvPr/>
        </p:nvSpPr>
        <p:spPr>
          <a:xfrm>
            <a:off x="777240" y="406603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06603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19404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Git reports the workspace is dirty before the marker run</a:t>
            </a:r>
          </a:p>
        </p:txBody>
      </p:sp>
      <p:sp>
        <p:nvSpPr>
          <p:cNvPr id="18" name="TextBox 17"/>
          <p:cNvSpPr txBox="1"/>
          <p:nvPr/>
        </p:nvSpPr>
        <p:spPr>
          <a:xfrm>
            <a:off x="1051560" y="455980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Something was written outside a run. Reset to the baseline commit and re-run so the diff means what you think it means.</a:t>
            </a:r>
          </a:p>
        </p:txBody>
      </p:sp>
      <p:sp>
        <p:nvSpPr>
          <p:cNvPr id="19" name="Rectangle 18"/>
          <p:cNvSpPr/>
          <p:nvPr/>
        </p:nvSpPr>
        <p:spPr>
          <a:xfrm>
            <a:off x="77724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230368"/>
            <a:ext cx="91440" cy="1005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321808"/>
            <a:ext cx="4846320" cy="292608"/>
          </a:xfrm>
          <a:prstGeom prst="rect">
            <a:avLst/>
          </a:prstGeom>
          <a:noFill/>
        </p:spPr>
        <p:txBody>
          <a:bodyPr wrap="square" anchor="t">
            <a:spAutoFit/>
          </a:bodyPr>
          <a:lstStyle/>
          <a:p>
            <a:pPr algn="l">
              <a:spcAft>
                <a:spcPts val="400"/>
              </a:spcAft>
            </a:pPr>
            <a:r>
              <a:rPr sz="1150" b="1">
                <a:solidFill>
                  <a:srgbClr val="7C3AED"/>
                </a:solidFill>
                <a:latin typeface="Arial"/>
              </a:rPr>
              <a:t>CHALLENGE</a:t>
            </a:r>
          </a:p>
        </p:txBody>
      </p:sp>
      <p:sp>
        <p:nvSpPr>
          <p:cNvPr id="22" name="TextBox 21"/>
          <p:cNvSpPr txBox="1"/>
          <p:nvPr/>
        </p:nvSpPr>
        <p:spPr>
          <a:xfrm>
            <a:off x="105156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Set the Treasury Analyst's cap to SGD 0.01, re-run its marker task, and record exactly where and how Paperclip reports the budget stop.</a:t>
            </a:r>
          </a:p>
        </p:txBody>
      </p:sp>
      <p:sp>
        <p:nvSpPr>
          <p:cNvPr id="23" name="Rectangle 22"/>
          <p:cNvSpPr/>
          <p:nvPr/>
        </p:nvSpPr>
        <p:spPr>
          <a:xfrm>
            <a:off x="617220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5230368"/>
            <a:ext cx="91440"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5321808"/>
            <a:ext cx="4846320" cy="292608"/>
          </a:xfrm>
          <a:prstGeom prst="rect">
            <a:avLst/>
          </a:prstGeom>
          <a:noFill/>
        </p:spPr>
        <p:txBody>
          <a:bodyPr wrap="square" anchor="t">
            <a:spAutoFit/>
          </a:bodyPr>
          <a:lstStyle/>
          <a:p>
            <a:pPr algn="l">
              <a:spcAft>
                <a:spcPts val="400"/>
              </a:spcAft>
            </a:pPr>
            <a:r>
              <a:rPr sz="1150" b="1">
                <a:solidFill>
                  <a:srgbClr val="1F6FEB"/>
                </a:solidFill>
                <a:latin typeface="Arial"/>
              </a:rPr>
              <a:t>REFLECTION</a:t>
            </a:r>
          </a:p>
        </p:txBody>
      </p:sp>
      <p:sp>
        <p:nvSpPr>
          <p:cNvPr id="26" name="TextBox 25"/>
          <p:cNvSpPr txBox="1"/>
          <p:nvPr/>
        </p:nvSpPr>
        <p:spPr>
          <a:xfrm>
            <a:off x="644652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Why is a marker run stronger evidence of a working runtime than a green 'connection verified' badge in the configuration screen?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Building AI Agents with Paperclip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LO2: Create a goal-aligned Paperclip company with a measurable mission, a hardened CEO agent and enforced company-level caps.</a:t>
            </a:r>
          </a:p>
          <a:p>
            <a:pPr>
              <a:spcAft>
                <a:spcPts val="1000"/>
              </a:spcAft>
            </a:pPr>
            <a:r>
              <a:rPr sz="1500" b="0">
                <a:solidFill>
                  <a:srgbClr val="161B26"/>
                </a:solidFill>
                <a:latin typeface="Arial"/>
              </a:rPr>
              <a:t>•  You can now: LO2: Build a multi-agent reporting hierarchy with distinct, budgeted and confined workspaces, and prove each runtime boundary with a marker run.</a:t>
            </a:r>
          </a:p>
          <a:p>
            <a:pPr>
              <a:spcAft>
                <a:spcPts val="1000"/>
              </a:spcAft>
            </a:pPr>
            <a:r>
              <a:rPr sz="1500" b="0">
                <a:solidFill>
                  <a:srgbClr val="161B26"/>
                </a:solidFill>
                <a:latin typeface="Arial"/>
              </a:rPr>
              <a:t>•  Onboarding with paperclipai onboard --yes downloads Paperclip, writes the configuration, initialises the embedded PostgreSQL and serves the UI on port 3100.</a:t>
            </a:r>
          </a:p>
          <a:p>
            <a:pPr>
              <a:spcAft>
                <a:spcPts val="1000"/>
              </a:spcAft>
            </a:pPr>
            <a:r>
              <a:rPr sz="1500" b="0">
                <a:solidFill>
                  <a:srgbClr val="161B26"/>
                </a:solidFill>
                <a:latin typeface="Arial"/>
              </a:rPr>
              <a:t>•  Deployment mode is a security decision: local_trusted is the default and requires no login; authenticated+private and authenticated+public widen reach and require real authentication.</a:t>
            </a:r>
          </a:p>
          <a:p>
            <a:pPr>
              <a:spcAft>
                <a:spcPts val="1000"/>
              </a:spcAft>
            </a:pPr>
            <a:r>
              <a:rPr sz="1500" b="0">
                <a:solidFill>
                  <a:srgbClr val="161B26"/>
                </a:solidFill>
                <a:latin typeface="Arial"/>
              </a:rPr>
              <a:t>•  The onboarding wizard captures the company name, the mission statement and the team lead, then verifies connectivity to your chosen local agent runtime.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Developing Intelligent Multi-Agent Systems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Projects, goals and lineage · issue decomposition · assignment and hand-off · sequential specialists · verifying between disparate components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advClick="1">
    <p:push dir="l"/>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Developing Intelligent Multi-Agent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Projects hold goals and issues and supply the context an agent reads at runtime, so tasks carry full goal ancestry — the agent sees why, not only what.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Goal lineage flows downward: company mission → project goal → parent issue → child issue. An agent that cannot trace its lineage is working without direction.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Issues move through seven states — backlog, todo, in_progress, in_review, done, plus blocked and cancelled. done and cancelled are TERMINAL: issues do not move backwards.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Decompose into a parent synthesis issue plus specialist child issues. Create every issue unassigned first — assignment is a heartbeat trigger, so an assigned issue wakes an agent immediately.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Assignment is the trigger. Assign one child at a time to keep runs sequential, observable and individually attributable.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Key Concepts — Developing Intelligent Multi-Agent Systems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An acceptance criterion must name the evidence: which artifact, at which path, containing which fields — never 'the research is done'.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A hand-off is accepted only when the receiving agent can consume the artifact without asking the producer a question.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Verification between disparate components means tracing one thread across issue ID, run log, comment, workspace diff and cost entry, and finding them consistent.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Status is not evidence. An issue marked Done with no linked artifact and no diff is an unverified claim.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Explicit limitations are part of a good deliverable — an agent that reports what it could not establish is more useful than one that quietly guesses.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Key Concepts — Developing Intelligent Multi-Agent Systems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One event should not create many outcomes: choose a single trigger for the first controlled run and keep the work idempotent.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Bound every wait. An unbounded wait for a heartbeat hides a failed adapter behind what looks like patience.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The workspace diff is the strongest evidence you have — read what actually changed on disk before accepting any agent's summary of it.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LO3 · THE AGENT SEES WHY, NOT ONLY WHAT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Goal Lineage — Every Issue Carries Its Reason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goal-lineage.png"/>
          <p:cNvPicPr>
            <a:picLocks noChangeAspect="1"/>
          </p:cNvPicPr>
          <p:nvPr/>
        </p:nvPicPr>
        <p:blipFill>
          <a:blip r:embed="rId2"/>
          <a:stretch>
            <a:fillRect/>
          </a:stretch>
        </p:blipFill>
        <p:spPr>
          <a:xfrm>
            <a:off x="777240" y="2361927"/>
            <a:ext cx="6812280" cy="3121697"/>
          </a:xfrm>
          <a:prstGeom prst="rect">
            <a:avLst/>
          </a:prstGeom>
        </p:spPr>
      </p:pic>
      <p:sp>
        <p:nvSpPr>
          <p:cNvPr id="8" name="Rectangle 7"/>
          <p:cNvSpPr/>
          <p:nvPr/>
        </p:nvSpPr>
        <p:spPr>
          <a:xfrm>
            <a:off x="7882127" y="1810512"/>
            <a:ext cx="3529584" cy="10276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Mission</a:t>
            </a:r>
          </a:p>
        </p:txBody>
      </p:sp>
      <p:sp>
        <p:nvSpPr>
          <p:cNvPr id="11" name="TextBox 10"/>
          <p:cNvSpPr txBox="1"/>
          <p:nvPr/>
        </p:nvSpPr>
        <p:spPr>
          <a:xfrm>
            <a:off x="8083295" y="2322576"/>
            <a:ext cx="3127248" cy="424180"/>
          </a:xfrm>
          <a:prstGeom prst="rect">
            <a:avLst/>
          </a:prstGeom>
          <a:noFill/>
        </p:spPr>
        <p:txBody>
          <a:bodyPr wrap="square" anchor="t">
            <a:spAutoFit/>
          </a:bodyPr>
          <a:lstStyle/>
          <a:p>
            <a:pPr algn="l">
              <a:spcAft>
                <a:spcPts val="400"/>
              </a:spcAft>
            </a:pPr>
            <a:r>
              <a:rPr sz="1000" b="0">
                <a:solidFill>
                  <a:srgbClr val="161B26"/>
                </a:solidFill>
                <a:latin typeface="Arial"/>
              </a:rPr>
              <a:t>One measurable outcome defines why the company exists.</a:t>
            </a:r>
          </a:p>
        </p:txBody>
      </p:sp>
      <p:sp>
        <p:nvSpPr>
          <p:cNvPr id="12" name="Rectangle 11"/>
          <p:cNvSpPr/>
          <p:nvPr/>
        </p:nvSpPr>
        <p:spPr>
          <a:xfrm>
            <a:off x="7882127" y="2984500"/>
            <a:ext cx="3529584" cy="8651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84500"/>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49092"/>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Project goal</a:t>
            </a:r>
          </a:p>
        </p:txBody>
      </p:sp>
      <p:sp>
        <p:nvSpPr>
          <p:cNvPr id="15" name="TextBox 14"/>
          <p:cNvSpPr txBox="1"/>
          <p:nvPr/>
        </p:nvSpPr>
        <p:spPr>
          <a:xfrm>
            <a:off x="8083295" y="3496564"/>
            <a:ext cx="3127248" cy="261620"/>
          </a:xfrm>
          <a:prstGeom prst="rect">
            <a:avLst/>
          </a:prstGeom>
          <a:noFill/>
        </p:spPr>
        <p:txBody>
          <a:bodyPr wrap="square" anchor="t">
            <a:spAutoFit/>
          </a:bodyPr>
          <a:lstStyle/>
          <a:p>
            <a:pPr algn="l">
              <a:spcAft>
                <a:spcPts val="400"/>
              </a:spcAft>
            </a:pPr>
            <a:r>
              <a:rPr sz="1000" b="0">
                <a:solidFill>
                  <a:srgbClr val="161B26"/>
                </a:solidFill>
                <a:latin typeface="Arial"/>
              </a:rPr>
              <a:t>A budgeted scope the agent reads at runtime.</a:t>
            </a:r>
          </a:p>
        </p:txBody>
      </p:sp>
      <p:sp>
        <p:nvSpPr>
          <p:cNvPr id="16" name="Rectangle 15"/>
          <p:cNvSpPr/>
          <p:nvPr/>
        </p:nvSpPr>
        <p:spPr>
          <a:xfrm>
            <a:off x="7882127" y="3995928"/>
            <a:ext cx="3529584" cy="10276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3995928"/>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160520"/>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Parent issue</a:t>
            </a:r>
          </a:p>
        </p:txBody>
      </p:sp>
      <p:sp>
        <p:nvSpPr>
          <p:cNvPr id="19" name="TextBox 18"/>
          <p:cNvSpPr txBox="1"/>
          <p:nvPr/>
        </p:nvSpPr>
        <p:spPr>
          <a:xfrm>
            <a:off x="8083295" y="4507992"/>
            <a:ext cx="3127248" cy="424180"/>
          </a:xfrm>
          <a:prstGeom prst="rect">
            <a:avLst/>
          </a:prstGeom>
          <a:noFill/>
        </p:spPr>
        <p:txBody>
          <a:bodyPr wrap="square" anchor="t">
            <a:spAutoFit/>
          </a:bodyPr>
          <a:lstStyle/>
          <a:p>
            <a:pPr algn="l">
              <a:spcAft>
                <a:spcPts val="400"/>
              </a:spcAft>
            </a:pPr>
            <a:r>
              <a:rPr sz="1000" b="0">
                <a:solidFill>
                  <a:srgbClr val="161B26"/>
                </a:solidFill>
                <a:latin typeface="Arial"/>
              </a:rPr>
              <a:t>The synthesis — created unassigned so it cannot wake early.</a:t>
            </a:r>
          </a:p>
        </p:txBody>
      </p:sp>
      <p:sp>
        <p:nvSpPr>
          <p:cNvPr id="20" name="Rectangle 19"/>
          <p:cNvSpPr/>
          <p:nvPr/>
        </p:nvSpPr>
        <p:spPr>
          <a:xfrm>
            <a:off x="7882127" y="5169916"/>
            <a:ext cx="3529584" cy="8651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169916"/>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334508"/>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Child issues</a:t>
            </a:r>
          </a:p>
        </p:txBody>
      </p:sp>
      <p:sp>
        <p:nvSpPr>
          <p:cNvPr id="23" name="TextBox 22"/>
          <p:cNvSpPr txBox="1"/>
          <p:nvPr/>
        </p:nvSpPr>
        <p:spPr>
          <a:xfrm>
            <a:off x="8083295" y="5681980"/>
            <a:ext cx="3127248" cy="261620"/>
          </a:xfrm>
          <a:prstGeom prst="rect">
            <a:avLst/>
          </a:prstGeom>
          <a:noFill/>
        </p:spPr>
        <p:txBody>
          <a:bodyPr wrap="square" anchor="t">
            <a:spAutoFit/>
          </a:bodyPr>
          <a:lstStyle/>
          <a:p>
            <a:pPr algn="l">
              <a:spcAft>
                <a:spcPts val="400"/>
              </a:spcAft>
            </a:pPr>
            <a:r>
              <a:rPr sz="1000" b="0">
                <a:solidFill>
                  <a:srgbClr val="161B26"/>
                </a:solidFill>
                <a:latin typeface="Arial"/>
              </a:rPr>
              <a:t>Specialist work, assigned ONE AT A TIME.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WHY SEQUENCE MATTERS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Assign One Child at a Time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art-sequential-runs.png"/>
          <p:cNvPicPr>
            <a:picLocks noChangeAspect="1"/>
          </p:cNvPicPr>
          <p:nvPr/>
        </p:nvPicPr>
        <p:blipFill>
          <a:blip r:embed="rId2"/>
          <a:stretch>
            <a:fillRect/>
          </a:stretch>
        </p:blipFill>
        <p:spPr>
          <a:xfrm>
            <a:off x="777240" y="2385830"/>
            <a:ext cx="6812280" cy="3073891"/>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Assignment is the trigger</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Creating an issue does not wake anyone — assigning it does.</a:t>
            </a:r>
          </a:p>
        </p:txBody>
      </p:sp>
      <p:sp>
        <p:nvSpPr>
          <p:cNvPr id="12" name="Rectangle 11"/>
          <p:cNvSpPr/>
          <p:nvPr/>
        </p:nvSpPr>
        <p:spPr>
          <a:xfrm>
            <a:off x="7882127" y="2944368"/>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Sequential = attributable</a:t>
            </a:r>
          </a:p>
        </p:txBody>
      </p:sp>
      <p:sp>
        <p:nvSpPr>
          <p:cNvPr id="15" name="TextBox 14"/>
          <p:cNvSpPr txBox="1"/>
          <p:nvPr/>
        </p:nvSpPr>
        <p:spPr>
          <a:xfrm>
            <a:off x="8083295" y="3456432"/>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Non-overlapping runs let you tie each artifact to exactly one run.</a:t>
            </a:r>
          </a:p>
        </p:txBody>
      </p:sp>
      <p:sp>
        <p:nvSpPr>
          <p:cNvPr id="16" name="Rectangle 15"/>
          <p:cNvSpPr/>
          <p:nvPr/>
        </p:nvSpPr>
        <p:spPr>
          <a:xfrm>
            <a:off x="7882127" y="4078224"/>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4078224"/>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242816"/>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Overlapping = unverifiable</a:t>
            </a:r>
          </a:p>
        </p:txBody>
      </p:sp>
      <p:sp>
        <p:nvSpPr>
          <p:cNvPr id="19" name="TextBox 18"/>
          <p:cNvSpPr txBox="1"/>
          <p:nvPr/>
        </p:nvSpPr>
        <p:spPr>
          <a:xfrm>
            <a:off x="8083295" y="4590288"/>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If both ran at once you cannot prove the hand-off actually happened.</a:t>
            </a:r>
          </a:p>
        </p:txBody>
      </p:sp>
      <p:sp>
        <p:nvSpPr>
          <p:cNvPr id="20" name="Rectangle 19"/>
          <p:cNvSpPr/>
          <p:nvPr/>
        </p:nvSpPr>
        <p:spPr>
          <a:xfrm>
            <a:off x="7882127" y="521208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212080"/>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376672"/>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Bound every wait</a:t>
            </a:r>
          </a:p>
        </p:txBody>
      </p:sp>
      <p:sp>
        <p:nvSpPr>
          <p:cNvPr id="23" name="TextBox 22"/>
          <p:cNvSpPr txBox="1"/>
          <p:nvPr/>
        </p:nvSpPr>
        <p:spPr>
          <a:xfrm>
            <a:off x="8083295" y="572414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An unbounded wait hides a failed adapter behind apparent patience.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WHAT 'VERIFIED' ACTUALLY MEANS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Verifying Between Disparate Components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evidence-chain.png"/>
          <p:cNvPicPr>
            <a:picLocks noChangeAspect="1"/>
          </p:cNvPicPr>
          <p:nvPr/>
        </p:nvPicPr>
        <p:blipFill>
          <a:blip r:embed="rId2"/>
          <a:stretch>
            <a:fillRect/>
          </a:stretch>
        </p:blipFill>
        <p:spPr>
          <a:xfrm>
            <a:off x="777240" y="2581832"/>
            <a:ext cx="6812280" cy="2681887"/>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Five places, one thread</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Issue ID, run log, comment, workspace diff and cost entry must agree.</a:t>
            </a:r>
          </a:p>
        </p:txBody>
      </p:sp>
      <p:sp>
        <p:nvSpPr>
          <p:cNvPr id="12" name="Rectangle 11"/>
          <p:cNvSpPr/>
          <p:nvPr/>
        </p:nvSpPr>
        <p:spPr>
          <a:xfrm>
            <a:off x="7882127" y="2944368"/>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The diff is king</a:t>
            </a:r>
          </a:p>
        </p:txBody>
      </p:sp>
      <p:sp>
        <p:nvSpPr>
          <p:cNvPr id="15" name="TextBox 14"/>
          <p:cNvSpPr txBox="1"/>
          <p:nvPr/>
        </p:nvSpPr>
        <p:spPr>
          <a:xfrm>
            <a:off x="8083295" y="3456432"/>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Read what actually changed on disk before accepting any agent's summary.</a:t>
            </a:r>
          </a:p>
        </p:txBody>
      </p:sp>
      <p:sp>
        <p:nvSpPr>
          <p:cNvPr id="16" name="Rectangle 15"/>
          <p:cNvSpPr/>
          <p:nvPr/>
        </p:nvSpPr>
        <p:spPr>
          <a:xfrm>
            <a:off x="7882127" y="4078224"/>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4078224"/>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242816"/>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Status is not evidence</a:t>
            </a:r>
          </a:p>
        </p:txBody>
      </p:sp>
      <p:sp>
        <p:nvSpPr>
          <p:cNvPr id="19" name="TextBox 18"/>
          <p:cNvSpPr txBox="1"/>
          <p:nvPr/>
        </p:nvSpPr>
        <p:spPr>
          <a:xfrm>
            <a:off x="8083295" y="4590288"/>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'Done' with no artifact and no diff is an unverified claim.</a:t>
            </a:r>
          </a:p>
        </p:txBody>
      </p:sp>
      <p:sp>
        <p:nvSpPr>
          <p:cNvPr id="20" name="Rectangle 19"/>
          <p:cNvSpPr/>
          <p:nvPr/>
        </p:nvSpPr>
        <p:spPr>
          <a:xfrm>
            <a:off x="7882127" y="521208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212080"/>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376672"/>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Name the evidence</a:t>
            </a:r>
          </a:p>
        </p:txBody>
      </p:sp>
      <p:sp>
        <p:nvSpPr>
          <p:cNvPr id="23" name="TextBox 22"/>
          <p:cNvSpPr txBox="1"/>
          <p:nvPr/>
        </p:nvSpPr>
        <p:spPr>
          <a:xfrm>
            <a:off x="8083295" y="572414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An acceptance criterion states the artifact, its path and its fields.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ACCEPTING WORK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Hand-Off Acceptance — What You Are Actually Checking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Consumable without a question</a:t>
            </a:r>
          </a:p>
          <a:p>
            <a:pPr algn="l">
              <a:spcAft>
                <a:spcPts val="300"/>
              </a:spcAft>
            </a:pPr>
            <a:r>
              <a:rPr sz="1200" b="0">
                <a:solidFill>
                  <a:srgbClr val="5B6372"/>
                </a:solidFill>
                <a:latin typeface="Arial"/>
              </a:rPr>
              <a:t>The receiving agent can use the artifact without asking the producer anything.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Limitations stated</a:t>
            </a:r>
          </a:p>
          <a:p>
            <a:pPr algn="l">
              <a:spcAft>
                <a:spcPts val="300"/>
              </a:spcAft>
            </a:pPr>
            <a:r>
              <a:rPr sz="1200" b="0">
                <a:solidFill>
                  <a:srgbClr val="5B6372"/>
                </a:solidFill>
                <a:latin typeface="Arial"/>
              </a:rPr>
              <a:t>An agent that reports what it could NOT establish is more useful than one that quietly guesses.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Idempotent</a:t>
            </a:r>
          </a:p>
          <a:p>
            <a:pPr algn="l">
              <a:spcAft>
                <a:spcPts val="300"/>
              </a:spcAft>
            </a:pPr>
            <a:r>
              <a:rPr sz="1200" b="0">
                <a:solidFill>
                  <a:srgbClr val="5B6372"/>
                </a:solidFill>
                <a:latin typeface="Arial"/>
              </a:rPr>
              <a:t>One event should not create many outcomes — re-running must not duplicate the work.</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Traceable</a:t>
            </a:r>
          </a:p>
          <a:p>
            <a:pPr algn="l">
              <a:spcAft>
                <a:spcPts val="300"/>
              </a:spcAft>
            </a:pPr>
            <a:r>
              <a:rPr sz="1200" b="0">
                <a:solidFill>
                  <a:srgbClr val="5B6372"/>
                </a:solidFill>
                <a:latin typeface="Arial"/>
              </a:rPr>
              <a:t>Every claim in the deliverable points back to a named source in the allowed inputs.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
        <p:nvSpPr>
          <p:cNvPr id="30" name="Rectangle 29"/>
          <p:cNvSpPr/>
          <p:nvPr/>
        </p:nvSpPr>
        <p:spPr>
          <a:xfrm>
            <a:off x="777240" y="5742432"/>
            <a:ext cx="10607040"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742432"/>
            <a:ext cx="91440"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5742432"/>
            <a:ext cx="10241280" cy="603504"/>
          </a:xfrm>
          <a:prstGeom prst="rect">
            <a:avLst/>
          </a:prstGeom>
          <a:noFill/>
        </p:spPr>
        <p:txBody>
          <a:bodyPr wrap="square" anchor="ctr">
            <a:spAutoFit/>
          </a:bodyPr>
          <a:lstStyle/>
          <a:p>
            <a:pPr algn="l">
              <a:spcAft>
                <a:spcPts val="400"/>
              </a:spcAft>
            </a:pPr>
            <a:r>
              <a:rPr sz="1350" b="1">
                <a:solidFill>
                  <a:srgbClr val="161B26"/>
                </a:solidFill>
                <a:latin typeface="Arial"/>
              </a:rPr>
              <a:t>Accept artifacts and explicit limitations — never a status change on its own.</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Hands-On Labs — Developing Intelligent Multi-Agent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4</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Translate the Ledgerly Mission into Assigned Issues and Hand-Offs (Accounting)</a:t>
            </a:r>
          </a:p>
          <a:p>
            <a:pPr>
              <a:spcAft>
                <a:spcPts val="900"/>
              </a:spcAft>
            </a:pPr>
            <a:r>
              <a:rPr sz="1400" b="0">
                <a:solidFill>
                  <a:srgbClr val="161B26"/>
                </a:solidFill>
                <a:latin typeface="Arial"/>
              </a:rPr>
              <a:t>•  Ledgerly Accounting (Accounting)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5</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Verify NorthPoint Routines and Layered Budget Controls (Stock Trading Research)</a:t>
            </a:r>
          </a:p>
          <a:p>
            <a:pPr>
              <a:spcAft>
                <a:spcPts val="900"/>
              </a:spcAft>
            </a:pPr>
            <a:r>
              <a:rPr sz="1400" b="0">
                <a:solidFill>
                  <a:srgbClr val="161B26"/>
                </a:solidFill>
                <a:latin typeface="Arial"/>
              </a:rPr>
              <a:t>•  NorthPoint Trading Research (Stock Trading — research only)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Translate the Ledgerly Mission into Assigned Issues and Hand-Offs (Accounting)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07040"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241280" cy="566928"/>
          </a:xfrm>
          <a:prstGeom prst="rect">
            <a:avLst/>
          </a:prstGeom>
          <a:noFill/>
        </p:spPr>
        <p:txBody>
          <a:bodyPr wrap="square" anchor="ctr">
            <a:spAutoFit/>
          </a:bodyPr>
          <a:lstStyle/>
          <a:p>
            <a:pPr algn="l">
              <a:spcAft>
                <a:spcPts val="400"/>
              </a:spcAft>
            </a:pPr>
            <a:r>
              <a:rPr sz="1300" b="1">
                <a:solidFill>
                  <a:srgbClr val="7C3AED"/>
                </a:solidFill>
                <a:latin typeface="Arial"/>
              </a:rPr>
              <a:t>SIMULATED COMPANY  ·  Ledgerly Accounting (Accounting)</a:t>
            </a:r>
          </a:p>
        </p:txBody>
      </p:sp>
      <p:sp>
        <p:nvSpPr>
          <p:cNvPr id="10" name="TextBox 9"/>
          <p:cNvSpPr txBox="1"/>
          <p:nvPr/>
        </p:nvSpPr>
        <p:spPr>
          <a:xfrm>
            <a:off x="777240" y="2514600"/>
            <a:ext cx="10607040" cy="1298448"/>
          </a:xfrm>
          <a:prstGeom prst="rect">
            <a:avLst/>
          </a:prstGeom>
          <a:noFill/>
        </p:spPr>
        <p:txBody>
          <a:bodyPr wrap="square" anchor="t">
            <a:spAutoFit/>
          </a:bodyPr>
          <a:lstStyle/>
          <a:p>
            <a:pPr algn="l">
              <a:spcAft>
                <a:spcPts val="400"/>
              </a:spcAft>
            </a:pPr>
            <a:r>
              <a:rPr sz="1350" b="0">
                <a:solidFill>
                  <a:srgbClr val="161B26"/>
                </a:solidFill>
                <a:latin typeface="Arial"/>
              </a:rPr>
              <a:t>You turn the Ledgerly Accounting mission into actual work. You create a budgeted month-end close project, then a PARENT synthesis issue and two specialist CHILD issues — all created UNASSIGNED, so that creating work cannot accidentally wake an agent. Only after every acceptance criterion names its evidence do you assign one child at a time. This is the core discipline of the topic: assignment is the trigger, and sequential assignment is what makes each run individually verifiable.</a:t>
            </a:r>
          </a:p>
        </p:txBody>
      </p:sp>
      <p:sp>
        <p:nvSpPr>
          <p:cNvPr id="11" name="Rectangle 10"/>
          <p:cNvSpPr/>
          <p:nvPr/>
        </p:nvSpPr>
        <p:spPr>
          <a:xfrm>
            <a:off x="777240" y="3931920"/>
            <a:ext cx="67665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931920"/>
            <a:ext cx="676656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069080"/>
            <a:ext cx="6309360" cy="329184"/>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1005840" y="4416552"/>
            <a:ext cx="6309360" cy="1005840"/>
          </a:xfrm>
          <a:prstGeom prst="rect">
            <a:avLst/>
          </a:prstGeom>
          <a:noFill/>
        </p:spPr>
        <p:txBody>
          <a:bodyPr wrap="square" anchor="t">
            <a:spAutoFit/>
          </a:bodyPr>
          <a:lstStyle/>
          <a:p>
            <a:pPr algn="l">
              <a:spcAft>
                <a:spcPts val="400"/>
              </a:spcAft>
            </a:pPr>
            <a:r>
              <a:rPr sz="1150" b="0">
                <a:solidFill>
                  <a:srgbClr val="161B26"/>
                </a:solidFill>
                <a:latin typeface="Arial"/>
              </a:rPr>
              <a:t>A capped Ledgerly close project with an unassigned parent issue, two sequentially completed specialist children, clean workspace manifests, and an evidence record linking issue IDs, run IDs, comments, statuses and artifact paths.</a:t>
            </a:r>
          </a:p>
        </p:txBody>
      </p:sp>
      <p:sp>
        <p:nvSpPr>
          <p:cNvPr id="15" name="Rectangle 14"/>
          <p:cNvSpPr/>
          <p:nvPr/>
        </p:nvSpPr>
        <p:spPr>
          <a:xfrm>
            <a:off x="7818120" y="3931920"/>
            <a:ext cx="35661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18120" y="3931920"/>
            <a:ext cx="356616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4069080"/>
            <a:ext cx="3108960" cy="329184"/>
          </a:xfrm>
          <a:prstGeom prst="rect">
            <a:avLst/>
          </a:prstGeom>
          <a:noFill/>
        </p:spPr>
        <p:txBody>
          <a:bodyPr wrap="square" anchor="t">
            <a:spAutoFit/>
          </a:bodyPr>
          <a:lstStyle/>
          <a:p>
            <a:pPr algn="l">
              <a:spcAft>
                <a:spcPts val="400"/>
              </a:spcAft>
            </a:pPr>
            <a:r>
              <a:rPr sz="1200" b="1">
                <a:solidFill>
                  <a:srgbClr val="1F6FEB"/>
                </a:solidFill>
                <a:latin typeface="Arial"/>
              </a:rPr>
              <a:t>MAPS TO</a:t>
            </a:r>
          </a:p>
        </p:txBody>
      </p:sp>
      <p:sp>
        <p:nvSpPr>
          <p:cNvPr id="18" name="TextBox 17"/>
          <p:cNvSpPr txBox="1"/>
          <p:nvPr/>
        </p:nvSpPr>
        <p:spPr>
          <a:xfrm>
            <a:off x="8046720" y="4416552"/>
            <a:ext cx="3108960" cy="1005840"/>
          </a:xfrm>
          <a:prstGeom prst="rect">
            <a:avLst/>
          </a:prstGeom>
          <a:noFill/>
        </p:spPr>
        <p:txBody>
          <a:bodyPr wrap="square" anchor="t">
            <a:spAutoFit/>
          </a:bodyPr>
          <a:lstStyle/>
          <a:p>
            <a:pPr algn="l">
              <a:spcAft>
                <a:spcPts val="400"/>
              </a:spcAft>
            </a:pPr>
            <a:r>
              <a:rPr sz="1050" b="0">
                <a:solidFill>
                  <a:srgbClr val="161B26"/>
                </a:solidFill>
                <a:latin typeface="Arial"/>
              </a:rPr>
              <a:t>LO3: Decompose a mission into a parent and specialist child issues, run the specialists sequentially and verify each hand-off against acceptance evidence.</a:t>
            </a:r>
          </a:p>
        </p:txBody>
      </p:sp>
      <p:sp>
        <p:nvSpPr>
          <p:cNvPr id="19" name="TextBox 18"/>
          <p:cNvSpPr txBox="1"/>
          <p:nvPr/>
        </p:nvSpPr>
        <p:spPr>
          <a:xfrm>
            <a:off x="777240" y="5669280"/>
            <a:ext cx="10607040" cy="640080"/>
          </a:xfrm>
          <a:prstGeom prst="rect">
            <a:avLst/>
          </a:prstGeom>
          <a:noFill/>
        </p:spPr>
        <p:txBody>
          <a:bodyPr wrap="square" anchor="t">
            <a:spAutoFit/>
          </a:bodyPr>
          <a:lstStyle/>
          <a:p>
            <a:pPr algn="l">
              <a:spcAft>
                <a:spcPts val="300"/>
              </a:spcAft>
            </a:pPr>
            <a:r>
              <a:rPr sz="1100" b="0">
                <a:solidFill>
                  <a:srgbClr val="5B6372"/>
                </a:solidFill>
                <a:latin typeface="Arial"/>
              </a:rPr>
              <a:t>Tools:  Paperclip Projects, Budgets, Issues, Agents and Runs; approved adapter runtime; Git; Markdown workspaces</a:t>
            </a:r>
          </a:p>
          <a:p>
            <a:pPr algn="l">
              <a:spcAft>
                <a:spcPts val="300"/>
              </a:spcAft>
            </a:pPr>
            <a:r>
              <a:rPr sz="1100" b="0">
                <a:solidFill>
                  <a:srgbClr val="5B6372"/>
                </a:solidFill>
                <a:latin typeface="Arial"/>
              </a:rPr>
              <a:t>Full step-by-step procedure: Learner Guide, Lab 4  ·  labs/ folder</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the close project</a:t>
            </a:r>
          </a:p>
        </p:txBody>
      </p:sp>
      <p:sp>
        <p:nvSpPr>
          <p:cNvPr id="12" name="TextBox 11"/>
          <p:cNvSpPr txBox="1"/>
          <p:nvPr/>
        </p:nvSpPr>
        <p:spPr>
          <a:xfrm>
            <a:off x="850392"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its own budget cap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Parent issue, unassigned</a:t>
            </a:r>
          </a:p>
        </p:txBody>
      </p:sp>
      <p:sp>
        <p:nvSpPr>
          <p:cNvPr id="19" name="TextBox 18"/>
          <p:cNvSpPr txBox="1"/>
          <p:nvPr/>
        </p:nvSpPr>
        <p:spPr>
          <a:xfrm>
            <a:off x="3054096"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creation must not wake anyone</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Two child issues</a:t>
            </a:r>
          </a:p>
        </p:txBody>
      </p:sp>
      <p:sp>
        <p:nvSpPr>
          <p:cNvPr id="26" name="TextBox 25"/>
          <p:cNvSpPr txBox="1"/>
          <p:nvPr/>
        </p:nvSpPr>
        <p:spPr>
          <a:xfrm>
            <a:off x="5257800"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acceptance names the evidence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Assign child 1 only</a:t>
            </a:r>
          </a:p>
        </p:txBody>
      </p:sp>
      <p:sp>
        <p:nvSpPr>
          <p:cNvPr id="33" name="TextBox 32"/>
          <p:cNvSpPr txBox="1"/>
          <p:nvPr/>
        </p:nvSpPr>
        <p:spPr>
          <a:xfrm>
            <a:off x="7461504"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assignment is the trigger</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Accept, then assign child 2</a:t>
            </a:r>
          </a:p>
        </p:txBody>
      </p:sp>
      <p:sp>
        <p:nvSpPr>
          <p:cNvPr id="40" name="TextBox 39"/>
          <p:cNvSpPr txBox="1"/>
          <p:nvPr/>
        </p:nvSpPr>
        <p:spPr>
          <a:xfrm>
            <a:off x="9665208"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sequential and attributable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LO3: Decompose a mission into a parent and specialist child issues, run the specialists sequentially and verify each hand-off against acceptance evidence.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Translate the Ledgerly Mission into Assigned Issues and Hand-Offs (Accounting)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Ledgerly project shows a saved cap above actual spend; the parent issue is still open and unassigned; both children are Done with a linked artifact and a recorded run ID; the two specialists ran SEQUENTIALLY (non-overlapping run timestamps); and the exceptions file demonstrably references the reconciliation figures.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Both specialists wake at the same time</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 child was assigned before the previous one was accepted. Pause the second agent, let the first run settle, then re-assign so the runs are sequential.</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child artifact exists but is missing fields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acceptance criterion was written as an activity, not as evidence. Rewrite it naming the required fields and re-run — do not hand-edit the agent's artifact.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parent issue wakes unexpectedly</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It was assigned during creation. Clear the assignee; the parent stays unassigned until both children are accepted (that is Lab 6).</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 4  ·  TROUBLESHOOTING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Translate the Ledgerly Mission into Assigned Issues and Hand-Offs (Accounting)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3852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Both specialists wake at the same time</a:t>
            </a:r>
          </a:p>
        </p:txBody>
      </p:sp>
      <p:sp>
        <p:nvSpPr>
          <p:cNvPr id="10" name="TextBox 9"/>
          <p:cNvSpPr txBox="1"/>
          <p:nvPr/>
        </p:nvSpPr>
        <p:spPr>
          <a:xfrm>
            <a:off x="1051560" y="230428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A child was assigned before the previous one was accepted. Pause the second agent, let the first run settle, then re-assign so the runs are sequential.</a:t>
            </a:r>
          </a:p>
        </p:txBody>
      </p:sp>
      <p:sp>
        <p:nvSpPr>
          <p:cNvPr id="11" name="Rectangle 10"/>
          <p:cNvSpPr/>
          <p:nvPr/>
        </p:nvSpPr>
        <p:spPr>
          <a:xfrm>
            <a:off x="777240" y="293827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827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06628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child artifact exists but is missing fields</a:t>
            </a:r>
          </a:p>
        </p:txBody>
      </p:sp>
      <p:sp>
        <p:nvSpPr>
          <p:cNvPr id="14" name="TextBox 13"/>
          <p:cNvSpPr txBox="1"/>
          <p:nvPr/>
        </p:nvSpPr>
        <p:spPr>
          <a:xfrm>
            <a:off x="1051560" y="343204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The acceptance criterion was written as an activity, not as evidence. Rewrite it naming the required fields and re-run — do not hand-edit the agent's artifact.</a:t>
            </a:r>
          </a:p>
        </p:txBody>
      </p:sp>
      <p:sp>
        <p:nvSpPr>
          <p:cNvPr id="15" name="Rectangle 14"/>
          <p:cNvSpPr/>
          <p:nvPr/>
        </p:nvSpPr>
        <p:spPr>
          <a:xfrm>
            <a:off x="777240" y="406603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06603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19404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parent issue wakes unexpectedly</a:t>
            </a:r>
          </a:p>
        </p:txBody>
      </p:sp>
      <p:sp>
        <p:nvSpPr>
          <p:cNvPr id="18" name="TextBox 17"/>
          <p:cNvSpPr txBox="1"/>
          <p:nvPr/>
        </p:nvSpPr>
        <p:spPr>
          <a:xfrm>
            <a:off x="1051560" y="455980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It was assigned during creation. Clear the assignee; the parent stays unassigned until both children are accepted (that is Lab 6).</a:t>
            </a:r>
          </a:p>
        </p:txBody>
      </p:sp>
      <p:sp>
        <p:nvSpPr>
          <p:cNvPr id="19" name="Rectangle 18"/>
          <p:cNvSpPr/>
          <p:nvPr/>
        </p:nvSpPr>
        <p:spPr>
          <a:xfrm>
            <a:off x="77724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230368"/>
            <a:ext cx="91440" cy="1005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321808"/>
            <a:ext cx="4846320" cy="292608"/>
          </a:xfrm>
          <a:prstGeom prst="rect">
            <a:avLst/>
          </a:prstGeom>
          <a:noFill/>
        </p:spPr>
        <p:txBody>
          <a:bodyPr wrap="square" anchor="t">
            <a:spAutoFit/>
          </a:bodyPr>
          <a:lstStyle/>
          <a:p>
            <a:pPr algn="l">
              <a:spcAft>
                <a:spcPts val="400"/>
              </a:spcAft>
            </a:pPr>
            <a:r>
              <a:rPr sz="1150" b="1">
                <a:solidFill>
                  <a:srgbClr val="7C3AED"/>
                </a:solidFill>
                <a:latin typeface="Arial"/>
              </a:rPr>
              <a:t>CHALLENGE</a:t>
            </a:r>
          </a:p>
        </p:txBody>
      </p:sp>
      <p:sp>
        <p:nvSpPr>
          <p:cNvPr id="22" name="TextBox 21"/>
          <p:cNvSpPr txBox="1"/>
          <p:nvPr/>
        </p:nvSpPr>
        <p:spPr>
          <a:xfrm>
            <a:off x="105156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Add a third child issue whose acceptance criterion deliberately names an artifact the previous child never produces, and record precisely how the failure surfaces in the run log.</a:t>
            </a:r>
          </a:p>
        </p:txBody>
      </p:sp>
      <p:sp>
        <p:nvSpPr>
          <p:cNvPr id="23" name="Rectangle 22"/>
          <p:cNvSpPr/>
          <p:nvPr/>
        </p:nvSpPr>
        <p:spPr>
          <a:xfrm>
            <a:off x="617220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5230368"/>
            <a:ext cx="91440"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5321808"/>
            <a:ext cx="4846320" cy="292608"/>
          </a:xfrm>
          <a:prstGeom prst="rect">
            <a:avLst/>
          </a:prstGeom>
          <a:noFill/>
        </p:spPr>
        <p:txBody>
          <a:bodyPr wrap="square" anchor="t">
            <a:spAutoFit/>
          </a:bodyPr>
          <a:lstStyle/>
          <a:p>
            <a:pPr algn="l">
              <a:spcAft>
                <a:spcPts val="400"/>
              </a:spcAft>
            </a:pPr>
            <a:r>
              <a:rPr sz="1150" b="1">
                <a:solidFill>
                  <a:srgbClr val="1F6FEB"/>
                </a:solidFill>
                <a:latin typeface="Arial"/>
              </a:rPr>
              <a:t>REFLECTION</a:t>
            </a:r>
          </a:p>
        </p:txBody>
      </p:sp>
      <p:sp>
        <p:nvSpPr>
          <p:cNvPr id="26" name="TextBox 25"/>
          <p:cNvSpPr txBox="1"/>
          <p:nvPr/>
        </p:nvSpPr>
        <p:spPr>
          <a:xfrm>
            <a:off x="644652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Why does creating every issue unassigned change the risk profile of a multi-agent company, compared with assigning at creation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Verify NorthPoint Routines and Layered Budget Controls (Stock Trading Research)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07040"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241280" cy="566928"/>
          </a:xfrm>
          <a:prstGeom prst="rect">
            <a:avLst/>
          </a:prstGeom>
          <a:noFill/>
        </p:spPr>
        <p:txBody>
          <a:bodyPr wrap="square" anchor="ctr">
            <a:spAutoFit/>
          </a:bodyPr>
          <a:lstStyle/>
          <a:p>
            <a:pPr algn="l">
              <a:spcAft>
                <a:spcPts val="400"/>
              </a:spcAft>
            </a:pPr>
            <a:r>
              <a:rPr sz="1300" b="1">
                <a:solidFill>
                  <a:srgbClr val="7C3AED"/>
                </a:solidFill>
                <a:latin typeface="Arial"/>
              </a:rPr>
              <a:t>SIMULATED COMPANY  ·  NorthPoint Trading Research (Stock Trading — research only)</a:t>
            </a:r>
          </a:p>
        </p:txBody>
      </p:sp>
      <p:sp>
        <p:nvSpPr>
          <p:cNvPr id="10" name="TextBox 9"/>
          <p:cNvSpPr txBox="1"/>
          <p:nvPr/>
        </p:nvSpPr>
        <p:spPr>
          <a:xfrm>
            <a:off x="777240" y="2514600"/>
            <a:ext cx="10607040" cy="1298448"/>
          </a:xfrm>
          <a:prstGeom prst="rect">
            <a:avLst/>
          </a:prstGeom>
          <a:noFill/>
        </p:spPr>
        <p:txBody>
          <a:bodyPr wrap="square" anchor="t">
            <a:spAutoFit/>
          </a:bodyPr>
          <a:lstStyle/>
          <a:p>
            <a:pPr algn="l">
              <a:spcAft>
                <a:spcPts val="400"/>
              </a:spcAft>
            </a:pPr>
            <a:r>
              <a:rPr sz="1350" b="0">
                <a:solidFill>
                  <a:srgbClr val="161B26"/>
                </a:solidFill>
                <a:latin typeface="Arial"/>
              </a:rPr>
              <a:t>NorthPoint Trading Research needs a daily pre-market brief — which makes it the right place to learn routines. You create the readiness routine PAUSED, add an explicit cron trigger with an IANA timezone, prove the routine once by hand, and leave it paused afterwards. You then verify all three budget layers against actual recorded spend. The rule the lab teaches: automation earns the schedule only after a human has watched it succeed once. This is research only — the company never places or recommends a trade.</a:t>
            </a:r>
          </a:p>
        </p:txBody>
      </p:sp>
      <p:sp>
        <p:nvSpPr>
          <p:cNvPr id="11" name="Rectangle 10"/>
          <p:cNvSpPr/>
          <p:nvPr/>
        </p:nvSpPr>
        <p:spPr>
          <a:xfrm>
            <a:off x="777240" y="3931920"/>
            <a:ext cx="67665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931920"/>
            <a:ext cx="676656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069080"/>
            <a:ext cx="6309360" cy="329184"/>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1005840" y="4416552"/>
            <a:ext cx="6309360" cy="1005840"/>
          </a:xfrm>
          <a:prstGeom prst="rect">
            <a:avLst/>
          </a:prstGeom>
          <a:noFill/>
        </p:spPr>
        <p:txBody>
          <a:bodyPr wrap="square" anchor="t">
            <a:spAutoFit/>
          </a:bodyPr>
          <a:lstStyle/>
          <a:p>
            <a:pPr algn="l">
              <a:spcAft>
                <a:spcPts val="400"/>
              </a:spcAft>
            </a:pPr>
            <a:r>
              <a:rPr sz="1150" b="0">
                <a:solidFill>
                  <a:srgbClr val="161B26"/>
                </a:solidFill>
                <a:latin typeface="Arial"/>
              </a:rPr>
              <a:t>A paused NorthPoint readiness routine with a saved 07:00 Asia/Singapore trigger, exactly one reviewed manual run, and a control table proving company, project and agent budget layers all remain above recorded spend.</a:t>
            </a:r>
          </a:p>
        </p:txBody>
      </p:sp>
      <p:sp>
        <p:nvSpPr>
          <p:cNvPr id="15" name="Rectangle 14"/>
          <p:cNvSpPr/>
          <p:nvPr/>
        </p:nvSpPr>
        <p:spPr>
          <a:xfrm>
            <a:off x="7818120" y="3931920"/>
            <a:ext cx="35661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18120" y="3931920"/>
            <a:ext cx="356616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4069080"/>
            <a:ext cx="3108960" cy="329184"/>
          </a:xfrm>
          <a:prstGeom prst="rect">
            <a:avLst/>
          </a:prstGeom>
          <a:noFill/>
        </p:spPr>
        <p:txBody>
          <a:bodyPr wrap="square" anchor="t">
            <a:spAutoFit/>
          </a:bodyPr>
          <a:lstStyle/>
          <a:p>
            <a:pPr algn="l">
              <a:spcAft>
                <a:spcPts val="400"/>
              </a:spcAft>
            </a:pPr>
            <a:r>
              <a:rPr sz="1200" b="1">
                <a:solidFill>
                  <a:srgbClr val="1F6FEB"/>
                </a:solidFill>
                <a:latin typeface="Arial"/>
              </a:rPr>
              <a:t>MAPS TO</a:t>
            </a:r>
          </a:p>
        </p:txBody>
      </p:sp>
      <p:sp>
        <p:nvSpPr>
          <p:cNvPr id="18" name="TextBox 17"/>
          <p:cNvSpPr txBox="1"/>
          <p:nvPr/>
        </p:nvSpPr>
        <p:spPr>
          <a:xfrm>
            <a:off x="8046720" y="4416552"/>
            <a:ext cx="3108960" cy="1005840"/>
          </a:xfrm>
          <a:prstGeom prst="rect">
            <a:avLst/>
          </a:prstGeom>
          <a:noFill/>
        </p:spPr>
        <p:txBody>
          <a:bodyPr wrap="square" anchor="t">
            <a:spAutoFit/>
          </a:bodyPr>
          <a:lstStyle/>
          <a:p>
            <a:pPr algn="l">
              <a:spcAft>
                <a:spcPts val="400"/>
              </a:spcAft>
            </a:pPr>
            <a:r>
              <a:rPr sz="1050" b="0">
                <a:solidFill>
                  <a:srgbClr val="161B26"/>
                </a:solidFill>
                <a:latin typeface="Arial"/>
              </a:rPr>
              <a:t>LO3: Test a scheduled routine and verify that every budget layer holds, using one bounded manual run before automation is allowed to own the schedule.</a:t>
            </a:r>
          </a:p>
        </p:txBody>
      </p:sp>
      <p:sp>
        <p:nvSpPr>
          <p:cNvPr id="19" name="TextBox 18"/>
          <p:cNvSpPr txBox="1"/>
          <p:nvPr/>
        </p:nvSpPr>
        <p:spPr>
          <a:xfrm>
            <a:off x="777240" y="5669280"/>
            <a:ext cx="10607040" cy="640080"/>
          </a:xfrm>
          <a:prstGeom prst="rect">
            <a:avLst/>
          </a:prstGeom>
          <a:noFill/>
        </p:spPr>
        <p:txBody>
          <a:bodyPr wrap="square" anchor="t">
            <a:spAutoFit/>
          </a:bodyPr>
          <a:lstStyle/>
          <a:p>
            <a:pPr algn="l">
              <a:spcAft>
                <a:spcPts val="300"/>
              </a:spcAft>
            </a:pPr>
            <a:r>
              <a:rPr sz="1100" b="0">
                <a:solidFill>
                  <a:srgbClr val="5B6372"/>
                </a:solidFill>
                <a:latin typeface="Arial"/>
              </a:rPr>
              <a:t>Tools:  Paperclip Routines, Costs and Budgets, Agent Budget tabs, Project settings, Activity</a:t>
            </a:r>
          </a:p>
          <a:p>
            <a:pPr algn="l">
              <a:spcAft>
                <a:spcPts val="300"/>
              </a:spcAft>
            </a:pPr>
            <a:r>
              <a:rPr sz="1100" b="0">
                <a:solidFill>
                  <a:srgbClr val="5B6372"/>
                </a:solidFill>
                <a:latin typeface="Arial"/>
              </a:rPr>
              <a:t>Full step-by-step procedure: Learner Guide, Lab 5  ·  labs/ folder</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NorthPoint</a:t>
            </a:r>
          </a:p>
        </p:txBody>
      </p:sp>
      <p:sp>
        <p:nvSpPr>
          <p:cNvPr id="12" name="TextBox 11"/>
          <p:cNvSpPr txBox="1"/>
          <p:nvPr/>
        </p:nvSpPr>
        <p:spPr>
          <a:xfrm>
            <a:off x="850392"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research only — never a trade</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the routine PAUSED</a:t>
            </a:r>
          </a:p>
        </p:txBody>
      </p:sp>
      <p:sp>
        <p:nvSpPr>
          <p:cNvPr id="19" name="TextBox 18"/>
          <p:cNvSpPr txBox="1"/>
          <p:nvPr/>
        </p:nvSpPr>
        <p:spPr>
          <a:xfrm>
            <a:off x="3054096"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unproven automation stays off</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Add the cron trigger</a:t>
            </a:r>
          </a:p>
        </p:txBody>
      </p:sp>
      <p:sp>
        <p:nvSpPr>
          <p:cNvPr id="26" name="TextBox 25"/>
          <p:cNvSpPr txBox="1"/>
          <p:nvPr/>
        </p:nvSpPr>
        <p:spPr>
          <a:xfrm>
            <a:off x="5257800"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0 7 * * * with Asia/Singapore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Run once, bounded</a:t>
            </a:r>
          </a:p>
        </p:txBody>
      </p:sp>
      <p:sp>
        <p:nvSpPr>
          <p:cNvPr id="33" name="TextBox 32"/>
          <p:cNvSpPr txBox="1"/>
          <p:nvPr/>
        </p:nvSpPr>
        <p:spPr>
          <a:xfrm>
            <a:off x="7461504"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the human review earns the schedule</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Check every budget layer</a:t>
            </a:r>
          </a:p>
        </p:txBody>
      </p:sp>
      <p:sp>
        <p:nvSpPr>
          <p:cNvPr id="40" name="TextBox 39"/>
          <p:cNvSpPr txBox="1"/>
          <p:nvPr/>
        </p:nvSpPr>
        <p:spPr>
          <a:xfrm>
            <a:off x="9665208"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company, project and agent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LO3: Test a scheduled routine and verify that every budget layer holds, using one bounded manual run before automation is allowed to own the schedule.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Verify NorthPoint Routines and Layered Budget Controls (Stock Trading Research)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routine carries an explicit 0 7 * * * Asia/Singapore trigger, has exactly ONE successful reviewed manual run, and finishes PAUSED; the brief exists and cites only the synthetic data with limitations stated and no trade recommendation; and the control table shows all three budget layers above recorded spend.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routine fires unexpectedly</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It was left active after the manual run. Pause it, then check the activity log for any additional runs and record them — do not delete the evidence.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cost shows as zero</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run may have failed before invoking the runtime. Read the run log for an adapter error rather than assuming the work was free.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timezone reverts or the schedule fires an hour out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trigger was saved without an explicit IANA timezone and inherited the host's. Re-save the trigger with Asia/Singapore stated explicitly.</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 5  ·  TROUBLESHOOTING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Verify NorthPoint Routines and Layered Budget Controls (Stock Trading Research)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3852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routine fires unexpectedly</a:t>
            </a:r>
          </a:p>
        </p:txBody>
      </p:sp>
      <p:sp>
        <p:nvSpPr>
          <p:cNvPr id="10" name="TextBox 9"/>
          <p:cNvSpPr txBox="1"/>
          <p:nvPr/>
        </p:nvSpPr>
        <p:spPr>
          <a:xfrm>
            <a:off x="1051560" y="230428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It was left active after the manual run. Pause it, then check the activity log for any additional runs and record them — do not delete the evidence.</a:t>
            </a:r>
          </a:p>
        </p:txBody>
      </p:sp>
      <p:sp>
        <p:nvSpPr>
          <p:cNvPr id="11" name="Rectangle 10"/>
          <p:cNvSpPr/>
          <p:nvPr/>
        </p:nvSpPr>
        <p:spPr>
          <a:xfrm>
            <a:off x="777240" y="293827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827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06628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cost shows as zero</a:t>
            </a:r>
          </a:p>
        </p:txBody>
      </p:sp>
      <p:sp>
        <p:nvSpPr>
          <p:cNvPr id="14" name="TextBox 13"/>
          <p:cNvSpPr txBox="1"/>
          <p:nvPr/>
        </p:nvSpPr>
        <p:spPr>
          <a:xfrm>
            <a:off x="1051560" y="343204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The run may have failed before invoking the runtime. Read the run log for an adapter error rather than assuming the work was free.</a:t>
            </a:r>
          </a:p>
        </p:txBody>
      </p:sp>
      <p:sp>
        <p:nvSpPr>
          <p:cNvPr id="15" name="Rectangle 14"/>
          <p:cNvSpPr/>
          <p:nvPr/>
        </p:nvSpPr>
        <p:spPr>
          <a:xfrm>
            <a:off x="777240" y="406603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06603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19404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timezone reverts or the schedule fires an hour out</a:t>
            </a:r>
          </a:p>
        </p:txBody>
      </p:sp>
      <p:sp>
        <p:nvSpPr>
          <p:cNvPr id="18" name="TextBox 17"/>
          <p:cNvSpPr txBox="1"/>
          <p:nvPr/>
        </p:nvSpPr>
        <p:spPr>
          <a:xfrm>
            <a:off x="1051560" y="455980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The trigger was saved without an explicit IANA timezone and inherited the host's. Re-save the trigger with Asia/Singapore stated explicitly.</a:t>
            </a:r>
          </a:p>
        </p:txBody>
      </p:sp>
      <p:sp>
        <p:nvSpPr>
          <p:cNvPr id="19" name="Rectangle 18"/>
          <p:cNvSpPr/>
          <p:nvPr/>
        </p:nvSpPr>
        <p:spPr>
          <a:xfrm>
            <a:off x="77724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230368"/>
            <a:ext cx="91440" cy="1005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321808"/>
            <a:ext cx="4846320" cy="292608"/>
          </a:xfrm>
          <a:prstGeom prst="rect">
            <a:avLst/>
          </a:prstGeom>
          <a:noFill/>
        </p:spPr>
        <p:txBody>
          <a:bodyPr wrap="square" anchor="t">
            <a:spAutoFit/>
          </a:bodyPr>
          <a:lstStyle/>
          <a:p>
            <a:pPr algn="l">
              <a:spcAft>
                <a:spcPts val="400"/>
              </a:spcAft>
            </a:pPr>
            <a:r>
              <a:rPr sz="1150" b="1">
                <a:solidFill>
                  <a:srgbClr val="7C3AED"/>
                </a:solidFill>
                <a:latin typeface="Arial"/>
              </a:rPr>
              <a:t>CHALLENGE</a:t>
            </a:r>
          </a:p>
        </p:txBody>
      </p:sp>
      <p:sp>
        <p:nvSpPr>
          <p:cNvPr id="22" name="TextBox 21"/>
          <p:cNvSpPr txBox="1"/>
          <p:nvPr/>
        </p:nvSpPr>
        <p:spPr>
          <a:xfrm>
            <a:off x="105156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Lower the Market Data Analyst cap below the recorded run cost, run the routine once more, and record exactly which layer stops the run and where it is reported.</a:t>
            </a:r>
          </a:p>
        </p:txBody>
      </p:sp>
      <p:sp>
        <p:nvSpPr>
          <p:cNvPr id="23" name="Rectangle 22"/>
          <p:cNvSpPr/>
          <p:nvPr/>
        </p:nvSpPr>
        <p:spPr>
          <a:xfrm>
            <a:off x="617220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5230368"/>
            <a:ext cx="91440"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5321808"/>
            <a:ext cx="4846320" cy="292608"/>
          </a:xfrm>
          <a:prstGeom prst="rect">
            <a:avLst/>
          </a:prstGeom>
          <a:noFill/>
        </p:spPr>
        <p:txBody>
          <a:bodyPr wrap="square" anchor="t">
            <a:spAutoFit/>
          </a:bodyPr>
          <a:lstStyle/>
          <a:p>
            <a:pPr algn="l">
              <a:spcAft>
                <a:spcPts val="400"/>
              </a:spcAft>
            </a:pPr>
            <a:r>
              <a:rPr sz="1150" b="1">
                <a:solidFill>
                  <a:srgbClr val="1F6FEB"/>
                </a:solidFill>
                <a:latin typeface="Arial"/>
              </a:rPr>
              <a:t>REFLECTION</a:t>
            </a:r>
          </a:p>
        </p:txBody>
      </p:sp>
      <p:sp>
        <p:nvSpPr>
          <p:cNvPr id="26" name="TextBox 25"/>
          <p:cNvSpPr txBox="1"/>
          <p:nvPr/>
        </p:nvSpPr>
        <p:spPr>
          <a:xfrm>
            <a:off x="644652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Why must a routine be proved by one bounded manual run before the schedule is allowed to own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Developing Intelligent Multi-Agent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LO3: Decompose a mission into a parent and specialist child issues, run the specialists sequentially and verify each hand-off against acceptance evidence.</a:t>
            </a:r>
          </a:p>
          <a:p>
            <a:pPr>
              <a:spcAft>
                <a:spcPts val="1000"/>
              </a:spcAft>
            </a:pPr>
            <a:r>
              <a:rPr sz="1500" b="0">
                <a:solidFill>
                  <a:srgbClr val="161B26"/>
                </a:solidFill>
                <a:latin typeface="Arial"/>
              </a:rPr>
              <a:t>•  You can now: LO3: Test a scheduled routine and verify that every budget layer holds, using one bounded manual run before automation is allowed to own the schedule.</a:t>
            </a:r>
          </a:p>
          <a:p>
            <a:pPr>
              <a:spcAft>
                <a:spcPts val="1000"/>
              </a:spcAft>
            </a:pPr>
            <a:r>
              <a:rPr sz="1500" b="0">
                <a:solidFill>
                  <a:srgbClr val="161B26"/>
                </a:solidFill>
                <a:latin typeface="Arial"/>
              </a:rPr>
              <a:t>•  Projects hold goals and issues and supply the context an agent reads at runtime, so tasks carry full goal ancestry — the agent sees why, not only what.</a:t>
            </a:r>
          </a:p>
          <a:p>
            <a:pPr>
              <a:spcAft>
                <a:spcPts val="1000"/>
              </a:spcAft>
            </a:pPr>
            <a:r>
              <a:rPr sz="1500" b="0">
                <a:solidFill>
                  <a:srgbClr val="161B26"/>
                </a:solidFill>
                <a:latin typeface="Arial"/>
              </a:rPr>
              <a:t>•  Goal lineage flows downward: company mission → project goal → parent issue → child issue. An agent that cannot trace its lineage is working without direction.</a:t>
            </a:r>
          </a:p>
          <a:p>
            <a:pPr>
              <a:spcAft>
                <a:spcPts val="1000"/>
              </a:spcAft>
            </a:pPr>
            <a:r>
              <a:rPr sz="1500" b="0">
                <a:solidFill>
                  <a:srgbClr val="161B26"/>
                </a:solidFill>
                <a:latin typeface="Arial"/>
              </a:rPr>
              <a:t>•  Issues move through seven states — backlog, todo, in_progress, in_review, done, plus blocked and cancelled. done and cancelled are TERMINAL: issues do not move backwards.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Deploying and Managing AI Agents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Routines and schedules · layered budgets · approvals and audit · operator intervention · deployment, portability and troubleshooting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advClick="1">
    <p:push dir="l"/>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Deploying and Managing AI Agents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A routine is recurring work triggered by cron, webhook or API. Create it paused, prove it once by hand, and only then let the schedule own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A schedule trigger is explicit — 30 16 * * * with an IANA timezone such as Asia/Singapore. An implicit timezone is a production incident waiting to happen.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Budgets have three scopes enforced in PARALLEL: company (monthly), agent (monthly) and project (lifetime). An agent can be paused by its own cap even when the company has budget left.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Enforcement is a two-stage circuit breaker at exact thresholds: 80% utilisation records a warning and the agent keeps running; 100% pauses the agent automatically with pauseReason = budget. Enforcement happens at checkout, not at billing.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Treat the budget as a two-stage circuit breaker — warn, then stop — and record the baseline spend and expected run frequency before you rely on 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Deploying and Managing AI Agents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Cost is tracked at token level by provider, model, agent and project, which is what makes the per-agent cap meaningful rather than notional.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Approvals come in three types — CEO Strategy, Hire Agent and Budget Override — and you have three responses: approve, reject, or request revision. Approvals never expire on their own, so a silent company is often an unattended approval queue.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The activity log is a durable record of mutations, heartbeats, cost events and approvals — the audit loop closes when the whole operation reconstructs from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Use the least irreversible control first: inspect, pause, reassign, then terminate. Pause and heartbeat-off differ: heartbeat-off still wakes on assignment, comment, routine and on-demand; a paused agent wakes on nothing.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Deployment modes are local_trusted (the default, no login), authenticated+private and authenticated+public, set with paperclipai configure --section server.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Deploying and Managing AI Agents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 hosted deployment REQUIRES PAPERCLIP_AGENT_JWT_SECRET and DATABASE_URL, plus PAPERCLIP_TOOL_ACTION_SIGNING_SECRET which has no fallback — without it approvals stay pending forever.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Portability means an entire company exports and imports with secrets scrubbed and collisions handled — the org chart is data, not a hand-built configuration.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Troubleshooting is a discipline: reproduce, isolate the layer, change one setting, re-verify with evidence, and record what the fix actually proved.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LO4 · COST CONTROL AS A CIRCUIT 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Layered Budgets — Warn, Then Stop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layered-budgets.png"/>
          <p:cNvPicPr>
            <a:picLocks noChangeAspect="1"/>
          </p:cNvPicPr>
          <p:nvPr/>
        </p:nvPicPr>
        <p:blipFill>
          <a:blip r:embed="rId2"/>
          <a:stretch>
            <a:fillRect/>
          </a:stretch>
        </p:blipFill>
        <p:spPr>
          <a:xfrm>
            <a:off x="777240" y="2102522"/>
            <a:ext cx="6812280" cy="3640507"/>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Three rings</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Company, project and agent — the innermost cap that binds fires first.</a:t>
            </a:r>
          </a:p>
        </p:txBody>
      </p:sp>
      <p:sp>
        <p:nvSpPr>
          <p:cNvPr id="12" name="Rectangle 11"/>
          <p:cNvSpPr/>
          <p:nvPr/>
        </p:nvSpPr>
        <p:spPr>
          <a:xfrm>
            <a:off x="7882127" y="2944368"/>
            <a:ext cx="3529584"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Enforced at checkout</a:t>
            </a:r>
          </a:p>
        </p:txBody>
      </p:sp>
      <p:sp>
        <p:nvSpPr>
          <p:cNvPr id="15" name="TextBox 14"/>
          <p:cNvSpPr txBox="1"/>
          <p:nvPr/>
        </p:nvSpPr>
        <p:spPr>
          <a:xfrm>
            <a:off x="8083295" y="3456432"/>
            <a:ext cx="3127248" cy="237744"/>
          </a:xfrm>
          <a:prstGeom prst="rect">
            <a:avLst/>
          </a:prstGeom>
          <a:noFill/>
        </p:spPr>
        <p:txBody>
          <a:bodyPr wrap="square" anchor="t">
            <a:spAutoFit/>
          </a:bodyPr>
          <a:lstStyle/>
          <a:p>
            <a:pPr algn="l">
              <a:spcAft>
                <a:spcPts val="400"/>
              </a:spcAft>
            </a:pPr>
            <a:r>
              <a:rPr sz="900" b="0">
                <a:solidFill>
                  <a:srgbClr val="161B26"/>
                </a:solidFill>
                <a:latin typeface="Arial"/>
              </a:rPr>
              <a:t>Not at billing. The loop stops at the ceiling.</a:t>
            </a:r>
          </a:p>
        </p:txBody>
      </p:sp>
      <p:sp>
        <p:nvSpPr>
          <p:cNvPr id="16" name="Rectangle 15"/>
          <p:cNvSpPr/>
          <p:nvPr/>
        </p:nvSpPr>
        <p:spPr>
          <a:xfrm>
            <a:off x="7882127" y="393192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3931920"/>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096512"/>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Baseline first</a:t>
            </a:r>
          </a:p>
        </p:txBody>
      </p:sp>
      <p:sp>
        <p:nvSpPr>
          <p:cNvPr id="19" name="TextBox 18"/>
          <p:cNvSpPr txBox="1"/>
          <p:nvPr/>
        </p:nvSpPr>
        <p:spPr>
          <a:xfrm>
            <a:off x="8083295" y="444398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Record current spend and expected run frequency before you rely on a cap.</a:t>
            </a:r>
          </a:p>
        </p:txBody>
      </p:sp>
      <p:sp>
        <p:nvSpPr>
          <p:cNvPr id="20" name="Rectangle 19"/>
          <p:cNvSpPr/>
          <p:nvPr/>
        </p:nvSpPr>
        <p:spPr>
          <a:xfrm>
            <a:off x="7882127" y="5065776"/>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065776"/>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230368"/>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Token-level costing</a:t>
            </a:r>
          </a:p>
        </p:txBody>
      </p:sp>
      <p:sp>
        <p:nvSpPr>
          <p:cNvPr id="23" name="TextBox 22"/>
          <p:cNvSpPr txBox="1"/>
          <p:nvPr/>
        </p:nvSpPr>
        <p:spPr>
          <a:xfrm>
            <a:off x="8083295" y="5577840"/>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Tracked by provider, model, agent and project — which is what makes the cap meaningful.</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LO4 · THE ENGINEERING ARGUMENT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Why the Cap Is Enforced at Checkout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art-budget-burndown.png"/>
          <p:cNvPicPr>
            <a:picLocks noChangeAspect="1"/>
          </p:cNvPicPr>
          <p:nvPr/>
        </p:nvPicPr>
        <p:blipFill>
          <a:blip r:embed="rId2"/>
          <a:stretch>
            <a:fillRect/>
          </a:stretch>
        </p:blipFill>
        <p:spPr>
          <a:xfrm>
            <a:off x="777240" y="2205354"/>
            <a:ext cx="6812280" cy="3434843"/>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Without a cap</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A runaway loop keeps spending until someone notices the invoice.</a:t>
            </a:r>
          </a:p>
        </p:txBody>
      </p:sp>
      <p:sp>
        <p:nvSpPr>
          <p:cNvPr id="12" name="Rectangle 11"/>
          <p:cNvSpPr/>
          <p:nvPr/>
        </p:nvSpPr>
        <p:spPr>
          <a:xfrm>
            <a:off x="7882127" y="2944368"/>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With a cap</a:t>
            </a:r>
          </a:p>
        </p:txBody>
      </p:sp>
      <p:sp>
        <p:nvSpPr>
          <p:cNvPr id="15" name="TextBox 14"/>
          <p:cNvSpPr txBox="1"/>
          <p:nvPr/>
        </p:nvSpPr>
        <p:spPr>
          <a:xfrm>
            <a:off x="8083295" y="3456432"/>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Spend flattens at the ceiling and the agent simply stops.</a:t>
            </a:r>
          </a:p>
        </p:txBody>
      </p:sp>
      <p:sp>
        <p:nvSpPr>
          <p:cNvPr id="16" name="Rectangle 15"/>
          <p:cNvSpPr/>
          <p:nvPr/>
        </p:nvSpPr>
        <p:spPr>
          <a:xfrm>
            <a:off x="7882127" y="4078224"/>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4078224"/>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242816"/>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The cap is a control</a:t>
            </a:r>
          </a:p>
        </p:txBody>
      </p:sp>
      <p:sp>
        <p:nvSpPr>
          <p:cNvPr id="19" name="TextBox 18"/>
          <p:cNvSpPr txBox="1"/>
          <p:nvPr/>
        </p:nvSpPr>
        <p:spPr>
          <a:xfrm>
            <a:off x="8083295" y="4590288"/>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Not a budget estimate — it is the thing that makes unattended operation safe.</a:t>
            </a:r>
          </a:p>
        </p:txBody>
      </p:sp>
      <p:sp>
        <p:nvSpPr>
          <p:cNvPr id="20" name="Rectangle 19"/>
          <p:cNvSpPr/>
          <p:nvPr/>
        </p:nvSpPr>
        <p:spPr>
          <a:xfrm>
            <a:off x="7882127" y="521208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212080"/>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376672"/>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Set it below the pain</a:t>
            </a:r>
          </a:p>
        </p:txBody>
      </p:sp>
      <p:sp>
        <p:nvSpPr>
          <p:cNvPr id="23" name="TextBox 22"/>
          <p:cNvSpPr txBox="1"/>
          <p:nvPr/>
        </p:nvSpPr>
        <p:spPr>
          <a:xfrm>
            <a:off x="8083295" y="572414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A cap you would be unhappy to actually pay is set too high.</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SCHEDULED WORK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Routines — Automation Earns the Schedule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Create it PAUSED</a:t>
            </a:r>
          </a:p>
          <a:p>
            <a:pPr algn="l">
              <a:spcAft>
                <a:spcPts val="300"/>
              </a:spcAft>
            </a:pPr>
            <a:r>
              <a:rPr sz="1200" b="0">
                <a:solidFill>
                  <a:srgbClr val="5B6372"/>
                </a:solidFill>
                <a:latin typeface="Arial"/>
              </a:rPr>
              <a:t>A routine live before it has ever succeeded is unreviewed scheduled spend.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State the trigger explicitly</a:t>
            </a:r>
          </a:p>
          <a:p>
            <a:pPr algn="l">
              <a:spcAft>
                <a:spcPts val="300"/>
              </a:spcAft>
            </a:pPr>
            <a:r>
              <a:rPr sz="1200" b="0">
                <a:solidFill>
                  <a:srgbClr val="5B6372"/>
                </a:solidFill>
                <a:latin typeface="Arial"/>
              </a:rPr>
              <a:t>30 16 * * * WITH an IANA timezone such as Asia/Singapore.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Prove it once by hand</a:t>
            </a:r>
          </a:p>
          <a:p>
            <a:pPr algn="l">
              <a:spcAft>
                <a:spcPts val="300"/>
              </a:spcAft>
            </a:pPr>
            <a:r>
              <a:rPr sz="1200" b="0">
                <a:solidFill>
                  <a:srgbClr val="5B6372"/>
                </a:solidFill>
                <a:latin typeface="Arial"/>
              </a:rPr>
              <a:t>One bounded manual run, reviewed by a human.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Leave it paused</a:t>
            </a:r>
          </a:p>
          <a:p>
            <a:pPr algn="l">
              <a:spcAft>
                <a:spcPts val="300"/>
              </a:spcAft>
            </a:pPr>
            <a:r>
              <a:rPr sz="1200" b="0">
                <a:solidFill>
                  <a:srgbClr val="5B6372"/>
                </a:solidFill>
                <a:latin typeface="Arial"/>
              </a:rPr>
              <a:t>Until you have read the generated issue, the run and the cost.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Name the artifact</a:t>
            </a:r>
          </a:p>
          <a:p>
            <a:pPr algn="l">
              <a:spcAft>
                <a:spcPts val="300"/>
              </a:spcAft>
            </a:pPr>
            <a:r>
              <a:rPr sz="1200" b="0">
                <a:solidFill>
                  <a:srgbClr val="5B6372"/>
                </a:solidFill>
                <a:latin typeface="Arial"/>
              </a:rPr>
              <a:t>The routine body must state what file it produces, or the run is unverifiable.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Watch for concurrency</a:t>
            </a:r>
          </a:p>
          <a:p>
            <a:pPr algn="l">
              <a:spcAft>
                <a:spcPts val="300"/>
              </a:spcAft>
            </a:pPr>
            <a:r>
              <a:rPr sz="1200" b="0">
                <a:solidFill>
                  <a:srgbClr val="5B6372"/>
                </a:solidFill>
                <a:latin typeface="Arial"/>
              </a:rPr>
              <a:t>One event should not create many outcomes.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
        <p:nvSpPr>
          <p:cNvPr id="40" name="Rectangle 39"/>
          <p:cNvSpPr/>
          <p:nvPr/>
        </p:nvSpPr>
        <p:spPr>
          <a:xfrm>
            <a:off x="777240" y="5742432"/>
            <a:ext cx="10607040"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742432"/>
            <a:ext cx="91440"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5742432"/>
            <a:ext cx="10241280" cy="603504"/>
          </a:xfrm>
          <a:prstGeom prst="rect">
            <a:avLst/>
          </a:prstGeom>
          <a:noFill/>
        </p:spPr>
        <p:txBody>
          <a:bodyPr wrap="square" anchor="ctr">
            <a:spAutoFit/>
          </a:bodyPr>
          <a:lstStyle/>
          <a:p>
            <a:pPr algn="l">
              <a:spcAft>
                <a:spcPts val="400"/>
              </a:spcAft>
            </a:pPr>
            <a:r>
              <a:rPr sz="1350" b="1">
                <a:solidFill>
                  <a:srgbClr val="161B26"/>
                </a:solidFill>
                <a:latin typeface="Arial"/>
              </a:rPr>
              <a:t>An implicit timezone is a production incident waiting to happen.</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HUMAN AUTHORITY STAYS EXPLICIT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Approval and Audit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approval-loop.png"/>
          <p:cNvPicPr>
            <a:picLocks noChangeAspect="1"/>
          </p:cNvPicPr>
          <p:nvPr/>
        </p:nvPicPr>
        <p:blipFill>
          <a:blip r:embed="rId2"/>
          <a:stretch>
            <a:fillRect/>
          </a:stretch>
        </p:blipFill>
        <p:spPr>
          <a:xfrm>
            <a:off x="777240" y="2581832"/>
            <a:ext cx="6812280" cy="2681887"/>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Propose, then hold</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The governed action does not execute while it is pending.</a:t>
            </a:r>
          </a:p>
        </p:txBody>
      </p:sp>
      <p:sp>
        <p:nvSpPr>
          <p:cNvPr id="12" name="Rectangle 11"/>
          <p:cNvSpPr/>
          <p:nvPr/>
        </p:nvSpPr>
        <p:spPr>
          <a:xfrm>
            <a:off x="7882127" y="2944368"/>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A human decides</a:t>
            </a:r>
          </a:p>
        </p:txBody>
      </p:sp>
      <p:sp>
        <p:nvSpPr>
          <p:cNvPr id="15" name="TextBox 14"/>
          <p:cNvSpPr txBox="1"/>
          <p:nvPr/>
        </p:nvSpPr>
        <p:spPr>
          <a:xfrm>
            <a:off x="8083295" y="3456432"/>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With a RECORDED rationale — that sentence is the audit.</a:t>
            </a:r>
          </a:p>
        </p:txBody>
      </p:sp>
      <p:sp>
        <p:nvSpPr>
          <p:cNvPr id="16" name="Rectangle 15"/>
          <p:cNvSpPr/>
          <p:nvPr/>
        </p:nvSpPr>
        <p:spPr>
          <a:xfrm>
            <a:off x="7882127" y="4078224"/>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4078224"/>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242816"/>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The log is durable</a:t>
            </a:r>
          </a:p>
        </p:txBody>
      </p:sp>
      <p:sp>
        <p:nvSpPr>
          <p:cNvPr id="19" name="TextBox 18"/>
          <p:cNvSpPr txBox="1"/>
          <p:nvPr/>
        </p:nvSpPr>
        <p:spPr>
          <a:xfrm>
            <a:off x="8083295" y="4590288"/>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Mutations, heartbeats, cost events and approvals all land in Activity.</a:t>
            </a:r>
          </a:p>
        </p:txBody>
      </p:sp>
      <p:sp>
        <p:nvSpPr>
          <p:cNvPr id="20" name="Rectangle 19"/>
          <p:cNvSpPr/>
          <p:nvPr/>
        </p:nvSpPr>
        <p:spPr>
          <a:xfrm>
            <a:off x="7882127" y="521208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212080"/>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376672"/>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The loop closes</a:t>
            </a:r>
          </a:p>
        </p:txBody>
      </p:sp>
      <p:sp>
        <p:nvSpPr>
          <p:cNvPr id="23" name="TextBox 22"/>
          <p:cNvSpPr txBox="1"/>
          <p:nvPr/>
        </p:nvSpPr>
        <p:spPr>
          <a:xfrm>
            <a:off x="8083295" y="572414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When the whole operation can be reconstructed from the log alone.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LO4 · USE THE LEAST IRREVERSIBLE CONTROL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Operator Intervention Ladder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intervention-ladder.png"/>
          <p:cNvPicPr>
            <a:picLocks noChangeAspect="1"/>
          </p:cNvPicPr>
          <p:nvPr/>
        </p:nvPicPr>
        <p:blipFill>
          <a:blip r:embed="rId2"/>
          <a:stretch>
            <a:fillRect/>
          </a:stretch>
        </p:blipFill>
        <p:spPr>
          <a:xfrm>
            <a:off x="777240" y="2222310"/>
            <a:ext cx="6812280" cy="3400931"/>
          </a:xfrm>
          <a:prstGeom prst="rect">
            <a:avLst/>
          </a:prstGeom>
        </p:spPr>
      </p:pic>
      <p:sp>
        <p:nvSpPr>
          <p:cNvPr id="8" name="Rectangle 7"/>
          <p:cNvSpPr/>
          <p:nvPr/>
        </p:nvSpPr>
        <p:spPr>
          <a:xfrm>
            <a:off x="7882127" y="1810512"/>
            <a:ext cx="3529584" cy="10805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Inspect</a:t>
            </a:r>
          </a:p>
        </p:txBody>
      </p:sp>
      <p:sp>
        <p:nvSpPr>
          <p:cNvPr id="11" name="TextBox 10"/>
          <p:cNvSpPr txBox="1"/>
          <p:nvPr/>
        </p:nvSpPr>
        <p:spPr>
          <a:xfrm>
            <a:off x="8083295" y="2322576"/>
            <a:ext cx="3127248" cy="477012"/>
          </a:xfrm>
          <a:prstGeom prst="rect">
            <a:avLst/>
          </a:prstGeom>
          <a:noFill/>
        </p:spPr>
        <p:txBody>
          <a:bodyPr wrap="square" anchor="t">
            <a:spAutoFit/>
          </a:bodyPr>
          <a:lstStyle/>
          <a:p>
            <a:pPr algn="l">
              <a:spcAft>
                <a:spcPts val="400"/>
              </a:spcAft>
            </a:pPr>
            <a:r>
              <a:rPr sz="1100" b="0">
                <a:solidFill>
                  <a:srgbClr val="161B26"/>
                </a:solidFill>
                <a:latin typeface="Arial"/>
              </a:rPr>
              <a:t>Read task, run, cost and activity evidence BEFORE acting.</a:t>
            </a:r>
          </a:p>
        </p:txBody>
      </p:sp>
      <p:sp>
        <p:nvSpPr>
          <p:cNvPr id="12" name="Rectangle 11"/>
          <p:cNvSpPr/>
          <p:nvPr/>
        </p:nvSpPr>
        <p:spPr>
          <a:xfrm>
            <a:off x="7882127" y="3037332"/>
            <a:ext cx="3529584" cy="9017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3037332"/>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201924"/>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Pause</a:t>
            </a:r>
          </a:p>
        </p:txBody>
      </p:sp>
      <p:sp>
        <p:nvSpPr>
          <p:cNvPr id="15" name="TextBox 14"/>
          <p:cNvSpPr txBox="1"/>
          <p:nvPr/>
        </p:nvSpPr>
        <p:spPr>
          <a:xfrm>
            <a:off x="8083295" y="3549396"/>
            <a:ext cx="3127248" cy="298196"/>
          </a:xfrm>
          <a:prstGeom prst="rect">
            <a:avLst/>
          </a:prstGeom>
          <a:noFill/>
        </p:spPr>
        <p:txBody>
          <a:bodyPr wrap="square" anchor="t">
            <a:spAutoFit/>
          </a:bodyPr>
          <a:lstStyle/>
          <a:p>
            <a:pPr algn="l">
              <a:spcAft>
                <a:spcPts val="400"/>
              </a:spcAft>
            </a:pPr>
            <a:r>
              <a:rPr sz="1100" b="0">
                <a:solidFill>
                  <a:srgbClr val="161B26"/>
                </a:solidFill>
                <a:latin typeface="Arial"/>
              </a:rPr>
              <a:t>Stop new heartbeats while keeping all state.</a:t>
            </a:r>
          </a:p>
        </p:txBody>
      </p:sp>
      <p:sp>
        <p:nvSpPr>
          <p:cNvPr id="16" name="Rectangle 15"/>
          <p:cNvSpPr/>
          <p:nvPr/>
        </p:nvSpPr>
        <p:spPr>
          <a:xfrm>
            <a:off x="7882127" y="4085336"/>
            <a:ext cx="3529584" cy="9017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4085336"/>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249928"/>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Reassign</a:t>
            </a:r>
          </a:p>
        </p:txBody>
      </p:sp>
      <p:sp>
        <p:nvSpPr>
          <p:cNvPr id="19" name="TextBox 18"/>
          <p:cNvSpPr txBox="1"/>
          <p:nvPr/>
        </p:nvSpPr>
        <p:spPr>
          <a:xfrm>
            <a:off x="8083295" y="4597400"/>
            <a:ext cx="3127248" cy="298196"/>
          </a:xfrm>
          <a:prstGeom prst="rect">
            <a:avLst/>
          </a:prstGeom>
          <a:noFill/>
        </p:spPr>
        <p:txBody>
          <a:bodyPr wrap="square" anchor="t">
            <a:spAutoFit/>
          </a:bodyPr>
          <a:lstStyle/>
          <a:p>
            <a:pPr algn="l">
              <a:spcAft>
                <a:spcPts val="400"/>
              </a:spcAft>
            </a:pPr>
            <a:r>
              <a:rPr sz="1100" b="0">
                <a:solidFill>
                  <a:srgbClr val="161B26"/>
                </a:solidFill>
                <a:latin typeface="Arial"/>
              </a:rPr>
              <a:t>Move the work to another role.</a:t>
            </a:r>
          </a:p>
        </p:txBody>
      </p:sp>
      <p:sp>
        <p:nvSpPr>
          <p:cNvPr id="20" name="Rectangle 19"/>
          <p:cNvSpPr/>
          <p:nvPr/>
        </p:nvSpPr>
        <p:spPr>
          <a:xfrm>
            <a:off x="7882127" y="5133340"/>
            <a:ext cx="3529584" cy="9017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133340"/>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297932"/>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Terminate</a:t>
            </a:r>
          </a:p>
        </p:txBody>
      </p:sp>
      <p:sp>
        <p:nvSpPr>
          <p:cNvPr id="23" name="TextBox 22"/>
          <p:cNvSpPr txBox="1"/>
          <p:nvPr/>
        </p:nvSpPr>
        <p:spPr>
          <a:xfrm>
            <a:off x="8083295" y="5645404"/>
            <a:ext cx="3127248" cy="298196"/>
          </a:xfrm>
          <a:prstGeom prst="rect">
            <a:avLst/>
          </a:prstGeom>
          <a:noFill/>
        </p:spPr>
        <p:txBody>
          <a:bodyPr wrap="square" anchor="t">
            <a:spAutoFit/>
          </a:bodyPr>
          <a:lstStyle/>
          <a:p>
            <a:pPr algn="l">
              <a:spcAft>
                <a:spcPts val="400"/>
              </a:spcAft>
            </a:pPr>
            <a:r>
              <a:rPr sz="1100" b="0">
                <a:solidFill>
                  <a:srgbClr val="161B26"/>
                </a:solidFill>
                <a:latin typeface="Arial"/>
              </a:rPr>
              <a:t>The last rung — and it is not reversible.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TAKING IT BEYOND THE LAPTOP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Deployment Options — Exposure Is a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deployment.png"/>
          <p:cNvPicPr>
            <a:picLocks noChangeAspect="1"/>
          </p:cNvPicPr>
          <p:nvPr/>
        </p:nvPicPr>
        <p:blipFill>
          <a:blip r:embed="rId2"/>
          <a:stretch>
            <a:fillRect/>
          </a:stretch>
        </p:blipFill>
        <p:spPr>
          <a:xfrm>
            <a:off x="777240" y="2526856"/>
            <a:ext cx="6812280" cy="2791839"/>
          </a:xfrm>
          <a:prstGeom prst="rect">
            <a:avLst/>
          </a:prstGeom>
        </p:spPr>
      </p:pic>
      <p:sp>
        <p:nvSpPr>
          <p:cNvPr id="8" name="Rectangle 7"/>
          <p:cNvSpPr/>
          <p:nvPr/>
        </p:nvSpPr>
        <p:spPr>
          <a:xfrm>
            <a:off x="7882127" y="1810512"/>
            <a:ext cx="3529584"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Loopback</a:t>
            </a:r>
          </a:p>
        </p:txBody>
      </p:sp>
      <p:sp>
        <p:nvSpPr>
          <p:cNvPr id="11" name="TextBox 10"/>
          <p:cNvSpPr txBox="1"/>
          <p:nvPr/>
        </p:nvSpPr>
        <p:spPr>
          <a:xfrm>
            <a:off x="8083295" y="2322576"/>
            <a:ext cx="3127248" cy="237744"/>
          </a:xfrm>
          <a:prstGeom prst="rect">
            <a:avLst/>
          </a:prstGeom>
          <a:noFill/>
        </p:spPr>
        <p:txBody>
          <a:bodyPr wrap="square" anchor="t">
            <a:spAutoFit/>
          </a:bodyPr>
          <a:lstStyle/>
          <a:p>
            <a:pPr algn="l">
              <a:spcAft>
                <a:spcPts val="400"/>
              </a:spcAft>
            </a:pPr>
            <a:r>
              <a:rPr sz="900" b="0">
                <a:solidFill>
                  <a:srgbClr val="161B26"/>
                </a:solidFill>
                <a:latin typeface="Arial"/>
              </a:rPr>
              <a:t>The default and least exposed — trusted local only.</a:t>
            </a:r>
          </a:p>
        </p:txBody>
      </p:sp>
      <p:sp>
        <p:nvSpPr>
          <p:cNvPr id="12" name="Rectangle 11"/>
          <p:cNvSpPr/>
          <p:nvPr/>
        </p:nvSpPr>
        <p:spPr>
          <a:xfrm>
            <a:off x="7882127" y="2798064"/>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798064"/>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2962656"/>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LAN / tailnet</a:t>
            </a:r>
          </a:p>
        </p:txBody>
      </p:sp>
      <p:sp>
        <p:nvSpPr>
          <p:cNvPr id="15" name="TextBox 14"/>
          <p:cNvSpPr txBox="1"/>
          <p:nvPr/>
        </p:nvSpPr>
        <p:spPr>
          <a:xfrm>
            <a:off x="8083295" y="3310128"/>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--bind lan or --bind tailnet widen reach and REQUIRE authentication.</a:t>
            </a:r>
          </a:p>
        </p:txBody>
      </p:sp>
      <p:sp>
        <p:nvSpPr>
          <p:cNvPr id="16" name="Rectangle 15"/>
          <p:cNvSpPr/>
          <p:nvPr/>
        </p:nvSpPr>
        <p:spPr>
          <a:xfrm>
            <a:off x="7882127" y="3931920"/>
            <a:ext cx="3529584"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3931920"/>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096512"/>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Hosted</a:t>
            </a:r>
          </a:p>
        </p:txBody>
      </p:sp>
      <p:sp>
        <p:nvSpPr>
          <p:cNvPr id="19" name="TextBox 18"/>
          <p:cNvSpPr txBox="1"/>
          <p:nvPr/>
        </p:nvSpPr>
        <p:spPr>
          <a:xfrm>
            <a:off x="8083295" y="4443984"/>
            <a:ext cx="3127248" cy="530352"/>
          </a:xfrm>
          <a:prstGeom prst="rect">
            <a:avLst/>
          </a:prstGeom>
          <a:noFill/>
        </p:spPr>
        <p:txBody>
          <a:bodyPr wrap="square" anchor="t">
            <a:spAutoFit/>
          </a:bodyPr>
          <a:lstStyle/>
          <a:p>
            <a:pPr algn="l">
              <a:spcAft>
                <a:spcPts val="400"/>
              </a:spcAft>
            </a:pPr>
            <a:r>
              <a:rPr sz="900" b="0">
                <a:solidFill>
                  <a:srgbClr val="161B26"/>
                </a:solidFill>
                <a:latin typeface="Arial"/>
              </a:rPr>
              <a:t>Container plus external PostgreSQL, a persistent volume, a signing secret and an allowed-hostnames list.</a:t>
            </a:r>
          </a:p>
        </p:txBody>
      </p:sp>
      <p:sp>
        <p:nvSpPr>
          <p:cNvPr id="20" name="Rectangle 19"/>
          <p:cNvSpPr/>
          <p:nvPr/>
        </p:nvSpPr>
        <p:spPr>
          <a:xfrm>
            <a:off x="7882127" y="521208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212080"/>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376672"/>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Portability</a:t>
            </a:r>
          </a:p>
        </p:txBody>
      </p:sp>
      <p:sp>
        <p:nvSpPr>
          <p:cNvPr id="23" name="TextBox 22"/>
          <p:cNvSpPr txBox="1"/>
          <p:nvPr/>
        </p:nvSpPr>
        <p:spPr>
          <a:xfrm>
            <a:off x="8083295" y="572414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A whole company exports and imports with secrets scrubbed and collisions re-mapped.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Deploying and Managing AI Agents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6</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Run the Governed TalentBridge Operation and Close the Audit Loop (HR)</a:t>
            </a:r>
          </a:p>
          <a:p>
            <a:pPr>
              <a:spcAft>
                <a:spcPts val="900"/>
              </a:spcAft>
            </a:pPr>
            <a:r>
              <a:rPr sz="1400" b="0">
                <a:solidFill>
                  <a:srgbClr val="161B26"/>
                </a:solidFill>
                <a:latin typeface="Arial"/>
              </a:rPr>
              <a:t>•  TalentBridge People Ops (HR — sourcing, interview, policy, onboarding)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Run the Governed TalentBridge Operation and Close the Audit Loop (HR)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07040"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241280" cy="566928"/>
          </a:xfrm>
          <a:prstGeom prst="rect">
            <a:avLst/>
          </a:prstGeom>
          <a:noFill/>
        </p:spPr>
        <p:txBody>
          <a:bodyPr wrap="square" anchor="ctr">
            <a:spAutoFit/>
          </a:bodyPr>
          <a:lstStyle/>
          <a:p>
            <a:pPr algn="l">
              <a:spcAft>
                <a:spcPts val="400"/>
              </a:spcAft>
            </a:pPr>
            <a:r>
              <a:rPr sz="1300" b="1">
                <a:solidFill>
                  <a:srgbClr val="7C3AED"/>
                </a:solidFill>
                <a:latin typeface="Arial"/>
              </a:rPr>
              <a:t>SIMULATED COMPANY  ·  TalentBridge People Ops (HR — sourcing, interview, policy, onboarding)</a:t>
            </a:r>
          </a:p>
        </p:txBody>
      </p:sp>
      <p:sp>
        <p:nvSpPr>
          <p:cNvPr id="10" name="TextBox 9"/>
          <p:cNvSpPr txBox="1"/>
          <p:nvPr/>
        </p:nvSpPr>
        <p:spPr>
          <a:xfrm>
            <a:off x="777240" y="2514600"/>
            <a:ext cx="10607040" cy="1298448"/>
          </a:xfrm>
          <a:prstGeom prst="rect">
            <a:avLst/>
          </a:prstGeom>
          <a:noFill/>
        </p:spPr>
        <p:txBody>
          <a:bodyPr wrap="square" anchor="t">
            <a:spAutoFit/>
          </a:bodyPr>
          <a:lstStyle/>
          <a:p>
            <a:pPr algn="l">
              <a:spcAft>
                <a:spcPts val="400"/>
              </a:spcAft>
            </a:pPr>
            <a:r>
              <a:rPr sz="1350" b="0">
                <a:solidFill>
                  <a:srgbClr val="161B26"/>
                </a:solidFill>
                <a:latin typeface="Arial"/>
              </a:rPr>
              <a:t>TalentBridge People Ops is the highest-stakes simulation in the course: hiring decisions affect real people, so every control you have learned is now mandatory rather than advisable. You complete the sourcing-to-onboarding operation, review the final synthesis against a workspace DIFF before the board closes it, process a bounded hire approval with a recorded rationale, practise the intervention ladder on a disposable role only, and finally reconstruct the entire operation from the activity log. The audit loop closes when the log alone tells the whole story.</a:t>
            </a:r>
          </a:p>
        </p:txBody>
      </p:sp>
      <p:sp>
        <p:nvSpPr>
          <p:cNvPr id="11" name="Rectangle 10"/>
          <p:cNvSpPr/>
          <p:nvPr/>
        </p:nvSpPr>
        <p:spPr>
          <a:xfrm>
            <a:off x="777240" y="3931920"/>
            <a:ext cx="67665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931920"/>
            <a:ext cx="676656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069080"/>
            <a:ext cx="6309360" cy="329184"/>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1005840" y="4416552"/>
            <a:ext cx="6309360" cy="1005840"/>
          </a:xfrm>
          <a:prstGeom prst="rect">
            <a:avLst/>
          </a:prstGeom>
          <a:noFill/>
        </p:spPr>
        <p:txBody>
          <a:bodyPr wrap="square" anchor="t">
            <a:spAutoFit/>
          </a:bodyPr>
          <a:lstStyle/>
          <a:p>
            <a:pPr algn="l">
              <a:spcAft>
                <a:spcPts val="400"/>
              </a:spcAft>
            </a:pPr>
            <a:r>
              <a:rPr sz="1150" b="0">
                <a:solidFill>
                  <a:srgbClr val="161B26"/>
                </a:solidFill>
                <a:latin typeface="Arial"/>
              </a:rPr>
              <a:t>A diff-reviewed TalentBridge hiring brief, a separately confined reviewer with a recorded approval rationale, a lifecycle intervention record, and a mission-to-evidence audit map reconstructed from the activity log alone.</a:t>
            </a:r>
          </a:p>
        </p:txBody>
      </p:sp>
      <p:sp>
        <p:nvSpPr>
          <p:cNvPr id="15" name="Rectangle 14"/>
          <p:cNvSpPr/>
          <p:nvPr/>
        </p:nvSpPr>
        <p:spPr>
          <a:xfrm>
            <a:off x="7818120" y="3931920"/>
            <a:ext cx="35661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18120" y="3931920"/>
            <a:ext cx="356616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4069080"/>
            <a:ext cx="3108960" cy="329184"/>
          </a:xfrm>
          <a:prstGeom prst="rect">
            <a:avLst/>
          </a:prstGeom>
          <a:noFill/>
        </p:spPr>
        <p:txBody>
          <a:bodyPr wrap="square" anchor="t">
            <a:spAutoFit/>
          </a:bodyPr>
          <a:lstStyle/>
          <a:p>
            <a:pPr algn="l">
              <a:spcAft>
                <a:spcPts val="400"/>
              </a:spcAft>
            </a:pPr>
            <a:r>
              <a:rPr sz="1200" b="1">
                <a:solidFill>
                  <a:srgbClr val="1F6FEB"/>
                </a:solidFill>
                <a:latin typeface="Arial"/>
              </a:rPr>
              <a:t>MAPS TO</a:t>
            </a:r>
          </a:p>
        </p:txBody>
      </p:sp>
      <p:sp>
        <p:nvSpPr>
          <p:cNvPr id="18" name="TextBox 17"/>
          <p:cNvSpPr txBox="1"/>
          <p:nvPr/>
        </p:nvSpPr>
        <p:spPr>
          <a:xfrm>
            <a:off x="8046720" y="4416552"/>
            <a:ext cx="3108960" cy="1005840"/>
          </a:xfrm>
          <a:prstGeom prst="rect">
            <a:avLst/>
          </a:prstGeom>
          <a:noFill/>
        </p:spPr>
        <p:txBody>
          <a:bodyPr wrap="square" anchor="t">
            <a:spAutoFit/>
          </a:bodyPr>
          <a:lstStyle/>
          <a:p>
            <a:pPr algn="l">
              <a:spcAft>
                <a:spcPts val="400"/>
              </a:spcAft>
            </a:pPr>
            <a:r>
              <a:rPr sz="1050" b="0">
                <a:solidFill>
                  <a:srgbClr val="161B26"/>
                </a:solidFill>
                <a:latin typeface="Arial"/>
              </a:rPr>
              <a:t>LO4: Resolve issues and modify a running agent company through approvals, the operator intervention ladder and a reconstructed audit trail.</a:t>
            </a:r>
          </a:p>
        </p:txBody>
      </p:sp>
      <p:sp>
        <p:nvSpPr>
          <p:cNvPr id="19" name="TextBox 18"/>
          <p:cNvSpPr txBox="1"/>
          <p:nvPr/>
        </p:nvSpPr>
        <p:spPr>
          <a:xfrm>
            <a:off x="777240" y="5669280"/>
            <a:ext cx="10607040" cy="640080"/>
          </a:xfrm>
          <a:prstGeom prst="rect">
            <a:avLst/>
          </a:prstGeom>
          <a:noFill/>
        </p:spPr>
        <p:txBody>
          <a:bodyPr wrap="square" anchor="t">
            <a:spAutoFit/>
          </a:bodyPr>
          <a:lstStyle/>
          <a:p>
            <a:pPr algn="l">
              <a:spcAft>
                <a:spcPts val="300"/>
              </a:spcAft>
            </a:pPr>
            <a:r>
              <a:rPr sz="1100" b="0">
                <a:solidFill>
                  <a:srgbClr val="5B6372"/>
                </a:solidFill>
                <a:latin typeface="Arial"/>
              </a:rPr>
              <a:t>Tools:  Paperclip Issues, Agents, Runs, Approvals, Activity, Costs and local Markdown artifacts</a:t>
            </a:r>
          </a:p>
          <a:p>
            <a:pPr algn="l">
              <a:spcAft>
                <a:spcPts val="300"/>
              </a:spcAft>
            </a:pPr>
            <a:r>
              <a:rPr sz="1100" b="0">
                <a:solidFill>
                  <a:srgbClr val="5B6372"/>
                </a:solidFill>
                <a:latin typeface="Arial"/>
              </a:rPr>
              <a:t>Full step-by-step procedure: Learner Guide, Lab 6  ·  labs/ folder</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TalentBridge</a:t>
            </a:r>
          </a:p>
        </p:txBody>
      </p:sp>
      <p:sp>
        <p:nvSpPr>
          <p:cNvPr id="12" name="TextBox 11"/>
          <p:cNvSpPr txBox="1"/>
          <p:nvPr/>
        </p:nvSpPr>
        <p:spPr>
          <a:xfrm>
            <a:off x="850392"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synthetic candidates only</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Run the issue tree</a:t>
            </a:r>
          </a:p>
        </p:txBody>
      </p:sp>
      <p:sp>
        <p:nvSpPr>
          <p:cNvPr id="19" name="TextBox 18"/>
          <p:cNvSpPr txBox="1"/>
          <p:nvPr/>
        </p:nvSpPr>
        <p:spPr>
          <a:xfrm>
            <a:off x="3054096"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children accepted before the parent</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Review the workspace diff</a:t>
            </a:r>
          </a:p>
        </p:txBody>
      </p:sp>
      <p:sp>
        <p:nvSpPr>
          <p:cNvPr id="26" name="TextBox 25"/>
          <p:cNvSpPr txBox="1"/>
          <p:nvPr/>
        </p:nvSpPr>
        <p:spPr>
          <a:xfrm>
            <a:off x="5257800"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not the agent's own summary</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Decide the approval</a:t>
            </a:r>
          </a:p>
        </p:txBody>
      </p:sp>
      <p:sp>
        <p:nvSpPr>
          <p:cNvPr id="33" name="TextBox 32"/>
          <p:cNvSpPr txBox="1"/>
          <p:nvPr/>
        </p:nvSpPr>
        <p:spPr>
          <a:xfrm>
            <a:off x="7461504"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record the rationale</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Close the audit loop</a:t>
            </a:r>
          </a:p>
        </p:txBody>
      </p:sp>
      <p:sp>
        <p:nvSpPr>
          <p:cNvPr id="40" name="TextBox 39"/>
          <p:cNvSpPr txBox="1"/>
          <p:nvPr/>
        </p:nvSpPr>
        <p:spPr>
          <a:xfrm>
            <a:off x="9665208"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reconstruct from Activity alone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LO4: Resolve issues and modify a running agent company through approvals, the operator intervention ladder and a reconstructed audit trail.</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Run the Governed TalentBridge Operation and Close the Audit Loop (HR)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hiring brief is the only later People Ops Lead workspace change and its diff passes the rubric-traceability and fairness checks; the approval carries a recorded rationale; the intervention ladder was applied to the disposable role only and in order; and the audit map reconstructs every mission claim from activity-log entries with no gap.</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CEO synthesises incomplete work</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parent was assigned before both children were accepted. Reopen the parent, accept the outstanding child on named evidence, then re-assign.</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approval cannot be decided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In a hosted deployment the tool-action signing secret must be configured, or approvals stay pending. Check PAPERCLIP_TOOL_ACTION_SIGNING_SECRET.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Terminate removes more than intended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Terminate is the LAST rung and is not reversible. Pause and reassign first; only terminate the role you deliberately created as disposable.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 6  ·  TROUBLESHOOTING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Run the Governed TalentBridge Operation and Close the Audit Loop (HR)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07040" cy="6629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91440" cy="6629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3852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CEO synthesises incomplete work</a:t>
            </a:r>
          </a:p>
        </p:txBody>
      </p:sp>
      <p:sp>
        <p:nvSpPr>
          <p:cNvPr id="10" name="TextBox 9"/>
          <p:cNvSpPr txBox="1"/>
          <p:nvPr/>
        </p:nvSpPr>
        <p:spPr>
          <a:xfrm>
            <a:off x="1051560" y="2304288"/>
            <a:ext cx="10149840" cy="59436"/>
          </a:xfrm>
          <a:prstGeom prst="rect">
            <a:avLst/>
          </a:prstGeom>
          <a:noFill/>
        </p:spPr>
        <p:txBody>
          <a:bodyPr wrap="square" anchor="t">
            <a:spAutoFit/>
          </a:bodyPr>
          <a:lstStyle/>
          <a:p>
            <a:pPr algn="l">
              <a:spcAft>
                <a:spcPts val="400"/>
              </a:spcAft>
            </a:pPr>
            <a:r>
              <a:rPr sz="1150" b="0">
                <a:solidFill>
                  <a:srgbClr val="5B6372"/>
                </a:solidFill>
                <a:latin typeface="Arial"/>
              </a:rPr>
              <a:t>The parent was assigned before both children were accepted. Reopen the parent, accept the outstanding child on named evidence, then re-assign.</a:t>
            </a:r>
          </a:p>
        </p:txBody>
      </p:sp>
      <p:sp>
        <p:nvSpPr>
          <p:cNvPr id="11" name="Rectangle 10"/>
          <p:cNvSpPr/>
          <p:nvPr/>
        </p:nvSpPr>
        <p:spPr>
          <a:xfrm>
            <a:off x="777240" y="2656332"/>
            <a:ext cx="10607040" cy="6629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656332"/>
            <a:ext cx="91440" cy="6629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78434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approval cannot be decided</a:t>
            </a:r>
          </a:p>
        </p:txBody>
      </p:sp>
      <p:sp>
        <p:nvSpPr>
          <p:cNvPr id="14" name="TextBox 13"/>
          <p:cNvSpPr txBox="1"/>
          <p:nvPr/>
        </p:nvSpPr>
        <p:spPr>
          <a:xfrm>
            <a:off x="1051560" y="3150108"/>
            <a:ext cx="10149840" cy="59436"/>
          </a:xfrm>
          <a:prstGeom prst="rect">
            <a:avLst/>
          </a:prstGeom>
          <a:noFill/>
        </p:spPr>
        <p:txBody>
          <a:bodyPr wrap="square" anchor="t">
            <a:spAutoFit/>
          </a:bodyPr>
          <a:lstStyle/>
          <a:p>
            <a:pPr algn="l">
              <a:spcAft>
                <a:spcPts val="400"/>
              </a:spcAft>
            </a:pPr>
            <a:r>
              <a:rPr sz="1150" b="0">
                <a:solidFill>
                  <a:srgbClr val="5B6372"/>
                </a:solidFill>
                <a:latin typeface="Arial"/>
              </a:rPr>
              <a:t>In a hosted deployment the tool-action signing secret must be configured, or approvals stay pending. Check PAPERCLIP_TOOL_ACTION_SIGNING_SECRET.</a:t>
            </a:r>
          </a:p>
        </p:txBody>
      </p:sp>
      <p:sp>
        <p:nvSpPr>
          <p:cNvPr id="15" name="Rectangle 14"/>
          <p:cNvSpPr/>
          <p:nvPr/>
        </p:nvSpPr>
        <p:spPr>
          <a:xfrm>
            <a:off x="777240" y="3502152"/>
            <a:ext cx="10607040" cy="6629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502152"/>
            <a:ext cx="91440" cy="6629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363016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Terminate removes more than intended</a:t>
            </a:r>
          </a:p>
        </p:txBody>
      </p:sp>
      <p:sp>
        <p:nvSpPr>
          <p:cNvPr id="18" name="TextBox 17"/>
          <p:cNvSpPr txBox="1"/>
          <p:nvPr/>
        </p:nvSpPr>
        <p:spPr>
          <a:xfrm>
            <a:off x="1051560" y="3995928"/>
            <a:ext cx="10149840" cy="59436"/>
          </a:xfrm>
          <a:prstGeom prst="rect">
            <a:avLst/>
          </a:prstGeom>
          <a:noFill/>
        </p:spPr>
        <p:txBody>
          <a:bodyPr wrap="square" anchor="t">
            <a:spAutoFit/>
          </a:bodyPr>
          <a:lstStyle/>
          <a:p>
            <a:pPr algn="l">
              <a:spcAft>
                <a:spcPts val="400"/>
              </a:spcAft>
            </a:pPr>
            <a:r>
              <a:rPr sz="1150" b="0">
                <a:solidFill>
                  <a:srgbClr val="5B6372"/>
                </a:solidFill>
                <a:latin typeface="Arial"/>
              </a:rPr>
              <a:t>Terminate is the LAST rung and is not reversible. Pause and reassign first; only terminate the role you deliberately created as disposable.</a:t>
            </a:r>
          </a:p>
        </p:txBody>
      </p:sp>
      <p:sp>
        <p:nvSpPr>
          <p:cNvPr id="19" name="Rectangle 18"/>
          <p:cNvSpPr/>
          <p:nvPr/>
        </p:nvSpPr>
        <p:spPr>
          <a:xfrm>
            <a:off x="777240" y="4347972"/>
            <a:ext cx="10607040" cy="6629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347972"/>
            <a:ext cx="91440" cy="6629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447598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activity log has a gap</a:t>
            </a:r>
          </a:p>
        </p:txBody>
      </p:sp>
      <p:sp>
        <p:nvSpPr>
          <p:cNvPr id="22" name="TextBox 21"/>
          <p:cNvSpPr txBox="1"/>
          <p:nvPr/>
        </p:nvSpPr>
        <p:spPr>
          <a:xfrm>
            <a:off x="1051560" y="4841748"/>
            <a:ext cx="10149840" cy="59436"/>
          </a:xfrm>
          <a:prstGeom prst="rect">
            <a:avLst/>
          </a:prstGeom>
          <a:noFill/>
        </p:spPr>
        <p:txBody>
          <a:bodyPr wrap="square" anchor="t">
            <a:spAutoFit/>
          </a:bodyPr>
          <a:lstStyle/>
          <a:p>
            <a:pPr algn="l">
              <a:spcAft>
                <a:spcPts val="400"/>
              </a:spcAft>
            </a:pPr>
            <a:r>
              <a:rPr sz="1150" b="0">
                <a:solidFill>
                  <a:srgbClr val="5B6372"/>
                </a:solidFill>
                <a:latin typeface="Arial"/>
              </a:rPr>
              <a:t>Work was done outside a run — for example hand-edited in the workspace. Note it honestly in the audit map; an unexplained gap is itself an audit finding.</a:t>
            </a:r>
          </a:p>
        </p:txBody>
      </p:sp>
      <p:sp>
        <p:nvSpPr>
          <p:cNvPr id="23" name="Rectangle 22"/>
          <p:cNvSpPr/>
          <p:nvPr/>
        </p:nvSpPr>
        <p:spPr>
          <a:xfrm>
            <a:off x="77724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30368"/>
            <a:ext cx="91440" cy="1005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321808"/>
            <a:ext cx="4846320" cy="292608"/>
          </a:xfrm>
          <a:prstGeom prst="rect">
            <a:avLst/>
          </a:prstGeom>
          <a:noFill/>
        </p:spPr>
        <p:txBody>
          <a:bodyPr wrap="square" anchor="t">
            <a:spAutoFit/>
          </a:bodyPr>
          <a:lstStyle/>
          <a:p>
            <a:pPr algn="l">
              <a:spcAft>
                <a:spcPts val="400"/>
              </a:spcAft>
            </a:pPr>
            <a:r>
              <a:rPr sz="1150" b="1">
                <a:solidFill>
                  <a:srgbClr val="7C3AED"/>
                </a:solidFill>
                <a:latin typeface="Arial"/>
              </a:rPr>
              <a:t>CHALLENGE</a:t>
            </a:r>
          </a:p>
        </p:txBody>
      </p:sp>
      <p:sp>
        <p:nvSpPr>
          <p:cNvPr id="26" name="TextBox 25"/>
          <p:cNvSpPr txBox="1"/>
          <p:nvPr/>
        </p:nvSpPr>
        <p:spPr>
          <a:xfrm>
            <a:off x="105156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Export the TalentBridge company, confirm the export scrubs secrets, then import it as a second company and record which identifiers Paperclip had to re-map on collision.</a:t>
            </a:r>
          </a:p>
        </p:txBody>
      </p:sp>
      <p:sp>
        <p:nvSpPr>
          <p:cNvPr id="27" name="Rectangle 26"/>
          <p:cNvSpPr/>
          <p:nvPr/>
        </p:nvSpPr>
        <p:spPr>
          <a:xfrm>
            <a:off x="617220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72200" y="5230368"/>
            <a:ext cx="91440"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0" y="5321808"/>
            <a:ext cx="4846320" cy="292608"/>
          </a:xfrm>
          <a:prstGeom prst="rect">
            <a:avLst/>
          </a:prstGeom>
          <a:noFill/>
        </p:spPr>
        <p:txBody>
          <a:bodyPr wrap="square" anchor="t">
            <a:spAutoFit/>
          </a:bodyPr>
          <a:lstStyle/>
          <a:p>
            <a:pPr algn="l">
              <a:spcAft>
                <a:spcPts val="400"/>
              </a:spcAft>
            </a:pPr>
            <a:r>
              <a:rPr sz="1150" b="1">
                <a:solidFill>
                  <a:srgbClr val="1F6FEB"/>
                </a:solidFill>
                <a:latin typeface="Arial"/>
              </a:rPr>
              <a:t>REFLECTION</a:t>
            </a:r>
          </a:p>
        </p:txBody>
      </p:sp>
      <p:sp>
        <p:nvSpPr>
          <p:cNvPr id="30" name="TextBox 29"/>
          <p:cNvSpPr txBox="1"/>
          <p:nvPr/>
        </p:nvSpPr>
        <p:spPr>
          <a:xfrm>
            <a:off x="644652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Your audit map is the deliverable a regulator would actually ask for. Which single row in it is the weakest, and what evidence would strengthen it?</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Deploying and Managing AI Agents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LO4: Resolve issues and modify a running agent company through approvals, the operator intervention ladder and a reconstructed audit trail.</a:t>
            </a:r>
          </a:p>
          <a:p>
            <a:pPr>
              <a:spcAft>
                <a:spcPts val="1000"/>
              </a:spcAft>
            </a:pPr>
            <a:r>
              <a:rPr sz="1500" b="0">
                <a:solidFill>
                  <a:srgbClr val="161B26"/>
                </a:solidFill>
                <a:latin typeface="Arial"/>
              </a:rPr>
              <a:t>•  A routine is recurring work triggered by cron, webhook or API. Create it paused, prove it once by hand, and only then let the schedule own it.</a:t>
            </a:r>
          </a:p>
          <a:p>
            <a:pPr>
              <a:spcAft>
                <a:spcPts val="1000"/>
              </a:spcAft>
            </a:pPr>
            <a:r>
              <a:rPr sz="1500" b="0">
                <a:solidFill>
                  <a:srgbClr val="161B26"/>
                </a:solidFill>
                <a:latin typeface="Arial"/>
              </a:rPr>
              <a:t>•  A schedule trigger is explicit — 30 16 * * * with an IANA timezone such as Asia/Singapore. An implicit timezone is a production incident waiting to happen.</a:t>
            </a:r>
          </a:p>
          <a:p>
            <a:pPr>
              <a:spcAft>
                <a:spcPts val="1000"/>
              </a:spcAft>
            </a:pPr>
            <a:r>
              <a:rPr sz="1500" b="0">
                <a:solidFill>
                  <a:srgbClr val="161B26"/>
                </a:solidFill>
                <a:latin typeface="Arial"/>
              </a:rPr>
              <a:t>•  Budgets have three scopes enforced in PARALLEL: company (monthly), agent (monthly) and project (lifetime). An agent can be paused by its own cap even when the company has budget left.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advClick="1">
    <p:push dir="l"/>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LO1 · Identify &amp; scan feasibility</a:t>
            </a:r>
          </a:p>
          <a:p>
            <a:pPr algn="l">
              <a:spcAft>
                <a:spcPts val="300"/>
              </a:spcAft>
            </a:pPr>
            <a:r>
              <a:rPr sz="1200" b="0">
                <a:solidFill>
                  <a:srgbClr val="5B6372"/>
                </a:solidFill>
                <a:latin typeface="Arial"/>
              </a:rPr>
              <a:t>Explain the Paperclip control-plane model and judge when a managed multi-agent company earns its coordination cost.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LO2 · Integrate &amp; develop</a:t>
            </a:r>
          </a:p>
          <a:p>
            <a:pPr algn="l">
              <a:spcAft>
                <a:spcPts val="300"/>
              </a:spcAft>
            </a:pPr>
            <a:r>
              <a:rPr sz="1200" b="0">
                <a:solidFill>
                  <a:srgbClr val="5B6372"/>
                </a:solidFill>
                <a:latin typeface="Arial"/>
              </a:rPr>
              <a:t>Install Paperclip, create a goal-aligned company, build the reporting tree and connect agent runtimes, skills and workspaces safely.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LO3 · Test &amp; verify</a:t>
            </a:r>
          </a:p>
          <a:p>
            <a:pPr algn="l">
              <a:spcAft>
                <a:spcPts val="300"/>
              </a:spcAft>
            </a:pPr>
            <a:r>
              <a:rPr sz="1200" b="0">
                <a:solidFill>
                  <a:srgbClr val="5B6372"/>
                </a:solidFill>
                <a:latin typeface="Arial"/>
              </a:rPr>
              <a:t>Decompose a mission into issues, run bounded heartbeats and verify hand-offs through runs, comments, artifacts and the activity log.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LO4 · Resolve &amp; modify</a:t>
            </a:r>
          </a:p>
          <a:p>
            <a:pPr algn="l">
              <a:spcAft>
                <a:spcPts val="300"/>
              </a:spcAft>
            </a:pPr>
            <a:r>
              <a:rPr sz="1200" b="0">
                <a:solidFill>
                  <a:srgbClr val="5B6372"/>
                </a:solidFill>
                <a:latin typeface="Arial"/>
              </a:rPr>
              <a:t>Diagnose adapter, budget and routine failures, and modify governance, approvals and cost boundaries to keep the operation safe.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TAKE THIS BACK TO WORK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Governed Multi-Agent Operating Checklist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Mission is measurable</a:t>
            </a:r>
          </a:p>
          <a:p>
            <a:pPr algn="l">
              <a:spcAft>
                <a:spcPts val="300"/>
              </a:spcAft>
            </a:pPr>
            <a:r>
              <a:rPr sz="1200" b="0">
                <a:solidFill>
                  <a:srgbClr val="5B6372"/>
                </a:solidFill>
                <a:latin typeface="Arial"/>
              </a:rPr>
              <a:t>A target, a metric and a boundary — or it cannot be verified.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Caps exist before runtimes</a:t>
            </a:r>
          </a:p>
          <a:p>
            <a:pPr algn="l">
              <a:spcAft>
                <a:spcPts val="300"/>
              </a:spcAft>
            </a:pPr>
            <a:r>
              <a:rPr sz="1200" b="0">
                <a:solidFill>
                  <a:srgbClr val="5B6372"/>
                </a:solidFill>
                <a:latin typeface="Arial"/>
              </a:rPr>
              <a:t>Company, then project, then agent — set before anything runs.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Every role is confined</a:t>
            </a:r>
          </a:p>
          <a:p>
            <a:pPr algn="l">
              <a:spcAft>
                <a:spcPts val="300"/>
              </a:spcAft>
            </a:pPr>
            <a:r>
              <a:rPr sz="1200" b="0">
                <a:solidFill>
                  <a:srgbClr val="5B6372"/>
                </a:solidFill>
                <a:latin typeface="Arial"/>
              </a:rPr>
              <a:t>Its own workspace, instruction file, adapter and budget.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Issues are created unassigned</a:t>
            </a:r>
          </a:p>
          <a:p>
            <a:pPr algn="l">
              <a:spcAft>
                <a:spcPts val="300"/>
              </a:spcAft>
            </a:pPr>
            <a:r>
              <a:rPr sz="1200" b="0">
                <a:solidFill>
                  <a:srgbClr val="5B6372"/>
                </a:solidFill>
                <a:latin typeface="Arial"/>
              </a:rPr>
              <a:t>Assignment is the trigger; assign one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Acceptance names the evidence</a:t>
            </a:r>
          </a:p>
          <a:p>
            <a:pPr algn="l">
              <a:spcAft>
                <a:spcPts val="300"/>
              </a:spcAft>
            </a:pPr>
            <a:r>
              <a:rPr sz="1200" b="0">
                <a:solidFill>
                  <a:srgbClr val="5B6372"/>
                </a:solidFill>
                <a:latin typeface="Arial"/>
              </a:rPr>
              <a:t>The artifact, its path and its required fields.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audit reconstructs</a:t>
            </a:r>
          </a:p>
          <a:p>
            <a:pPr algn="l">
              <a:spcAft>
                <a:spcPts val="300"/>
              </a:spcAft>
            </a:pPr>
            <a:r>
              <a:rPr sz="1200" b="0">
                <a:solidFill>
                  <a:srgbClr val="5B6372"/>
                </a:solidFill>
                <a:latin typeface="Arial"/>
              </a:rPr>
              <a:t>Activity alone tells the whole story, with no unexplained gap.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Continue Your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Official project</a:t>
            </a:r>
          </a:p>
          <a:p>
            <a:pPr algn="l">
              <a:spcAft>
                <a:spcPts val="300"/>
              </a:spcAft>
            </a:pPr>
            <a:r>
              <a:rPr sz="1200" b="0">
                <a:solidFill>
                  <a:srgbClr val="5B6372"/>
                </a:solidFill>
                <a:latin typeface="Arial"/>
              </a:rPr>
              <a:t>https://github.com/paperclipai/paperclip — the source, the docs and the release notes.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Hosted Paperclip</a:t>
            </a:r>
          </a:p>
          <a:p>
            <a:pPr algn="l">
              <a:spcAft>
                <a:spcPts val="300"/>
              </a:spcAft>
            </a:pPr>
            <a:r>
              <a:rPr sz="1200" b="0">
                <a:solidFill>
                  <a:srgbClr val="5B6372"/>
                </a:solidFill>
                <a:latin typeface="Arial"/>
              </a:rPr>
              <a:t>https://paperclip.inc — the managed control plane if you do not want to self-host.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Rebuild the labs</a:t>
            </a:r>
          </a:p>
          <a:p>
            <a:pPr algn="l">
              <a:spcAft>
                <a:spcPts val="300"/>
              </a:spcAft>
            </a:pPr>
            <a:r>
              <a:rPr sz="1200" b="0">
                <a:solidFill>
                  <a:srgbClr val="5B6372"/>
                </a:solidFill>
                <a:latin typeface="Arial"/>
              </a:rPr>
              <a:t>Redo each of the six companies from scratch until the control sequence is automatic.</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Start with one real workflow</a:t>
            </a:r>
          </a:p>
          <a:p>
            <a:pPr algn="l">
              <a:spcAft>
                <a:spcPts val="300"/>
              </a:spcAft>
            </a:pPr>
            <a:r>
              <a:rPr sz="1200" b="0">
                <a:solidFill>
                  <a:srgbClr val="5B6372"/>
                </a:solidFill>
                <a:latin typeface="Arial"/>
              </a:rPr>
              <a:t>Choose an internal task whose inputs and outputs are already observable.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Keep the caps low</a:t>
            </a:r>
          </a:p>
          <a:p>
            <a:pPr algn="l">
              <a:spcAft>
                <a:spcPts val="300"/>
              </a:spcAft>
            </a:pPr>
            <a:r>
              <a:rPr sz="1200" b="0">
                <a:solidFill>
                  <a:srgbClr val="5B6372"/>
                </a:solidFill>
                <a:latin typeface="Arial"/>
              </a:rPr>
              <a:t>Your first real company should be capped far below what you would be willing to pay.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Audit before you scale</a:t>
            </a:r>
          </a:p>
          <a:p>
            <a:pPr algn="l">
              <a:spcAft>
                <a:spcPts val="300"/>
              </a:spcAft>
            </a:pPr>
            <a:r>
              <a:rPr sz="1200" b="0">
                <a:solidFill>
                  <a:srgbClr val="5B6372"/>
                </a:solidFill>
                <a:latin typeface="Arial"/>
              </a:rPr>
              <a:t>Prove you can reconstruct one operation before you run two.</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WITH TERTIARY INFOTECH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WSQ - Develop Multi AI Agent Applications with Gemini Agent ADK</a:t>
            </a:r>
          </a:p>
          <a:p>
            <a:pPr algn="l">
              <a:spcAft>
                <a:spcPts val="300"/>
              </a:spcAft>
            </a:pPr>
            <a:r>
              <a:rPr sz="1300" b="0">
                <a:solidFill>
                  <a:srgbClr val="5B6372"/>
                </a:solidFill>
                <a:latin typeface="Arial"/>
              </a:rPr>
              <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WSQ - Build LLM Applications Using Flowise and LangChain</a:t>
            </a:r>
          </a:p>
          <a:p>
            <a:pPr algn="l">
              <a:spcAft>
                <a:spcPts val="300"/>
              </a:spcAft>
            </a:pPr>
            <a:r>
              <a:rPr sz="1300" b="0">
                <a:solidFill>
                  <a:srgbClr val="5B6372"/>
                </a:solidFill>
                <a:latin typeface="Arial"/>
              </a:rPr>
              <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WSQ - Generative AI for Productivity</a:t>
            </a:r>
          </a:p>
          <a:p>
            <a:pPr algn="l">
              <a:spcAft>
                <a:spcPts val="300"/>
              </a:spcAft>
            </a:pPr>
            <a:r>
              <a:rPr sz="1300" b="0">
                <a:solidFill>
                  <a:srgbClr val="5B6372"/>
                </a:solidFill>
                <a:latin typeface="Arial"/>
              </a:rPr>
              <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WSQ - Prompt Engineering for Business</a:t>
            </a:r>
          </a:p>
          <a:p>
            <a:pPr algn="l">
              <a:spcAft>
                <a:spcPts val="300"/>
              </a:spcAft>
            </a:pPr>
            <a:r>
              <a:rPr sz="1300" b="0">
                <a:solidFill>
                  <a:srgbClr val="5B6372"/>
                </a:solidFill>
                <a:latin typeface="Arial"/>
              </a:rPr>
              <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 — DURING AND AFTER THE CLASS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Email</a:t>
            </a:r>
          </a:p>
          <a:p>
            <a:pPr algn="l">
              <a:spcAft>
                <a:spcPts val="300"/>
              </a:spcAft>
            </a:pPr>
            <a:r>
              <a:rPr sz="1200" b="0">
                <a:solidFill>
                  <a:srgbClr val="5B6372"/>
                </a:solidFill>
                <a:latin typeface="Arial"/>
              </a:rPr>
              <a:t>enquiry@tertiaryinfotech.com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Telephone</a:t>
            </a:r>
          </a:p>
          <a:p>
            <a:pPr algn="l">
              <a:spcAft>
                <a:spcPts val="300"/>
              </a:spcAft>
            </a:pPr>
            <a:r>
              <a:rPr sz="1200" b="0">
                <a:solidFill>
                  <a:srgbClr val="5B6372"/>
                </a:solidFill>
                <a:latin typeface="Arial"/>
              </a:rPr>
              <a:t>+65 6100 0613</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Website</a:t>
            </a:r>
          </a:p>
          <a:p>
            <a:pPr algn="l">
              <a:spcAft>
                <a:spcPts val="300"/>
              </a:spcAft>
            </a:pPr>
            <a:r>
              <a:rPr sz="1200" b="0">
                <a:solidFill>
                  <a:srgbClr val="5B6372"/>
                </a:solidFill>
                <a:latin typeface="Arial"/>
              </a:rPr>
              <a:t>www.tertiarycourses.com.sg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LMS / TMS</a:t>
            </a:r>
          </a:p>
          <a:p>
            <a:pPr algn="l">
              <a:spcAft>
                <a:spcPts val="300"/>
              </a:spcAft>
            </a:pPr>
            <a:r>
              <a:rPr sz="1200" b="0">
                <a:solidFill>
                  <a:srgbClr val="5B6372"/>
                </a:solidFill>
                <a:latin typeface="Arial"/>
              </a:rPr>
              <a:t>https://lms-tms.tertiaryinfotech.com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Practice exam</a:t>
            </a:r>
          </a:p>
          <a:p>
            <a:pPr algn="l">
              <a:spcAft>
                <a:spcPts val="300"/>
              </a:spcAft>
            </a:pPr>
            <a:r>
              <a:rPr sz="1200" b="0">
                <a:solidFill>
                  <a:srgbClr val="5B6372"/>
                </a:solidFill>
                <a:latin typeface="Arial"/>
              </a:rPr>
              <a:t>https://exams.tertiaryinfotech.com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Course page</a:t>
            </a:r>
          </a:p>
          <a:p>
            <a:pPr algn="l">
              <a:spcAft>
                <a:spcPts val="300"/>
              </a:spcAft>
            </a:pPr>
            <a:r>
              <a:rPr sz="1200" b="0">
                <a:solidFill>
                  <a:srgbClr val="5B6372"/>
                </a:solidFill>
                <a:latin typeface="Arial"/>
              </a:rPr>
              <a:t>www.tertiarycourses.com.sg/wsq-manage-ai-agents-with-paperclip.html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START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Clear your desk</a:t>
            </a:r>
          </a:p>
          <a:p>
            <a:pPr algn="l">
              <a:spcAft>
                <a:spcPts val="300"/>
              </a:spcAft>
            </a:pPr>
            <a:r>
              <a:rPr sz="120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recording</a:t>
            </a:r>
          </a:p>
          <a:p>
            <a:pPr algn="l">
              <a:spcAft>
                <a:spcPts val="300"/>
              </a:spcAft>
            </a:pPr>
            <a:r>
              <a:rPr sz="1200" b="0">
                <a:solidFill>
                  <a:srgbClr val="5B6372"/>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discussion</a:t>
            </a:r>
          </a:p>
          <a:p>
            <a:pPr algn="l">
              <a:spcAft>
                <a:spcPts val="300"/>
              </a:spcAft>
            </a:pPr>
            <a:r>
              <a:rPr sz="1200" b="0">
                <a:solidFill>
                  <a:srgbClr val="5B6372"/>
                </a:solidFill>
                <a:latin typeface="Arial"/>
              </a:rPr>
              <a:t>Work individually — 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Black or blue pen</a:t>
            </a:r>
          </a:p>
          <a:p>
            <a:pPr algn="l">
              <a:spcAft>
                <a:spcPts val="300"/>
              </a:spcAft>
            </a:pPr>
            <a:r>
              <a:rPr sz="1200" b="0">
                <a:solidFill>
                  <a:srgbClr val="5B6372"/>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correction fluid</a:t>
            </a:r>
          </a:p>
          <a:p>
            <a:pPr algn="l">
              <a:spcAft>
                <a:spcPts val="300"/>
              </a:spcAft>
            </a:pPr>
            <a:r>
              <a:rPr sz="1200" b="0">
                <a:solidFill>
                  <a:srgbClr val="5B6372"/>
                </a:solidFill>
                <a:latin typeface="Arial"/>
              </a:rPr>
              <a:t>No liquid paper or correction tape may be used.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Stop on time</a:t>
            </a:r>
          </a:p>
          <a:p>
            <a:pPr algn="l">
              <a:spcAft>
                <a:spcPts val="300"/>
              </a:spcAft>
            </a:pPr>
            <a:r>
              <a:rPr sz="1200" b="0">
                <a:solidFill>
                  <a:srgbClr val="5B6372"/>
                </a:solidFill>
                <a:latin typeface="Arial"/>
              </a:rPr>
              <a:t>Scripts are collected when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Written Assessment (SAQ)</a:t>
            </a:r>
          </a:p>
          <a:p>
            <a:pPr algn="l">
              <a:spcAft>
                <a:spcPts val="300"/>
              </a:spcAft>
            </a:pPr>
            <a:r>
              <a:rPr sz="1300" b="0">
                <a:solidFill>
                  <a:srgbClr val="5B6372"/>
                </a:solidFill>
                <a:latin typeface="Arial"/>
              </a:rPr>
              <a:t>5 short-answer knowledge questions · 1 hour · open book.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Practical Performance (PP)</a:t>
            </a:r>
          </a:p>
          <a:p>
            <a:pPr algn="l">
              <a:spcAft>
                <a:spcPts val="300"/>
              </a:spcAft>
            </a:pPr>
            <a:r>
              <a:rPr sz="1300" b="0">
                <a:solidFill>
                  <a:srgbClr val="5B6372"/>
                </a:solidFill>
                <a:latin typeface="Arial"/>
              </a:rPr>
              <a:t>4 hands-on Paperclip tasks · 1 hour · open book.</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Remember to take the Assessment digital attendance before you start.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Submit on the LMS</a:t>
            </a:r>
          </a:p>
          <a:p>
            <a:pPr algn="l">
              <a:spcAft>
                <a:spcPts val="300"/>
              </a:spcAft>
            </a:pPr>
            <a:r>
              <a:rPr sz="1300" b="0">
                <a:solidFill>
                  <a:srgbClr val="5B6372"/>
                </a:solidFill>
                <a:latin typeface="Arial"/>
              </a:rPr>
              <a:t>Upload your completed answers at 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advClick="1">
    <p:push dir="l"/>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50392"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Scan the QR code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54096"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Scan the SSG assessment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Sit WA then PP</a:t>
            </a:r>
          </a:p>
        </p:txBody>
      </p:sp>
      <p:sp>
        <p:nvSpPr>
          <p:cNvPr id="26" name="TextBox 25"/>
          <p:cNvSpPr txBox="1"/>
          <p:nvPr/>
        </p:nvSpPr>
        <p:spPr>
          <a:xfrm>
            <a:off x="5257800"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Open book · 1 hour each</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61504"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Upload your completed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65208"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Sign the Assessment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HAPPY BUILDING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build, coordinate and govern a Paperclip AI agent company from mission to audited outcome.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